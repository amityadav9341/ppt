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7"/>
  </p:notesMasterIdLst>
  <p:handoutMasterIdLst>
    <p:handoutMasterId r:id="rId68"/>
  </p:handoutMasterIdLst>
  <p:sldIdLst>
    <p:sldId id="256" r:id="rId2"/>
    <p:sldId id="604" r:id="rId3"/>
    <p:sldId id="607" r:id="rId4"/>
    <p:sldId id="608" r:id="rId5"/>
    <p:sldId id="609" r:id="rId6"/>
    <p:sldId id="610" r:id="rId7"/>
    <p:sldId id="257" r:id="rId8"/>
    <p:sldId id="649" r:id="rId9"/>
    <p:sldId id="770" r:id="rId10"/>
    <p:sldId id="720" r:id="rId11"/>
    <p:sldId id="771" r:id="rId12"/>
    <p:sldId id="772" r:id="rId13"/>
    <p:sldId id="773" r:id="rId14"/>
    <p:sldId id="774" r:id="rId15"/>
    <p:sldId id="775" r:id="rId16"/>
    <p:sldId id="776" r:id="rId17"/>
    <p:sldId id="777" r:id="rId18"/>
    <p:sldId id="778" r:id="rId19"/>
    <p:sldId id="779" r:id="rId20"/>
    <p:sldId id="780" r:id="rId21"/>
    <p:sldId id="781" r:id="rId22"/>
    <p:sldId id="782" r:id="rId23"/>
    <p:sldId id="783" r:id="rId24"/>
    <p:sldId id="784" r:id="rId25"/>
    <p:sldId id="785" r:id="rId26"/>
    <p:sldId id="786" r:id="rId27"/>
    <p:sldId id="787" r:id="rId28"/>
    <p:sldId id="788" r:id="rId29"/>
    <p:sldId id="790" r:id="rId30"/>
    <p:sldId id="791" r:id="rId31"/>
    <p:sldId id="792" r:id="rId32"/>
    <p:sldId id="793" r:id="rId33"/>
    <p:sldId id="794" r:id="rId34"/>
    <p:sldId id="795" r:id="rId35"/>
    <p:sldId id="796" r:id="rId36"/>
    <p:sldId id="798" r:id="rId37"/>
    <p:sldId id="800" r:id="rId38"/>
    <p:sldId id="801" r:id="rId39"/>
    <p:sldId id="805" r:id="rId40"/>
    <p:sldId id="810" r:id="rId41"/>
    <p:sldId id="811" r:id="rId42"/>
    <p:sldId id="812" r:id="rId43"/>
    <p:sldId id="813" r:id="rId44"/>
    <p:sldId id="814" r:id="rId45"/>
    <p:sldId id="815" r:id="rId46"/>
    <p:sldId id="816" r:id="rId47"/>
    <p:sldId id="817" r:id="rId48"/>
    <p:sldId id="822" r:id="rId49"/>
    <p:sldId id="823" r:id="rId50"/>
    <p:sldId id="824" r:id="rId51"/>
    <p:sldId id="825" r:id="rId52"/>
    <p:sldId id="826" r:id="rId53"/>
    <p:sldId id="827" r:id="rId54"/>
    <p:sldId id="828" r:id="rId55"/>
    <p:sldId id="829" r:id="rId56"/>
    <p:sldId id="761" r:id="rId57"/>
    <p:sldId id="789" r:id="rId58"/>
    <p:sldId id="830" r:id="rId59"/>
    <p:sldId id="831" r:id="rId60"/>
    <p:sldId id="832" r:id="rId61"/>
    <p:sldId id="765" r:id="rId62"/>
    <p:sldId id="833" r:id="rId63"/>
    <p:sldId id="767" r:id="rId64"/>
    <p:sldId id="768" r:id="rId65"/>
    <p:sldId id="769" r:id="rId6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indows User" initials="WU" lastIdx="1" clrIdx="0">
    <p:extLst>
      <p:ext uri="{19B8F6BF-5375-455C-9EA6-DF929625EA0E}">
        <p15:presenceInfo xmlns:p15="http://schemas.microsoft.com/office/powerpoint/2012/main" userId="Windows 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1660" autoAdjust="0"/>
    <p:restoredTop sz="86496" autoAdjust="0"/>
  </p:normalViewPr>
  <p:slideViewPr>
    <p:cSldViewPr>
      <p:cViewPr varScale="1">
        <p:scale>
          <a:sx n="54" d="100"/>
          <a:sy n="54" d="100"/>
        </p:scale>
        <p:origin x="77" y="82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5" d="100"/>
          <a:sy n="55" d="100"/>
        </p:scale>
        <p:origin x="-2886" y="-10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Collections-Container datatypes, Tkinter-GUI applications, Requests-HTTP requests, BeautifulSoup4-web scraping, Scrapy, Zappa, Dash, CherryPy, TurboGears, Flask, Web2Py,</a:t>
          </a:r>
        </a:p>
        <a:p>
          <a:r>
            <a:rPr lang="en-US" sz="2700" dirty="0"/>
            <a:t>Bottle, Falcon, CubicWeb, Quixote, Pyramid.</a:t>
          </a:r>
        </a:p>
        <a:p>
          <a:endParaRPr lang="en-IN" sz="200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X="-239" custLinFactNeighborY="-980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8632B43A-A1FB-4963-84A0-F0A61C5BFA59}">
      <dgm:prSet custT="1"/>
      <dgm:spPr/>
      <dgm:t>
        <a:bodyPr/>
        <a:lstStyle/>
        <a:p>
          <a:r>
            <a:rPr lang="en-US" sz="27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dirty="0"/>
        </a:p>
      </dgm:t>
    </dgm:pt>
    <dgm:pt modelId="{8954BA86-F411-4F2D-BEFA-BBF9617D879B}" type="parTrans" cxnId="{6F0FFE21-F288-41B6-AC2F-F6C2F97FC76B}">
      <dgm:prSet/>
      <dgm:spPr/>
      <dgm:t>
        <a:bodyPr/>
        <a:lstStyle/>
        <a:p>
          <a:endParaRPr lang="en-US"/>
        </a:p>
      </dgm:t>
    </dgm:pt>
    <dgm:pt modelId="{B34E360E-2AF5-434A-80B9-E34DD0DE11AF}" type="sibTrans" cxnId="{6F0FFE21-F288-41B6-AC2F-F6C2F97FC76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6DCBBEC5-5B01-4132-A331-9D4D3453D65C}" type="pres">
      <dgm:prSet presAssocID="{8632B43A-A1FB-4963-84A0-F0A61C5BFA59}" presName="parentText" presStyleLbl="node1" presStyleIdx="0" presStyleCnt="1" custScaleY="894540" custLinFactNeighborY="-25629">
        <dgm:presLayoutVars>
          <dgm:chMax val="0"/>
          <dgm:bulletEnabled val="1"/>
        </dgm:presLayoutVars>
      </dgm:prSet>
      <dgm:spPr/>
    </dgm:pt>
  </dgm:ptLst>
  <dgm:cxnLst>
    <dgm:cxn modelId="{6F0FFE21-F288-41B6-AC2F-F6C2F97FC76B}" srcId="{18EA6042-2EA2-4065-81DF-7A18BEC42C1C}" destId="{8632B43A-A1FB-4963-84A0-F0A61C5BFA59}" srcOrd="0" destOrd="0" parTransId="{8954BA86-F411-4F2D-BEFA-BBF9617D879B}" sibTransId="{B34E360E-2AF5-434A-80B9-E34DD0DE11AF}"/>
    <dgm:cxn modelId="{C48F0660-5664-41FE-99C0-FABF7335C0CC}" type="presOf" srcId="{8632B43A-A1FB-4963-84A0-F0A61C5BFA59}" destId="{6DCBBEC5-5B01-4132-A331-9D4D3453D65C}"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9D7AB4E3-F7D3-46CD-8818-41B8682B7C05}" type="presParOf" srcId="{5935E145-FD17-4F9E-B302-F21214F4A468}" destId="{6DCBBEC5-5B01-4132-A331-9D4D3453D65C}"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baseline="0" dirty="0"/>
        </a:p>
      </dgm:t>
    </dgm:pt>
    <dgm:pt modelId="{317883E6-23F7-434D-A777-EB6C46138693}" type="parTrans" cxnId="{F61405CD-BF4D-4132-A8F6-94A55AFF2516}">
      <dgm:prSet/>
      <dgm:spPr/>
      <dgm:t>
        <a:bodyPr/>
        <a:lstStyle/>
        <a:p>
          <a:endParaRPr lang="en-IN"/>
        </a:p>
      </dgm:t>
    </dgm:pt>
    <dgm:pt modelId="{5A57522C-1C32-440C-9F64-9EF818720D9C}" type="sib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ScaleY="848527" custLinFactNeighborY="-25095">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D8C5DAEA-C992-4E2A-9A51-E215DE48D2A6}">
      <dgm:prSet custT="1"/>
      <dgm:spPr/>
      <dgm:t>
        <a:bodyPr/>
        <a:lstStyle/>
        <a:p>
          <a:r>
            <a:rPr lang="en-US" sz="2700" dirty="0"/>
            <a:t>Database Migrations, Fetch Data From Database, Displaying Data On Templates, Adding Condition On Data, Sending data from </a:t>
          </a:r>
          <a:r>
            <a:rPr lang="en-US" sz="2700" dirty="0" err="1"/>
            <a:t>url</a:t>
          </a:r>
          <a:r>
            <a:rPr lang="en-US" sz="2700" dirty="0"/>
            <a:t> to view, Sending data from view to template, Saving objects into database, Sorting objects, Filtering objects, Deleting objects, Difference between session and cookie, Creating sessions and cookies in Django.</a:t>
          </a:r>
          <a:endParaRPr lang="en-IN" sz="2700" b="0" dirty="0"/>
        </a:p>
      </dgm:t>
    </dgm:pt>
    <dgm:pt modelId="{0A91DE68-EA12-436C-90AD-A77B8BC894D9}" type="parTrans" cxnId="{A8956CE6-FC52-435B-B274-B2464F6589BB}">
      <dgm:prSet/>
      <dgm:spPr/>
      <dgm:t>
        <a:bodyPr/>
        <a:lstStyle/>
        <a:p>
          <a:endParaRPr lang="en-US"/>
        </a:p>
      </dgm:t>
    </dgm:pt>
    <dgm:pt modelId="{A7454706-B742-4409-A511-DC9BD534002F}" type="sibTrans" cxnId="{A8956CE6-FC52-435B-B274-B2464F6589BB}">
      <dgm:prSet/>
      <dgm:spPr/>
      <dgm:t>
        <a:bodyPr/>
        <a:lstStyle/>
        <a:p>
          <a:endParaRPr lang="en-US"/>
        </a:p>
      </dgm:t>
    </dgm:pt>
    <dgm:pt modelId="{5935E145-FD17-4F9E-B302-F21214F4A468}" type="pres">
      <dgm:prSet presAssocID="{18EA6042-2EA2-4065-81DF-7A18BEC42C1C}" presName="linear" presStyleCnt="0">
        <dgm:presLayoutVars>
          <dgm:animLvl val="lvl"/>
          <dgm:resizeHandles val="exact"/>
        </dgm:presLayoutVars>
      </dgm:prSet>
      <dgm:spPr/>
    </dgm:pt>
    <dgm:pt modelId="{C8F18B38-BDBB-470A-815C-35A2A46B78E0}" type="pres">
      <dgm:prSet presAssocID="{D8C5DAEA-C992-4E2A-9A51-E215DE48D2A6}" presName="parentText" presStyleLbl="node1" presStyleIdx="0" presStyleCnt="1" custLinFactNeighborX="-148" custLinFactNeighborY="-7917">
        <dgm:presLayoutVars>
          <dgm:chMax val="0"/>
          <dgm:bulletEnabled val="1"/>
        </dgm:presLayoutVars>
      </dgm:prSet>
      <dgm:spPr/>
    </dgm:pt>
  </dgm:ptLst>
  <dgm:cxnLst>
    <dgm:cxn modelId="{1A102205-18B3-446C-A3D0-E5B8DBD2AEBB}" type="presOf" srcId="{D8C5DAEA-C992-4E2A-9A51-E215DE48D2A6}" destId="{C8F18B38-BDBB-470A-815C-35A2A46B78E0}" srcOrd="0" destOrd="0" presId="urn:microsoft.com/office/officeart/2005/8/layout/vList2"/>
    <dgm:cxn modelId="{43D8BC78-3978-4C23-B9DA-F6115E3E708A}" type="presOf" srcId="{18EA6042-2EA2-4065-81DF-7A18BEC42C1C}" destId="{5935E145-FD17-4F9E-B302-F21214F4A468}" srcOrd="0" destOrd="0" presId="urn:microsoft.com/office/officeart/2005/8/layout/vList2"/>
    <dgm:cxn modelId="{A8956CE6-FC52-435B-B274-B2464F6589BB}" srcId="{18EA6042-2EA2-4065-81DF-7A18BEC42C1C}" destId="{D8C5DAEA-C992-4E2A-9A51-E215DE48D2A6}" srcOrd="0" destOrd="0" parTransId="{0A91DE68-EA12-436C-90AD-A77B8BC894D9}" sibTransId="{A7454706-B742-4409-A511-DC9BD534002F}"/>
    <dgm:cxn modelId="{C10C5AFD-0029-4F37-A899-5D5BE25480F0}" type="presParOf" srcId="{5935E145-FD17-4F9E-B302-F21214F4A468}" destId="{C8F18B38-BDBB-470A-815C-35A2A46B78E0}"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EA6042-2EA2-4065-81DF-7A18BEC42C1C}" type="doc">
      <dgm:prSet loTypeId="urn:microsoft.com/office/officeart/2005/8/layout/vList2" loCatId="list" qsTypeId="urn:microsoft.com/office/officeart/2005/8/quickstyle/simple3" qsCatId="simple" csTypeId="urn:microsoft.com/office/officeart/2005/8/colors/accent1_2" csCatId="accent1" phldr="1"/>
      <dgm:spPr/>
      <dgm:t>
        <a:bodyPr/>
        <a:lstStyle/>
        <a:p>
          <a:endParaRPr lang="en-IN"/>
        </a:p>
      </dgm:t>
    </dgm:pt>
    <dgm:pt modelId="{18CE3E0E-3290-422E-BD32-E1AD8CB2C6E4}">
      <dgm:prSet custT="1"/>
      <dgm:spPr/>
      <dgm:t>
        <a:bodyPr/>
        <a:lstStyle/>
        <a:p>
          <a:r>
            <a:rPr lang="en-US" sz="2700" dirty="0"/>
            <a:t>Creating a functional website in Django, Four Important Pillars to Deploy, Registering on </a:t>
          </a:r>
          <a:r>
            <a:rPr lang="en-US" sz="2700" dirty="0" err="1"/>
            <a:t>Heroku</a:t>
          </a:r>
          <a:r>
            <a:rPr lang="en-US" sz="2700" dirty="0"/>
            <a:t> and GitHub, Push project from Local System to GitHub, Working with Django </a:t>
          </a:r>
          <a:r>
            <a:rPr lang="en-US" sz="2700" dirty="0" err="1"/>
            <a:t>Heroku</a:t>
          </a:r>
          <a:endParaRPr lang="en-US" sz="2700" dirty="0"/>
        </a:p>
        <a:p>
          <a:r>
            <a:rPr lang="en-US" sz="2700" dirty="0"/>
            <a:t>Working with Static Root, Handling WSGI with </a:t>
          </a:r>
          <a:r>
            <a:rPr lang="en-US" sz="2700" dirty="0" err="1"/>
            <a:t>gunicorn</a:t>
          </a:r>
          <a:r>
            <a:rPr lang="en-US" sz="2700" dirty="0"/>
            <a:t>, Setting up Database &amp; adding users</a:t>
          </a:r>
        </a:p>
      </dgm:t>
    </dgm:pt>
    <dgm:pt modelId="{5A57522C-1C32-440C-9F64-9EF818720D9C}" type="sibTrans" cxnId="{F61405CD-BF4D-4132-A8F6-94A55AFF2516}">
      <dgm:prSet/>
      <dgm:spPr/>
      <dgm:t>
        <a:bodyPr/>
        <a:lstStyle/>
        <a:p>
          <a:endParaRPr lang="en-IN"/>
        </a:p>
      </dgm:t>
    </dgm:pt>
    <dgm:pt modelId="{317883E6-23F7-434D-A777-EB6C46138693}" type="parTrans" cxnId="{F61405CD-BF4D-4132-A8F6-94A55AFF2516}">
      <dgm:prSet/>
      <dgm:spPr/>
      <dgm:t>
        <a:bodyPr/>
        <a:lstStyle/>
        <a:p>
          <a:endParaRPr lang="en-IN"/>
        </a:p>
      </dgm:t>
    </dgm:pt>
    <dgm:pt modelId="{5935E145-FD17-4F9E-B302-F21214F4A468}" type="pres">
      <dgm:prSet presAssocID="{18EA6042-2EA2-4065-81DF-7A18BEC42C1C}" presName="linear" presStyleCnt="0">
        <dgm:presLayoutVars>
          <dgm:animLvl val="lvl"/>
          <dgm:resizeHandles val="exact"/>
        </dgm:presLayoutVars>
      </dgm:prSet>
      <dgm:spPr/>
    </dgm:pt>
    <dgm:pt modelId="{5466BB5F-F99C-4092-B11E-435C2EC87E42}" type="pres">
      <dgm:prSet presAssocID="{18CE3E0E-3290-422E-BD32-E1AD8CB2C6E4}" presName="parentText" presStyleLbl="node1" presStyleIdx="0" presStyleCnt="1" custLinFactNeighborY="21758">
        <dgm:presLayoutVars>
          <dgm:chMax val="0"/>
          <dgm:bulletEnabled val="1"/>
        </dgm:presLayoutVars>
      </dgm:prSet>
      <dgm:spPr/>
    </dgm:pt>
  </dgm:ptLst>
  <dgm:cxnLst>
    <dgm:cxn modelId="{43D8BC78-3978-4C23-B9DA-F6115E3E708A}" type="presOf" srcId="{18EA6042-2EA2-4065-81DF-7A18BEC42C1C}" destId="{5935E145-FD17-4F9E-B302-F21214F4A468}" srcOrd="0" destOrd="0" presId="urn:microsoft.com/office/officeart/2005/8/layout/vList2"/>
    <dgm:cxn modelId="{F61405CD-BF4D-4132-A8F6-94A55AFF2516}" srcId="{18EA6042-2EA2-4065-81DF-7A18BEC42C1C}" destId="{18CE3E0E-3290-422E-BD32-E1AD8CB2C6E4}" srcOrd="0" destOrd="0" parTransId="{317883E6-23F7-434D-A777-EB6C46138693}" sibTransId="{5A57522C-1C32-440C-9F64-9EF818720D9C}"/>
    <dgm:cxn modelId="{DBB2FAD8-B514-47F5-B0A3-6A2E767345A4}" type="presOf" srcId="{18CE3E0E-3290-422E-BD32-E1AD8CB2C6E4}" destId="{5466BB5F-F99C-4092-B11E-435C2EC87E42}" srcOrd="0" destOrd="0" presId="urn:microsoft.com/office/officeart/2005/8/layout/vList2"/>
    <dgm:cxn modelId="{1CF4A458-23AF-4C43-8CFF-CF4F19D853E7}" type="presParOf" srcId="{5935E145-FD17-4F9E-B302-F21214F4A468}" destId="{5466BB5F-F99C-4092-B11E-435C2EC87E42}"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0625"/>
          <a:ext cx="10020299" cy="258570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Collections-Container datatypes, Tkinter-GUI applications, Requests-HTTP requests, BeautifulSoup4-web scraping, Scrapy, Zappa, Dash, CherryPy, TurboGears, Flask, Web2Py,</a:t>
          </a:r>
        </a:p>
        <a:p>
          <a:pPr marL="0" lvl="0" indent="0" algn="l" defTabSz="1200150">
            <a:lnSpc>
              <a:spcPct val="90000"/>
            </a:lnSpc>
            <a:spcBef>
              <a:spcPct val="0"/>
            </a:spcBef>
            <a:spcAft>
              <a:spcPct val="35000"/>
            </a:spcAft>
            <a:buNone/>
          </a:pPr>
          <a:r>
            <a:rPr lang="en-US" sz="2700" kern="1200" dirty="0"/>
            <a:t>Bottle, Falcon, CubicWeb, Quixote, Pyramid.</a:t>
          </a:r>
        </a:p>
        <a:p>
          <a:pPr marL="0" lvl="0" indent="0" algn="l" defTabSz="1200150">
            <a:lnSpc>
              <a:spcPct val="90000"/>
            </a:lnSpc>
            <a:spcBef>
              <a:spcPct val="0"/>
            </a:spcBef>
            <a:spcAft>
              <a:spcPct val="35000"/>
            </a:spcAft>
            <a:buNone/>
          </a:pPr>
          <a:endParaRPr lang="en-IN" sz="2000" kern="1200" dirty="0"/>
        </a:p>
      </dsp:txBody>
      <dsp:txXfrm>
        <a:off x="126223" y="176848"/>
        <a:ext cx="9767853" cy="233325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BBEC5-5B01-4132-A331-9D4D3453D65C}">
      <dsp:nvSpPr>
        <dsp:cNvPr id="0" name=""/>
        <dsp:cNvSpPr/>
      </dsp:nvSpPr>
      <dsp:spPr>
        <a:xfrm>
          <a:off x="0" y="0"/>
          <a:ext cx="11201399" cy="2770812"/>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Understanding Django environment, Features of Django and Django architecture, MVC &amp;MTV, Urls and Views, Mapping the views to URLs, Django Template, Template inheritance Django Models, Creating model for site, Converting the model into a table, Fields in Models, Integrating Bootstrap into Django, Creating tables, Creating grids, Creating carousels.</a:t>
          </a:r>
          <a:endParaRPr lang="en-US" sz="2700" b="0" kern="1200" dirty="0"/>
        </a:p>
      </dsp:txBody>
      <dsp:txXfrm>
        <a:off x="135260" y="135260"/>
        <a:ext cx="10930879" cy="2500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26262"/>
          <a:ext cx="11430000" cy="2628288"/>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Introduction to Django Authentication System, Security Problem &amp; Solution with Django Creating Registration Form using Django, Adding Email Field In Forms, Configuring email settings, Sending emails with Django, Adding Grid Layout On Registration Page, Adding Page Restrictions, Login Functionality Test and Logout.</a:t>
          </a:r>
          <a:endParaRPr lang="en-US" sz="2700" b="0" kern="1200" baseline="0" dirty="0"/>
        </a:p>
      </dsp:txBody>
      <dsp:txXfrm>
        <a:off x="128302" y="154564"/>
        <a:ext cx="11173396" cy="237168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F18B38-BDBB-470A-815C-35A2A46B78E0}">
      <dsp:nvSpPr>
        <dsp:cNvPr id="0" name=""/>
        <dsp:cNvSpPr/>
      </dsp:nvSpPr>
      <dsp:spPr>
        <a:xfrm>
          <a:off x="0" y="371100"/>
          <a:ext cx="10591799" cy="2319525"/>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Database Migrations, Fetch Data From Database, Displaying Data On Templates, Adding Condition On Data, Sending data from </a:t>
          </a:r>
          <a:r>
            <a:rPr lang="en-US" sz="2700" kern="1200" dirty="0" err="1"/>
            <a:t>url</a:t>
          </a:r>
          <a:r>
            <a:rPr lang="en-US" sz="2700" kern="1200" dirty="0"/>
            <a:t> to view, Sending data from view to template, Saving objects into database, Sorting objects, Filtering objects, Deleting objects, Difference between session and cookie, Creating sessions and cookies in Django.</a:t>
          </a:r>
          <a:endParaRPr lang="en-IN" sz="2700" b="0" kern="1200" dirty="0"/>
        </a:p>
      </dsp:txBody>
      <dsp:txXfrm>
        <a:off x="113230" y="484330"/>
        <a:ext cx="10365339" cy="209306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66BB5F-F99C-4092-B11E-435C2EC87E42}">
      <dsp:nvSpPr>
        <dsp:cNvPr id="0" name=""/>
        <dsp:cNvSpPr/>
      </dsp:nvSpPr>
      <dsp:spPr>
        <a:xfrm>
          <a:off x="0" y="552841"/>
          <a:ext cx="9982200" cy="2509650"/>
        </a:xfrm>
        <a:prstGeom prst="roundRect">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a:noFill/>
        </a:ln>
        <a:effectLst>
          <a:outerShdw blurRad="40000" dist="20000" dir="5400000" rotWithShape="0">
            <a:srgbClr val="000000">
              <a:alpha val="38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Creating a functional website in Django, Four Important Pillars to Deploy, Registering on </a:t>
          </a:r>
          <a:r>
            <a:rPr lang="en-US" sz="2700" kern="1200" dirty="0" err="1"/>
            <a:t>Heroku</a:t>
          </a:r>
          <a:r>
            <a:rPr lang="en-US" sz="2700" kern="1200" dirty="0"/>
            <a:t> and GitHub, Push project from Local System to GitHub, Working with Django </a:t>
          </a:r>
          <a:r>
            <a:rPr lang="en-US" sz="2700" kern="1200" dirty="0" err="1"/>
            <a:t>Heroku</a:t>
          </a:r>
          <a:endParaRPr lang="en-US" sz="2700" kern="1200" dirty="0"/>
        </a:p>
        <a:p>
          <a:pPr marL="0" lvl="0" indent="0" algn="l" defTabSz="1200150">
            <a:lnSpc>
              <a:spcPct val="90000"/>
            </a:lnSpc>
            <a:spcBef>
              <a:spcPct val="0"/>
            </a:spcBef>
            <a:spcAft>
              <a:spcPct val="35000"/>
            </a:spcAft>
            <a:buNone/>
          </a:pPr>
          <a:r>
            <a:rPr lang="en-US" sz="2700" kern="1200" dirty="0"/>
            <a:t>Working with Static Root, Handling WSGI with </a:t>
          </a:r>
          <a:r>
            <a:rPr lang="en-US" sz="2700" kern="1200" dirty="0" err="1"/>
            <a:t>gunicorn</a:t>
          </a:r>
          <a:r>
            <a:rPr lang="en-US" sz="2700" kern="1200" dirty="0"/>
            <a:t>, Setting up Database &amp; adding users</a:t>
          </a:r>
        </a:p>
      </dsp:txBody>
      <dsp:txXfrm>
        <a:off x="122511" y="675352"/>
        <a:ext cx="9737178" cy="226462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A8E894EF-B93C-4B6D-8FB8-8960BCB5A269}" type="datetimeFigureOut">
              <a:rPr lang="en-US" smtClean="0"/>
              <a:pPr/>
              <a:t>9/27/2024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B14A4A95-7A0B-4549-9352-6E6525D64E4D}" type="slidenum">
              <a:rPr lang="en-US" smtClean="0"/>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8407A98-9A18-4E47-AF94-789022A0201E}" type="datetimeFigureOut">
              <a:rPr lang="en-US" smtClean="0"/>
              <a:pPr/>
              <a:t>9/27/2024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635F52E-BA8C-4FAB-BCFA-C67A14D9CE22}" type="slidenum">
              <a:rPr lang="en-US" smtClean="0"/>
              <a:pPr/>
              <a:t>‹#›</a:t>
            </a:fld>
            <a:endParaRPr lang="en-US"/>
          </a:p>
        </p:txBody>
      </p:sp>
    </p:spTree>
    <p:extLst>
      <p:ext uri="{BB962C8B-B14F-4D97-AF65-F5344CB8AC3E}">
        <p14:creationId xmlns:p14="http://schemas.microsoft.com/office/powerpoint/2010/main" val="34027630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2</a:t>
            </a:fld>
            <a:endParaRPr lang="en-US" dirty="0"/>
          </a:p>
        </p:txBody>
      </p:sp>
    </p:spTree>
    <p:extLst>
      <p:ext uri="{BB962C8B-B14F-4D97-AF65-F5344CB8AC3E}">
        <p14:creationId xmlns:p14="http://schemas.microsoft.com/office/powerpoint/2010/main" val="46466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3</a:t>
            </a:fld>
            <a:endParaRPr lang="en-US" dirty="0"/>
          </a:p>
        </p:txBody>
      </p:sp>
    </p:spTree>
    <p:extLst>
      <p:ext uri="{BB962C8B-B14F-4D97-AF65-F5344CB8AC3E}">
        <p14:creationId xmlns:p14="http://schemas.microsoft.com/office/powerpoint/2010/main" val="1043892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4</a:t>
            </a:fld>
            <a:endParaRPr lang="en-US"/>
          </a:p>
        </p:txBody>
      </p:sp>
    </p:spTree>
    <p:extLst>
      <p:ext uri="{BB962C8B-B14F-4D97-AF65-F5344CB8AC3E}">
        <p14:creationId xmlns:p14="http://schemas.microsoft.com/office/powerpoint/2010/main" val="592596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5</a:t>
            </a:fld>
            <a:endParaRPr lang="en-US"/>
          </a:p>
        </p:txBody>
      </p:sp>
    </p:spTree>
    <p:extLst>
      <p:ext uri="{BB962C8B-B14F-4D97-AF65-F5344CB8AC3E}">
        <p14:creationId xmlns:p14="http://schemas.microsoft.com/office/powerpoint/2010/main" val="28177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635F52E-BA8C-4FAB-BCFA-C67A14D9CE22}" type="slidenum">
              <a:rPr lang="en-US" smtClean="0"/>
              <a:pPr/>
              <a:t>6</a:t>
            </a:fld>
            <a:endParaRPr lang="en-US"/>
          </a:p>
        </p:txBody>
      </p:sp>
    </p:spTree>
    <p:extLst>
      <p:ext uri="{BB962C8B-B14F-4D97-AF65-F5344CB8AC3E}">
        <p14:creationId xmlns:p14="http://schemas.microsoft.com/office/powerpoint/2010/main" val="30914525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7</a:t>
            </a:fld>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36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09D00BE-B66D-4FE7-9FBC-D6936713ABEA}" type="slidenum">
              <a:rPr lang="en-US" altLang="en-US">
                <a:latin typeface="Calibri" panose="020F0502020204030204" pitchFamily="34" charset="0"/>
              </a:rPr>
              <a:pPr/>
              <a:t>16</a:t>
            </a:fld>
            <a:endParaRPr lang="en-US" altLang="en-US">
              <a:latin typeface="Calibri" panose="020F0502020204030204" pitchFamily="34" charset="0"/>
            </a:endParaRPr>
          </a:p>
        </p:txBody>
      </p:sp>
    </p:spTree>
    <p:extLst>
      <p:ext uri="{BB962C8B-B14F-4D97-AF65-F5344CB8AC3E}">
        <p14:creationId xmlns:p14="http://schemas.microsoft.com/office/powerpoint/2010/main" val="28461364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46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469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E49F85D-D2E3-4BFA-BAAF-D7159CD14521}" type="slidenum">
              <a:rPr lang="en-US" altLang="en-US">
                <a:latin typeface="Calibri" panose="020F0502020204030204" pitchFamily="34" charset="0"/>
              </a:rPr>
              <a:pPr/>
              <a:t>17</a:t>
            </a:fld>
            <a:endParaRPr lang="en-US" altLang="en-US">
              <a:latin typeface="Calibri" panose="020F0502020204030204" pitchFamily="34" charset="0"/>
            </a:endParaRPr>
          </a:p>
        </p:txBody>
      </p:sp>
    </p:spTree>
    <p:extLst>
      <p:ext uri="{BB962C8B-B14F-4D97-AF65-F5344CB8AC3E}">
        <p14:creationId xmlns:p14="http://schemas.microsoft.com/office/powerpoint/2010/main" val="36492202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57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747F5CB-1360-458C-95B4-03A517A1A1B9}" type="slidenum">
              <a:rPr lang="en-US" altLang="en-US">
                <a:latin typeface="Calibri" panose="020F0502020204030204" pitchFamily="34" charset="0"/>
              </a:rPr>
              <a:pPr/>
              <a:t>18</a:t>
            </a:fld>
            <a:endParaRPr lang="en-US" altLang="en-US">
              <a:latin typeface="Calibri" panose="020F0502020204030204" pitchFamily="34" charset="0"/>
            </a:endParaRPr>
          </a:p>
        </p:txBody>
      </p:sp>
    </p:spTree>
    <p:extLst>
      <p:ext uri="{BB962C8B-B14F-4D97-AF65-F5344CB8AC3E}">
        <p14:creationId xmlns:p14="http://schemas.microsoft.com/office/powerpoint/2010/main" val="1151566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67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84989A-591C-4F1A-A60E-CFA0A24CC5CE}" type="slidenum">
              <a:rPr lang="en-US" altLang="en-US">
                <a:latin typeface="Calibri" panose="020F0502020204030204" pitchFamily="34" charset="0"/>
              </a:rPr>
              <a:pPr/>
              <a:t>19</a:t>
            </a:fld>
            <a:endParaRPr lang="en-US" altLang="en-US">
              <a:latin typeface="Calibri" panose="020F0502020204030204" pitchFamily="34" charset="0"/>
            </a:endParaRPr>
          </a:p>
        </p:txBody>
      </p:sp>
    </p:spTree>
    <p:extLst>
      <p:ext uri="{BB962C8B-B14F-4D97-AF65-F5344CB8AC3E}">
        <p14:creationId xmlns:p14="http://schemas.microsoft.com/office/powerpoint/2010/main" val="1578718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77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A3B10EA-4C2F-404B-B35D-3AA00E59F384}" type="slidenum">
              <a:rPr lang="en-US" altLang="en-US">
                <a:latin typeface="Calibri" panose="020F0502020204030204" pitchFamily="34" charset="0"/>
              </a:rPr>
              <a:pPr/>
              <a:t>20</a:t>
            </a:fld>
            <a:endParaRPr lang="en-US" altLang="en-US">
              <a:latin typeface="Calibri" panose="020F0502020204030204" pitchFamily="34" charset="0"/>
            </a:endParaRPr>
          </a:p>
        </p:txBody>
      </p:sp>
    </p:spTree>
    <p:extLst>
      <p:ext uri="{BB962C8B-B14F-4D97-AF65-F5344CB8AC3E}">
        <p14:creationId xmlns:p14="http://schemas.microsoft.com/office/powerpoint/2010/main" val="2037721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878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A1BE0D-E860-42C6-A7D7-C496895B2260}" type="slidenum">
              <a:rPr lang="en-US" altLang="en-US">
                <a:latin typeface="Calibri" panose="020F0502020204030204" pitchFamily="34" charset="0"/>
              </a:rPr>
              <a:pPr/>
              <a:t>21</a:t>
            </a:fld>
            <a:endParaRPr lang="en-US" altLang="en-US">
              <a:latin typeface="Calibri" panose="020F0502020204030204" pitchFamily="34" charset="0"/>
            </a:endParaRPr>
          </a:p>
        </p:txBody>
      </p:sp>
    </p:spTree>
    <p:extLst>
      <p:ext uri="{BB962C8B-B14F-4D97-AF65-F5344CB8AC3E}">
        <p14:creationId xmlns:p14="http://schemas.microsoft.com/office/powerpoint/2010/main" val="32521370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198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AAA31F6-4B12-4192-96EB-67260B631F1D}" type="slidenum">
              <a:rPr lang="en-US" altLang="en-US">
                <a:latin typeface="Calibri" panose="020F0502020204030204" pitchFamily="34" charset="0"/>
              </a:rPr>
              <a:pPr/>
              <a:t>22</a:t>
            </a:fld>
            <a:endParaRPr lang="en-US" altLang="en-US">
              <a:latin typeface="Calibri" panose="020F0502020204030204" pitchFamily="34" charset="0"/>
            </a:endParaRPr>
          </a:p>
        </p:txBody>
      </p:sp>
    </p:spTree>
    <p:extLst>
      <p:ext uri="{BB962C8B-B14F-4D97-AF65-F5344CB8AC3E}">
        <p14:creationId xmlns:p14="http://schemas.microsoft.com/office/powerpoint/2010/main" val="1532474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083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2D203F-92EA-46DC-8E84-64283595DB1B}" type="slidenum">
              <a:rPr lang="en-US" altLang="en-US">
                <a:latin typeface="Calibri" panose="020F0502020204030204" pitchFamily="34" charset="0"/>
              </a:rPr>
              <a:pPr/>
              <a:t>23</a:t>
            </a:fld>
            <a:endParaRPr lang="en-US" altLang="en-US">
              <a:latin typeface="Calibri" panose="020F0502020204030204" pitchFamily="34" charset="0"/>
            </a:endParaRPr>
          </a:p>
        </p:txBody>
      </p:sp>
    </p:spTree>
    <p:extLst>
      <p:ext uri="{BB962C8B-B14F-4D97-AF65-F5344CB8AC3E}">
        <p14:creationId xmlns:p14="http://schemas.microsoft.com/office/powerpoint/2010/main" val="411190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186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0E8DB6A-CA7C-4C0C-8BEF-899ECDFFC191}" type="slidenum">
              <a:rPr lang="en-US" altLang="en-US">
                <a:latin typeface="Calibri" panose="020F0502020204030204" pitchFamily="34" charset="0"/>
              </a:rPr>
              <a:pPr/>
              <a:t>24</a:t>
            </a:fld>
            <a:endParaRPr lang="en-US" altLang="en-US">
              <a:latin typeface="Calibri" panose="020F0502020204030204" pitchFamily="34" charset="0"/>
            </a:endParaRPr>
          </a:p>
        </p:txBody>
      </p:sp>
    </p:spTree>
    <p:extLst>
      <p:ext uri="{BB962C8B-B14F-4D97-AF65-F5344CB8AC3E}">
        <p14:creationId xmlns:p14="http://schemas.microsoft.com/office/powerpoint/2010/main" val="39037345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288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DC843BC-CDEB-496C-8390-E23649FBF89E}" type="slidenum">
              <a:rPr lang="en-US" altLang="en-US">
                <a:latin typeface="Calibri" panose="020F0502020204030204" pitchFamily="34" charset="0"/>
              </a:rPr>
              <a:pPr/>
              <a:t>25</a:t>
            </a:fld>
            <a:endParaRPr lang="en-US" altLang="en-US">
              <a:latin typeface="Calibri" panose="020F0502020204030204" pitchFamily="34" charset="0"/>
            </a:endParaRPr>
          </a:p>
        </p:txBody>
      </p:sp>
    </p:spTree>
    <p:extLst>
      <p:ext uri="{BB962C8B-B14F-4D97-AF65-F5344CB8AC3E}">
        <p14:creationId xmlns:p14="http://schemas.microsoft.com/office/powerpoint/2010/main" val="396454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390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E54A13B-C3CD-4C52-A312-6D1358D21A26}" type="slidenum">
              <a:rPr lang="en-US" altLang="en-US">
                <a:latin typeface="Calibri" panose="020F0502020204030204" pitchFamily="34" charset="0"/>
              </a:rPr>
              <a:pPr/>
              <a:t>28</a:t>
            </a:fld>
            <a:endParaRPr lang="en-US" altLang="en-US">
              <a:latin typeface="Calibri" panose="020F0502020204030204" pitchFamily="34" charset="0"/>
            </a:endParaRPr>
          </a:p>
        </p:txBody>
      </p:sp>
    </p:spTree>
    <p:extLst>
      <p:ext uri="{BB962C8B-B14F-4D97-AF65-F5344CB8AC3E}">
        <p14:creationId xmlns:p14="http://schemas.microsoft.com/office/powerpoint/2010/main" val="3470209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493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065EEAA-8EA5-4F04-A042-A6E73B56891B}" type="slidenum">
              <a:rPr lang="en-US" altLang="en-US">
                <a:latin typeface="Calibri" panose="020F0502020204030204" pitchFamily="34" charset="0"/>
              </a:rPr>
              <a:pPr/>
              <a:t>29</a:t>
            </a:fld>
            <a:endParaRPr lang="en-US" altLang="en-US">
              <a:latin typeface="Calibri" panose="020F0502020204030204" pitchFamily="34" charset="0"/>
            </a:endParaRPr>
          </a:p>
        </p:txBody>
      </p:sp>
    </p:spTree>
    <p:extLst>
      <p:ext uri="{BB962C8B-B14F-4D97-AF65-F5344CB8AC3E}">
        <p14:creationId xmlns:p14="http://schemas.microsoft.com/office/powerpoint/2010/main" val="34196070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595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5ECFF1F-18D6-4801-8541-81F97C76200A}" type="slidenum">
              <a:rPr lang="en-US" altLang="en-US">
                <a:latin typeface="Calibri" panose="020F0502020204030204" pitchFamily="34" charset="0"/>
              </a:rPr>
              <a:pPr/>
              <a:t>30</a:t>
            </a:fld>
            <a:endParaRPr lang="en-US" altLang="en-US">
              <a:latin typeface="Calibri" panose="020F0502020204030204" pitchFamily="34" charset="0"/>
            </a:endParaRPr>
          </a:p>
        </p:txBody>
      </p:sp>
    </p:spTree>
    <p:extLst>
      <p:ext uri="{BB962C8B-B14F-4D97-AF65-F5344CB8AC3E}">
        <p14:creationId xmlns:p14="http://schemas.microsoft.com/office/powerpoint/2010/main" val="91396706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698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6A65251-A7E1-4D3D-861B-4F0994557FCC}" type="slidenum">
              <a:rPr lang="en-US" altLang="en-US">
                <a:latin typeface="Calibri" panose="020F0502020204030204" pitchFamily="34" charset="0"/>
              </a:rPr>
              <a:pPr/>
              <a:t>31</a:t>
            </a:fld>
            <a:endParaRPr lang="en-US" altLang="en-US">
              <a:latin typeface="Calibri" panose="020F0502020204030204" pitchFamily="34" charset="0"/>
            </a:endParaRPr>
          </a:p>
        </p:txBody>
      </p:sp>
    </p:spTree>
    <p:extLst>
      <p:ext uri="{BB962C8B-B14F-4D97-AF65-F5344CB8AC3E}">
        <p14:creationId xmlns:p14="http://schemas.microsoft.com/office/powerpoint/2010/main" val="41098164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800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3AF2957-422D-484D-9659-5C80E48975E2}" type="slidenum">
              <a:rPr lang="en-US" altLang="en-US">
                <a:latin typeface="Calibri" panose="020F0502020204030204" pitchFamily="34" charset="0"/>
              </a:rPr>
              <a:pPr/>
              <a:t>32</a:t>
            </a:fld>
            <a:endParaRPr lang="en-US" altLang="en-US">
              <a:latin typeface="Calibri" panose="020F0502020204030204" pitchFamily="34" charset="0"/>
            </a:endParaRPr>
          </a:p>
        </p:txBody>
      </p:sp>
    </p:spTree>
    <p:extLst>
      <p:ext uri="{BB962C8B-B14F-4D97-AF65-F5344CB8AC3E}">
        <p14:creationId xmlns:p14="http://schemas.microsoft.com/office/powerpoint/2010/main" val="41342973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2902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143BF3-064C-4C21-B537-1169C9EEC4FC}" type="slidenum">
              <a:rPr lang="en-US" altLang="en-US">
                <a:latin typeface="Calibri" panose="020F0502020204030204" pitchFamily="34" charset="0"/>
              </a:rPr>
              <a:pPr/>
              <a:t>33</a:t>
            </a:fld>
            <a:endParaRPr lang="en-US" altLang="en-US">
              <a:latin typeface="Calibri" panose="020F0502020204030204" pitchFamily="34" charset="0"/>
            </a:endParaRPr>
          </a:p>
        </p:txBody>
      </p:sp>
    </p:spTree>
    <p:extLst>
      <p:ext uri="{BB962C8B-B14F-4D97-AF65-F5344CB8AC3E}">
        <p14:creationId xmlns:p14="http://schemas.microsoft.com/office/powerpoint/2010/main" val="18147615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005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D873F7-FB8B-420D-9568-724A809F075E}" type="slidenum">
              <a:rPr lang="en-US" altLang="en-US">
                <a:latin typeface="Calibri" panose="020F0502020204030204" pitchFamily="34" charset="0"/>
              </a:rPr>
              <a:pPr/>
              <a:t>34</a:t>
            </a:fld>
            <a:endParaRPr lang="en-US" altLang="en-US">
              <a:latin typeface="Calibri" panose="020F0502020204030204" pitchFamily="34" charset="0"/>
            </a:endParaRPr>
          </a:p>
        </p:txBody>
      </p:sp>
    </p:spTree>
    <p:extLst>
      <p:ext uri="{BB962C8B-B14F-4D97-AF65-F5344CB8AC3E}">
        <p14:creationId xmlns:p14="http://schemas.microsoft.com/office/powerpoint/2010/main" val="340869051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31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312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C2D27E9-7C2D-4308-9C2E-15F384B177A2}" type="slidenum">
              <a:rPr lang="en-US" altLang="en-US">
                <a:latin typeface="Calibri" panose="020F0502020204030204" pitchFamily="34" charset="0"/>
              </a:rPr>
              <a:pPr/>
              <a:t>36</a:t>
            </a:fld>
            <a:endParaRPr lang="en-US" altLang="en-US">
              <a:latin typeface="Calibri" panose="020F0502020204030204" pitchFamily="34" charset="0"/>
            </a:endParaRPr>
          </a:p>
        </p:txBody>
      </p:sp>
    </p:spTree>
    <p:extLst>
      <p:ext uri="{BB962C8B-B14F-4D97-AF65-F5344CB8AC3E}">
        <p14:creationId xmlns:p14="http://schemas.microsoft.com/office/powerpoint/2010/main" val="96143442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51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517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306C2B2-1FA7-48D5-939B-77D479476A59}" type="slidenum">
              <a:rPr lang="en-US" altLang="en-US">
                <a:latin typeface="Calibri" panose="020F0502020204030204" pitchFamily="34" charset="0"/>
              </a:rPr>
              <a:pPr/>
              <a:t>37</a:t>
            </a:fld>
            <a:endParaRPr lang="en-US" altLang="en-US">
              <a:latin typeface="Calibri" panose="020F0502020204030204" pitchFamily="34" charset="0"/>
            </a:endParaRPr>
          </a:p>
        </p:txBody>
      </p:sp>
    </p:spTree>
    <p:extLst>
      <p:ext uri="{BB962C8B-B14F-4D97-AF65-F5344CB8AC3E}">
        <p14:creationId xmlns:p14="http://schemas.microsoft.com/office/powerpoint/2010/main" val="38949953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8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382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41816F9-10E7-4E27-9128-A7EEA0D7C6FA}" type="slidenum">
              <a:rPr lang="en-US" altLang="en-US">
                <a:latin typeface="Calibri" panose="020F0502020204030204" pitchFamily="34" charset="0"/>
              </a:rPr>
              <a:pPr/>
              <a:t>39</a:t>
            </a:fld>
            <a:endParaRPr lang="en-US" altLang="en-US">
              <a:latin typeface="Calibri" panose="020F0502020204030204" pitchFamily="34" charset="0"/>
            </a:endParaRPr>
          </a:p>
        </p:txBody>
      </p:sp>
    </p:spTree>
    <p:extLst>
      <p:ext uri="{BB962C8B-B14F-4D97-AF65-F5344CB8AC3E}">
        <p14:creationId xmlns:p14="http://schemas.microsoft.com/office/powerpoint/2010/main" val="16242278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33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981F77-6726-4D0F-A8A5-C5A39911A92E}" type="slidenum">
              <a:rPr lang="en-US" altLang="en-US">
                <a:latin typeface="Calibri" panose="020F0502020204030204" pitchFamily="34" charset="0"/>
              </a:rPr>
              <a:pPr/>
              <a:t>40</a:t>
            </a:fld>
            <a:endParaRPr lang="en-US" altLang="en-US">
              <a:latin typeface="Calibri" panose="020F0502020204030204" pitchFamily="34" charset="0"/>
            </a:endParaRPr>
          </a:p>
        </p:txBody>
      </p:sp>
    </p:spTree>
    <p:extLst>
      <p:ext uri="{BB962C8B-B14F-4D97-AF65-F5344CB8AC3E}">
        <p14:creationId xmlns:p14="http://schemas.microsoft.com/office/powerpoint/2010/main" val="282604198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4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438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67A53A7-D947-414E-B8FC-7E1BC49B9CC9}" type="slidenum">
              <a:rPr lang="en-US" altLang="en-US">
                <a:latin typeface="Calibri" panose="020F0502020204030204" pitchFamily="34" charset="0"/>
              </a:rPr>
              <a:pPr/>
              <a:t>41</a:t>
            </a:fld>
            <a:endParaRPr lang="en-US" altLang="en-US">
              <a:latin typeface="Calibri" panose="020F0502020204030204" pitchFamily="34" charset="0"/>
            </a:endParaRPr>
          </a:p>
        </p:txBody>
      </p:sp>
    </p:spTree>
    <p:extLst>
      <p:ext uri="{BB962C8B-B14F-4D97-AF65-F5344CB8AC3E}">
        <p14:creationId xmlns:p14="http://schemas.microsoft.com/office/powerpoint/2010/main" val="4214162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54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541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85EDF7C-DA17-4D11-B5EA-2B10F5F7DD5A}" type="slidenum">
              <a:rPr lang="en-US" altLang="en-US">
                <a:latin typeface="Calibri" panose="020F0502020204030204" pitchFamily="34" charset="0"/>
              </a:rPr>
              <a:pPr/>
              <a:t>42</a:t>
            </a:fld>
            <a:endParaRPr lang="en-US" altLang="en-US">
              <a:latin typeface="Calibri" panose="020F0502020204030204" pitchFamily="34" charset="0"/>
            </a:endParaRPr>
          </a:p>
        </p:txBody>
      </p:sp>
    </p:spTree>
    <p:extLst>
      <p:ext uri="{BB962C8B-B14F-4D97-AF65-F5344CB8AC3E}">
        <p14:creationId xmlns:p14="http://schemas.microsoft.com/office/powerpoint/2010/main" val="76403453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6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643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4361DB3-6264-4F47-A9C4-D1B466E775B4}" type="slidenum">
              <a:rPr lang="en-US" altLang="en-US">
                <a:latin typeface="Calibri" panose="020F0502020204030204" pitchFamily="34" charset="0"/>
              </a:rPr>
              <a:pPr/>
              <a:t>43</a:t>
            </a:fld>
            <a:endParaRPr lang="en-US" altLang="en-US">
              <a:latin typeface="Calibri" panose="020F0502020204030204" pitchFamily="34" charset="0"/>
            </a:endParaRPr>
          </a:p>
        </p:txBody>
      </p:sp>
    </p:spTree>
    <p:extLst>
      <p:ext uri="{BB962C8B-B14F-4D97-AF65-F5344CB8AC3E}">
        <p14:creationId xmlns:p14="http://schemas.microsoft.com/office/powerpoint/2010/main" val="23038416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7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4746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69061C-90CB-4ECF-BD2D-C477CDEAC4F2}" type="slidenum">
              <a:rPr lang="en-US" altLang="en-US">
                <a:latin typeface="Calibri" panose="020F0502020204030204" pitchFamily="34" charset="0"/>
              </a:rPr>
              <a:pPr/>
              <a:t>44</a:t>
            </a:fld>
            <a:endParaRPr lang="en-US" altLang="en-US">
              <a:latin typeface="Calibri" panose="020F0502020204030204" pitchFamily="34" charset="0"/>
            </a:endParaRPr>
          </a:p>
        </p:txBody>
      </p:sp>
    </p:spTree>
    <p:extLst>
      <p:ext uri="{BB962C8B-B14F-4D97-AF65-F5344CB8AC3E}">
        <p14:creationId xmlns:p14="http://schemas.microsoft.com/office/powerpoint/2010/main" val="28646214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67F9AC7-44EB-4DED-918B-559437EA367E}" type="datetime1">
              <a:rPr lang="en-US" smtClean="0"/>
              <a:t>9/27/2024</a:t>
            </a:fld>
            <a:endParaRPr lang="en-US"/>
          </a:p>
        </p:txBody>
      </p:sp>
      <p:sp>
        <p:nvSpPr>
          <p:cNvPr id="5" name="Footer Placeholder 4"/>
          <p:cNvSpPr>
            <a:spLocks noGrp="1"/>
          </p:cNvSpPr>
          <p:nvPr>
            <p:ph type="ftr" sz="quarter" idx="11"/>
          </p:nvPr>
        </p:nvSpPr>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2EF5A20-8FCB-4AC0-9561-ECF53E349C22}" type="datetime1">
              <a:rPr lang="en-US" smtClean="0"/>
              <a:t>9/27/2024</a:t>
            </a:fld>
            <a:endParaRPr lang="en-US"/>
          </a:p>
        </p:txBody>
      </p:sp>
      <p:sp>
        <p:nvSpPr>
          <p:cNvPr id="5" name="Footer Placeholder 4"/>
          <p:cNvSpPr>
            <a:spLocks noGrp="1"/>
          </p:cNvSpPr>
          <p:nvPr>
            <p:ph type="ftr" sz="quarter" idx="11"/>
          </p:nvPr>
        </p:nvSpPr>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2552B0B-00F6-4190-83DF-1342BB673F19}" type="datetime1">
              <a:rPr lang="en-US" smtClean="0"/>
              <a:t>9/27/2024</a:t>
            </a:fld>
            <a:endParaRPr lang="en-US"/>
          </a:p>
        </p:txBody>
      </p:sp>
      <p:sp>
        <p:nvSpPr>
          <p:cNvPr id="5" name="Footer Placeholder 4"/>
          <p:cNvSpPr>
            <a:spLocks noGrp="1"/>
          </p:cNvSpPr>
          <p:nvPr>
            <p:ph type="ftr" sz="quarter" idx="11"/>
          </p:nvPr>
        </p:nvSpPr>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7E07FD9-193D-4B2C-BE5A-A42DC91BC3C6}" type="datetime1">
              <a:rPr lang="en-US" smtClean="0"/>
              <a:t>9/27/2024</a:t>
            </a:fld>
            <a:endParaRPr lang="en-US"/>
          </a:p>
        </p:txBody>
      </p:sp>
      <p:sp>
        <p:nvSpPr>
          <p:cNvPr id="6" name="Footer Placeholder 5"/>
          <p:cNvSpPr>
            <a:spLocks noGrp="1"/>
          </p:cNvSpPr>
          <p:nvPr>
            <p:ph type="ftr" sz="quarter" idx="11"/>
          </p:nvPr>
        </p:nvSpPr>
        <p:spPr/>
        <p:txBody>
          <a:bodyPr/>
          <a:lstStyle/>
          <a:p>
            <a:r>
              <a:rPr lang="en-US"/>
              <a:t>Ritesh Kumar Singh                 Python web development with Django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A80BD08-4AFC-42AC-9068-53930C8E99A2}" type="datetime1">
              <a:rPr lang="en-US" smtClean="0"/>
              <a:t>9/27/2024</a:t>
            </a:fld>
            <a:endParaRPr lang="en-US"/>
          </a:p>
        </p:txBody>
      </p:sp>
      <p:sp>
        <p:nvSpPr>
          <p:cNvPr id="8" name="Footer Placeholder 7"/>
          <p:cNvSpPr>
            <a:spLocks noGrp="1"/>
          </p:cNvSpPr>
          <p:nvPr>
            <p:ph type="ftr" sz="quarter" idx="11"/>
          </p:nvPr>
        </p:nvSpPr>
        <p:spPr/>
        <p:txBody>
          <a:bodyPr/>
          <a:lstStyle/>
          <a:p>
            <a:r>
              <a:rPr lang="en-US"/>
              <a:t>Ritesh Kumar Singh                 Python web development with Django                           Unit I</a:t>
            </a:r>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C973E10-2F86-417D-833D-EA04C006ACB7}" type="datetime1">
              <a:rPr lang="en-US" smtClean="0"/>
              <a:t>9/27/2024</a:t>
            </a:fld>
            <a:endParaRPr lang="en-US"/>
          </a:p>
        </p:txBody>
      </p:sp>
      <p:sp>
        <p:nvSpPr>
          <p:cNvPr id="4" name="Footer Placeholder 3"/>
          <p:cNvSpPr>
            <a:spLocks noGrp="1"/>
          </p:cNvSpPr>
          <p:nvPr>
            <p:ph type="ftr" sz="quarter" idx="11"/>
          </p:nvPr>
        </p:nvSpPr>
        <p:spPr/>
        <p:txBody>
          <a:bodyPr/>
          <a:lstStyle/>
          <a:p>
            <a:r>
              <a:rPr lang="en-US"/>
              <a:t>Ritesh Kumar Singh                 Python web development with Django                           Unit I</a:t>
            </a:r>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B14A9C-443A-4E08-8471-95DAA9909ACF}" type="datetime1">
              <a:rPr lang="en-US" smtClean="0"/>
              <a:t>9/27/2024</a:t>
            </a:fld>
            <a:endParaRPr lang="en-US"/>
          </a:p>
        </p:txBody>
      </p:sp>
      <p:sp>
        <p:nvSpPr>
          <p:cNvPr id="3" name="Footer Placeholder 2"/>
          <p:cNvSpPr>
            <a:spLocks noGrp="1"/>
          </p:cNvSpPr>
          <p:nvPr>
            <p:ph type="ftr" sz="quarter" idx="11"/>
          </p:nvPr>
        </p:nvSpPr>
        <p:spPr/>
        <p:txBody>
          <a:bodyPr/>
          <a:lstStyle/>
          <a:p>
            <a:r>
              <a:rPr lang="en-US"/>
              <a:t>Ritesh Kumar Singh                 Python web development with Django                           Unit I</a:t>
            </a:r>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4391D2-006B-4A2E-9747-835C4BD5D93A}" type="datetime1">
              <a:rPr lang="en-US" smtClean="0"/>
              <a:t>9/27/2024</a:t>
            </a:fld>
            <a:endParaRPr lang="en-US"/>
          </a:p>
        </p:txBody>
      </p:sp>
      <p:sp>
        <p:nvSpPr>
          <p:cNvPr id="6" name="Footer Placeholder 5"/>
          <p:cNvSpPr>
            <a:spLocks noGrp="1"/>
          </p:cNvSpPr>
          <p:nvPr>
            <p:ph type="ftr" sz="quarter" idx="11"/>
          </p:nvPr>
        </p:nvSpPr>
        <p:spPr/>
        <p:txBody>
          <a:bodyPr/>
          <a:lstStyle/>
          <a:p>
            <a:r>
              <a:rPr lang="en-US"/>
              <a:t>Ritesh Kumar Singh                 Python web development with Django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A5B7E8E-3D67-4112-A461-C97A05511BC4}" type="datetime1">
              <a:rPr lang="en-US" smtClean="0"/>
              <a:t>9/27/2024</a:t>
            </a:fld>
            <a:endParaRPr lang="en-US"/>
          </a:p>
        </p:txBody>
      </p:sp>
      <p:sp>
        <p:nvSpPr>
          <p:cNvPr id="6" name="Footer Placeholder 5"/>
          <p:cNvSpPr>
            <a:spLocks noGrp="1"/>
          </p:cNvSpPr>
          <p:nvPr>
            <p:ph type="ftr" sz="quarter" idx="11"/>
          </p:nvPr>
        </p:nvSpPr>
        <p:spPr/>
        <p:txBody>
          <a:bodyPr/>
          <a:lstStyle/>
          <a:p>
            <a:r>
              <a:rPr lang="en-US"/>
              <a:t>Ritesh Kumar Singh                 Python web development with Django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50EAE7A-5DA9-43CF-8B8C-AFB1F6F51EE0}" type="datetime1">
              <a:rPr lang="en-US" smtClean="0"/>
              <a:t>9/27/2024</a:t>
            </a:fld>
            <a:endParaRPr lang="en-US"/>
          </a:p>
        </p:txBody>
      </p:sp>
      <p:sp>
        <p:nvSpPr>
          <p:cNvPr id="5" name="Footer Placeholder 4"/>
          <p:cNvSpPr>
            <a:spLocks noGrp="1"/>
          </p:cNvSpPr>
          <p:nvPr>
            <p:ph type="ftr" sz="quarter" idx="11"/>
          </p:nvPr>
        </p:nvSpPr>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DC2409-F742-4407-B016-77F816101D7D}" type="datetime1">
              <a:rPr lang="en-US" smtClean="0"/>
              <a:t>9/27/2024</a:t>
            </a:fld>
            <a:endParaRPr lang="en-US"/>
          </a:p>
        </p:txBody>
      </p:sp>
      <p:sp>
        <p:nvSpPr>
          <p:cNvPr id="5" name="Footer Placeholder 4"/>
          <p:cNvSpPr>
            <a:spLocks noGrp="1"/>
          </p:cNvSpPr>
          <p:nvPr>
            <p:ph type="ftr" sz="quarter" idx="11"/>
          </p:nvPr>
        </p:nvSpPr>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6"/>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7"/>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1EEA3F6-28F5-4FC7-860B-1437DB91FCF1}" type="datetime1">
              <a:rPr lang="en-US" smtClean="0"/>
              <a:t>9/27/2024</a:t>
            </a:fld>
            <a:endParaRPr lang="en-US"/>
          </a:p>
        </p:txBody>
      </p:sp>
      <p:sp>
        <p:nvSpPr>
          <p:cNvPr id="5" name="Footer Placeholder 4"/>
          <p:cNvSpPr>
            <a:spLocks noGrp="1"/>
          </p:cNvSpPr>
          <p:nvPr>
            <p:ph type="ftr" sz="quarter" idx="3"/>
          </p:nvPr>
        </p:nvSpPr>
        <p:spPr>
          <a:xfrm>
            <a:off x="4165600" y="6356357"/>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Ritesh Kumar Singh                 Python web development with Django                           Unit I</a:t>
            </a:r>
            <a:endParaRPr lang="en-US" dirty="0"/>
          </a:p>
        </p:txBody>
      </p:sp>
      <p:sp>
        <p:nvSpPr>
          <p:cNvPr id="6" name="Slide Number Placeholder 5"/>
          <p:cNvSpPr>
            <a:spLocks noGrp="1"/>
          </p:cNvSpPr>
          <p:nvPr>
            <p:ph type="sldNum" sz="quarter" idx="4"/>
          </p:nvPr>
        </p:nvSpPr>
        <p:spPr>
          <a:xfrm>
            <a:off x="8737600" y="6356357"/>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pic>
        <p:nvPicPr>
          <p:cNvPr id="8" name="Picture 7"/>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9833" y="13570"/>
            <a:ext cx="1401117" cy="748430"/>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www.tutorialspoint.com/python/tk_canvas.htm" TargetMode="External"/><Relationship Id="rId4" Type="http://schemas.openxmlformats.org/officeDocument/2006/relationships/hyperlink" Target="https://www.tutorialspoint.com/python/tk_button.htm" TargetMode="External"/></Relationships>
</file>

<file path=ppt/slides/_rels/slide18.xml.rels><?xml version="1.0" encoding="UTF-8" standalone="yes"?>
<Relationships xmlns="http://schemas.openxmlformats.org/package/2006/relationships"><Relationship Id="rId8" Type="http://schemas.openxmlformats.org/officeDocument/2006/relationships/image" Target="../media/image3.jpeg"/><Relationship Id="rId3" Type="http://schemas.openxmlformats.org/officeDocument/2006/relationships/hyperlink" Target="https://www.tutorialspoint.com/python/tk_checkbutton.htm" TargetMode="External"/><Relationship Id="rId7" Type="http://schemas.openxmlformats.org/officeDocument/2006/relationships/hyperlink" Target="https://www.tutorialspoint.com/python/tk_listbox.htm"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s://www.tutorialspoint.com/python/tk_label.htm" TargetMode="External"/><Relationship Id="rId5" Type="http://schemas.openxmlformats.org/officeDocument/2006/relationships/hyperlink" Target="https://www.tutorialspoint.com/python/tk_frame.htm" TargetMode="External"/><Relationship Id="rId4" Type="http://schemas.openxmlformats.org/officeDocument/2006/relationships/hyperlink" Target="https://www.tutorialspoint.com/python/tk_entry.htm"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www.tutorialspoint.com/python/tk_pack.htm"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www.tutorialspoint.com/python/tk_place.htm" TargetMode="External"/><Relationship Id="rId4" Type="http://schemas.openxmlformats.org/officeDocument/2006/relationships/hyperlink" Target="https://www.tutorialspoint.com/python/tk_grid.htm"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hyperlink" Target="https://docs.python.org/2/library/urllib.html"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docs.python-requests.org/en/master/" TargetMode="External"/><Relationship Id="rId4" Type="http://schemas.openxmlformats.org/officeDocument/2006/relationships/hyperlink" Target="https://docs.python.org/2/library/httplib.html"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hyperlink" Target="http://courses.analyticsvidhya.com/courses/introduction-to-data-science-2?utm_source=blog&amp;utm_medium=WebScrapinginPythonarticle"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5.xml.rels><?xml version="1.0" encoding="UTF-8" standalone="yes"?>
<Relationships xmlns="http://schemas.openxmlformats.org/package/2006/relationships"><Relationship Id="rId3" Type="http://schemas.openxmlformats.org/officeDocument/2006/relationships/hyperlink" Target="https://github.com/Miserlou/Zappa"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palletsprojects.com/p/flask/"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s://testdriven.io/asynchronous-tasks-with-falcon-and-celery" TargetMode="External"/><Relationship Id="rId3" Type="http://schemas.openxmlformats.org/officeDocument/2006/relationships/hyperlink" Target="https://www.fullstackpython.com/wsgi-servers.html" TargetMode="External"/><Relationship Id="rId7" Type="http://schemas.openxmlformats.org/officeDocument/2006/relationships/hyperlink" Target="https://www.fullstackpython.com/nginx.html" TargetMode="External"/><Relationship Id="rId12" Type="http://schemas.openxmlformats.org/officeDocument/2006/relationships/image" Target="../media/image3.jpeg"/><Relationship Id="rId2" Type="http://schemas.openxmlformats.org/officeDocument/2006/relationships/hyperlink" Target="https://falconframework.org/" TargetMode="External"/><Relationship Id="rId1" Type="http://schemas.openxmlformats.org/officeDocument/2006/relationships/slideLayout" Target="../slideLayouts/slideLayout2.xml"/><Relationship Id="rId6" Type="http://schemas.openxmlformats.org/officeDocument/2006/relationships/hyperlink" Target="https://www.alibabacloud.com/blog/building-very-fast-app-backends-with-falcon-web-framework-on-pypy_594282" TargetMode="External"/><Relationship Id="rId11" Type="http://schemas.openxmlformats.org/officeDocument/2006/relationships/hyperlink" Target="https://impythonist.wordpress.com/2015/09/12/build-massively-scalable-restful-api-with-falcon-and-pypy/" TargetMode="External"/><Relationship Id="rId5" Type="http://schemas.openxmlformats.org/officeDocument/2006/relationships/hyperlink" Target="https://www.fullstackpython.com/application-programming-interfaces.html" TargetMode="External"/><Relationship Id="rId10" Type="http://schemas.openxmlformats.org/officeDocument/2006/relationships/hyperlink" Target="http://falcon.readthedocs.io/en/stable/user/tutorial.html" TargetMode="External"/><Relationship Id="rId4" Type="http://schemas.openxmlformats.org/officeDocument/2006/relationships/hyperlink" Target="https://www.fullstackpython.com/web-frameworks.html" TargetMode="External"/><Relationship Id="rId9" Type="http://schemas.openxmlformats.org/officeDocument/2006/relationships/hyperlink" Target="https://www.fullstackpython.com/celery.html" TargetMode="External"/></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quintagroup.com/services/python"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quintagroup.com/services/python/google-app-engine" TargetMode="Externa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8" Type="http://schemas.openxmlformats.org/officeDocument/2006/relationships/hyperlink" Target="http://quixote.ca/releases/Quixote-3.6a2.tar.gz.asc" TargetMode="External"/><Relationship Id="rId3" Type="http://schemas.openxmlformats.org/officeDocument/2006/relationships/hyperlink" Target="http://quixote.ca/releases/Quixote-3.5.tar.gz.asc" TargetMode="External"/><Relationship Id="rId7" Type="http://schemas.openxmlformats.org/officeDocument/2006/relationships/hyperlink" Target="http://quixote.ca/releases/Quixote-3.6a2.tar.gz" TargetMode="External"/><Relationship Id="rId2" Type="http://schemas.openxmlformats.org/officeDocument/2006/relationships/hyperlink" Target="http://quixote.ca/releases/Quixote-3.5.tar.gz" TargetMode="External"/><Relationship Id="rId1" Type="http://schemas.openxmlformats.org/officeDocument/2006/relationships/slideLayout" Target="../slideLayouts/slideLayout2.xml"/><Relationship Id="rId6" Type="http://schemas.openxmlformats.org/officeDocument/2006/relationships/hyperlink" Target="http://quixote.ca/releases/Quixote-1.3.tar.gz" TargetMode="External"/><Relationship Id="rId5" Type="http://schemas.openxmlformats.org/officeDocument/2006/relationships/hyperlink" Target="http://quixote.ca/releases/Quixote-2.9.1.tar.gz.asc" TargetMode="External"/><Relationship Id="rId4" Type="http://schemas.openxmlformats.org/officeDocument/2006/relationships/hyperlink" Target="http://quixote.ca/releases/Quixote-2.9.1.tar.gz" TargetMode="External"/><Relationship Id="rId9" Type="http://schemas.openxmlformats.org/officeDocument/2006/relationships/image" Target="../media/image3.jpeg"/></Relationships>
</file>

<file path=ppt/slides/_rels/slide5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hyperlink" Target="https://youtu.be/tA42nHmmEKw?list=PLh2mXjKcTPSACrQxPM2_1Ojus5HX88ht7" TargetMode="External"/><Relationship Id="rId7" Type="http://schemas.openxmlformats.org/officeDocument/2006/relationships/image" Target="../media/image3.jpeg"/><Relationship Id="rId2" Type="http://schemas.openxmlformats.org/officeDocument/2006/relationships/hyperlink" Target="https://youtu.be/eoPsX7MKfe8?list=PLIdgECt554OVFKXRpo_kuI0XpUQKk0ycO" TargetMode="External"/><Relationship Id="rId1" Type="http://schemas.openxmlformats.org/officeDocument/2006/relationships/slideLayout" Target="../slideLayouts/slideLayout2.xml"/><Relationship Id="rId6" Type="http://schemas.openxmlformats.org/officeDocument/2006/relationships/hyperlink" Target="https://youtu.be/9MmC_uGjBsM?list=PL3pGy4HtqwD02GVgM96-V0sq4_DSinqvf" TargetMode="External"/><Relationship Id="rId5" Type="http://schemas.openxmlformats.org/officeDocument/2006/relationships/hyperlink" Target="https://youtu.be/QXeEoD0pB3E?list=PLsyeobzWxl7poL9JTVyndKe62ieoN-MZ3" TargetMode="External"/><Relationship Id="rId4" Type="http://schemas.openxmlformats.org/officeDocument/2006/relationships/hyperlink" Target="https://youtu.be/8ndsDXohLMQ?list=PLDsnL5pk7-N_9oy2RN4A65Z-PEnvtc7rf" TargetMode="External"/></Relationships>
</file>

<file path=ppt/slides/_rels/slide5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courses.analyticsvidhya.com/courses/introduction-to-data-science-2?utm_source=blog&amp;utm_medium=WebScrapinginPythonarticle"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7"/>
            <a:ext cx="10591800" cy="685799"/>
          </a:xfrm>
        </p:spPr>
        <p:style>
          <a:lnRef idx="1">
            <a:schemeClr val="accent5"/>
          </a:lnRef>
          <a:fillRef idx="2">
            <a:schemeClr val="accent5"/>
          </a:fillRef>
          <a:effectRef idx="1">
            <a:schemeClr val="accent5"/>
          </a:effectRef>
          <a:fontRef idx="minor">
            <a:schemeClr val="dk1"/>
          </a:fontRef>
        </p:style>
        <p:txBody>
          <a:bodyPr>
            <a:noAutofit/>
          </a:bodyPr>
          <a:lstStyle/>
          <a:p>
            <a:r>
              <a:rPr lang="en-US" sz="3200" dirty="0"/>
              <a:t>Noida Institute of Engineering and Technology, Greater Noida</a:t>
            </a:r>
          </a:p>
        </p:txBody>
      </p:sp>
      <p:sp>
        <p:nvSpPr>
          <p:cNvPr id="3" name="Subtitle 2"/>
          <p:cNvSpPr>
            <a:spLocks noGrp="1"/>
          </p:cNvSpPr>
          <p:nvPr>
            <p:ph type="subTitle" idx="1"/>
          </p:nvPr>
        </p:nvSpPr>
        <p:spPr>
          <a:xfrm>
            <a:off x="2971800" y="914400"/>
            <a:ext cx="6248400" cy="1492243"/>
          </a:xfrm>
        </p:spPr>
        <p:style>
          <a:lnRef idx="2">
            <a:schemeClr val="accent5"/>
          </a:lnRef>
          <a:fillRef idx="1">
            <a:schemeClr val="lt1"/>
          </a:fillRef>
          <a:effectRef idx="0">
            <a:schemeClr val="accent5"/>
          </a:effectRef>
          <a:fontRef idx="minor">
            <a:schemeClr val="dk1"/>
          </a:fontRef>
        </p:style>
        <p:txBody>
          <a:bodyPr anchor="ctr">
            <a:normAutofit/>
          </a:bodyPr>
          <a:lstStyle/>
          <a:p>
            <a:r>
              <a:rPr lang="en-US" sz="3600" dirty="0">
                <a:solidFill>
                  <a:schemeClr val="tx1"/>
                </a:solidFill>
              </a:rPr>
              <a:t> Python Web Development with Django</a:t>
            </a:r>
          </a:p>
        </p:txBody>
      </p:sp>
      <p:sp>
        <p:nvSpPr>
          <p:cNvPr id="6" name="Subtitle 2"/>
          <p:cNvSpPr txBox="1">
            <a:spLocks/>
          </p:cNvSpPr>
          <p:nvPr/>
        </p:nvSpPr>
        <p:spPr>
          <a:xfrm>
            <a:off x="8382000" y="4038600"/>
            <a:ext cx="3048000" cy="17526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lnSpcReduction="10000"/>
          </a:bodyPr>
          <a:lstStyle/>
          <a:p>
            <a:pPr algn="ctr">
              <a:spcBef>
                <a:spcPct val="20000"/>
              </a:spcBef>
              <a:defRPr/>
            </a:pPr>
            <a:endParaRPr lang="en-US" sz="2400" dirty="0">
              <a:solidFill>
                <a:schemeClr val="tx1"/>
              </a:solidFill>
            </a:endParaRPr>
          </a:p>
          <a:p>
            <a:pPr algn="ctr">
              <a:spcBef>
                <a:spcPct val="20000"/>
              </a:spcBef>
              <a:defRPr/>
            </a:pPr>
            <a:r>
              <a:rPr lang="en-US" sz="2800" dirty="0">
                <a:solidFill>
                  <a:schemeClr val="tx1"/>
                </a:solidFill>
              </a:rPr>
              <a:t>Ritesh Kumar Singh</a:t>
            </a:r>
          </a:p>
          <a:p>
            <a:pPr algn="ctr">
              <a:spcBef>
                <a:spcPct val="20000"/>
              </a:spcBef>
              <a:defRPr/>
            </a:pPr>
            <a:r>
              <a:rPr lang="en-US" sz="2400" dirty="0">
                <a:solidFill>
                  <a:schemeClr val="tx1"/>
                </a:solidFill>
              </a:rPr>
              <a:t> (Asst. Professor)</a:t>
            </a:r>
          </a:p>
          <a:p>
            <a:pPr algn="ctr">
              <a:spcBef>
                <a:spcPct val="20000"/>
              </a:spcBef>
              <a:defRPr/>
            </a:pPr>
            <a:r>
              <a:rPr lang="en-US" sz="2400" dirty="0">
                <a:solidFill>
                  <a:schemeClr val="tx1"/>
                </a:solidFill>
              </a:rPr>
              <a:t>CSE Department</a:t>
            </a:r>
          </a:p>
        </p:txBody>
      </p:sp>
      <p:pic>
        <p:nvPicPr>
          <p:cNvPr id="1027" name="Picture 3" descr="C:\Users\Manks\Downloads\128_calendar-schedule-credit-mortgage-date-512.png"/>
          <p:cNvPicPr>
            <a:picLocks noChangeAspect="1" noChangeArrowheads="1"/>
          </p:cNvPicPr>
          <p:nvPr/>
        </p:nvPicPr>
        <p:blipFill>
          <a:blip r:embed="rId3" cstate="print"/>
          <a:srcRect/>
          <a:stretch>
            <a:fillRect/>
          </a:stretch>
        </p:blipFill>
        <p:spPr bwMode="auto">
          <a:xfrm flipH="1">
            <a:off x="1417320" y="5897568"/>
            <a:ext cx="533400" cy="533400"/>
          </a:xfrm>
          <a:prstGeom prst="rect">
            <a:avLst/>
          </a:prstGeom>
          <a:noFill/>
        </p:spPr>
      </p:pic>
      <p:sp>
        <p:nvSpPr>
          <p:cNvPr id="9" name="Date Placeholder 8"/>
          <p:cNvSpPr>
            <a:spLocks noGrp="1"/>
          </p:cNvSpPr>
          <p:nvPr>
            <p:ph type="dt" sz="half" idx="10"/>
          </p:nvPr>
        </p:nvSpPr>
        <p:spPr>
          <a:xfrm>
            <a:off x="1482634" y="6430968"/>
            <a:ext cx="2133600" cy="365125"/>
          </a:xfrm>
        </p:spPr>
        <p:txBody>
          <a:bodyPr/>
          <a:lstStyle/>
          <a:p>
            <a:fld id="{20371D83-4C1E-463B-A1ED-73347B397BF0}" type="datetime1">
              <a:rPr lang="en-US" smtClean="0"/>
              <a:t>9/27/2024</a:t>
            </a:fld>
            <a:endParaRPr lang="en-US" dirty="0"/>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1447800" y="2971800"/>
            <a:ext cx="2057400" cy="5334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500" dirty="0">
                <a:solidFill>
                  <a:schemeClr val="tx1"/>
                </a:solidFill>
              </a:rPr>
              <a:t>Unit: I</a:t>
            </a:r>
          </a:p>
        </p:txBody>
      </p:sp>
      <p:sp>
        <p:nvSpPr>
          <p:cNvPr id="13" name="Footer Placeholder 12"/>
          <p:cNvSpPr>
            <a:spLocks noGrp="1"/>
          </p:cNvSpPr>
          <p:nvPr>
            <p:ph type="ftr" sz="quarter" idx="11"/>
          </p:nvPr>
        </p:nvSpPr>
        <p:spPr>
          <a:xfrm>
            <a:off x="4078514" y="6430967"/>
            <a:ext cx="6324600" cy="365125"/>
          </a:xfrm>
        </p:spPr>
        <p:txBody>
          <a:bodyPr/>
          <a:lstStyle/>
          <a:p>
            <a:r>
              <a:rPr lang="en-US"/>
              <a:t>Ritesh Kumar Singh                 Python web development with Django                           Unit I</a:t>
            </a:r>
            <a:endParaRPr lang="en-US" dirty="0"/>
          </a:p>
        </p:txBody>
      </p:sp>
      <p:sp>
        <p:nvSpPr>
          <p:cNvPr id="14" name="Subtitle 2"/>
          <p:cNvSpPr txBox="1">
            <a:spLocks/>
          </p:cNvSpPr>
          <p:nvPr/>
        </p:nvSpPr>
        <p:spPr>
          <a:xfrm>
            <a:off x="1447800" y="38100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chor="ctr">
            <a:normAutofit/>
          </a:bodyPr>
          <a:lstStyle/>
          <a:p>
            <a:r>
              <a:rPr lang="en-US" sz="2400" dirty="0">
                <a:solidFill>
                  <a:schemeClr val="tx1"/>
                </a:solidFill>
              </a:rPr>
              <a:t>P</a:t>
            </a:r>
            <a:r>
              <a:rPr lang="en-US" sz="2000" dirty="0">
                <a:solidFill>
                  <a:schemeClr val="tx1"/>
                </a:solidFill>
              </a:rPr>
              <a:t>ython </a:t>
            </a:r>
            <a:r>
              <a:rPr lang="en-US" sz="2400" dirty="0">
                <a:solidFill>
                  <a:schemeClr val="tx1"/>
                </a:solidFill>
              </a:rPr>
              <a:t>l</a:t>
            </a:r>
            <a:r>
              <a:rPr lang="en-US" sz="2000" dirty="0">
                <a:solidFill>
                  <a:schemeClr val="tx1"/>
                </a:solidFill>
              </a:rPr>
              <a:t>ibraries for </a:t>
            </a:r>
            <a:r>
              <a:rPr lang="en-US" sz="2400" dirty="0">
                <a:solidFill>
                  <a:schemeClr val="tx1"/>
                </a:solidFill>
              </a:rPr>
              <a:t>w</a:t>
            </a:r>
            <a:r>
              <a:rPr lang="en-US" sz="2000" dirty="0">
                <a:solidFill>
                  <a:schemeClr val="tx1"/>
                </a:solidFill>
              </a:rPr>
              <a:t>eb </a:t>
            </a:r>
            <a:r>
              <a:rPr lang="en-US" sz="2400" dirty="0">
                <a:solidFill>
                  <a:schemeClr val="tx1"/>
                </a:solidFill>
              </a:rPr>
              <a:t>d</a:t>
            </a:r>
            <a:r>
              <a:rPr lang="en-US" sz="2000" dirty="0">
                <a:solidFill>
                  <a:schemeClr val="tx1"/>
                </a:solidFill>
              </a:rPr>
              <a:t>evelopment  </a:t>
            </a:r>
            <a:endParaRPr lang="en-US" sz="2000" b="1" dirty="0">
              <a:solidFill>
                <a:schemeClr val="tx1"/>
              </a:solidFill>
            </a:endParaRPr>
          </a:p>
        </p:txBody>
      </p:sp>
      <p:sp>
        <p:nvSpPr>
          <p:cNvPr id="15" name="Subtitle 2"/>
          <p:cNvSpPr txBox="1">
            <a:spLocks/>
          </p:cNvSpPr>
          <p:nvPr/>
        </p:nvSpPr>
        <p:spPr>
          <a:xfrm>
            <a:off x="1447800" y="4876800"/>
            <a:ext cx="4191000" cy="838200"/>
          </a:xfrm>
          <a:prstGeom prst="rect">
            <a:avLst/>
          </a:prstGeom>
        </p:spPr>
        <p:style>
          <a:lnRef idx="2">
            <a:schemeClr val="accent5"/>
          </a:lnRef>
          <a:fillRef idx="1">
            <a:schemeClr val="lt1"/>
          </a:fillRef>
          <a:effectRef idx="0">
            <a:schemeClr val="accent5"/>
          </a:effectRef>
          <a:fontRef idx="minor">
            <a:schemeClr val="dk1"/>
          </a:fontRef>
        </p:style>
        <p:txBody>
          <a:bodyPr vert="horz" lIns="91440" tIns="45720" rIns="91440" bIns="45720" rtlCol="0">
            <a:normAutofit/>
          </a:bodyPr>
          <a:lstStyle/>
          <a:p>
            <a:pPr algn="ctr">
              <a:spcBef>
                <a:spcPct val="20000"/>
              </a:spcBef>
              <a:defRPr/>
            </a:pPr>
            <a:r>
              <a:rPr lang="en-US" sz="2000" dirty="0">
                <a:solidFill>
                  <a:schemeClr val="tx1"/>
                </a:solidFill>
              </a:rPr>
              <a:t>Course Details</a:t>
            </a:r>
            <a:br>
              <a:rPr lang="en-US" sz="2000" dirty="0">
                <a:solidFill>
                  <a:schemeClr val="tx1"/>
                </a:solidFill>
              </a:rPr>
            </a:br>
            <a:r>
              <a:rPr lang="en-US" sz="2000" dirty="0">
                <a:solidFill>
                  <a:schemeClr val="tx1"/>
                </a:solidFill>
              </a:rPr>
              <a:t>(B. Tech. 5</a:t>
            </a:r>
            <a:r>
              <a:rPr lang="en-US" sz="2000" baseline="30000" dirty="0">
                <a:solidFill>
                  <a:schemeClr val="tx1"/>
                </a:solidFill>
              </a:rPr>
              <a:t>th</a:t>
            </a:r>
            <a:r>
              <a:rPr lang="en-US" sz="2000" dirty="0">
                <a:solidFill>
                  <a:schemeClr val="tx1"/>
                </a:solidFill>
              </a:rPr>
              <a:t> Sem)</a:t>
            </a:r>
          </a:p>
        </p:txBody>
      </p:sp>
      <p:pic>
        <p:nvPicPr>
          <p:cNvPr id="16" name="Picture 15"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pic>
        <p:nvPicPr>
          <p:cNvPr id="4" name="Picture 4">
            <a:extLst>
              <a:ext uri="{FF2B5EF4-FFF2-40B4-BE49-F238E27FC236}">
                <a16:creationId xmlns:a16="http://schemas.microsoft.com/office/drawing/2014/main" id="{A1097EAD-DC10-E8EE-10DA-20D71CB7680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p:blipFill>
        <p:spPr bwMode="auto">
          <a:xfrm>
            <a:off x="9067800" y="2469452"/>
            <a:ext cx="1516498" cy="1516498"/>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83E5562-D024-4071-B709-B0693AD819C9}" type="datetime1">
              <a:rPr lang="en-US" smtClean="0"/>
              <a:t>9/27/2024</a:t>
            </a:fld>
            <a:endParaRPr lang="en-US" dirty="0"/>
          </a:p>
        </p:txBody>
      </p:sp>
      <p:sp>
        <p:nvSpPr>
          <p:cNvPr id="5" name="Footer Placeholder 4"/>
          <p:cNvSpPr>
            <a:spLocks noGrp="1"/>
          </p:cNvSpPr>
          <p:nvPr>
            <p:ph type="ftr" sz="quarter" idx="11"/>
          </p:nvPr>
        </p:nvSpPr>
        <p:spPr>
          <a:xfrm>
            <a:off x="3810000" y="6455769"/>
            <a:ext cx="71628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3040" y="1067772"/>
            <a:ext cx="707136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 </a:t>
            </a:r>
            <a:r>
              <a:rPr lang="en-US" sz="2800" b="1" dirty="0"/>
              <a:t> Python libraries for web development</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4083313355"/>
              </p:ext>
            </p:extLst>
          </p:nvPr>
        </p:nvGraphicFramePr>
        <p:xfrm>
          <a:off x="1447800" y="2158974"/>
          <a:ext cx="10020300" cy="319400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44638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4C790CF-DFA8-4198-AF43-6D13C9C12347}" type="datetime1">
              <a:rPr lang="en-US" smtClean="0"/>
              <a:t>9/27/2024</a:t>
            </a:fld>
            <a:endParaRPr lang="en-US" dirty="0"/>
          </a:p>
        </p:txBody>
      </p:sp>
      <p:sp>
        <p:nvSpPr>
          <p:cNvPr id="5" name="Footer Placeholder 4"/>
          <p:cNvSpPr>
            <a:spLocks noGrp="1"/>
          </p:cNvSpPr>
          <p:nvPr>
            <p:ph type="ftr" sz="quarter" idx="11"/>
          </p:nvPr>
        </p:nvSpPr>
        <p:spPr>
          <a:xfrm>
            <a:off x="4032794" y="6373774"/>
            <a:ext cx="6787606"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162288"/>
            <a:ext cx="66294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  Introduction to Django Framework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530179346"/>
              </p:ext>
            </p:extLst>
          </p:nvPr>
        </p:nvGraphicFramePr>
        <p:xfrm>
          <a:off x="762000" y="2429460"/>
          <a:ext cx="11201400" cy="28230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56223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500"/>
                                        <p:tgtEl>
                                          <p:spTgt spid="2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Graphic spid="23" grpId="0">
        <p:bldAsOne/>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4A2808-F7F3-49F5-9E21-ABF21D071CF8}" type="datetime1">
              <a:rPr lang="en-US" smtClean="0"/>
              <a:t>9/27/2024</a:t>
            </a:fld>
            <a:endParaRPr lang="en-US" dirty="0"/>
          </a:p>
        </p:txBody>
      </p:sp>
      <p:sp>
        <p:nvSpPr>
          <p:cNvPr id="5" name="Footer Placeholder 4"/>
          <p:cNvSpPr>
            <a:spLocks noGrp="1"/>
          </p:cNvSpPr>
          <p:nvPr>
            <p:ph type="ftr" sz="quarter" idx="11"/>
          </p:nvPr>
        </p:nvSpPr>
        <p:spPr>
          <a:xfrm>
            <a:off x="4343400" y="6248406"/>
            <a:ext cx="62484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78280" y="1162431"/>
            <a:ext cx="957072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UNIT-III: </a:t>
            </a:r>
            <a:r>
              <a:rPr lang="en-US" sz="2800" b="1" dirty="0"/>
              <a:t> Integrating Accounts &amp; Authentication on Django </a:t>
            </a:r>
            <a:endParaRPr lang="en-IN" sz="28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597070583"/>
              </p:ext>
            </p:extLst>
          </p:nvPr>
        </p:nvGraphicFramePr>
        <p:xfrm>
          <a:off x="609600" y="2162276"/>
          <a:ext cx="11430000" cy="28362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532358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3E03515-D994-43AC-BF26-E2A4F5BA6BB2}" type="datetime1">
              <a:rPr lang="en-US" smtClean="0"/>
              <a:t>9/27/2024</a:t>
            </a:fld>
            <a:endParaRPr lang="en-US" dirty="0"/>
          </a:p>
        </p:txBody>
      </p:sp>
      <p:sp>
        <p:nvSpPr>
          <p:cNvPr id="5" name="Footer Placeholder 4"/>
          <p:cNvSpPr>
            <a:spLocks noGrp="1"/>
          </p:cNvSpPr>
          <p:nvPr>
            <p:ph type="ftr" sz="quarter" idx="11"/>
          </p:nvPr>
        </p:nvSpPr>
        <p:spPr>
          <a:xfrm>
            <a:off x="4343400" y="6248406"/>
            <a:ext cx="67818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67394" y="1245982"/>
            <a:ext cx="7600406"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UNIT-IV: </a:t>
            </a:r>
            <a:r>
              <a:rPr lang="en-US" sz="2800" b="1" dirty="0"/>
              <a:t>Connecting  SQLite  with Django</a:t>
            </a:r>
            <a:r>
              <a:rPr lang="en-IN" sz="2800" b="1" dirty="0"/>
              <a:t> </a:t>
            </a:r>
            <a:endParaRPr lang="en-IN" sz="3000" b="1" dirty="0"/>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2285603072"/>
              </p:ext>
            </p:extLst>
          </p:nvPr>
        </p:nvGraphicFramePr>
        <p:xfrm>
          <a:off x="1143000" y="2209800"/>
          <a:ext cx="10591800" cy="3429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483760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D9AA7BE-0459-4462-9A19-004895AEC175}" type="datetime1">
              <a:rPr lang="en-US" smtClean="0"/>
              <a:t>9/27/2024</a:t>
            </a:fld>
            <a:endParaRPr lang="en-US" dirty="0"/>
          </a:p>
        </p:txBody>
      </p:sp>
      <p:sp>
        <p:nvSpPr>
          <p:cNvPr id="5" name="Footer Placeholder 4"/>
          <p:cNvSpPr>
            <a:spLocks noGrp="1"/>
          </p:cNvSpPr>
          <p:nvPr>
            <p:ph type="ftr" sz="quarter" idx="11"/>
          </p:nvPr>
        </p:nvSpPr>
        <p:spPr>
          <a:xfrm>
            <a:off x="4343400" y="6248406"/>
            <a:ext cx="67818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Syllabus</a:t>
            </a:r>
          </a:p>
        </p:txBody>
      </p:sp>
      <p:sp>
        <p:nvSpPr>
          <p:cNvPr id="10" name="TextBox 9">
            <a:extLst>
              <a:ext uri="{FF2B5EF4-FFF2-40B4-BE49-F238E27FC236}">
                <a16:creationId xmlns:a16="http://schemas.microsoft.com/office/drawing/2014/main" id="{067567D3-B65B-4752-8952-9BA2BB96D648}"/>
              </a:ext>
            </a:extLst>
          </p:cNvPr>
          <p:cNvSpPr txBox="1"/>
          <p:nvPr/>
        </p:nvSpPr>
        <p:spPr>
          <a:xfrm>
            <a:off x="1447800" y="1213828"/>
            <a:ext cx="8610600" cy="523220"/>
          </a:xfrm>
          <a:prstGeom prst="rect">
            <a:avLst/>
          </a:prstGeom>
          <a:gradFill>
            <a:gsLst>
              <a:gs pos="0">
                <a:schemeClr val="accent6">
                  <a:shade val="51000"/>
                  <a:satMod val="130000"/>
                  <a:lumMod val="95000"/>
                </a:schemeClr>
              </a:gs>
              <a:gs pos="80000">
                <a:schemeClr val="accent6">
                  <a:shade val="93000"/>
                  <a:satMod val="130000"/>
                </a:schemeClr>
              </a:gs>
              <a:gs pos="100000">
                <a:schemeClr val="accent6">
                  <a:shade val="94000"/>
                  <a:satMod val="135000"/>
                </a:schemeClr>
              </a:gs>
            </a:gsLst>
          </a:gradFill>
          <a:ln/>
          <a:effectLst>
            <a:outerShdw blurRad="40000" dist="23000" dir="5400000" rotWithShape="0">
              <a:srgbClr val="000000">
                <a:alpha val="35000"/>
              </a:srgbClr>
            </a:outerShdw>
            <a:softEdge rad="76200"/>
          </a:effectLst>
        </p:spPr>
        <p:style>
          <a:lnRef idx="0">
            <a:schemeClr val="accent6"/>
          </a:lnRef>
          <a:fillRef idx="3">
            <a:schemeClr val="accent6"/>
          </a:fillRef>
          <a:effectRef idx="3">
            <a:schemeClr val="accent6"/>
          </a:effectRef>
          <a:fontRef idx="minor">
            <a:schemeClr val="lt1"/>
          </a:fontRef>
        </p:style>
        <p:txBody>
          <a:bodyPr wrap="square">
            <a:spAutoFit/>
          </a:bodyPr>
          <a:lstStyle/>
          <a:p>
            <a:pPr algn="just"/>
            <a:r>
              <a:rPr lang="en-IN" sz="2800" b="1" dirty="0"/>
              <a:t>UNIT-V: </a:t>
            </a:r>
            <a:r>
              <a:rPr lang="en-US" sz="2800" b="1" dirty="0"/>
              <a:t> Deploying Django Web Application on Cloud</a:t>
            </a:r>
            <a:r>
              <a:rPr lang="en-IN" sz="2800" b="1" dirty="0"/>
              <a:t> </a:t>
            </a:r>
          </a:p>
        </p:txBody>
      </p:sp>
      <p:graphicFrame>
        <p:nvGraphicFramePr>
          <p:cNvPr id="23" name="Diagram 22">
            <a:extLst>
              <a:ext uri="{FF2B5EF4-FFF2-40B4-BE49-F238E27FC236}">
                <a16:creationId xmlns:a16="http://schemas.microsoft.com/office/drawing/2014/main" id="{5BD0C95D-4009-4941-AFEE-6336F152559B}"/>
              </a:ext>
            </a:extLst>
          </p:cNvPr>
          <p:cNvGraphicFramePr/>
          <p:nvPr>
            <p:extLst>
              <p:ext uri="{D42A27DB-BD31-4B8C-83A1-F6EECF244321}">
                <p14:modId xmlns:p14="http://schemas.microsoft.com/office/powerpoint/2010/main" val="911545463"/>
              </p:ext>
            </p:extLst>
          </p:nvPr>
        </p:nvGraphicFramePr>
        <p:xfrm>
          <a:off x="1447800" y="1966709"/>
          <a:ext cx="9982200" cy="306249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72850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133600" y="865193"/>
            <a:ext cx="7696200" cy="5311776"/>
          </a:xfrm>
          <a:solidFill>
            <a:schemeClr val="bg2">
              <a:lumMod val="10000"/>
            </a:schemeClr>
          </a:solidFill>
          <a:ln w="19050">
            <a:solidFill>
              <a:schemeClr val="tx1"/>
            </a:solidFill>
          </a:ln>
        </p:spPr>
        <p:txBody>
          <a:bodyPr>
            <a:normAutofit/>
          </a:bodyPr>
          <a:lstStyle/>
          <a:p>
            <a:pPr>
              <a:lnSpc>
                <a:spcPct val="120000"/>
              </a:lnSpc>
            </a:pPr>
            <a:endParaRPr lang="en-US" dirty="0">
              <a:solidFill>
                <a:srgbClr val="00B050"/>
              </a:solidFill>
            </a:endParaRPr>
          </a:p>
          <a:p>
            <a:pPr>
              <a:lnSpc>
                <a:spcPct val="120000"/>
              </a:lnSpc>
            </a:pPr>
            <a:r>
              <a:rPr lang="en-US" dirty="0">
                <a:solidFill>
                  <a:srgbClr val="00B050"/>
                </a:solidFill>
              </a:rPr>
              <a:t>Collections-Container datatypes,</a:t>
            </a:r>
          </a:p>
          <a:p>
            <a:pPr>
              <a:lnSpc>
                <a:spcPct val="120000"/>
              </a:lnSpc>
            </a:pPr>
            <a:r>
              <a:rPr lang="en-US" dirty="0">
                <a:solidFill>
                  <a:srgbClr val="00B050"/>
                </a:solidFill>
              </a:rPr>
              <a:t> Tkinter-GUI applications, </a:t>
            </a:r>
          </a:p>
          <a:p>
            <a:pPr>
              <a:lnSpc>
                <a:spcPct val="120000"/>
              </a:lnSpc>
            </a:pPr>
            <a:r>
              <a:rPr lang="en-US" dirty="0">
                <a:solidFill>
                  <a:srgbClr val="00B050"/>
                </a:solidFill>
              </a:rPr>
              <a:t>Requests-HTTP requests,</a:t>
            </a:r>
          </a:p>
          <a:p>
            <a:pPr>
              <a:lnSpc>
                <a:spcPct val="120000"/>
              </a:lnSpc>
            </a:pPr>
            <a:r>
              <a:rPr lang="en-US" dirty="0">
                <a:solidFill>
                  <a:srgbClr val="00B050"/>
                </a:solidFill>
              </a:rPr>
              <a:t> BeautifulSoup4-web scraping, </a:t>
            </a:r>
          </a:p>
          <a:p>
            <a:pPr>
              <a:lnSpc>
                <a:spcPct val="120000"/>
              </a:lnSpc>
            </a:pPr>
            <a:r>
              <a:rPr lang="en-US" dirty="0">
                <a:solidFill>
                  <a:srgbClr val="00B050"/>
                </a:solidFill>
              </a:rPr>
              <a:t>Scrapy, Zappa, Dash, CherryPy, TurboGears, </a:t>
            </a:r>
          </a:p>
          <a:p>
            <a:pPr>
              <a:lnSpc>
                <a:spcPct val="120000"/>
              </a:lnSpc>
            </a:pPr>
            <a:r>
              <a:rPr lang="en-US" dirty="0">
                <a:solidFill>
                  <a:srgbClr val="00B050"/>
                </a:solidFill>
              </a:rPr>
              <a:t>Flask, Web2Py,</a:t>
            </a:r>
          </a:p>
          <a:p>
            <a:pPr>
              <a:lnSpc>
                <a:spcPct val="120000"/>
              </a:lnSpc>
            </a:pPr>
            <a:r>
              <a:rPr lang="en-US" dirty="0">
                <a:solidFill>
                  <a:srgbClr val="00B050"/>
                </a:solidFill>
              </a:rPr>
              <a:t>Bottle, Falcon, CubicWeb, Quixote, Pyramid.</a:t>
            </a:r>
          </a:p>
          <a:p>
            <a:pPr marL="400041" lvl="1" indent="0">
              <a:buNone/>
            </a:pPr>
            <a:endParaRPr lang="en-US" dirty="0"/>
          </a:p>
          <a:p>
            <a:pPr marL="0" indent="0">
              <a:buNone/>
            </a:pPr>
            <a:endParaRPr lang="en-US" sz="400" dirty="0"/>
          </a:p>
        </p:txBody>
      </p:sp>
      <p:sp>
        <p:nvSpPr>
          <p:cNvPr id="6" name="Date Placeholder 5"/>
          <p:cNvSpPr>
            <a:spLocks noGrp="1"/>
          </p:cNvSpPr>
          <p:nvPr>
            <p:ph type="dt" sz="half" idx="10"/>
          </p:nvPr>
        </p:nvSpPr>
        <p:spPr/>
        <p:txBody>
          <a:bodyPr/>
          <a:lstStyle/>
          <a:p>
            <a:fld id="{DF30E0E6-4C92-41E4-8068-0075758A090A}" type="datetime1">
              <a:rPr lang="en-US" smtClean="0"/>
              <a:t>9/27/2024</a:t>
            </a:fld>
            <a:endParaRPr lang="en-US" dirty="0"/>
          </a:p>
        </p:txBody>
      </p:sp>
      <p:sp>
        <p:nvSpPr>
          <p:cNvPr id="10" name="Footer Placeholder 9"/>
          <p:cNvSpPr>
            <a:spLocks noGrp="1"/>
          </p:cNvSpPr>
          <p:nvPr>
            <p:ph type="ftr" sz="quarter" idx="11"/>
          </p:nvPr>
        </p:nvSpPr>
        <p:spPr>
          <a:xfrm>
            <a:off x="4165600" y="6356357"/>
            <a:ext cx="5816600" cy="365125"/>
          </a:xfrm>
        </p:spPr>
        <p:txBody>
          <a:bodyPr/>
          <a:lstStyle/>
          <a:p>
            <a:r>
              <a:rPr lang="en-US"/>
              <a:t>Ritesh Kumar Singh                 Python web development with Django                           Unit I</a:t>
            </a:r>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pPr/>
              <a:t>7</a:t>
            </a:fld>
            <a:endParaRPr lang="en-US" dirty="0"/>
          </a:p>
        </p:txBody>
      </p:sp>
      <p:sp>
        <p:nvSpPr>
          <p:cNvPr id="8" name="Title 1"/>
          <p:cNvSpPr txBox="1">
            <a:spLocks/>
          </p:cNvSpPr>
          <p:nvPr/>
        </p:nvSpPr>
        <p:spPr>
          <a:xfrm>
            <a:off x="1447800" y="7"/>
            <a:ext cx="10668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Unit I Content</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13F6354-7DB9-4E73-8B00-1EC4ADF78BF4}" type="datetime1">
              <a:rPr lang="en-US" smtClean="0"/>
              <a:t>9/27/2024</a:t>
            </a:fld>
            <a:endParaRPr lang="en-US" dirty="0"/>
          </a:p>
        </p:txBody>
      </p:sp>
      <p:sp>
        <p:nvSpPr>
          <p:cNvPr id="5" name="Footer Placeholder 4"/>
          <p:cNvSpPr>
            <a:spLocks noGrp="1"/>
          </p:cNvSpPr>
          <p:nvPr>
            <p:ph type="ftr" sz="quarter" idx="11"/>
          </p:nvPr>
        </p:nvSpPr>
        <p:spPr>
          <a:xfrm>
            <a:off x="4343400" y="6248406"/>
            <a:ext cx="67056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Collection— Container datatypes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889592"/>
            <a:ext cx="11277600" cy="5262979"/>
          </a:xfrm>
          <a:prstGeom prst="rect">
            <a:avLst/>
          </a:prstGeom>
          <a:solidFill>
            <a:schemeClr val="accent1">
              <a:lumMod val="40000"/>
              <a:lumOff val="6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t> This module implements specialized container datatypes providing alternatives to Python’s general purpose built-in containers, </a:t>
            </a:r>
            <a:r>
              <a:rPr lang="en-US" sz="2800" dirty="0" err="1"/>
              <a:t>dict</a:t>
            </a:r>
            <a:r>
              <a:rPr lang="en-US" sz="2800" dirty="0"/>
              <a:t>, list, set, and tuple.</a:t>
            </a:r>
          </a:p>
          <a:p>
            <a:pPr marL="457200" indent="-457200" algn="just">
              <a:buFont typeface="Wingdings" panose="05000000000000000000" pitchFamily="2" charset="2"/>
              <a:buChar char="Ø"/>
            </a:pPr>
            <a:r>
              <a:rPr lang="en-US" sz="2800" dirty="0" err="1"/>
              <a:t>namedtuple</a:t>
            </a:r>
            <a:r>
              <a:rPr lang="en-US" sz="2800" dirty="0"/>
              <a:t>()-factory function for creating tuple subclasses with named fields.</a:t>
            </a:r>
          </a:p>
          <a:p>
            <a:pPr algn="just"/>
            <a:endParaRPr lang="en-US" sz="2800" dirty="0"/>
          </a:p>
          <a:p>
            <a:pPr marL="457200" indent="-457200" algn="just">
              <a:buFont typeface="Wingdings" panose="05000000000000000000" pitchFamily="2" charset="2"/>
              <a:buChar char="Ø"/>
            </a:pPr>
            <a:r>
              <a:rPr lang="en-US" sz="2800" dirty="0" err="1"/>
              <a:t>Deque</a:t>
            </a:r>
            <a:r>
              <a:rPr lang="en-US" sz="2800" dirty="0"/>
              <a:t>-list-like container with fast appends and pops on either end</a:t>
            </a:r>
          </a:p>
          <a:p>
            <a:pPr algn="just"/>
            <a:endParaRPr lang="en-US" sz="2800" dirty="0"/>
          </a:p>
          <a:p>
            <a:pPr marL="457200" indent="-457200" algn="just">
              <a:buFont typeface="Wingdings" panose="05000000000000000000" pitchFamily="2" charset="2"/>
              <a:buChar char="Ø"/>
            </a:pPr>
            <a:r>
              <a:rPr lang="en-US" sz="2800" dirty="0" err="1"/>
              <a:t>ChainMap</a:t>
            </a:r>
            <a:r>
              <a:rPr lang="en-US" sz="2800" dirty="0"/>
              <a:t>-</a:t>
            </a:r>
            <a:r>
              <a:rPr lang="en-US" sz="2800" dirty="0" err="1"/>
              <a:t>dict</a:t>
            </a:r>
            <a:r>
              <a:rPr lang="en-US" sz="2800" dirty="0"/>
              <a:t>-like class for creating a single view of multiple mappings</a:t>
            </a:r>
          </a:p>
          <a:p>
            <a:pPr algn="just"/>
            <a:endParaRPr lang="en-US" sz="2800" dirty="0"/>
          </a:p>
          <a:p>
            <a:pPr marL="457200" indent="-457200" algn="just">
              <a:buFont typeface="Wingdings" panose="05000000000000000000" pitchFamily="2" charset="2"/>
              <a:buChar char="Ø"/>
            </a:pPr>
            <a:r>
              <a:rPr lang="en-US" sz="2800" dirty="0"/>
              <a:t>Counter-</a:t>
            </a:r>
            <a:r>
              <a:rPr lang="en-US" sz="2800" dirty="0" err="1"/>
              <a:t>dict</a:t>
            </a:r>
            <a:r>
              <a:rPr lang="en-US" sz="2800" dirty="0"/>
              <a:t> subclass for counting </a:t>
            </a:r>
            <a:r>
              <a:rPr lang="en-US" sz="2800" dirty="0" err="1"/>
              <a:t>hashable</a:t>
            </a:r>
            <a:r>
              <a:rPr lang="en-US" sz="2800" dirty="0"/>
              <a:t> objects.</a:t>
            </a:r>
          </a:p>
          <a:p>
            <a:pPr algn="just"/>
            <a:r>
              <a:rPr lang="en-US" sz="2800" dirty="0"/>
              <a:t> </a:t>
            </a:r>
            <a:endParaRPr lang="en-US" sz="2700" dirty="0">
              <a:latin typeface="+mj-lt"/>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139297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A6D3DC71-863D-40E6-A70D-093D26033E62}" type="datetime1">
              <a:rPr lang="en-US" smtClean="0"/>
              <a:t>9/27/2024</a:t>
            </a:fld>
            <a:endParaRPr lang="en-US" dirty="0"/>
          </a:p>
        </p:txBody>
      </p:sp>
      <p:sp>
        <p:nvSpPr>
          <p:cNvPr id="5" name="Footer Placeholder 4"/>
          <p:cNvSpPr>
            <a:spLocks noGrp="1"/>
          </p:cNvSpPr>
          <p:nvPr>
            <p:ph type="ftr" sz="quarter" idx="11"/>
          </p:nvPr>
        </p:nvSpPr>
        <p:spPr>
          <a:xfrm>
            <a:off x="4343400" y="6248406"/>
            <a:ext cx="6553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solidFill>
                  <a:schemeClr val="bg2">
                    <a:lumMod val="10000"/>
                  </a:schemeClr>
                </a:solidFill>
              </a:rPr>
              <a:t>Collection— Container datatypes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09600" y="917859"/>
            <a:ext cx="11277600" cy="5262979"/>
          </a:xfrm>
          <a:prstGeom prst="rect">
            <a:avLst/>
          </a:prstGeom>
          <a:solidFill>
            <a:schemeClr val="accent1">
              <a:lumMod val="40000"/>
              <a:lumOff val="60000"/>
            </a:schemeClr>
          </a:solidFill>
          <a:ln w="28575">
            <a:solidFill>
              <a:schemeClr val="tx1"/>
            </a:solidFill>
          </a:ln>
        </p:spPr>
        <p:txBody>
          <a:bodyPr wrap="square">
            <a:spAutoFit/>
          </a:bodyPr>
          <a:lstStyle/>
          <a:p>
            <a:pPr marL="457200" indent="-457200" algn="just">
              <a:buFont typeface="Wingdings" panose="05000000000000000000" pitchFamily="2" charset="2"/>
              <a:buChar char="Ø"/>
            </a:pPr>
            <a:r>
              <a:rPr lang="en-US" sz="2800" dirty="0"/>
              <a:t> </a:t>
            </a:r>
            <a:r>
              <a:rPr lang="en-US" sz="2800" dirty="0" err="1"/>
              <a:t>OrderedDict-dict</a:t>
            </a:r>
            <a:r>
              <a:rPr lang="en-US" sz="2800" dirty="0"/>
              <a:t> subclass that remembers the order entries were added</a:t>
            </a:r>
          </a:p>
          <a:p>
            <a:pPr algn="just"/>
            <a:endParaRPr lang="en-US" sz="2800" dirty="0"/>
          </a:p>
          <a:p>
            <a:pPr marL="457200" indent="-457200" algn="just">
              <a:buFont typeface="Wingdings" panose="05000000000000000000" pitchFamily="2" charset="2"/>
              <a:buChar char="Ø"/>
            </a:pPr>
            <a:r>
              <a:rPr lang="en-US" sz="2800" dirty="0" err="1"/>
              <a:t>Defaultdict-dict</a:t>
            </a:r>
            <a:r>
              <a:rPr lang="en-US" sz="2800" dirty="0"/>
              <a:t> subclass that calls a factory function to supply missing values</a:t>
            </a:r>
          </a:p>
          <a:p>
            <a:pPr marL="457200" indent="-457200" algn="just">
              <a:buFont typeface="Wingdings" panose="05000000000000000000" pitchFamily="2" charset="2"/>
              <a:buChar char="Ø"/>
            </a:pPr>
            <a:r>
              <a:rPr lang="en-US" sz="2800" dirty="0" err="1"/>
              <a:t>UserDict</a:t>
            </a:r>
            <a:r>
              <a:rPr lang="en-US" sz="2800" dirty="0"/>
              <a:t>-wrapper around dictionary objects for easier </a:t>
            </a:r>
            <a:r>
              <a:rPr lang="en-US" sz="2800" dirty="0" err="1"/>
              <a:t>dict</a:t>
            </a:r>
            <a:r>
              <a:rPr lang="en-US" sz="2800" dirty="0"/>
              <a:t> </a:t>
            </a:r>
            <a:r>
              <a:rPr lang="en-US" sz="2800" dirty="0" err="1"/>
              <a:t>subclassing</a:t>
            </a:r>
            <a:endParaRPr lang="en-US" sz="2800" dirty="0"/>
          </a:p>
          <a:p>
            <a:pPr algn="just"/>
            <a:endParaRPr lang="en-US" sz="2800" dirty="0"/>
          </a:p>
          <a:p>
            <a:pPr marL="457200" indent="-457200" algn="just">
              <a:buFont typeface="Wingdings" panose="05000000000000000000" pitchFamily="2" charset="2"/>
              <a:buChar char="Ø"/>
            </a:pPr>
            <a:r>
              <a:rPr lang="en-US" sz="2800" dirty="0" err="1"/>
              <a:t>UserList</a:t>
            </a:r>
            <a:r>
              <a:rPr lang="en-US" sz="2800" dirty="0"/>
              <a:t>-wrapper around list objects for easier list </a:t>
            </a:r>
            <a:r>
              <a:rPr lang="en-US" sz="2800" dirty="0" err="1"/>
              <a:t>subclassing</a:t>
            </a:r>
            <a:endParaRPr lang="en-US" sz="2800" dirty="0"/>
          </a:p>
          <a:p>
            <a:pPr marL="457200" indent="-457200" algn="just">
              <a:buFont typeface="Wingdings" panose="05000000000000000000" pitchFamily="2" charset="2"/>
              <a:buChar char="Ø"/>
            </a:pPr>
            <a:r>
              <a:rPr lang="en-US" sz="2800" dirty="0" err="1"/>
              <a:t>UserString</a:t>
            </a:r>
            <a:r>
              <a:rPr lang="en-US" sz="2800" dirty="0"/>
              <a:t>-wrapper around string objects for easier string </a:t>
            </a:r>
            <a:r>
              <a:rPr lang="en-US" sz="2800" dirty="0" err="1"/>
              <a:t>subclassing</a:t>
            </a:r>
            <a:endParaRPr lang="en-US" sz="2800" dirty="0"/>
          </a:p>
          <a:p>
            <a:pPr algn="just"/>
            <a:endParaRPr lang="en-US" sz="2800" dirty="0"/>
          </a:p>
          <a:p>
            <a:pPr marL="457200" indent="-457200" algn="just">
              <a:buFont typeface="Wingdings" panose="05000000000000000000" pitchFamily="2" charset="2"/>
              <a:buChar char="Ø"/>
            </a:pPr>
            <a:r>
              <a:rPr lang="en-US" sz="2800" dirty="0"/>
              <a:t>The collections module includes container data types beyond the built-in types list, </a:t>
            </a:r>
            <a:r>
              <a:rPr lang="en-US" sz="2800" dirty="0" err="1"/>
              <a:t>dict</a:t>
            </a:r>
            <a:r>
              <a:rPr lang="en-US" sz="2800" dirty="0"/>
              <a:t>, and tuple.</a:t>
            </a:r>
          </a:p>
          <a:p>
            <a:pPr algn="just"/>
            <a:r>
              <a:rPr lang="en-US" sz="2800" dirty="0"/>
              <a:t> </a:t>
            </a:r>
            <a:endParaRPr lang="en-US" sz="2700" dirty="0">
              <a:latin typeface="+mj-lt"/>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585635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CCE29279-FF17-47B8-846F-879D3BA1E0A0}" type="datetime1">
              <a:rPr lang="en-US" smtClean="0"/>
              <a:t>9/27/2024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Counter container</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877389" y="781394"/>
            <a:ext cx="11277600" cy="5940088"/>
          </a:xfrm>
          <a:prstGeom prst="rect">
            <a:avLst/>
          </a:prstGeom>
          <a:solidFill>
            <a:schemeClr val="accent1">
              <a:lumMod val="40000"/>
              <a:lumOff val="60000"/>
            </a:schemeClr>
          </a:solidFill>
          <a:ln w="28575">
            <a:solidFill>
              <a:schemeClr val="tx1"/>
            </a:solidFill>
          </a:ln>
        </p:spPr>
        <p:txBody>
          <a:bodyPr wrap="square">
            <a:spAutoFit/>
          </a:bodyPr>
          <a:lstStyle/>
          <a:p>
            <a:r>
              <a:rPr lang="en-US" sz="2800" dirty="0"/>
              <a:t>A Counter is a container that keeps track of how many times equivalent values are added. It can be used to implement the same algorithms for which bag or multiset data structures are commonly used in other languages.</a:t>
            </a:r>
          </a:p>
          <a:p>
            <a:r>
              <a:rPr lang="en-US" sz="2800" b="1" dirty="0"/>
              <a:t>Initializing:</a:t>
            </a:r>
          </a:p>
          <a:p>
            <a:r>
              <a:rPr lang="en-US" sz="2800" dirty="0"/>
              <a:t>Counter supports three forms of initialization. Its constructor can be called with a sequence of items, a dictionary containing keys and counts, or using keyword arguments mapping string names to counts.</a:t>
            </a:r>
          </a:p>
          <a:p>
            <a:r>
              <a:rPr lang="en-US" sz="2800" dirty="0"/>
              <a:t>import collections</a:t>
            </a:r>
            <a:endParaRPr lang="en-US" sz="3200" dirty="0"/>
          </a:p>
          <a:p>
            <a:r>
              <a:rPr lang="en-US" sz="3200" dirty="0"/>
              <a:t>print </a:t>
            </a:r>
            <a:r>
              <a:rPr lang="en-US" sz="3200" dirty="0" err="1"/>
              <a:t>collections.Counter</a:t>
            </a:r>
            <a:r>
              <a:rPr lang="en-US" sz="3200" dirty="0"/>
              <a:t>(['a', 'b', 'c', 'a', 'b', 'b'])</a:t>
            </a:r>
          </a:p>
          <a:p>
            <a:r>
              <a:rPr lang="en-US" sz="3200" dirty="0"/>
              <a:t>print </a:t>
            </a:r>
            <a:r>
              <a:rPr lang="en-US" sz="3200" dirty="0" err="1"/>
              <a:t>collections.Counter</a:t>
            </a:r>
            <a:r>
              <a:rPr lang="en-US" sz="3200" dirty="0"/>
              <a:t>({'a':2, 'b':3, 'c':1})</a:t>
            </a:r>
          </a:p>
          <a:p>
            <a:r>
              <a:rPr lang="en-US" sz="3200" dirty="0"/>
              <a:t>print </a:t>
            </a:r>
            <a:r>
              <a:rPr lang="en-US" sz="3200" dirty="0" err="1"/>
              <a:t>collections.Counter</a:t>
            </a:r>
            <a:r>
              <a:rPr lang="en-US" sz="3200" dirty="0"/>
              <a:t>(a=2, b=3, c=1)</a:t>
            </a:r>
          </a:p>
          <a:p>
            <a:r>
              <a:rPr lang="en-US" sz="3200" dirty="0"/>
              <a:t>The results of all three forms of initialization are the same.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921040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107DDD54-CFDE-4B63-B71C-743FE8FBE1C3}" type="datetime1">
              <a:rPr lang="en-US" smtClean="0"/>
              <a:t>9/27/2024</a:t>
            </a:fld>
            <a:endParaRPr lang="en-US" dirty="0"/>
          </a:p>
        </p:txBody>
      </p:sp>
      <p:sp>
        <p:nvSpPr>
          <p:cNvPr id="5" name="Footer Placeholder 4"/>
          <p:cNvSpPr>
            <a:spLocks noGrp="1"/>
          </p:cNvSpPr>
          <p:nvPr>
            <p:ph type="ftr" sz="quarter" idx="11"/>
          </p:nvPr>
        </p:nvSpPr>
        <p:spPr>
          <a:xfrm>
            <a:off x="4343400" y="6248406"/>
            <a:ext cx="47244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Defaultdict</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33549" y="919665"/>
            <a:ext cx="11277600" cy="5693866"/>
          </a:xfrm>
          <a:prstGeom prst="rect">
            <a:avLst/>
          </a:prstGeom>
          <a:solidFill>
            <a:schemeClr val="accent1">
              <a:lumMod val="40000"/>
              <a:lumOff val="60000"/>
            </a:schemeClr>
          </a:solidFill>
          <a:ln w="28575">
            <a:solidFill>
              <a:schemeClr val="tx1"/>
            </a:solidFill>
          </a:ln>
        </p:spPr>
        <p:txBody>
          <a:bodyPr wrap="square">
            <a:spAutoFit/>
          </a:bodyPr>
          <a:lstStyle/>
          <a:p>
            <a:pPr>
              <a:buNone/>
            </a:pPr>
            <a:r>
              <a:rPr lang="en-US" sz="2800" dirty="0"/>
              <a:t>The standard dictionary includes the method </a:t>
            </a:r>
            <a:r>
              <a:rPr lang="en-US" sz="2800" dirty="0" err="1"/>
              <a:t>setdefault</a:t>
            </a:r>
            <a:r>
              <a:rPr lang="en-US" sz="2800" dirty="0"/>
              <a:t>() for retrieving a value and establishing a default if the</a:t>
            </a:r>
          </a:p>
          <a:p>
            <a:pPr>
              <a:buNone/>
            </a:pPr>
            <a:r>
              <a:rPr lang="en-US" sz="2800" dirty="0"/>
              <a:t>value does not exist. By contrast, </a:t>
            </a:r>
            <a:r>
              <a:rPr lang="en-US" sz="2800" dirty="0" err="1"/>
              <a:t>defaultdict</a:t>
            </a:r>
            <a:r>
              <a:rPr lang="en-US" sz="2800" dirty="0"/>
              <a:t> lets the caller specify the default up front when the container initialized.</a:t>
            </a:r>
          </a:p>
          <a:p>
            <a:pPr>
              <a:buNone/>
            </a:pPr>
            <a:r>
              <a:rPr lang="en-US" sz="2800" dirty="0"/>
              <a:t>import collections </a:t>
            </a:r>
          </a:p>
          <a:p>
            <a:pPr>
              <a:buNone/>
            </a:pPr>
            <a:r>
              <a:rPr lang="en-US" sz="2800" dirty="0" err="1"/>
              <a:t>def</a:t>
            </a:r>
            <a:r>
              <a:rPr lang="en-US" sz="2800" dirty="0"/>
              <a:t> </a:t>
            </a:r>
            <a:r>
              <a:rPr lang="en-US" sz="2800" dirty="0" err="1"/>
              <a:t>default_factory</a:t>
            </a:r>
            <a:r>
              <a:rPr lang="en-US" sz="2800" dirty="0"/>
              <a:t>():    </a:t>
            </a:r>
          </a:p>
          <a:p>
            <a:pPr>
              <a:buNone/>
            </a:pPr>
            <a:r>
              <a:rPr lang="en-US" sz="2800" dirty="0"/>
              <a:t>return 'default value' </a:t>
            </a:r>
          </a:p>
          <a:p>
            <a:pPr>
              <a:buNone/>
            </a:pPr>
            <a:r>
              <a:rPr lang="en-US" sz="2800" dirty="0"/>
              <a:t>d = </a:t>
            </a:r>
            <a:r>
              <a:rPr lang="en-US" sz="2800" dirty="0" err="1"/>
              <a:t>collections.defaultdict</a:t>
            </a:r>
            <a:r>
              <a:rPr lang="en-US" sz="2800" dirty="0"/>
              <a:t>(</a:t>
            </a:r>
            <a:r>
              <a:rPr lang="en-US" sz="2800" dirty="0" err="1"/>
              <a:t>default_factory</a:t>
            </a:r>
            <a:r>
              <a:rPr lang="en-US" sz="2800" dirty="0"/>
              <a:t>, foo='bar')</a:t>
            </a:r>
          </a:p>
          <a:p>
            <a:pPr>
              <a:buNone/>
            </a:pPr>
            <a:r>
              <a:rPr lang="en-US" sz="2800" dirty="0"/>
              <a:t>print 'd:', d</a:t>
            </a:r>
          </a:p>
          <a:p>
            <a:pPr>
              <a:buNone/>
            </a:pPr>
            <a:r>
              <a:rPr lang="en-US" sz="2800" dirty="0"/>
              <a:t>print 'foo =&gt;', d['foo']</a:t>
            </a:r>
          </a:p>
          <a:p>
            <a:pPr>
              <a:buNone/>
            </a:pPr>
            <a:r>
              <a:rPr lang="en-US" sz="2800" dirty="0"/>
              <a:t>print 'bar =&gt;', d['bar'] </a:t>
            </a:r>
          </a:p>
          <a:p>
            <a:pPr>
              <a:buNone/>
            </a:pPr>
            <a:r>
              <a:rPr lang="en-US" sz="2800" dirty="0"/>
              <a:t>This works well as long as it is appropriate for all keys to have the same default. </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219934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43D7420-E6C8-4353-BE18-F0F88B5B7ECF}" type="datetime1">
              <a:rPr lang="en-US" smtClean="0"/>
              <a:t>9/27/2024</a:t>
            </a:fld>
            <a:endParaRPr lang="en-US"/>
          </a:p>
        </p:txBody>
      </p:sp>
      <p:sp>
        <p:nvSpPr>
          <p:cNvPr id="5" name="Footer Placeholder 4"/>
          <p:cNvSpPr>
            <a:spLocks noGrp="1"/>
          </p:cNvSpPr>
          <p:nvPr>
            <p:ph type="ftr" sz="quarter" idx="11"/>
          </p:nvPr>
        </p:nvSpPr>
        <p:spPr>
          <a:xfrm>
            <a:off x="4038600" y="6356351"/>
            <a:ext cx="5029200" cy="365125"/>
          </a:xfrm>
        </p:spPr>
        <p:txBody>
          <a:bodyPr/>
          <a:lstStyle/>
          <a:p>
            <a:pPr>
              <a:defRPr/>
            </a:pPr>
            <a:r>
              <a:rPr lang="en-US"/>
              <a:t>Ritesh Kumar Singh                 Python web development with Django                           Unit I</a:t>
            </a:r>
            <a:endParaRPr lang="en-US" dirty="0"/>
          </a:p>
        </p:txBody>
      </p:sp>
      <p:sp>
        <p:nvSpPr>
          <p:cNvPr id="1843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6F991F0-CD39-438A-873C-2228C503E987}" type="slidenum">
              <a:rPr lang="en-US" altLang="en-US">
                <a:solidFill>
                  <a:srgbClr val="898989"/>
                </a:solidFill>
                <a:latin typeface="Calibri" panose="020F0502020204030204" pitchFamily="34" charset="0"/>
              </a:rPr>
              <a:pPr/>
              <a:t>12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800" b="1" dirty="0"/>
              <a:t>                                                         </a:t>
            </a:r>
            <a:r>
              <a:rPr lang="en-US" sz="3200" dirty="0" err="1"/>
              <a:t>Deque</a:t>
            </a:r>
            <a:endParaRPr lang="en-US" sz="3200" dirty="0"/>
          </a:p>
        </p:txBody>
      </p:sp>
      <p:sp>
        <p:nvSpPr>
          <p:cNvPr id="18440"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23561" name="TextBox 9"/>
          <p:cNvSpPr txBox="1">
            <a:spLocks noChangeArrowheads="1"/>
          </p:cNvSpPr>
          <p:nvPr/>
        </p:nvSpPr>
        <p:spPr bwMode="auto">
          <a:xfrm>
            <a:off x="2667000" y="1816101"/>
            <a:ext cx="72390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r>
              <a:rPr lang="en-US" altLang="en-US" sz="2200" dirty="0">
                <a:latin typeface="Times New Roman" panose="02020603050405020304" pitchFamily="18" charset="0"/>
                <a:cs typeface="Times New Roman" panose="02020603050405020304" pitchFamily="18" charset="0"/>
              </a:rPr>
              <a:t>	</a:t>
            </a:r>
            <a:endParaRPr lang="en-US" altLang="en-US" dirty="0"/>
          </a:p>
        </p:txBody>
      </p:sp>
      <p:sp>
        <p:nvSpPr>
          <p:cNvPr id="94209" name="Rectangle 1"/>
          <p:cNvSpPr>
            <a:spLocks noChangeArrowheads="1"/>
          </p:cNvSpPr>
          <p:nvPr/>
        </p:nvSpPr>
        <p:spPr bwMode="auto">
          <a:xfrm>
            <a:off x="1676400" y="868165"/>
            <a:ext cx="10363200" cy="5644622"/>
          </a:xfrm>
          <a:prstGeom prst="rect">
            <a:avLst/>
          </a:prstGeom>
          <a:solidFill>
            <a:schemeClr val="accent1">
              <a:lumMod val="60000"/>
              <a:lumOff val="40000"/>
            </a:schemeClr>
          </a:solidFill>
          <a:ln w="9525">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sz="2800" dirty="0">
                <a:ea typeface="Times New Roman" pitchFamily="18" charset="0"/>
                <a:cs typeface="Arial" pitchFamily="34" charset="0"/>
              </a:rPr>
              <a:t>A double-ended queue, or </a:t>
            </a:r>
            <a:r>
              <a:rPr lang="en-US" sz="2800" dirty="0" err="1">
                <a:ea typeface="Times New Roman" pitchFamily="18" charset="0"/>
                <a:cs typeface="Arial" pitchFamily="34" charset="0"/>
              </a:rPr>
              <a:t>deque</a:t>
            </a:r>
            <a:r>
              <a:rPr lang="en-US" sz="2800" dirty="0">
                <a:ea typeface="Times New Roman" pitchFamily="18" charset="0"/>
                <a:cs typeface="Arial" pitchFamily="34" charset="0"/>
              </a:rPr>
              <a:t>, supports adding and removing elements from either end. The more commonly used stacks and queues are degenerate forms of </a:t>
            </a:r>
            <a:r>
              <a:rPr lang="en-US" sz="2800" dirty="0" err="1">
                <a:ea typeface="Times New Roman" pitchFamily="18" charset="0"/>
                <a:cs typeface="Arial" pitchFamily="34" charset="0"/>
              </a:rPr>
              <a:t>deques</a:t>
            </a:r>
            <a:r>
              <a:rPr lang="en-US" sz="2800" dirty="0">
                <a:ea typeface="Times New Roman" pitchFamily="18" charset="0"/>
                <a:cs typeface="Arial" pitchFamily="34" charset="0"/>
              </a:rPr>
              <a:t>, where the inputs and outputs are restricted to a single end.</a:t>
            </a:r>
            <a:endParaRPr lang="en-US" sz="2800" dirty="0">
              <a:ea typeface="Times New Roman" pitchFamily="18" charset="0"/>
              <a:cs typeface="Courier New" pitchFamily="49" charset="0"/>
            </a:endParaRPr>
          </a:p>
          <a:p>
            <a:pPr eaLnBrk="0" fontAlgn="base" hangingPunct="0">
              <a:spcBef>
                <a:spcPct val="30000"/>
              </a:spcBef>
              <a:spcAft>
                <a:spcPct val="0"/>
              </a:spcAft>
            </a:pPr>
            <a:r>
              <a:rPr lang="en-US" sz="2800" dirty="0">
                <a:ea typeface="Times New Roman" pitchFamily="18" charset="0"/>
                <a:cs typeface="Courier New" pitchFamily="49" charset="0"/>
              </a:rPr>
              <a:t>import collections</a:t>
            </a:r>
          </a:p>
          <a:p>
            <a:pPr eaLnBrk="0" fontAlgn="base" hangingPunct="0">
              <a:spcBef>
                <a:spcPct val="30000"/>
              </a:spcBef>
              <a:spcAft>
                <a:spcPct val="0"/>
              </a:spcAft>
            </a:pPr>
            <a:r>
              <a:rPr lang="en-US" sz="2800" dirty="0"/>
              <a:t>d</a:t>
            </a:r>
            <a:r>
              <a:rPr lang="en-US" sz="2800" dirty="0">
                <a:ea typeface="Times New Roman" pitchFamily="18" charset="0"/>
                <a:cs typeface="Courier New" pitchFamily="49" charset="0"/>
              </a:rPr>
              <a:t> </a:t>
            </a:r>
            <a:r>
              <a:rPr lang="en-US" sz="2800" dirty="0"/>
              <a:t>=</a:t>
            </a:r>
            <a:r>
              <a:rPr lang="en-US" sz="2800" dirty="0">
                <a:ea typeface="Times New Roman" pitchFamily="18" charset="0"/>
                <a:cs typeface="Courier New" pitchFamily="49" charset="0"/>
              </a:rPr>
              <a:t> </a:t>
            </a:r>
            <a:r>
              <a:rPr lang="en-US" sz="2800" dirty="0" err="1"/>
              <a:t>collections.deque</a:t>
            </a:r>
            <a:r>
              <a:rPr lang="en-US" sz="2800" dirty="0">
                <a:ea typeface="Times New Roman" pitchFamily="18" charset="0"/>
                <a:cs typeface="Courier New" pitchFamily="49" charset="0"/>
              </a:rPr>
              <a:t>('</a:t>
            </a:r>
            <a:r>
              <a:rPr lang="en-US" sz="2800" dirty="0" err="1">
                <a:ea typeface="Times New Roman" pitchFamily="18" charset="0"/>
                <a:cs typeface="Courier New" pitchFamily="49" charset="0"/>
              </a:rPr>
              <a:t>abcdefg</a:t>
            </a:r>
            <a:r>
              <a:rPr lang="en-US" sz="2800" dirty="0">
                <a:ea typeface="Times New Roman" pitchFamily="18" charset="0"/>
                <a:cs typeface="Courier New" pitchFamily="49" charset="0"/>
              </a:rPr>
              <a:t>')</a:t>
            </a:r>
          </a:p>
          <a:p>
            <a:pPr eaLnBrk="0" fontAlgn="base" hangingPunct="0">
              <a:spcBef>
                <a:spcPct val="30000"/>
              </a:spcBef>
              <a:spcAft>
                <a:spcPct val="0"/>
              </a:spcAft>
            </a:pPr>
            <a:r>
              <a:rPr lang="en-US" sz="2800" dirty="0">
                <a:ea typeface="Times New Roman" pitchFamily="18" charset="0"/>
                <a:cs typeface="Courier New" pitchFamily="49" charset="0"/>
              </a:rPr>
              <a:t>print 'Deque:', </a:t>
            </a:r>
            <a:r>
              <a:rPr lang="en-US" sz="2800" dirty="0"/>
              <a:t>d</a:t>
            </a:r>
          </a:p>
          <a:p>
            <a:pPr eaLnBrk="0" fontAlgn="base" hangingPunct="0">
              <a:spcBef>
                <a:spcPct val="30000"/>
              </a:spcBef>
              <a:spcAft>
                <a:spcPct val="0"/>
              </a:spcAft>
            </a:pPr>
            <a:r>
              <a:rPr lang="en-US" sz="2800" dirty="0">
                <a:ea typeface="Times New Roman" pitchFamily="18" charset="0"/>
                <a:cs typeface="Courier New" pitchFamily="49" charset="0"/>
              </a:rPr>
              <a:t>print 'Length:', </a:t>
            </a:r>
            <a:r>
              <a:rPr lang="en-US" sz="2800" dirty="0" err="1">
                <a:ea typeface="Times New Roman" pitchFamily="18" charset="0"/>
                <a:cs typeface="Courier New" pitchFamily="49" charset="0"/>
              </a:rPr>
              <a:t>len</a:t>
            </a:r>
            <a:r>
              <a:rPr lang="en-US" sz="2800" dirty="0">
                <a:ea typeface="Times New Roman" pitchFamily="18" charset="0"/>
                <a:cs typeface="Courier New" pitchFamily="49" charset="0"/>
              </a:rPr>
              <a:t>(d)</a:t>
            </a:r>
            <a:endParaRPr lang="en-US" sz="2800" dirty="0"/>
          </a:p>
          <a:p>
            <a:pPr eaLnBrk="0" fontAlgn="base" hangingPunct="0">
              <a:spcBef>
                <a:spcPct val="30000"/>
              </a:spcBef>
              <a:spcAft>
                <a:spcPct val="0"/>
              </a:spcAft>
            </a:pPr>
            <a:r>
              <a:rPr lang="en-US" sz="2800" dirty="0">
                <a:ea typeface="Times New Roman" pitchFamily="18" charset="0"/>
                <a:cs typeface="Courier New" pitchFamily="49" charset="0"/>
              </a:rPr>
              <a:t>print 'Left end:', </a:t>
            </a:r>
            <a:r>
              <a:rPr lang="en-US" sz="2800" dirty="0"/>
              <a:t>d</a:t>
            </a:r>
            <a:r>
              <a:rPr lang="en-US" sz="2800" dirty="0">
                <a:ea typeface="Times New Roman" pitchFamily="18" charset="0"/>
                <a:cs typeface="Courier New" pitchFamily="49" charset="0"/>
              </a:rPr>
              <a:t>[0]</a:t>
            </a:r>
          </a:p>
          <a:p>
            <a:pPr eaLnBrk="0" fontAlgn="base" hangingPunct="0">
              <a:spcBef>
                <a:spcPct val="30000"/>
              </a:spcBef>
              <a:spcAft>
                <a:spcPct val="0"/>
              </a:spcAft>
            </a:pPr>
            <a:r>
              <a:rPr lang="en-US" sz="2800" dirty="0">
                <a:ea typeface="Times New Roman" pitchFamily="18" charset="0"/>
                <a:cs typeface="Courier New" pitchFamily="49" charset="0"/>
              </a:rPr>
              <a:t>print 'Right end:', </a:t>
            </a:r>
            <a:r>
              <a:rPr lang="en-US" sz="2800" dirty="0"/>
              <a:t>d</a:t>
            </a:r>
            <a:r>
              <a:rPr lang="en-US" sz="2800" dirty="0">
                <a:ea typeface="Times New Roman" pitchFamily="18" charset="0"/>
                <a:cs typeface="Courier New" pitchFamily="49" charset="0"/>
              </a:rPr>
              <a:t>[</a:t>
            </a:r>
            <a:r>
              <a:rPr lang="en-US" sz="2800" dirty="0"/>
              <a:t>-</a:t>
            </a:r>
            <a:r>
              <a:rPr lang="en-US" sz="2800" dirty="0">
                <a:ea typeface="Times New Roman" pitchFamily="18" charset="0"/>
                <a:cs typeface="Courier New" pitchFamily="49" charset="0"/>
              </a:rPr>
              <a:t>1]</a:t>
            </a:r>
          </a:p>
          <a:p>
            <a:pPr eaLnBrk="0" fontAlgn="base" hangingPunct="0">
              <a:spcBef>
                <a:spcPct val="30000"/>
              </a:spcBef>
              <a:spcAft>
                <a:spcPct val="0"/>
              </a:spcAft>
            </a:pPr>
            <a:r>
              <a:rPr lang="en-US" sz="2800" dirty="0" err="1"/>
              <a:t>d.remove</a:t>
            </a:r>
            <a:r>
              <a:rPr lang="en-US" sz="2800" dirty="0">
                <a:ea typeface="Times New Roman" pitchFamily="18" charset="0"/>
                <a:cs typeface="Courier New" pitchFamily="49" charset="0"/>
              </a:rPr>
              <a:t>('c')print 'remove(c):', </a:t>
            </a:r>
            <a:r>
              <a:rPr lang="en-US" sz="2800" dirty="0"/>
              <a:t>d</a:t>
            </a:r>
            <a:r>
              <a:rPr lang="en-US" sz="2800" dirty="0">
                <a:cs typeface="Arial" pitchFamily="34" charset="0"/>
              </a:rPr>
              <a:t> </a:t>
            </a:r>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281887630"/>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61"/>
                                        </p:tgtEl>
                                        <p:attrNameLst>
                                          <p:attrName>style.visibility</p:attrName>
                                        </p:attrNameLst>
                                      </p:cBhvr>
                                      <p:to>
                                        <p:strVal val="visible"/>
                                      </p:to>
                                    </p:set>
                                    <p:anim calcmode="lin" valueType="num">
                                      <p:cBhvr additive="base">
                                        <p:cTn id="7" dur="500" fill="hold"/>
                                        <p:tgtEl>
                                          <p:spTgt spid="23561"/>
                                        </p:tgtEl>
                                        <p:attrNameLst>
                                          <p:attrName>ppt_x</p:attrName>
                                        </p:attrNameLst>
                                      </p:cBhvr>
                                      <p:tavLst>
                                        <p:tav tm="0">
                                          <p:val>
                                            <p:strVal val="#ppt_x"/>
                                          </p:val>
                                        </p:tav>
                                        <p:tav tm="100000">
                                          <p:val>
                                            <p:strVal val="#ppt_x"/>
                                          </p:val>
                                        </p:tav>
                                      </p:tavLst>
                                    </p:anim>
                                    <p:anim calcmode="lin" valueType="num">
                                      <p:cBhvr additive="base">
                                        <p:cTn id="8" dur="500" fill="hold"/>
                                        <p:tgtEl>
                                          <p:spTgt spid="2356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9340D52-F2BC-4D3E-BA36-958FFFD3A4A3}" type="datetime1">
              <a:rPr lang="en-US" smtClean="0"/>
              <a:t>9/27/2024</a:t>
            </a:fld>
            <a:endParaRPr lang="en-US"/>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1946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EDFF600-644D-414A-A537-F38C633C8845}" type="slidenum">
              <a:rPr lang="en-US" altLang="en-US">
                <a:solidFill>
                  <a:srgbClr val="898989"/>
                </a:solidFill>
                <a:latin typeface="Calibri" panose="020F0502020204030204" pitchFamily="34" charset="0"/>
              </a:rPr>
              <a:pPr/>
              <a:t>13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a:t>
            </a:r>
            <a:r>
              <a:rPr lang="en-US" sz="3200" dirty="0" err="1"/>
              <a:t>Deque</a:t>
            </a:r>
            <a:endParaRPr lang="en-US" sz="3200" dirty="0"/>
          </a:p>
        </p:txBody>
      </p:sp>
      <p:sp>
        <p:nvSpPr>
          <p:cNvPr id="19464"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93185" name="Rectangle 1"/>
          <p:cNvSpPr>
            <a:spLocks noChangeArrowheads="1"/>
          </p:cNvSpPr>
          <p:nvPr/>
        </p:nvSpPr>
        <p:spPr bwMode="auto">
          <a:xfrm>
            <a:off x="1454330" y="1282243"/>
            <a:ext cx="10432869" cy="4308872"/>
          </a:xfrm>
          <a:prstGeom prst="rect">
            <a:avLst/>
          </a:prstGeom>
          <a:solidFill>
            <a:schemeClr val="tx2">
              <a:lumMod val="40000"/>
              <a:lumOff val="60000"/>
            </a:schemeClr>
          </a:solidFill>
          <a:ln w="635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sz="2800" dirty="0">
                <a:ea typeface="Times New Roman" pitchFamily="18" charset="0"/>
                <a:cs typeface="Arial" pitchFamily="34" charset="0"/>
              </a:rPr>
              <a:t>Since </a:t>
            </a:r>
            <a:r>
              <a:rPr lang="en-US" sz="2800" dirty="0" err="1">
                <a:ea typeface="Times New Roman" pitchFamily="18" charset="0"/>
                <a:cs typeface="Arial" pitchFamily="34" charset="0"/>
              </a:rPr>
              <a:t>deques</a:t>
            </a:r>
            <a:r>
              <a:rPr lang="en-US" sz="2800" dirty="0">
                <a:ea typeface="Times New Roman" pitchFamily="18" charset="0"/>
                <a:cs typeface="Arial" pitchFamily="34" charset="0"/>
              </a:rPr>
              <a:t> are a type of sequence container, they support some of the same operations that lists support, such as examining the contents with __</a:t>
            </a:r>
            <a:r>
              <a:rPr lang="en-US" sz="2800" dirty="0" err="1">
                <a:ea typeface="Times New Roman" pitchFamily="18" charset="0"/>
                <a:cs typeface="Arial" pitchFamily="34" charset="0"/>
              </a:rPr>
              <a:t>getitem</a:t>
            </a:r>
            <a:r>
              <a:rPr lang="en-US" sz="2800" dirty="0">
                <a:ea typeface="Times New Roman" pitchFamily="18" charset="0"/>
                <a:cs typeface="Arial" pitchFamily="34" charset="0"/>
              </a:rPr>
              <a:t>__(), determining length, and removing elements from the middle by matching identity.</a:t>
            </a:r>
            <a:endParaRPr lang="en-US" sz="2800" dirty="0">
              <a:ea typeface="Times New Roman" pitchFamily="18" charset="0"/>
              <a:cs typeface="Courier New" pitchFamily="49" charset="0"/>
            </a:endParaRPr>
          </a:p>
          <a:p>
            <a:pPr eaLnBrk="0" fontAlgn="base" hangingPunct="0">
              <a:spcBef>
                <a:spcPct val="0"/>
              </a:spcBef>
              <a:spcAft>
                <a:spcPct val="0"/>
              </a:spcAft>
            </a:pPr>
            <a:r>
              <a:rPr lang="en-US" sz="2800" dirty="0">
                <a:ea typeface="Times New Roman" pitchFamily="18" charset="0"/>
                <a:cs typeface="Courier New" pitchFamily="49" charset="0"/>
              </a:rPr>
              <a:t>$ python collections_deque.py</a:t>
            </a:r>
          </a:p>
          <a:p>
            <a:pPr eaLnBrk="0" fontAlgn="base" hangingPunct="0">
              <a:spcBef>
                <a:spcPct val="0"/>
              </a:spcBef>
              <a:spcAft>
                <a:spcPct val="0"/>
              </a:spcAft>
            </a:pPr>
            <a:r>
              <a:rPr lang="en-US" sz="2800" dirty="0">
                <a:ea typeface="Times New Roman" pitchFamily="18" charset="0"/>
                <a:cs typeface="Courier New" pitchFamily="49" charset="0"/>
              </a:rPr>
              <a:t>Deque: </a:t>
            </a:r>
            <a:r>
              <a:rPr lang="en-US" sz="2800" dirty="0" err="1">
                <a:ea typeface="Times New Roman" pitchFamily="18" charset="0"/>
                <a:cs typeface="Courier New" pitchFamily="49" charset="0"/>
              </a:rPr>
              <a:t>deque</a:t>
            </a:r>
            <a:r>
              <a:rPr lang="en-US" sz="2800" dirty="0">
                <a:ea typeface="Times New Roman" pitchFamily="18" charset="0"/>
                <a:cs typeface="Courier New" pitchFamily="49" charset="0"/>
              </a:rPr>
              <a:t>(['a', 'b', 'c', 'd', 'e', 'f', 'g'])</a:t>
            </a:r>
          </a:p>
          <a:p>
            <a:pPr eaLnBrk="0" fontAlgn="base" hangingPunct="0">
              <a:spcBef>
                <a:spcPct val="0"/>
              </a:spcBef>
              <a:spcAft>
                <a:spcPct val="0"/>
              </a:spcAft>
            </a:pPr>
            <a:r>
              <a:rPr lang="en-US" sz="2800" dirty="0">
                <a:ea typeface="Times New Roman" pitchFamily="18" charset="0"/>
                <a:cs typeface="Courier New" pitchFamily="49" charset="0"/>
              </a:rPr>
              <a:t>Length: 7</a:t>
            </a:r>
          </a:p>
          <a:p>
            <a:pPr eaLnBrk="0" fontAlgn="base" hangingPunct="0">
              <a:spcBef>
                <a:spcPct val="0"/>
              </a:spcBef>
              <a:spcAft>
                <a:spcPct val="0"/>
              </a:spcAft>
            </a:pPr>
            <a:r>
              <a:rPr lang="en-US" sz="2800" dirty="0">
                <a:ea typeface="Times New Roman" pitchFamily="18" charset="0"/>
                <a:cs typeface="Courier New" pitchFamily="49" charset="0"/>
              </a:rPr>
              <a:t>Left end: a</a:t>
            </a:r>
          </a:p>
          <a:p>
            <a:pPr eaLnBrk="0" fontAlgn="base" hangingPunct="0">
              <a:spcBef>
                <a:spcPct val="0"/>
              </a:spcBef>
              <a:spcAft>
                <a:spcPct val="0"/>
              </a:spcAft>
            </a:pPr>
            <a:r>
              <a:rPr lang="en-US" sz="2800" dirty="0">
                <a:ea typeface="Times New Roman" pitchFamily="18" charset="0"/>
                <a:cs typeface="Courier New" pitchFamily="49" charset="0"/>
              </a:rPr>
              <a:t>Right end: g</a:t>
            </a:r>
          </a:p>
          <a:p>
            <a:pPr eaLnBrk="0" fontAlgn="base" hangingPunct="0">
              <a:spcBef>
                <a:spcPct val="0"/>
              </a:spcBef>
              <a:spcAft>
                <a:spcPct val="0"/>
              </a:spcAft>
            </a:pPr>
            <a:r>
              <a:rPr lang="en-US" sz="2800" dirty="0">
                <a:ea typeface="Times New Roman" pitchFamily="18" charset="0"/>
                <a:cs typeface="Courier New" pitchFamily="49" charset="0"/>
              </a:rPr>
              <a:t>remove(c): </a:t>
            </a:r>
            <a:r>
              <a:rPr lang="en-US" sz="2800" dirty="0" err="1">
                <a:ea typeface="Times New Roman" pitchFamily="18" charset="0"/>
                <a:cs typeface="Courier New" pitchFamily="49" charset="0"/>
              </a:rPr>
              <a:t>deque</a:t>
            </a:r>
            <a:r>
              <a:rPr lang="en-US" sz="2800" dirty="0">
                <a:ea typeface="Times New Roman" pitchFamily="18" charset="0"/>
                <a:cs typeface="Courier New" pitchFamily="49" charset="0"/>
              </a:rPr>
              <a:t>(['a', 'b', 'd', 'e', 'f', 'g'])</a:t>
            </a:r>
            <a:r>
              <a:rPr lang="en-US" sz="2800" dirty="0">
                <a:cs typeface="Arial" pitchFamily="34" charset="0"/>
              </a:rPr>
              <a:t> </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914863709"/>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E3266AD-4957-4922-8879-9A6048430747}" type="datetime1">
              <a:rPr lang="en-US" smtClean="0"/>
              <a:t>9/27/2024</a:t>
            </a:fld>
            <a:endParaRPr lang="en-US"/>
          </a:p>
        </p:txBody>
      </p:sp>
      <p:sp>
        <p:nvSpPr>
          <p:cNvPr id="5" name="Footer Placeholder 4"/>
          <p:cNvSpPr>
            <a:spLocks noGrp="1"/>
          </p:cNvSpPr>
          <p:nvPr>
            <p:ph type="ftr" sz="quarter" idx="11"/>
          </p:nvPr>
        </p:nvSpPr>
        <p:spPr>
          <a:xfrm>
            <a:off x="4038600" y="6356351"/>
            <a:ext cx="7086600" cy="365125"/>
          </a:xfrm>
        </p:spPr>
        <p:txBody>
          <a:bodyPr/>
          <a:lstStyle/>
          <a:p>
            <a:pPr>
              <a:defRPr/>
            </a:pPr>
            <a:r>
              <a:rPr lang="en-US"/>
              <a:t>Ritesh Kumar Singh                 Python web development with Django                           Unit I</a:t>
            </a:r>
            <a:endParaRPr lang="en-US" dirty="0"/>
          </a:p>
        </p:txBody>
      </p:sp>
      <p:sp>
        <p:nvSpPr>
          <p:cNvPr id="2560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045FA4E-F205-4302-ADF6-042E49104BD2}" type="slidenum">
              <a:rPr lang="en-US" altLang="en-US">
                <a:solidFill>
                  <a:srgbClr val="898989"/>
                </a:solidFill>
                <a:latin typeface="Calibri" panose="020F0502020204030204" pitchFamily="34" charset="0"/>
              </a:rPr>
              <a:pPr/>
              <a:t>14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371600" y="0"/>
            <a:ext cx="10820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Ordered </a:t>
            </a:r>
            <a:r>
              <a:rPr lang="en-US" sz="3200" dirty="0" err="1"/>
              <a:t>Dict</a:t>
            </a:r>
            <a:endParaRPr lang="en-US" sz="3200" dirty="0"/>
          </a:p>
        </p:txBody>
      </p:sp>
      <p:sp>
        <p:nvSpPr>
          <p:cNvPr id="25608" name="TextBox 7"/>
          <p:cNvSpPr txBox="1">
            <a:spLocks noChangeArrowheads="1"/>
          </p:cNvSpPr>
          <p:nvPr/>
        </p:nvSpPr>
        <p:spPr bwMode="auto">
          <a:xfrm>
            <a:off x="1373777" y="914400"/>
            <a:ext cx="10515600" cy="4832092"/>
          </a:xfrm>
          <a:prstGeom prst="rect">
            <a:avLst/>
          </a:prstGeom>
          <a:solidFill>
            <a:schemeClr val="tx2">
              <a:lumMod val="40000"/>
              <a:lumOff val="60000"/>
            </a:schemeClr>
          </a:solidFill>
          <a:ln w="9525">
            <a:solidFill>
              <a:srgbClr val="000000"/>
            </a:solidFill>
            <a:miter lim="800000"/>
            <a:headEnd/>
            <a:tailEnd/>
          </a:ln>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2800" dirty="0">
                <a:latin typeface="+mn-lt"/>
                <a:cs typeface="Times New Roman" panose="02020603050405020304" pitchFamily="18" charset="0"/>
              </a:rPr>
              <a:t> </a:t>
            </a:r>
            <a:r>
              <a:rPr lang="en-US" sz="2800" dirty="0">
                <a:latin typeface="+mn-lt"/>
              </a:rPr>
              <a:t>An OrderedDict is a dictionary subclass that remembers the order in which its contents are added.</a:t>
            </a:r>
          </a:p>
          <a:p>
            <a:r>
              <a:rPr lang="en-US" sz="2800" dirty="0">
                <a:latin typeface="+mn-lt"/>
              </a:rPr>
              <a:t>import collections </a:t>
            </a:r>
          </a:p>
          <a:p>
            <a:r>
              <a:rPr lang="en-US" sz="2800" dirty="0">
                <a:latin typeface="+mn-lt"/>
              </a:rPr>
              <a:t> print 'Regular dictionary:‘ </a:t>
            </a:r>
          </a:p>
          <a:p>
            <a:r>
              <a:rPr lang="en-US" sz="2800" dirty="0">
                <a:latin typeface="+mn-lt"/>
              </a:rPr>
              <a:t>A regular </a:t>
            </a:r>
            <a:r>
              <a:rPr lang="en-US" sz="2800" dirty="0" err="1">
                <a:latin typeface="+mn-lt"/>
              </a:rPr>
              <a:t>dict</a:t>
            </a:r>
            <a:r>
              <a:rPr lang="en-US" sz="2800" dirty="0">
                <a:latin typeface="+mn-lt"/>
              </a:rPr>
              <a:t> does not track the insertion order, and iterating over it produces the values in an arbitrary order. In an OrderedDict, by contrast, the order the items are inserted is remembered and used when creating an </a:t>
            </a:r>
            <a:r>
              <a:rPr lang="en-US" sz="2800" dirty="0" err="1">
                <a:latin typeface="+mn-lt"/>
              </a:rPr>
              <a:t>iterator</a:t>
            </a:r>
            <a:r>
              <a:rPr lang="en-US" sz="2800" dirty="0">
                <a:latin typeface="+mn-lt"/>
              </a:rPr>
              <a:t>.</a:t>
            </a:r>
          </a:p>
          <a:p>
            <a:r>
              <a:rPr lang="en-US" sz="2800" dirty="0">
                <a:latin typeface="+mn-lt"/>
              </a:rPr>
              <a:t>$ python collections_ordereddict_iter.py </a:t>
            </a:r>
          </a:p>
          <a:p>
            <a:r>
              <a:rPr lang="en-US" sz="2800" dirty="0">
                <a:latin typeface="+mn-lt"/>
              </a:rPr>
              <a:t>Regular </a:t>
            </a:r>
            <a:r>
              <a:rPr lang="en-US" sz="2800" dirty="0" err="1">
                <a:latin typeface="+mn-lt"/>
              </a:rPr>
              <a:t>dictionary:a</a:t>
            </a:r>
            <a:r>
              <a:rPr lang="en-US" sz="2800" dirty="0">
                <a:latin typeface="+mn-lt"/>
              </a:rPr>
              <a:t> Ac </a:t>
            </a:r>
            <a:r>
              <a:rPr lang="en-US" sz="2800" dirty="0" err="1">
                <a:latin typeface="+mn-lt"/>
              </a:rPr>
              <a:t>Cb</a:t>
            </a:r>
            <a:r>
              <a:rPr lang="en-US" sz="2800" dirty="0">
                <a:latin typeface="+mn-lt"/>
              </a:rPr>
              <a:t> Be Ed D </a:t>
            </a:r>
          </a:p>
          <a:p>
            <a:r>
              <a:rPr lang="en-US" sz="2800" dirty="0" err="1">
                <a:latin typeface="+mn-lt"/>
              </a:rPr>
              <a:t>OrderedDict:a</a:t>
            </a:r>
            <a:r>
              <a:rPr lang="en-US" sz="2800" dirty="0">
                <a:latin typeface="+mn-lt"/>
              </a:rPr>
              <a:t> </a:t>
            </a:r>
            <a:r>
              <a:rPr lang="en-US" sz="2800" dirty="0" err="1">
                <a:latin typeface="+mn-lt"/>
              </a:rPr>
              <a:t>Ab</a:t>
            </a:r>
            <a:r>
              <a:rPr lang="en-US" sz="2800" dirty="0">
                <a:latin typeface="+mn-lt"/>
              </a:rPr>
              <a:t> </a:t>
            </a:r>
            <a:r>
              <a:rPr lang="en-US" sz="2800" dirty="0" err="1">
                <a:latin typeface="+mn-lt"/>
              </a:rPr>
              <a:t>Bc</a:t>
            </a:r>
            <a:r>
              <a:rPr lang="en-US" sz="2800" dirty="0">
                <a:latin typeface="+mn-lt"/>
              </a:rPr>
              <a:t> </a:t>
            </a:r>
            <a:r>
              <a:rPr lang="en-US" sz="2800" dirty="0" err="1">
                <a:latin typeface="+mn-lt"/>
              </a:rPr>
              <a:t>Cd</a:t>
            </a:r>
            <a:r>
              <a:rPr lang="en-US" sz="2800" dirty="0">
                <a:latin typeface="+mn-lt"/>
              </a:rPr>
              <a:t> De E</a:t>
            </a:r>
            <a:endParaRPr lang="en-US" altLang="en-US" sz="2800" dirty="0">
              <a:latin typeface="+mn-lt"/>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41163977"/>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76A4E4B-60C5-4F07-907D-E613225FE4DD}" type="datetime1">
              <a:rPr lang="en-US" smtClean="0"/>
              <a:t>9/27/2024</a:t>
            </a:fld>
            <a:endParaRPr lang="en-US" dirty="0"/>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Python web development with Django                           Unit I</a:t>
            </a:r>
            <a:endParaRPr lang="en-US" dirty="0"/>
          </a:p>
        </p:txBody>
      </p:sp>
      <p:sp>
        <p:nvSpPr>
          <p:cNvPr id="2662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548BD3-A9FA-4955-8C67-1E36AE28F6D0}" type="slidenum">
              <a:rPr lang="en-US" altLang="en-US">
                <a:solidFill>
                  <a:srgbClr val="898989"/>
                </a:solidFill>
                <a:latin typeface="Calibri" panose="020F0502020204030204" pitchFamily="34" charset="0"/>
              </a:rPr>
              <a:pPr/>
              <a:t>15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err="1"/>
              <a:t>OrderedDict</a:t>
            </a:r>
            <a:r>
              <a:rPr lang="en-US" sz="3200" dirty="0"/>
              <a:t>(continues….)</a:t>
            </a:r>
          </a:p>
        </p:txBody>
      </p:sp>
      <p:sp>
        <p:nvSpPr>
          <p:cNvPr id="26632"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29705" name="TextBox 10"/>
          <p:cNvSpPr txBox="1">
            <a:spLocks noChangeArrowheads="1"/>
          </p:cNvSpPr>
          <p:nvPr/>
        </p:nvSpPr>
        <p:spPr bwMode="auto">
          <a:xfrm>
            <a:off x="2667000" y="1447801"/>
            <a:ext cx="7848600"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endParaRPr lang="en-US" altLang="en-US" sz="2200" dirty="0">
              <a:latin typeface="Times New Roman" panose="02020603050405020304" pitchFamily="18" charset="0"/>
              <a:cs typeface="Times New Roman" panose="02020603050405020304" pitchFamily="18" charset="0"/>
            </a:endParaRPr>
          </a:p>
          <a:p>
            <a:pPr algn="just" eaLnBrk="1" hangingPunct="1"/>
            <a:endParaRPr lang="en-US" altLang="en-US" sz="2200" dirty="0">
              <a:latin typeface="Times New Roman" panose="02020603050405020304" pitchFamily="18" charset="0"/>
              <a:cs typeface="Times New Roman" panose="02020603050405020304" pitchFamily="18" charset="0"/>
            </a:endParaRPr>
          </a:p>
        </p:txBody>
      </p:sp>
      <p:sp>
        <p:nvSpPr>
          <p:cNvPr id="10" name="Rectangle 9"/>
          <p:cNvSpPr/>
          <p:nvPr/>
        </p:nvSpPr>
        <p:spPr>
          <a:xfrm>
            <a:off x="1676400" y="1219200"/>
            <a:ext cx="8686800" cy="3970318"/>
          </a:xfrm>
          <a:prstGeom prst="rect">
            <a:avLst/>
          </a:prstGeom>
          <a:solidFill>
            <a:schemeClr val="tx2">
              <a:lumMod val="40000"/>
              <a:lumOff val="60000"/>
            </a:schemeClr>
          </a:solidFill>
          <a:ln w="9525">
            <a:solidFill>
              <a:schemeClr val="tx1"/>
            </a:solidFill>
          </a:ln>
        </p:spPr>
        <p:txBody>
          <a:bodyPr wrap="square">
            <a:spAutoFit/>
          </a:bodyPr>
          <a:lstStyle/>
          <a:p>
            <a:r>
              <a:rPr lang="en-US" sz="2800" dirty="0"/>
              <a:t>A regular </a:t>
            </a:r>
            <a:r>
              <a:rPr lang="en-US" sz="2800" dirty="0" err="1"/>
              <a:t>dict</a:t>
            </a:r>
            <a:r>
              <a:rPr lang="en-US" sz="2800" dirty="0"/>
              <a:t> does not track the insertion order, and iterating over it produces the values in an arbitrary order. In an OrderedDict, by contrast, the order the items are inserted is remembered and used when creating an </a:t>
            </a:r>
            <a:r>
              <a:rPr lang="en-US" sz="2800" dirty="0" err="1"/>
              <a:t>iterator</a:t>
            </a:r>
            <a:r>
              <a:rPr lang="en-US" sz="2800" dirty="0"/>
              <a:t>.</a:t>
            </a:r>
          </a:p>
          <a:p>
            <a:r>
              <a:rPr lang="en-US" sz="2800" dirty="0"/>
              <a:t>$ python collections_ordereddict_iter.py </a:t>
            </a:r>
          </a:p>
          <a:p>
            <a:r>
              <a:rPr lang="en-US" sz="2800" dirty="0"/>
              <a:t>Regular dictionary:</a:t>
            </a:r>
          </a:p>
          <a:p>
            <a:r>
              <a:rPr lang="en-US" sz="2800" dirty="0"/>
              <a:t>a </a:t>
            </a:r>
            <a:r>
              <a:rPr lang="en-US" sz="2800" dirty="0" err="1"/>
              <a:t>A</a:t>
            </a:r>
            <a:r>
              <a:rPr lang="en-US" sz="2800" dirty="0"/>
              <a:t>            c </a:t>
            </a:r>
            <a:r>
              <a:rPr lang="en-US" sz="2800" dirty="0" err="1"/>
              <a:t>C</a:t>
            </a:r>
            <a:r>
              <a:rPr lang="en-US" sz="2800" dirty="0"/>
              <a:t>             b </a:t>
            </a:r>
            <a:r>
              <a:rPr lang="en-US" sz="2800" dirty="0" err="1"/>
              <a:t>B</a:t>
            </a:r>
            <a:r>
              <a:rPr lang="en-US" sz="2800" dirty="0"/>
              <a:t>              e </a:t>
            </a:r>
            <a:r>
              <a:rPr lang="en-US" sz="2800" dirty="0" err="1"/>
              <a:t>E</a:t>
            </a:r>
            <a:r>
              <a:rPr lang="en-US" sz="2800" dirty="0"/>
              <a:t>           d D </a:t>
            </a:r>
          </a:p>
          <a:p>
            <a:r>
              <a:rPr lang="en-US" sz="2800" dirty="0" err="1"/>
              <a:t>OrderedDict</a:t>
            </a:r>
            <a:r>
              <a:rPr lang="en-US" sz="2800" dirty="0"/>
              <a:t>:   a </a:t>
            </a:r>
            <a:r>
              <a:rPr lang="en-US" sz="2800" dirty="0" err="1"/>
              <a:t>A</a:t>
            </a:r>
            <a:r>
              <a:rPr lang="en-US" sz="2800" dirty="0"/>
              <a:t>    b </a:t>
            </a:r>
            <a:r>
              <a:rPr lang="en-US" sz="2800" dirty="0" err="1"/>
              <a:t>B</a:t>
            </a:r>
            <a:r>
              <a:rPr lang="en-US" sz="2800" dirty="0"/>
              <a:t>              c </a:t>
            </a:r>
            <a:r>
              <a:rPr lang="en-US" sz="2800" dirty="0" err="1"/>
              <a:t>C</a:t>
            </a:r>
            <a:r>
              <a:rPr lang="en-US" sz="2800" dirty="0"/>
              <a:t>           d </a:t>
            </a:r>
            <a:r>
              <a:rPr lang="en-US" sz="2800" dirty="0" err="1"/>
              <a:t>D</a:t>
            </a:r>
            <a:r>
              <a:rPr lang="en-US" sz="2800" dirty="0"/>
              <a:t>         e E</a:t>
            </a:r>
            <a:endParaRPr lang="en-US" altLang="en-US" sz="2800"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98713636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29705"/>
                                        </p:tgtEl>
                                        <p:attrNameLst>
                                          <p:attrName>style.visibility</p:attrName>
                                        </p:attrNameLst>
                                      </p:cBhvr>
                                      <p:to>
                                        <p:strVal val="visible"/>
                                      </p:to>
                                    </p:set>
                                    <p:anim calcmode="lin" valueType="num">
                                      <p:cBhvr additive="base">
                                        <p:cTn id="7" dur="500" fill="hold"/>
                                        <p:tgtEl>
                                          <p:spTgt spid="29705"/>
                                        </p:tgtEl>
                                        <p:attrNameLst>
                                          <p:attrName>ppt_x</p:attrName>
                                        </p:attrNameLst>
                                      </p:cBhvr>
                                      <p:tavLst>
                                        <p:tav tm="0">
                                          <p:val>
                                            <p:strVal val="#ppt_x"/>
                                          </p:val>
                                        </p:tav>
                                        <p:tav tm="100000">
                                          <p:val>
                                            <p:strVal val="#ppt_x"/>
                                          </p:val>
                                        </p:tav>
                                      </p:tavLst>
                                    </p:anim>
                                    <p:anim calcmode="lin" valueType="num">
                                      <p:cBhvr additive="base">
                                        <p:cTn id="8" dur="500" fill="hold"/>
                                        <p:tgtEl>
                                          <p:spTgt spid="297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0B547ED-00DB-4104-B573-938257488F60}" type="datetime1">
              <a:rPr lang="en-US" smtClean="0"/>
              <a:t>9/27/2024</a:t>
            </a:fld>
            <a:endParaRPr lang="en-US"/>
          </a:p>
        </p:txBody>
      </p:sp>
      <p:sp>
        <p:nvSpPr>
          <p:cNvPr id="5" name="Footer Placeholder 4"/>
          <p:cNvSpPr>
            <a:spLocks noGrp="1"/>
          </p:cNvSpPr>
          <p:nvPr>
            <p:ph type="ftr" sz="quarter" idx="11"/>
          </p:nvPr>
        </p:nvSpPr>
        <p:spPr>
          <a:xfrm>
            <a:off x="4038600" y="6356351"/>
            <a:ext cx="7162800" cy="365125"/>
          </a:xfrm>
        </p:spPr>
        <p:txBody>
          <a:bodyPr/>
          <a:lstStyle/>
          <a:p>
            <a:pPr>
              <a:defRPr/>
            </a:pPr>
            <a:r>
              <a:rPr lang="en-US"/>
              <a:t>Ritesh Kumar Singh                 Python web development with Django                           Unit I</a:t>
            </a:r>
            <a:endParaRPr lang="en-US" dirty="0"/>
          </a:p>
        </p:txBody>
      </p:sp>
      <p:sp>
        <p:nvSpPr>
          <p:cNvPr id="2765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586EE7B-0C06-4E8D-A973-F91A3A1BA9B6}" type="slidenum">
              <a:rPr lang="en-US" altLang="en-US">
                <a:solidFill>
                  <a:srgbClr val="898989"/>
                </a:solidFill>
                <a:latin typeface="Calibri" panose="020F0502020204030204" pitchFamily="34" charset="0"/>
              </a:rPr>
              <a:pPr/>
              <a:t>16</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13063"/>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Python - GUI Programming (Tkinter)</a:t>
            </a:r>
          </a:p>
        </p:txBody>
      </p:sp>
      <p:sp>
        <p:nvSpPr>
          <p:cNvPr id="2765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4993" name="Rectangle 1"/>
          <p:cNvSpPr>
            <a:spLocks noChangeArrowheads="1"/>
          </p:cNvSpPr>
          <p:nvPr/>
        </p:nvSpPr>
        <p:spPr bwMode="auto">
          <a:xfrm>
            <a:off x="152400" y="896115"/>
            <a:ext cx="11887200" cy="5262979"/>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tabLst>
                <a:tab pos="457200" algn="l"/>
              </a:tabLst>
            </a:pPr>
            <a:r>
              <a:rPr lang="en-US" sz="2800" b="1" dirty="0">
                <a:ea typeface="Times New Roman" pitchFamily="18" charset="0"/>
                <a:cs typeface="Arial" pitchFamily="34" charset="0"/>
              </a:rPr>
              <a:t>Tkinter</a:t>
            </a:r>
            <a:r>
              <a:rPr lang="en-US" sz="2800" dirty="0">
                <a:ea typeface="Times New Roman" pitchFamily="18" charset="0"/>
                <a:cs typeface="Arial" pitchFamily="34" charset="0"/>
              </a:rPr>
              <a:t> − Tkinter is the Python interface to the </a:t>
            </a:r>
            <a:r>
              <a:rPr lang="en-US" sz="2800" dirty="0" err="1">
                <a:ea typeface="Times New Roman" pitchFamily="18" charset="0"/>
                <a:cs typeface="Arial" pitchFamily="34" charset="0"/>
              </a:rPr>
              <a:t>Tk</a:t>
            </a:r>
            <a:r>
              <a:rPr lang="en-US" sz="2800" dirty="0">
                <a:ea typeface="Times New Roman" pitchFamily="18" charset="0"/>
                <a:cs typeface="Arial" pitchFamily="34" charset="0"/>
              </a:rPr>
              <a:t> GUI toolkit shipped with Python. We would look this option in this chapter.</a:t>
            </a:r>
          </a:p>
          <a:p>
            <a:r>
              <a:rPr lang="en-US" sz="2800" b="1" dirty="0"/>
              <a:t>Tkinter Programming</a:t>
            </a:r>
          </a:p>
          <a:p>
            <a:r>
              <a:rPr lang="en-US" sz="2800" dirty="0" err="1"/>
              <a:t>Tkinter</a:t>
            </a:r>
            <a:r>
              <a:rPr lang="en-US" sz="2800" dirty="0"/>
              <a:t> is the standard GUI library for Python. Python when combined with </a:t>
            </a:r>
            <a:r>
              <a:rPr lang="en-US" sz="2800" dirty="0" err="1"/>
              <a:t>Tkinter</a:t>
            </a:r>
            <a:r>
              <a:rPr lang="en-US" sz="2800" dirty="0"/>
              <a:t> provides a fast and easy way to create GUI applications. </a:t>
            </a:r>
            <a:r>
              <a:rPr lang="en-US" sz="2800" dirty="0" err="1"/>
              <a:t>Tkinter</a:t>
            </a:r>
            <a:r>
              <a:rPr lang="en-US" sz="2800" dirty="0"/>
              <a:t> provides a powerful object-oriented interface to the </a:t>
            </a:r>
            <a:r>
              <a:rPr lang="en-US" sz="2800" dirty="0" err="1"/>
              <a:t>Tk</a:t>
            </a:r>
            <a:r>
              <a:rPr lang="en-US" sz="2800" dirty="0"/>
              <a:t> GUI toolkit.</a:t>
            </a:r>
          </a:p>
          <a:p>
            <a:r>
              <a:rPr lang="en-US" sz="2800" dirty="0"/>
              <a:t>Creating a GUI application using </a:t>
            </a:r>
            <a:r>
              <a:rPr lang="en-US" sz="2800" dirty="0" err="1"/>
              <a:t>Tkinter</a:t>
            </a:r>
            <a:r>
              <a:rPr lang="en-US" sz="2800" dirty="0"/>
              <a:t> is an easy task. All you need to do is perform the following steps −</a:t>
            </a:r>
          </a:p>
          <a:p>
            <a:pPr lvl="0"/>
            <a:r>
              <a:rPr lang="en-US" sz="2800" dirty="0"/>
              <a:t>Import the </a:t>
            </a:r>
            <a:r>
              <a:rPr lang="en-US" sz="2800" i="1" dirty="0" err="1"/>
              <a:t>Tkinter</a:t>
            </a:r>
            <a:r>
              <a:rPr lang="en-US" sz="2800" dirty="0"/>
              <a:t> module.</a:t>
            </a:r>
          </a:p>
          <a:p>
            <a:pPr lvl="0"/>
            <a:r>
              <a:rPr lang="en-US" sz="2800" dirty="0"/>
              <a:t>Create the GUI application main window.</a:t>
            </a:r>
          </a:p>
          <a:p>
            <a:pPr lvl="0"/>
            <a:r>
              <a:rPr lang="en-US" sz="2800" dirty="0"/>
              <a:t>Add one or more of the above-mentioned widgets to the GUI application.</a:t>
            </a:r>
          </a:p>
          <a:p>
            <a:pPr lvl="0"/>
            <a:r>
              <a:rPr lang="en-US" sz="2800" dirty="0"/>
              <a:t>Enter the main event loop to take action against each event triggered by user.</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03081364"/>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4238BAE-80AF-4EB1-BAD7-C83264F61DF0}" type="datetime1">
              <a:rPr lang="en-US" smtClean="0"/>
              <a:t>9/27/2024</a:t>
            </a:fld>
            <a:endParaRPr lang="en-US" dirty="0"/>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2867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1E6E84E-4941-46E4-A4E7-635E796525D8}" type="slidenum">
              <a:rPr lang="en-US" altLang="en-US">
                <a:solidFill>
                  <a:srgbClr val="898989"/>
                </a:solidFill>
                <a:latin typeface="Calibri" panose="020F0502020204030204" pitchFamily="34" charset="0"/>
              </a:rPr>
              <a:pPr/>
              <a:t>17</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Python - GUI Programming (Tkinter)(continue….)</a:t>
            </a:r>
          </a:p>
        </p:txBody>
      </p:sp>
      <p:sp>
        <p:nvSpPr>
          <p:cNvPr id="28679" name="TextBox 7"/>
          <p:cNvSpPr txBox="1">
            <a:spLocks noChangeArrowheads="1"/>
          </p:cNvSpPr>
          <p:nvPr/>
        </p:nvSpPr>
        <p:spPr bwMode="auto">
          <a:xfrm>
            <a:off x="2667000" y="1981200"/>
            <a:ext cx="73914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82946" name="Rectangle 2"/>
          <p:cNvSpPr>
            <a:spLocks noChangeArrowheads="1"/>
          </p:cNvSpPr>
          <p:nvPr/>
        </p:nvSpPr>
        <p:spPr bwMode="auto">
          <a:xfrm>
            <a:off x="2645229" y="839085"/>
            <a:ext cx="8773886" cy="1754326"/>
          </a:xfrm>
          <a:prstGeom prst="rect">
            <a:avLst/>
          </a:prstGeom>
          <a:solidFill>
            <a:schemeClr val="tx2">
              <a:lumMod val="40000"/>
              <a:lumOff val="60000"/>
            </a:schemeClr>
          </a:solidFill>
          <a:ln w="635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sz="2400" b="1" dirty="0">
                <a:solidFill>
                  <a:srgbClr val="4F81BD"/>
                </a:solidFill>
                <a:ea typeface="Times New Roman" pitchFamily="18" charset="0"/>
                <a:cs typeface="Times New Roman" pitchFamily="18" charset="0"/>
              </a:rPr>
              <a:t>Example</a:t>
            </a:r>
          </a:p>
          <a:p>
            <a:pPr eaLnBrk="0" fontAlgn="base" hangingPunct="0">
              <a:spcBef>
                <a:spcPct val="0"/>
              </a:spcBef>
              <a:spcAft>
                <a:spcPct val="0"/>
              </a:spcAft>
            </a:pPr>
            <a:r>
              <a:rPr lang="en-US" sz="2400" dirty="0">
                <a:ea typeface="Times New Roman" pitchFamily="18" charset="0"/>
                <a:cs typeface="Courier New" pitchFamily="49" charset="0"/>
              </a:rPr>
              <a:t>#!/</a:t>
            </a:r>
            <a:r>
              <a:rPr lang="en-US" sz="2400" dirty="0" err="1">
                <a:ea typeface="Times New Roman" pitchFamily="18" charset="0"/>
                <a:cs typeface="Courier New" pitchFamily="49" charset="0"/>
              </a:rPr>
              <a:t>usr</a:t>
            </a:r>
            <a:r>
              <a:rPr lang="en-US" sz="2400" dirty="0">
                <a:ea typeface="Times New Roman" pitchFamily="18" charset="0"/>
                <a:cs typeface="Courier New" pitchFamily="49" charset="0"/>
              </a:rPr>
              <a:t>/bin/</a:t>
            </a:r>
            <a:r>
              <a:rPr lang="en-US" sz="2400" dirty="0" err="1">
                <a:ea typeface="Times New Roman" pitchFamily="18" charset="0"/>
                <a:cs typeface="Courier New" pitchFamily="49" charset="0"/>
              </a:rPr>
              <a:t>pythonimport</a:t>
            </a:r>
            <a:r>
              <a:rPr lang="en-US" sz="2400" dirty="0">
                <a:ea typeface="Times New Roman" pitchFamily="18" charset="0"/>
                <a:cs typeface="Courier New" pitchFamily="49" charset="0"/>
              </a:rPr>
              <a:t> </a:t>
            </a:r>
            <a:r>
              <a:rPr lang="en-US" sz="2400" dirty="0" err="1">
                <a:ea typeface="Times New Roman" pitchFamily="18" charset="0"/>
                <a:cs typeface="Courier New" pitchFamily="49" charset="0"/>
              </a:rPr>
              <a:t>Tkintertop</a:t>
            </a:r>
            <a:r>
              <a:rPr lang="en-US" sz="2400" dirty="0">
                <a:ea typeface="Times New Roman" pitchFamily="18" charset="0"/>
                <a:cs typeface="Courier New" pitchFamily="49" charset="0"/>
              </a:rPr>
              <a:t> = </a:t>
            </a:r>
            <a:r>
              <a:rPr lang="en-US" sz="2400" dirty="0" err="1">
                <a:ea typeface="Times New Roman" pitchFamily="18" charset="0"/>
                <a:cs typeface="Courier New" pitchFamily="49" charset="0"/>
              </a:rPr>
              <a:t>Tkinter.Tk</a:t>
            </a:r>
            <a:r>
              <a:rPr lang="en-US" sz="2400" dirty="0">
                <a:ea typeface="Times New Roman" pitchFamily="18" charset="0"/>
                <a:cs typeface="Courier New" pitchFamily="49" charset="0"/>
              </a:rPr>
              <a:t>()# Code to add widgets will go here...</a:t>
            </a:r>
            <a:r>
              <a:rPr lang="en-US" sz="2400" dirty="0" err="1">
                <a:ea typeface="Times New Roman" pitchFamily="18" charset="0"/>
                <a:cs typeface="Courier New" pitchFamily="49" charset="0"/>
              </a:rPr>
              <a:t>top.mainloop</a:t>
            </a:r>
            <a:r>
              <a:rPr lang="en-US" sz="2400" dirty="0">
                <a:ea typeface="Times New Roman" pitchFamily="18" charset="0"/>
                <a:cs typeface="Courier New" pitchFamily="49" charset="0"/>
              </a:rPr>
              <a:t>()</a:t>
            </a:r>
            <a:r>
              <a:rPr lang="en-US" sz="2400" dirty="0">
                <a:cs typeface="Arial" pitchFamily="34" charset="0"/>
              </a:rPr>
              <a:t> </a:t>
            </a:r>
          </a:p>
          <a:p>
            <a:pPr eaLnBrk="0" fontAlgn="base" hangingPunct="0">
              <a:spcBef>
                <a:spcPct val="0"/>
              </a:spcBef>
              <a:spcAft>
                <a:spcPct val="0"/>
              </a:spcAft>
            </a:pPr>
            <a:r>
              <a:rPr lang="en-US" sz="2400" dirty="0">
                <a:ea typeface="Calibri" pitchFamily="34" charset="0"/>
                <a:cs typeface="Times New Roman" pitchFamily="18" charset="0"/>
              </a:rPr>
              <a:t>This would create a following window –</a:t>
            </a:r>
            <a:endParaRPr lang="en-US" sz="2400" dirty="0">
              <a:cs typeface="Arial" pitchFamily="34" charset="0"/>
            </a:endParaRPr>
          </a:p>
          <a:p>
            <a:pPr eaLnBrk="0" fontAlgn="base" hangingPunct="0">
              <a:spcBef>
                <a:spcPct val="0"/>
              </a:spcBef>
              <a:spcAft>
                <a:spcPct val="0"/>
              </a:spcAft>
            </a:pPr>
            <a:endParaRPr lang="en-US" dirty="0">
              <a:latin typeface="Arial" pitchFamily="34" charset="0"/>
              <a:cs typeface="Arial" pitchFamily="34" charset="0"/>
            </a:endParaRPr>
          </a:p>
        </p:txBody>
      </p:sp>
      <p:pic>
        <p:nvPicPr>
          <p:cNvPr id="82945" name="Picture 3" descr="tkwindow"/>
          <p:cNvPicPr>
            <a:picLocks noChangeAspect="1" noChangeArrowheads="1"/>
          </p:cNvPicPr>
          <p:nvPr/>
        </p:nvPicPr>
        <p:blipFill>
          <a:blip r:embed="rId3"/>
          <a:srcRect/>
          <a:stretch>
            <a:fillRect/>
          </a:stretch>
        </p:blipFill>
        <p:spPr bwMode="auto">
          <a:xfrm>
            <a:off x="500744" y="2209800"/>
            <a:ext cx="1981200" cy="1828800"/>
          </a:xfrm>
          <a:prstGeom prst="rect">
            <a:avLst/>
          </a:prstGeom>
          <a:noFill/>
        </p:spPr>
      </p:pic>
      <p:sp>
        <p:nvSpPr>
          <p:cNvPr id="82947" name="Rectangle 3"/>
          <p:cNvSpPr>
            <a:spLocks noChangeArrowheads="1"/>
          </p:cNvSpPr>
          <p:nvPr/>
        </p:nvSpPr>
        <p:spPr bwMode="auto">
          <a:xfrm>
            <a:off x="1524000" y="2438400"/>
            <a:ext cx="9144000" cy="369332"/>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endParaRPr lang="en-US">
              <a:latin typeface="Arial" pitchFamily="34" charset="0"/>
              <a:cs typeface="Arial" pitchFamily="34" charset="0"/>
            </a:endParaRPr>
          </a:p>
        </p:txBody>
      </p:sp>
      <p:sp>
        <p:nvSpPr>
          <p:cNvPr id="13" name="Rectangle 12"/>
          <p:cNvSpPr/>
          <p:nvPr/>
        </p:nvSpPr>
        <p:spPr>
          <a:xfrm>
            <a:off x="2645229" y="2602333"/>
            <a:ext cx="8773886" cy="3785652"/>
          </a:xfrm>
          <a:prstGeom prst="rect">
            <a:avLst/>
          </a:prstGeom>
          <a:solidFill>
            <a:schemeClr val="tx2">
              <a:lumMod val="40000"/>
              <a:lumOff val="60000"/>
            </a:schemeClr>
          </a:solidFill>
          <a:ln w="9525">
            <a:solidFill>
              <a:schemeClr val="tx1"/>
            </a:solidFill>
          </a:ln>
        </p:spPr>
        <p:txBody>
          <a:bodyPr wrap="square">
            <a:spAutoFit/>
          </a:bodyPr>
          <a:lstStyle/>
          <a:p>
            <a:r>
              <a:rPr lang="en-US" sz="2400" dirty="0"/>
              <a:t>commonly called widgets.</a:t>
            </a:r>
          </a:p>
          <a:p>
            <a:r>
              <a:rPr lang="en-US" sz="2400" dirty="0"/>
              <a:t>There are currently 15 types of widgets in </a:t>
            </a:r>
            <a:r>
              <a:rPr lang="en-US" sz="2400" dirty="0" err="1"/>
              <a:t>Tkinter</a:t>
            </a:r>
            <a:r>
              <a:rPr lang="en-US" sz="2400" dirty="0"/>
              <a:t>. We present these widgets as well as a brief description in the following table −</a:t>
            </a:r>
          </a:p>
          <a:p>
            <a:r>
              <a:rPr lang="en-US" sz="2400" b="1" dirty="0" err="1"/>
              <a:t>Sr.No</a:t>
            </a:r>
            <a:r>
              <a:rPr lang="en-US" sz="2400" b="1" dirty="0"/>
              <a:t>.    Operator &amp; Description</a:t>
            </a:r>
            <a:endParaRPr lang="en-US" sz="2400" dirty="0"/>
          </a:p>
          <a:p>
            <a:r>
              <a:rPr lang="en-US" sz="2400" dirty="0"/>
              <a:t>1             </a:t>
            </a:r>
            <a:r>
              <a:rPr lang="en-US" sz="2400" u="sng" dirty="0">
                <a:hlinkClick r:id="rId4"/>
              </a:rPr>
              <a:t>Button</a:t>
            </a:r>
            <a:r>
              <a:rPr lang="en-US" sz="2400" dirty="0"/>
              <a:t> </a:t>
            </a:r>
          </a:p>
          <a:p>
            <a:r>
              <a:rPr lang="en-US" sz="2400" dirty="0"/>
              <a:t>The Button widget is used to display buttons in your application.</a:t>
            </a:r>
          </a:p>
          <a:p>
            <a:r>
              <a:rPr lang="en-US" sz="2400" dirty="0"/>
              <a:t>2            </a:t>
            </a:r>
            <a:r>
              <a:rPr lang="en-US" sz="2400" u="sng" dirty="0">
                <a:hlinkClick r:id="rId5"/>
              </a:rPr>
              <a:t>Canvas</a:t>
            </a:r>
            <a:r>
              <a:rPr lang="en-US" sz="2400" dirty="0"/>
              <a:t> </a:t>
            </a:r>
          </a:p>
          <a:p>
            <a:r>
              <a:rPr lang="en-US" sz="2400" dirty="0"/>
              <a:t>The Canvas widget is used to draw shapes, such as lines, ovals, polygons and rectangles, in your application.</a:t>
            </a:r>
          </a:p>
          <a:p>
            <a:endParaRPr lang="en-US" sz="2400" dirty="0"/>
          </a:p>
        </p:txBody>
      </p:sp>
      <p:pic>
        <p:nvPicPr>
          <p:cNvPr id="11" name="Picture 10" descr="C:\Users\Dr. CS Yadav\Downloads\New logo NIET.jpg"/>
          <p:cNvPicPr/>
          <p:nvPr/>
        </p:nvPicPr>
        <p:blipFill>
          <a:blip r:embed="rId6"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92743901"/>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E3354115-D0A0-4116-BCC2-DAF93FFD152C}" type="datetime1">
              <a:rPr lang="en-US" smtClean="0"/>
              <a:t>9/27/2024</a:t>
            </a:fld>
            <a:endParaRPr lang="en-US" dirty="0"/>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2970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3BEEBC-AF46-4D5A-A8A2-E1237A713141}" type="slidenum">
              <a:rPr lang="en-US" altLang="en-US">
                <a:solidFill>
                  <a:srgbClr val="898989"/>
                </a:solidFill>
                <a:latin typeface="Calibri" panose="020F0502020204030204" pitchFamily="34" charset="0"/>
              </a:rPr>
              <a:pPr/>
              <a:t>18</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Python - GUI Programming (Tkinter)(continue….)</a:t>
            </a:r>
          </a:p>
        </p:txBody>
      </p:sp>
      <p:sp>
        <p:nvSpPr>
          <p:cNvPr id="2970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34825" name="TextBox 10"/>
          <p:cNvSpPr txBox="1">
            <a:spLocks noChangeArrowheads="1"/>
          </p:cNvSpPr>
          <p:nvPr/>
        </p:nvSpPr>
        <p:spPr bwMode="auto">
          <a:xfrm>
            <a:off x="2743200" y="1676401"/>
            <a:ext cx="716280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eaLnBrk="1" hangingPunct="1"/>
            <a:endParaRPr lang="en-US" altLang="en-US" sz="2200" b="1" dirty="0">
              <a:latin typeface="Times New Roman" panose="02020603050405020304" pitchFamily="18" charset="0"/>
              <a:cs typeface="Times New Roman" panose="02020603050405020304" pitchFamily="18" charset="0"/>
            </a:endParaRPr>
          </a:p>
          <a:p>
            <a:pPr algn="just" eaLnBrk="1" hangingPunct="1"/>
            <a:endParaRPr lang="en-US" altLang="en-US" sz="2200" dirty="0">
              <a:latin typeface="Times New Roman" panose="02020603050405020304" pitchFamily="18" charset="0"/>
              <a:cs typeface="Times New Roman" panose="02020603050405020304" pitchFamily="18" charset="0"/>
            </a:endParaRPr>
          </a:p>
          <a:p>
            <a:pPr lvl="1" algn="just" eaLnBrk="1" hangingPunct="1"/>
            <a:endParaRPr lang="en-US" altLang="en-US" sz="2200" dirty="0">
              <a:latin typeface="Times New Roman" panose="02020603050405020304" pitchFamily="18" charset="0"/>
              <a:cs typeface="Times New Roman" panose="02020603050405020304" pitchFamily="18" charset="0"/>
            </a:endParaRPr>
          </a:p>
        </p:txBody>
      </p:sp>
      <p:graphicFrame>
        <p:nvGraphicFramePr>
          <p:cNvPr id="12" name="Table 11"/>
          <p:cNvGraphicFramePr>
            <a:graphicFrameLocks noGrp="1"/>
          </p:cNvGraphicFramePr>
          <p:nvPr>
            <p:extLst>
              <p:ext uri="{D42A27DB-BD31-4B8C-83A1-F6EECF244321}">
                <p14:modId xmlns:p14="http://schemas.microsoft.com/office/powerpoint/2010/main" val="2274213364"/>
              </p:ext>
            </p:extLst>
          </p:nvPr>
        </p:nvGraphicFramePr>
        <p:xfrm>
          <a:off x="304800" y="815464"/>
          <a:ext cx="11734800" cy="5401003"/>
        </p:xfrm>
        <a:graphic>
          <a:graphicData uri="http://schemas.openxmlformats.org/drawingml/2006/table">
            <a:tbl>
              <a:tblPr/>
              <a:tblGrid>
                <a:gridCol w="753611">
                  <a:extLst>
                    <a:ext uri="{9D8B030D-6E8A-4147-A177-3AD203B41FA5}">
                      <a16:colId xmlns:a16="http://schemas.microsoft.com/office/drawing/2014/main" val="20000"/>
                    </a:ext>
                  </a:extLst>
                </a:gridCol>
                <a:gridCol w="10981189">
                  <a:extLst>
                    <a:ext uri="{9D8B030D-6E8A-4147-A177-3AD203B41FA5}">
                      <a16:colId xmlns:a16="http://schemas.microsoft.com/office/drawing/2014/main" val="20001"/>
                    </a:ext>
                  </a:extLst>
                </a:gridCol>
              </a:tblGrid>
              <a:tr h="1115892">
                <a:tc>
                  <a:txBody>
                    <a:bodyPr/>
                    <a:lstStyle/>
                    <a:p>
                      <a:pPr marL="0" marR="0">
                        <a:lnSpc>
                          <a:spcPct val="115000"/>
                        </a:lnSpc>
                        <a:spcBef>
                          <a:spcPts val="0"/>
                        </a:spcBef>
                        <a:spcAft>
                          <a:spcPts val="1000"/>
                        </a:spcAft>
                      </a:pPr>
                      <a:r>
                        <a:rPr lang="en-US" sz="2400" dirty="0">
                          <a:latin typeface="Calibri"/>
                          <a:ea typeface="Calibri"/>
                          <a:cs typeface="Times New Roman"/>
                        </a:rPr>
                        <a:t>3</a:t>
                      </a: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r>
                        <a:rPr lang="en-US" sz="2400" u="sng" dirty="0" err="1">
                          <a:solidFill>
                            <a:srgbClr val="0000FF"/>
                          </a:solidFill>
                          <a:latin typeface="Calibri"/>
                          <a:ea typeface="Calibri"/>
                          <a:cs typeface="Times New Roman"/>
                          <a:hlinkClick r:id="rId3"/>
                        </a:rPr>
                        <a:t>Checkbutton</a:t>
                      </a:r>
                      <a:r>
                        <a:rPr lang="en-US" sz="2400" dirty="0">
                          <a:latin typeface="Calibri"/>
                          <a:ea typeface="Calibri"/>
                          <a:cs typeface="Times New Roman"/>
                        </a:rPr>
                        <a:t> </a:t>
                      </a:r>
                    </a:p>
                    <a:p>
                      <a:pPr marL="0" marR="0">
                        <a:lnSpc>
                          <a:spcPct val="115000"/>
                        </a:lnSpc>
                      </a:pPr>
                      <a:r>
                        <a:rPr lang="en-US" sz="2400" dirty="0">
                          <a:latin typeface="Calibri"/>
                          <a:ea typeface="Times New Roman"/>
                          <a:cs typeface="Times New Roman"/>
                        </a:rPr>
                        <a:t>The </a:t>
                      </a:r>
                      <a:r>
                        <a:rPr lang="en-US" sz="2400" dirty="0" err="1">
                          <a:latin typeface="Calibri"/>
                          <a:ea typeface="Times New Roman"/>
                          <a:cs typeface="Times New Roman"/>
                        </a:rPr>
                        <a:t>Checkbutton</a:t>
                      </a:r>
                      <a:r>
                        <a:rPr lang="en-US" sz="2400" dirty="0">
                          <a:latin typeface="Calibri"/>
                          <a:ea typeface="Times New Roman"/>
                          <a:cs typeface="Times New Roman"/>
                        </a:rPr>
                        <a:t> widget is used to display a number of options as checkboxes. The user can select multiple options at a time.</a:t>
                      </a: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0"/>
                  </a:ext>
                </a:extLst>
              </a:tr>
              <a:tr h="878187">
                <a:tc>
                  <a:txBody>
                    <a:bodyPr/>
                    <a:lstStyle/>
                    <a:p>
                      <a:pPr marL="0" marR="0">
                        <a:lnSpc>
                          <a:spcPct val="115000"/>
                        </a:lnSpc>
                        <a:spcBef>
                          <a:spcPts val="0"/>
                        </a:spcBef>
                        <a:spcAft>
                          <a:spcPts val="1000"/>
                        </a:spcAft>
                      </a:pPr>
                      <a:r>
                        <a:rPr lang="en-US" sz="2400" dirty="0">
                          <a:latin typeface="Calibri"/>
                          <a:ea typeface="Calibri"/>
                          <a:cs typeface="Times New Roman"/>
                        </a:rPr>
                        <a:t>4</a:t>
                      </a: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r>
                        <a:rPr lang="en-US" sz="2400" u="sng" dirty="0">
                          <a:solidFill>
                            <a:srgbClr val="0000FF"/>
                          </a:solidFill>
                          <a:latin typeface="Calibri"/>
                          <a:ea typeface="Calibri"/>
                          <a:cs typeface="Times New Roman"/>
                          <a:hlinkClick r:id="rId4"/>
                        </a:rPr>
                        <a:t>Entry</a:t>
                      </a:r>
                      <a:r>
                        <a:rPr lang="en-US" sz="2400" dirty="0">
                          <a:latin typeface="Calibri"/>
                          <a:ea typeface="Calibri"/>
                          <a:cs typeface="Times New Roman"/>
                        </a:rPr>
                        <a:t> -----</a:t>
                      </a:r>
                      <a:r>
                        <a:rPr lang="en-US" sz="2400" dirty="0">
                          <a:latin typeface="Calibri"/>
                          <a:ea typeface="Times New Roman"/>
                          <a:cs typeface="Times New Roman"/>
                        </a:rPr>
                        <a:t>The Entry widget is used to display a single-line text field for accepting values from a user.</a:t>
                      </a: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1"/>
                  </a:ext>
                </a:extLst>
              </a:tr>
              <a:tr h="878187">
                <a:tc>
                  <a:txBody>
                    <a:bodyPr/>
                    <a:lstStyle/>
                    <a:p>
                      <a:pPr marL="0" marR="0">
                        <a:lnSpc>
                          <a:spcPct val="115000"/>
                        </a:lnSpc>
                        <a:spcBef>
                          <a:spcPts val="0"/>
                        </a:spcBef>
                        <a:spcAft>
                          <a:spcPts val="1000"/>
                        </a:spcAft>
                      </a:pPr>
                      <a:r>
                        <a:rPr lang="en-US" sz="2400" dirty="0">
                          <a:latin typeface="Calibri"/>
                          <a:ea typeface="Calibri"/>
                          <a:cs typeface="Times New Roman"/>
                        </a:rPr>
                        <a:t>5</a:t>
                      </a: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r>
                        <a:rPr lang="en-US" sz="2400" u="sng" dirty="0">
                          <a:solidFill>
                            <a:srgbClr val="0000FF"/>
                          </a:solidFill>
                          <a:latin typeface="Calibri"/>
                          <a:ea typeface="Calibri"/>
                          <a:cs typeface="Times New Roman"/>
                          <a:hlinkClick r:id="rId5"/>
                        </a:rPr>
                        <a:t>Frame</a:t>
                      </a:r>
                      <a:r>
                        <a:rPr lang="en-US" sz="2400" dirty="0">
                          <a:latin typeface="Calibri"/>
                          <a:ea typeface="Calibri"/>
                          <a:cs typeface="Times New Roman"/>
                        </a:rPr>
                        <a:t> ----</a:t>
                      </a:r>
                      <a:r>
                        <a:rPr lang="en-US" sz="2400" dirty="0">
                          <a:latin typeface="Calibri"/>
                          <a:ea typeface="Times New Roman"/>
                          <a:cs typeface="Times New Roman"/>
                        </a:rPr>
                        <a:t>The Frame widget is used as a container widget to organize other widgets.</a:t>
                      </a: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2"/>
                  </a:ext>
                </a:extLst>
              </a:tr>
              <a:tr h="878187">
                <a:tc>
                  <a:txBody>
                    <a:bodyPr/>
                    <a:lstStyle/>
                    <a:p>
                      <a:pPr marL="0" marR="0">
                        <a:lnSpc>
                          <a:spcPct val="115000"/>
                        </a:lnSpc>
                        <a:spcBef>
                          <a:spcPts val="0"/>
                        </a:spcBef>
                        <a:spcAft>
                          <a:spcPts val="1000"/>
                        </a:spcAft>
                      </a:pPr>
                      <a:r>
                        <a:rPr lang="en-US" sz="2400" dirty="0">
                          <a:latin typeface="Calibri"/>
                          <a:ea typeface="Calibri"/>
                          <a:cs typeface="Times New Roman"/>
                        </a:rPr>
                        <a:t>6</a:t>
                      </a: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r>
                        <a:rPr lang="en-US" sz="2400" u="sng" dirty="0">
                          <a:solidFill>
                            <a:srgbClr val="0000FF"/>
                          </a:solidFill>
                          <a:latin typeface="Calibri"/>
                          <a:ea typeface="Calibri"/>
                          <a:cs typeface="Times New Roman"/>
                          <a:hlinkClick r:id="rId6"/>
                        </a:rPr>
                        <a:t>Label</a:t>
                      </a:r>
                      <a:r>
                        <a:rPr lang="en-US" sz="2400" dirty="0">
                          <a:latin typeface="Calibri"/>
                          <a:ea typeface="Calibri"/>
                          <a:cs typeface="Times New Roman"/>
                        </a:rPr>
                        <a:t> </a:t>
                      </a:r>
                    </a:p>
                    <a:p>
                      <a:pPr marL="0" marR="0">
                        <a:lnSpc>
                          <a:spcPct val="115000"/>
                        </a:lnSpc>
                      </a:pPr>
                      <a:r>
                        <a:rPr lang="en-US" sz="2400" dirty="0">
                          <a:latin typeface="Calibri"/>
                          <a:ea typeface="Times New Roman"/>
                          <a:cs typeface="Times New Roman"/>
                        </a:rPr>
                        <a:t>The Label widget is used to provide a single-line caption for other widgets. It can also contain images.</a:t>
                      </a: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3"/>
                  </a:ext>
                </a:extLst>
              </a:tr>
              <a:tr h="878187">
                <a:tc>
                  <a:txBody>
                    <a:bodyPr/>
                    <a:lstStyle/>
                    <a:p>
                      <a:pPr marL="0" marR="0">
                        <a:lnSpc>
                          <a:spcPct val="115000"/>
                        </a:lnSpc>
                        <a:spcBef>
                          <a:spcPts val="0"/>
                        </a:spcBef>
                        <a:spcAft>
                          <a:spcPts val="1000"/>
                        </a:spcAft>
                      </a:pPr>
                      <a:r>
                        <a:rPr lang="en-US" sz="2400" dirty="0">
                          <a:latin typeface="Calibri"/>
                          <a:ea typeface="Calibri"/>
                          <a:cs typeface="Times New Roman"/>
                        </a:rPr>
                        <a:t>7</a:t>
                      </a:r>
                    </a:p>
                  </a:txBody>
                  <a:tcPr marL="9525" marR="9525" marT="9525" marB="9525" anchor="ctr">
                    <a:lnL>
                      <a:noFill/>
                    </a:lnL>
                    <a:lnR>
                      <a:noFill/>
                    </a:lnR>
                    <a:lnT>
                      <a:noFill/>
                    </a:lnT>
                    <a:lnB>
                      <a:noFill/>
                    </a:lnB>
                    <a:solidFill>
                      <a:schemeClr val="tx2">
                        <a:lumMod val="40000"/>
                        <a:lumOff val="60000"/>
                      </a:schemeClr>
                    </a:solidFill>
                  </a:tcPr>
                </a:tc>
                <a:tc>
                  <a:txBody>
                    <a:bodyPr/>
                    <a:lstStyle/>
                    <a:p>
                      <a:pPr marL="0" marR="0">
                        <a:lnSpc>
                          <a:spcPct val="115000"/>
                        </a:lnSpc>
                        <a:spcBef>
                          <a:spcPts val="0"/>
                        </a:spcBef>
                        <a:spcAft>
                          <a:spcPts val="1000"/>
                        </a:spcAft>
                      </a:pPr>
                      <a:r>
                        <a:rPr lang="en-US" sz="2400" u="sng" dirty="0" err="1">
                          <a:solidFill>
                            <a:srgbClr val="0000FF"/>
                          </a:solidFill>
                          <a:latin typeface="Calibri"/>
                          <a:ea typeface="Calibri"/>
                          <a:cs typeface="Times New Roman"/>
                          <a:hlinkClick r:id="rId7"/>
                        </a:rPr>
                        <a:t>Listbox</a:t>
                      </a:r>
                      <a:r>
                        <a:rPr lang="en-US" sz="2400" dirty="0">
                          <a:latin typeface="Calibri"/>
                          <a:ea typeface="Calibri"/>
                          <a:cs typeface="Times New Roman"/>
                        </a:rPr>
                        <a:t> ---</a:t>
                      </a:r>
                      <a:r>
                        <a:rPr lang="en-US" sz="2400" baseline="0" dirty="0">
                          <a:latin typeface="Calibri"/>
                          <a:ea typeface="Calibri"/>
                          <a:cs typeface="Times New Roman"/>
                        </a:rPr>
                        <a:t>    </a:t>
                      </a:r>
                      <a:r>
                        <a:rPr lang="en-US" sz="2400" dirty="0">
                          <a:latin typeface="Calibri"/>
                          <a:ea typeface="Times New Roman"/>
                          <a:cs typeface="Times New Roman"/>
                        </a:rPr>
                        <a:t>The </a:t>
                      </a:r>
                      <a:r>
                        <a:rPr lang="en-US" sz="2400" dirty="0" err="1">
                          <a:latin typeface="Calibri"/>
                          <a:ea typeface="Times New Roman"/>
                          <a:cs typeface="Times New Roman"/>
                        </a:rPr>
                        <a:t>Listbox</a:t>
                      </a:r>
                      <a:r>
                        <a:rPr lang="en-US" sz="2400" dirty="0">
                          <a:latin typeface="Calibri"/>
                          <a:ea typeface="Times New Roman"/>
                          <a:cs typeface="Times New Roman"/>
                        </a:rPr>
                        <a:t> widget is used to provide a list of options to a user.</a:t>
                      </a:r>
                    </a:p>
                  </a:txBody>
                  <a:tcPr marL="9525" marR="9525" marT="9525" marB="9525" anchor="ctr">
                    <a:lnL>
                      <a:noFill/>
                    </a:lnL>
                    <a:lnR>
                      <a:noFill/>
                    </a:lnR>
                    <a:lnT>
                      <a:noFill/>
                    </a:lnT>
                    <a:lnB>
                      <a:noFill/>
                    </a:lnB>
                    <a:solidFill>
                      <a:schemeClr val="tx2">
                        <a:lumMod val="40000"/>
                        <a:lumOff val="60000"/>
                      </a:schemeClr>
                    </a:solidFill>
                  </a:tcPr>
                </a:tc>
                <a:extLst>
                  <a:ext uri="{0D108BD9-81ED-4DB2-BD59-A6C34878D82A}">
                    <a16:rowId xmlns:a16="http://schemas.microsoft.com/office/drawing/2014/main" val="10004"/>
                  </a:ext>
                </a:extLst>
              </a:tr>
            </a:tbl>
          </a:graphicData>
        </a:graphic>
      </p:graphicFrame>
      <p:pic>
        <p:nvPicPr>
          <p:cNvPr id="9" name="Picture 8" descr="C:\Users\Dr. CS Yadav\Downloads\New logo NIET.jpg"/>
          <p:cNvPicPr/>
          <p:nvPr/>
        </p:nvPicPr>
        <p:blipFill>
          <a:blip r:embed="rId8"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4411997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nodePh="1">
                                  <p:stCondLst>
                                    <p:cond delay="0"/>
                                  </p:stCondLst>
                                  <p:endCondLst>
                                    <p:cond evt="begin" delay="0">
                                      <p:tn val="5"/>
                                    </p:cond>
                                  </p:endCondLst>
                                  <p:childTnLst>
                                    <p:set>
                                      <p:cBhvr>
                                        <p:cTn id="6" dur="1" fill="hold">
                                          <p:stCondLst>
                                            <p:cond delay="0"/>
                                          </p:stCondLst>
                                        </p:cTn>
                                        <p:tgtEl>
                                          <p:spTgt spid="34825"/>
                                        </p:tgtEl>
                                        <p:attrNameLst>
                                          <p:attrName>style.visibility</p:attrName>
                                        </p:attrNameLst>
                                      </p:cBhvr>
                                      <p:to>
                                        <p:strVal val="visible"/>
                                      </p:to>
                                    </p:set>
                                    <p:anim calcmode="lin" valueType="num">
                                      <p:cBhvr additive="base">
                                        <p:cTn id="7" dur="500" fill="hold"/>
                                        <p:tgtEl>
                                          <p:spTgt spid="34825"/>
                                        </p:tgtEl>
                                        <p:attrNameLst>
                                          <p:attrName>ppt_x</p:attrName>
                                        </p:attrNameLst>
                                      </p:cBhvr>
                                      <p:tavLst>
                                        <p:tav tm="0">
                                          <p:val>
                                            <p:strVal val="#ppt_x"/>
                                          </p:val>
                                        </p:tav>
                                        <p:tav tm="100000">
                                          <p:val>
                                            <p:strVal val="#ppt_x"/>
                                          </p:val>
                                        </p:tav>
                                      </p:tavLst>
                                    </p:anim>
                                    <p:anim calcmode="lin" valueType="num">
                                      <p:cBhvr additive="base">
                                        <p:cTn id="8" dur="500" fill="hold"/>
                                        <p:tgtEl>
                                          <p:spTgt spid="348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A53CAE2B-3057-485A-80E5-DBA0F3CE3265}" type="datetime1">
              <a:rPr lang="en-US" smtClean="0"/>
              <a:t>9/27/2024</a:t>
            </a:fld>
            <a:endParaRPr lang="en-US"/>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3072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D45A2CA-2195-4218-BFC8-0298D1E896E6}" type="slidenum">
              <a:rPr lang="en-US" altLang="en-US">
                <a:solidFill>
                  <a:srgbClr val="898989"/>
                </a:solidFill>
                <a:latin typeface="Calibri" panose="020F0502020204030204" pitchFamily="34" charset="0"/>
              </a:rPr>
              <a:pPr/>
              <a:t>19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b="1" dirty="0"/>
              <a:t>              </a:t>
            </a:r>
            <a:r>
              <a:rPr lang="en-US" sz="3200" dirty="0"/>
              <a:t>Python - GUI Programming (Tkinter)(continue….)</a:t>
            </a:r>
          </a:p>
        </p:txBody>
      </p:sp>
      <p:sp>
        <p:nvSpPr>
          <p:cNvPr id="3072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8849" name="Rectangle 1"/>
          <p:cNvSpPr>
            <a:spLocks noChangeArrowheads="1"/>
          </p:cNvSpPr>
          <p:nvPr/>
        </p:nvSpPr>
        <p:spPr bwMode="auto">
          <a:xfrm>
            <a:off x="228600" y="914400"/>
            <a:ext cx="11800114" cy="4867959"/>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126960" rIns="0" bIns="0" numCol="1" anchor="ctr" anchorCtr="0" compatLnSpc="1">
            <a:prstTxWarp prst="textNoShape">
              <a:avLst/>
            </a:prstTxWarp>
            <a:spAutoFit/>
          </a:bodyPr>
          <a:lstStyle/>
          <a:p>
            <a:pPr fontAlgn="base">
              <a:spcBef>
                <a:spcPct val="0"/>
              </a:spcBef>
              <a:spcAft>
                <a:spcPct val="0"/>
              </a:spcAft>
              <a:tabLst>
                <a:tab pos="457200" algn="l"/>
              </a:tabLst>
            </a:pPr>
            <a:r>
              <a:rPr lang="en-US" sz="2800" b="1" dirty="0">
                <a:solidFill>
                  <a:srgbClr val="000000"/>
                </a:solidFill>
                <a:ea typeface="Times New Roman" pitchFamily="18" charset="0"/>
                <a:cs typeface="Times New Roman" pitchFamily="18" charset="0"/>
              </a:rPr>
              <a:t>Geometry Management</a:t>
            </a:r>
          </a:p>
          <a:p>
            <a:pPr fontAlgn="base">
              <a:spcBef>
                <a:spcPct val="0"/>
              </a:spcBef>
              <a:spcAft>
                <a:spcPct val="0"/>
              </a:spcAft>
              <a:tabLst>
                <a:tab pos="457200" algn="l"/>
              </a:tabLst>
            </a:pPr>
            <a:endParaRPr lang="en-US" sz="2800" b="1" dirty="0">
              <a:solidFill>
                <a:srgbClr val="4F81BD"/>
              </a:solidFill>
              <a:ea typeface="Times New Roman" pitchFamily="18" charset="0"/>
              <a:cs typeface="Times New Roman" pitchFamily="18" charset="0"/>
            </a:endParaRPr>
          </a:p>
          <a:p>
            <a:pPr eaLnBrk="0" fontAlgn="base" hangingPunct="0">
              <a:spcBef>
                <a:spcPct val="0"/>
              </a:spcBef>
              <a:spcAft>
                <a:spcPct val="0"/>
              </a:spcAft>
              <a:tabLst>
                <a:tab pos="457200" algn="l"/>
              </a:tabLst>
            </a:pPr>
            <a:r>
              <a:rPr lang="en-US" sz="2800" dirty="0">
                <a:ea typeface="Times New Roman" pitchFamily="18" charset="0"/>
                <a:cs typeface="Arial" pitchFamily="34" charset="0"/>
              </a:rPr>
              <a:t>All </a:t>
            </a:r>
            <a:r>
              <a:rPr lang="en-US" sz="2800" dirty="0" err="1">
                <a:ea typeface="Times New Roman" pitchFamily="18" charset="0"/>
                <a:cs typeface="Arial" pitchFamily="34" charset="0"/>
              </a:rPr>
              <a:t>Tkinter</a:t>
            </a:r>
            <a:r>
              <a:rPr lang="en-US" sz="2800" dirty="0">
                <a:ea typeface="Times New Roman" pitchFamily="18" charset="0"/>
                <a:cs typeface="Arial" pitchFamily="34" charset="0"/>
              </a:rPr>
              <a:t> widgets have access to specific geometry management methods, which have the purpose of organizing widgets throughout the parent widget area. </a:t>
            </a:r>
            <a:r>
              <a:rPr lang="en-US" sz="2800" dirty="0" err="1">
                <a:ea typeface="Times New Roman" pitchFamily="18" charset="0"/>
                <a:cs typeface="Arial" pitchFamily="34" charset="0"/>
              </a:rPr>
              <a:t>Tkinter</a:t>
            </a:r>
            <a:r>
              <a:rPr lang="en-US" sz="2800" dirty="0">
                <a:ea typeface="Times New Roman" pitchFamily="18" charset="0"/>
                <a:cs typeface="Arial" pitchFamily="34" charset="0"/>
              </a:rPr>
              <a:t> exposes the following geometry manager classes: pack, grid, and place.</a:t>
            </a:r>
          </a:p>
          <a:p>
            <a:pPr eaLnBrk="0" fontAlgn="base" hangingPunct="0">
              <a:spcBef>
                <a:spcPct val="0"/>
              </a:spcBef>
              <a:spcAft>
                <a:spcPct val="0"/>
              </a:spcAft>
              <a:buFontTx/>
              <a:buChar char="•"/>
              <a:tabLst>
                <a:tab pos="457200" algn="l"/>
              </a:tabLst>
            </a:pPr>
            <a:r>
              <a:rPr lang="en-US" sz="2800" dirty="0">
                <a:solidFill>
                  <a:srgbClr val="000000"/>
                </a:solidFill>
                <a:ea typeface="Times New Roman" pitchFamily="18" charset="0"/>
                <a:cs typeface="Arial" pitchFamily="34" charset="0"/>
                <a:hlinkClick r:id="rId3"/>
              </a:rPr>
              <a:t>The </a:t>
            </a:r>
            <a:r>
              <a:rPr lang="en-US" sz="2800" i="1" dirty="0">
                <a:solidFill>
                  <a:srgbClr val="000000"/>
                </a:solidFill>
                <a:ea typeface="Times New Roman" pitchFamily="18" charset="0"/>
                <a:cs typeface="Arial" pitchFamily="34" charset="0"/>
                <a:hlinkClick r:id="rId3"/>
              </a:rPr>
              <a:t>pack()</a:t>
            </a:r>
            <a:r>
              <a:rPr lang="en-US" sz="2800" dirty="0">
                <a:solidFill>
                  <a:srgbClr val="000000"/>
                </a:solidFill>
                <a:ea typeface="Times New Roman" pitchFamily="18" charset="0"/>
                <a:cs typeface="Arial" pitchFamily="34" charset="0"/>
                <a:hlinkClick r:id="rId3"/>
              </a:rPr>
              <a:t> Method</a:t>
            </a:r>
            <a:r>
              <a:rPr lang="en-US" sz="2800" dirty="0">
                <a:solidFill>
                  <a:srgbClr val="000000"/>
                </a:solidFill>
                <a:ea typeface="Times New Roman" pitchFamily="18" charset="0"/>
                <a:cs typeface="Arial" pitchFamily="34" charset="0"/>
              </a:rPr>
              <a:t> </a:t>
            </a:r>
            <a:r>
              <a:rPr lang="en-US" sz="2800" dirty="0">
                <a:ea typeface="Times New Roman" pitchFamily="18" charset="0"/>
                <a:cs typeface="Arial" pitchFamily="34" charset="0"/>
              </a:rPr>
              <a:t>− This geometry manager organizes widgets in blocks before placing them in the parent widget.</a:t>
            </a:r>
          </a:p>
          <a:p>
            <a:pPr eaLnBrk="0" fontAlgn="base" hangingPunct="0">
              <a:spcBef>
                <a:spcPct val="0"/>
              </a:spcBef>
              <a:spcAft>
                <a:spcPct val="0"/>
              </a:spcAft>
              <a:buFontTx/>
              <a:buChar char="•"/>
              <a:tabLst>
                <a:tab pos="457200" algn="l"/>
              </a:tabLst>
            </a:pPr>
            <a:r>
              <a:rPr lang="en-US" sz="2800" dirty="0">
                <a:solidFill>
                  <a:srgbClr val="000000"/>
                </a:solidFill>
                <a:ea typeface="Times New Roman" pitchFamily="18" charset="0"/>
                <a:cs typeface="Arial" pitchFamily="34" charset="0"/>
                <a:hlinkClick r:id="rId4"/>
              </a:rPr>
              <a:t>The </a:t>
            </a:r>
            <a:r>
              <a:rPr lang="en-US" sz="2800" i="1" dirty="0">
                <a:solidFill>
                  <a:srgbClr val="000000"/>
                </a:solidFill>
                <a:ea typeface="Times New Roman" pitchFamily="18" charset="0"/>
                <a:cs typeface="Arial" pitchFamily="34" charset="0"/>
                <a:hlinkClick r:id="rId4"/>
              </a:rPr>
              <a:t>grid()</a:t>
            </a:r>
            <a:r>
              <a:rPr lang="en-US" sz="2800" dirty="0">
                <a:solidFill>
                  <a:srgbClr val="000000"/>
                </a:solidFill>
                <a:ea typeface="Times New Roman" pitchFamily="18" charset="0"/>
                <a:cs typeface="Arial" pitchFamily="34" charset="0"/>
                <a:hlinkClick r:id="rId4"/>
              </a:rPr>
              <a:t> Method</a:t>
            </a:r>
            <a:r>
              <a:rPr lang="en-US" sz="2800" dirty="0">
                <a:ea typeface="Times New Roman" pitchFamily="18" charset="0"/>
                <a:cs typeface="Arial" pitchFamily="34" charset="0"/>
              </a:rPr>
              <a:t> − This geometry manager organizes widgets in a table-like structure in the parent widget.</a:t>
            </a:r>
          </a:p>
          <a:p>
            <a:pPr eaLnBrk="0" fontAlgn="base" hangingPunct="0">
              <a:spcBef>
                <a:spcPct val="0"/>
              </a:spcBef>
              <a:spcAft>
                <a:spcPct val="0"/>
              </a:spcAft>
              <a:buFontTx/>
              <a:buChar char="•"/>
              <a:tabLst>
                <a:tab pos="457200" algn="l"/>
              </a:tabLst>
            </a:pPr>
            <a:r>
              <a:rPr lang="en-US" sz="2800" dirty="0">
                <a:solidFill>
                  <a:srgbClr val="000000"/>
                </a:solidFill>
                <a:ea typeface="Times New Roman" pitchFamily="18" charset="0"/>
                <a:cs typeface="Arial" pitchFamily="34" charset="0"/>
                <a:hlinkClick r:id="rId5"/>
              </a:rPr>
              <a:t>The </a:t>
            </a:r>
            <a:r>
              <a:rPr lang="en-US" sz="2800" i="1" dirty="0">
                <a:solidFill>
                  <a:srgbClr val="000000"/>
                </a:solidFill>
                <a:ea typeface="Times New Roman" pitchFamily="18" charset="0"/>
                <a:cs typeface="Arial" pitchFamily="34" charset="0"/>
                <a:hlinkClick r:id="rId5"/>
              </a:rPr>
              <a:t>place()</a:t>
            </a:r>
            <a:r>
              <a:rPr lang="en-US" sz="2800" dirty="0">
                <a:solidFill>
                  <a:srgbClr val="000000"/>
                </a:solidFill>
                <a:ea typeface="Times New Roman" pitchFamily="18" charset="0"/>
                <a:cs typeface="Arial" pitchFamily="34" charset="0"/>
                <a:hlinkClick r:id="rId5"/>
              </a:rPr>
              <a:t> Method</a:t>
            </a:r>
            <a:r>
              <a:rPr lang="en-US" sz="2800" dirty="0">
                <a:solidFill>
                  <a:srgbClr val="000000"/>
                </a:solidFill>
                <a:ea typeface="Times New Roman" pitchFamily="18" charset="0"/>
                <a:cs typeface="Arial" pitchFamily="34" charset="0"/>
              </a:rPr>
              <a:t> </a:t>
            </a:r>
            <a:r>
              <a:rPr lang="en-US" sz="2800" dirty="0">
                <a:ea typeface="Times New Roman" pitchFamily="18" charset="0"/>
                <a:cs typeface="Arial" pitchFamily="34" charset="0"/>
              </a:rPr>
              <a:t>− This geometry manager organizes widgets by placing them in a specific position in the parent widget.</a:t>
            </a:r>
            <a:endParaRPr lang="en-US" sz="2800" dirty="0">
              <a:cs typeface="Arial" pitchFamily="34" charset="0"/>
            </a:endParaRPr>
          </a:p>
        </p:txBody>
      </p:sp>
      <p:pic>
        <p:nvPicPr>
          <p:cNvPr id="8" name="Picture 7" descr="C:\Users\Dr. CS Yadav\Downloads\New logo NIET.jpg"/>
          <p:cNvPicPr/>
          <p:nvPr/>
        </p:nvPicPr>
        <p:blipFill>
          <a:blip r:embed="rId6"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15643900"/>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B20A647-44A7-4F2A-A003-9B89D2FDC9C6}" type="datetime1">
              <a:rPr lang="en-US" smtClean="0"/>
              <a:t>9/27/2024</a:t>
            </a:fld>
            <a:endParaRPr lang="en-US" dirty="0"/>
          </a:p>
        </p:txBody>
      </p:sp>
      <p:sp>
        <p:nvSpPr>
          <p:cNvPr id="5" name="Footer Placeholder 4"/>
          <p:cNvSpPr>
            <a:spLocks noGrp="1"/>
          </p:cNvSpPr>
          <p:nvPr>
            <p:ph type="ftr" sz="quarter" idx="11"/>
          </p:nvPr>
        </p:nvSpPr>
        <p:spPr>
          <a:xfrm>
            <a:off x="4038600" y="6356351"/>
            <a:ext cx="7391400" cy="365125"/>
          </a:xfrm>
        </p:spPr>
        <p:txBody>
          <a:bodyPr/>
          <a:lstStyle/>
          <a:p>
            <a:pPr>
              <a:defRPr/>
            </a:pPr>
            <a:r>
              <a:rPr lang="en-US"/>
              <a:t>Ritesh Kumar Singh                 Python web development with Django                           Unit I</a:t>
            </a:r>
            <a:endParaRPr lang="en-US" dirty="0"/>
          </a:p>
        </p:txBody>
      </p:sp>
      <p:sp>
        <p:nvSpPr>
          <p:cNvPr id="3174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BB6F79D-E4C1-4A1B-A47E-5D4DE5A70319}" type="slidenum">
              <a:rPr lang="en-US" altLang="en-US">
                <a:solidFill>
                  <a:srgbClr val="898989"/>
                </a:solidFill>
                <a:latin typeface="Calibri" panose="020F0502020204030204" pitchFamily="34" charset="0"/>
              </a:rPr>
              <a:pPr/>
              <a:t>20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HTTP - Requests</a:t>
            </a:r>
          </a:p>
        </p:txBody>
      </p:sp>
      <p:sp>
        <p:nvSpPr>
          <p:cNvPr id="31751"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38920" name="TextBox 8"/>
          <p:cNvSpPr txBox="1">
            <a:spLocks noChangeArrowheads="1"/>
          </p:cNvSpPr>
          <p:nvPr/>
        </p:nvSpPr>
        <p:spPr bwMode="auto">
          <a:xfrm>
            <a:off x="2514600" y="1066801"/>
            <a:ext cx="53340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Times New Roman" panose="02020603050405020304" pitchFamily="18" charset="0"/>
                <a:cs typeface="Times New Roman" panose="02020603050405020304" pitchFamily="18" charset="0"/>
              </a:rPr>
              <a:t> </a:t>
            </a:r>
            <a:endParaRPr lang="en-US" altLang="en-US" sz="2200" b="1" dirty="0">
              <a:latin typeface="Times New Roman" panose="02020603050405020304" pitchFamily="18" charset="0"/>
              <a:cs typeface="Times New Roman" panose="02020603050405020304" pitchFamily="18" charset="0"/>
            </a:endParaRPr>
          </a:p>
          <a:p>
            <a:pPr algn="just" eaLnBrk="1" hangingPunct="1"/>
            <a:endParaRPr lang="en-IN" altLang="en-US" sz="2400" u="sng" dirty="0"/>
          </a:p>
        </p:txBody>
      </p:sp>
      <p:sp>
        <p:nvSpPr>
          <p:cNvPr id="76801" name="Rectangle 1"/>
          <p:cNvSpPr>
            <a:spLocks noChangeArrowheads="1"/>
          </p:cNvSpPr>
          <p:nvPr/>
        </p:nvSpPr>
        <p:spPr bwMode="auto">
          <a:xfrm>
            <a:off x="1295400" y="914400"/>
            <a:ext cx="10515600" cy="4431983"/>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45720" rIns="0" bIns="45720" numCol="1" anchor="ctr" anchorCtr="0" compatLnSpc="1">
            <a:prstTxWarp prst="textNoShape">
              <a:avLst/>
            </a:prstTxWarp>
            <a:spAutoFit/>
          </a:bodyPr>
          <a:lstStyle/>
          <a:p>
            <a:pPr fontAlgn="base">
              <a:spcBef>
                <a:spcPct val="0"/>
              </a:spcBef>
              <a:spcAft>
                <a:spcPct val="0"/>
              </a:spcAft>
            </a:pPr>
            <a:r>
              <a:rPr lang="en-US" sz="2400" dirty="0">
                <a:latin typeface="Arial" pitchFamily="34" charset="0"/>
                <a:ea typeface="Times New Roman" pitchFamily="18" charset="0"/>
                <a:cs typeface="Arial" pitchFamily="34" charset="0"/>
              </a:rPr>
              <a:t>GET and POST requests using Python</a:t>
            </a:r>
            <a:endParaRPr lang="en-US" sz="2400" b="1" dirty="0">
              <a:latin typeface="Arial" pitchFamily="34" charset="0"/>
              <a:ea typeface="Times New Roman" pitchFamily="18" charset="0"/>
              <a:cs typeface="Arial" pitchFamily="34" charset="0"/>
            </a:endParaRPr>
          </a:p>
          <a:p>
            <a:pPr eaLnBrk="0" fontAlgn="base" hangingPunct="0">
              <a:spcBef>
                <a:spcPct val="0"/>
              </a:spcBef>
              <a:spcAft>
                <a:spcPct val="0"/>
              </a:spcAft>
            </a:pPr>
            <a:r>
              <a:rPr lang="en-US" sz="2400" dirty="0">
                <a:latin typeface="Calibri" pitchFamily="34" charset="0"/>
                <a:ea typeface="Calibri" pitchFamily="34" charset="0"/>
                <a:cs typeface="Times New Roman" pitchFamily="18" charset="0"/>
              </a:rPr>
              <a:t>This post discusses two HTTP (Hypertext Transfer Protocol) request methods GET and POST requests in Python and their implementation in python.</a:t>
            </a:r>
            <a:endParaRPr lang="en-US" sz="2400" dirty="0">
              <a:latin typeface="Arial" pitchFamily="34" charset="0"/>
              <a:cs typeface="Arial" pitchFamily="34" charset="0"/>
            </a:endParaRPr>
          </a:p>
          <a:p>
            <a:pPr eaLnBrk="0" fontAlgn="base" hangingPunct="0">
              <a:spcBef>
                <a:spcPct val="0"/>
              </a:spcBef>
              <a:spcAft>
                <a:spcPct val="0"/>
              </a:spcAft>
            </a:pPr>
            <a:r>
              <a:rPr lang="en-US" sz="2400" b="1" dirty="0">
                <a:latin typeface="Calibri" pitchFamily="34" charset="0"/>
                <a:ea typeface="Times New Roman" pitchFamily="18" charset="0"/>
                <a:cs typeface="Times New Roman" pitchFamily="18" charset="0"/>
              </a:rPr>
              <a:t>What is HTTP</a:t>
            </a:r>
            <a:br>
              <a:rPr lang="en-US" sz="2400" dirty="0">
                <a:latin typeface="Calibri" pitchFamily="34" charset="0"/>
                <a:ea typeface="Times New Roman" pitchFamily="18" charset="0"/>
                <a:cs typeface="Times New Roman" pitchFamily="18" charset="0"/>
              </a:rPr>
            </a:br>
            <a:r>
              <a:rPr lang="en-US" sz="2400" dirty="0">
                <a:latin typeface="Calibri" pitchFamily="34" charset="0"/>
                <a:ea typeface="Times New Roman" pitchFamily="18" charset="0"/>
                <a:cs typeface="Times New Roman" pitchFamily="18" charset="0"/>
              </a:rPr>
              <a:t>HTTP is a set of protocols designed to enable communication between clients and servers. It works as a request-response protocol between a client and server.</a:t>
            </a:r>
            <a:br>
              <a:rPr lang="en-US" sz="2400" dirty="0">
                <a:latin typeface="Calibri" pitchFamily="34" charset="0"/>
                <a:ea typeface="Times New Roman" pitchFamily="18" charset="0"/>
                <a:cs typeface="Times New Roman" pitchFamily="18" charset="0"/>
              </a:rPr>
            </a:br>
            <a:r>
              <a:rPr lang="en-US" sz="2400" dirty="0">
                <a:latin typeface="Calibri" pitchFamily="34" charset="0"/>
                <a:ea typeface="Times New Roman" pitchFamily="18" charset="0"/>
                <a:cs typeface="Times New Roman" pitchFamily="18" charset="0"/>
              </a:rPr>
              <a:t>A web browser may be the client, and an application on a computer that hosts a website may be the server.</a:t>
            </a:r>
            <a:endParaRPr lang="en-US" sz="2400" dirty="0">
              <a:latin typeface="Arial" pitchFamily="34" charset="0"/>
              <a:cs typeface="Arial" pitchFamily="34" charset="0"/>
            </a:endParaRPr>
          </a:p>
          <a:p>
            <a:pPr eaLnBrk="0" fontAlgn="base" hangingPunct="0">
              <a:spcBef>
                <a:spcPct val="0"/>
              </a:spcBef>
              <a:spcAft>
                <a:spcPct val="0"/>
              </a:spcAft>
            </a:pPr>
            <a:r>
              <a:rPr lang="en-US" sz="2400" dirty="0">
                <a:latin typeface="Calibri" pitchFamily="34" charset="0"/>
                <a:ea typeface="Times New Roman" pitchFamily="18" charset="0"/>
                <a:cs typeface="Times New Roman" pitchFamily="18" charset="0"/>
              </a:rPr>
              <a:t>So, to request a response from the server, there are mainly two methods:</a:t>
            </a:r>
            <a:endParaRPr lang="en-US" sz="2400" dirty="0">
              <a:latin typeface="Arial" pitchFamily="34" charset="0"/>
              <a:cs typeface="Arial" pitchFamily="34" charset="0"/>
            </a:endParaRPr>
          </a:p>
          <a:p>
            <a:pPr eaLnBrk="0" fontAlgn="base" hangingPunct="0">
              <a:spcBef>
                <a:spcPct val="0"/>
              </a:spcBef>
              <a:spcAft>
                <a:spcPct val="0"/>
              </a:spcAft>
              <a:buFontTx/>
              <a:buAutoNum type="arabicPeriod"/>
            </a:pPr>
            <a:r>
              <a:rPr lang="en-US" sz="2400" b="1" dirty="0">
                <a:latin typeface="Calibri" pitchFamily="34" charset="0"/>
                <a:ea typeface="Times New Roman" pitchFamily="18" charset="0"/>
                <a:cs typeface="Times New Roman" pitchFamily="18" charset="0"/>
              </a:rPr>
              <a:t>GET</a:t>
            </a:r>
            <a:r>
              <a:rPr lang="en-US" sz="2400" dirty="0">
                <a:latin typeface="Calibri" pitchFamily="34" charset="0"/>
                <a:ea typeface="Times New Roman" pitchFamily="18" charset="0"/>
                <a:cs typeface="Times New Roman" pitchFamily="18" charset="0"/>
              </a:rPr>
              <a:t> : to request data from the server.</a:t>
            </a:r>
            <a:endParaRPr lang="en-US" sz="2400" dirty="0">
              <a:latin typeface="Calibri" pitchFamily="34" charset="0"/>
              <a:ea typeface="Calibri" pitchFamily="34" charset="0"/>
              <a:cs typeface="Times New Roman" pitchFamily="18" charset="0"/>
            </a:endParaRPr>
          </a:p>
          <a:p>
            <a:pPr eaLnBrk="0" fontAlgn="base" hangingPunct="0">
              <a:spcBef>
                <a:spcPct val="0"/>
              </a:spcBef>
              <a:spcAft>
                <a:spcPct val="0"/>
              </a:spcAft>
              <a:buFontTx/>
              <a:buAutoNum type="arabicPeriod"/>
            </a:pPr>
            <a:r>
              <a:rPr lang="en-US" sz="2400" b="1" dirty="0">
                <a:latin typeface="Calibri" pitchFamily="34" charset="0"/>
                <a:ea typeface="Times New Roman" pitchFamily="18" charset="0"/>
                <a:cs typeface="Times New Roman" pitchFamily="18" charset="0"/>
              </a:rPr>
              <a:t>POST</a:t>
            </a:r>
            <a:r>
              <a:rPr lang="en-US" sz="2400" dirty="0">
                <a:latin typeface="Calibri" pitchFamily="34" charset="0"/>
                <a:ea typeface="Times New Roman" pitchFamily="18" charset="0"/>
                <a:cs typeface="Times New Roman" pitchFamily="18" charset="0"/>
              </a:rPr>
              <a:t> : to submit data to be processed to the server.</a:t>
            </a:r>
            <a:endParaRPr lang="en-US" sz="2400" dirty="0">
              <a:latin typeface="Arial" pitchFamily="34" charset="0"/>
              <a:cs typeface="Arial" pitchFamily="34" charset="0"/>
            </a:endParaRPr>
          </a:p>
          <a:p>
            <a:pPr eaLnBrk="0" fontAlgn="base" hangingPunct="0">
              <a:spcBef>
                <a:spcPct val="0"/>
              </a:spcBef>
              <a:spcAft>
                <a:spcPct val="0"/>
              </a:spcAft>
            </a:pPr>
            <a:endParaRPr lang="en-US" dirty="0">
              <a:latin typeface="Arial" pitchFamily="34" charset="0"/>
              <a:cs typeface="Arial" pitchFamily="34" charset="0"/>
            </a:endParaRP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4125032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8920"/>
                                        </p:tgtEl>
                                        <p:attrNameLst>
                                          <p:attrName>style.visibility</p:attrName>
                                        </p:attrNameLst>
                                      </p:cBhvr>
                                      <p:to>
                                        <p:strVal val="visible"/>
                                      </p:to>
                                    </p:set>
                                    <p:anim calcmode="lin" valueType="num">
                                      <p:cBhvr additive="base">
                                        <p:cTn id="7" dur="500" fill="hold"/>
                                        <p:tgtEl>
                                          <p:spTgt spid="38920"/>
                                        </p:tgtEl>
                                        <p:attrNameLst>
                                          <p:attrName>ppt_x</p:attrName>
                                        </p:attrNameLst>
                                      </p:cBhvr>
                                      <p:tavLst>
                                        <p:tav tm="0">
                                          <p:val>
                                            <p:strVal val="#ppt_x"/>
                                          </p:val>
                                        </p:tav>
                                        <p:tav tm="100000">
                                          <p:val>
                                            <p:strVal val="#ppt_x"/>
                                          </p:val>
                                        </p:tav>
                                      </p:tavLst>
                                    </p:anim>
                                    <p:anim calcmode="lin" valueType="num">
                                      <p:cBhvr additive="base">
                                        <p:cTn id="8" dur="500" fill="hold"/>
                                        <p:tgtEl>
                                          <p:spTgt spid="3892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2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Python web development with Django                           Unit I</a:t>
            </a:r>
            <a:endParaRPr lang="en-US" dirty="0"/>
          </a:p>
        </p:txBody>
      </p:sp>
      <p:sp>
        <p:nvSpPr>
          <p:cNvPr id="3277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747B820-A8D2-42C0-B479-0B3A052CC349}" type="slidenum">
              <a:rPr lang="en-US" altLang="en-US">
                <a:solidFill>
                  <a:srgbClr val="898989"/>
                </a:solidFill>
                <a:latin typeface="Calibri" panose="020F0502020204030204" pitchFamily="34" charset="0"/>
              </a:rPr>
              <a:pPr/>
              <a:t>21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HTTP – Requests(continue…)</a:t>
            </a:r>
          </a:p>
        </p:txBody>
      </p:sp>
      <p:sp>
        <p:nvSpPr>
          <p:cNvPr id="3277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4753" name="Rectangle 1"/>
          <p:cNvSpPr>
            <a:spLocks noChangeArrowheads="1"/>
          </p:cNvSpPr>
          <p:nvPr/>
        </p:nvSpPr>
        <p:spPr bwMode="auto">
          <a:xfrm rot="10800000" flipV="1">
            <a:off x="990600" y="874068"/>
            <a:ext cx="10744200" cy="461665"/>
          </a:xfrm>
          <a:prstGeom prst="rect">
            <a:avLst/>
          </a:prstGeom>
          <a:no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latin typeface="Calibri" pitchFamily="34" charset="0"/>
                <a:ea typeface="Times New Roman" pitchFamily="18" charset="0"/>
                <a:cs typeface="Times New Roman" pitchFamily="18" charset="0"/>
              </a:rPr>
              <a:t>Here is a simple diagram which explains the basic concept of GET and POST methods</a:t>
            </a:r>
            <a:r>
              <a:rPr lang="en-US" dirty="0">
                <a:latin typeface="Calibri" pitchFamily="34" charset="0"/>
                <a:ea typeface="Times New Roman" pitchFamily="18" charset="0"/>
                <a:cs typeface="Times New Roman" pitchFamily="18" charset="0"/>
              </a:rPr>
              <a:t>.</a:t>
            </a:r>
            <a:endParaRPr lang="en-US" dirty="0">
              <a:latin typeface="Arial" pitchFamily="34" charset="0"/>
              <a:cs typeface="Arial" pitchFamily="34" charset="0"/>
            </a:endParaRPr>
          </a:p>
        </p:txBody>
      </p:sp>
      <p:pic>
        <p:nvPicPr>
          <p:cNvPr id="11" name="Picture 10" descr="C:\Users\mam\Desktop\getpostRequest.png"/>
          <p:cNvPicPr/>
          <p:nvPr/>
        </p:nvPicPr>
        <p:blipFill>
          <a:blip r:embed="rId3"/>
          <a:srcRect/>
          <a:stretch>
            <a:fillRect/>
          </a:stretch>
        </p:blipFill>
        <p:spPr bwMode="auto">
          <a:xfrm>
            <a:off x="1924594" y="1524001"/>
            <a:ext cx="8153400" cy="4572000"/>
          </a:xfrm>
          <a:prstGeom prst="rect">
            <a:avLst/>
          </a:prstGeom>
          <a:noFill/>
          <a:ln w="6350">
            <a:solidFill>
              <a:schemeClr val="tx1"/>
            </a:solidFill>
            <a:miter lim="800000"/>
            <a:headEnd/>
            <a:tailEnd/>
          </a:ln>
        </p:spPr>
      </p:pic>
      <p:sp>
        <p:nvSpPr>
          <p:cNvPr id="2" name="Date Placeholder 1"/>
          <p:cNvSpPr>
            <a:spLocks noGrp="1"/>
          </p:cNvSpPr>
          <p:nvPr>
            <p:ph type="dt" sz="half" idx="10"/>
          </p:nvPr>
        </p:nvSpPr>
        <p:spPr/>
        <p:txBody>
          <a:bodyPr/>
          <a:lstStyle/>
          <a:p>
            <a:fld id="{9576D9C0-93D0-4212-BA48-D68B33106D6C}" type="datetime1">
              <a:rPr lang="en-US" smtClean="0"/>
              <a:t>9/27/2024</a:t>
            </a:fld>
            <a:endParaRPr lang="en-US"/>
          </a:p>
        </p:txBody>
      </p:sp>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43270108"/>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66F30ADE-D8C6-4036-9B59-4EF1121347B9}" type="datetime1">
              <a:rPr lang="en-US" smtClean="0"/>
              <a:t>9/27/2024</a:t>
            </a:fld>
            <a:endParaRPr lang="en-US" dirty="0"/>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3379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9A5823-33FB-4E6C-B22A-326E52BDD863}" type="slidenum">
              <a:rPr lang="en-US" altLang="en-US">
                <a:solidFill>
                  <a:srgbClr val="898989"/>
                </a:solidFill>
                <a:latin typeface="Calibri" panose="020F0502020204030204" pitchFamily="34" charset="0"/>
              </a:rPr>
              <a:pPr/>
              <a:t>22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HTTP – Requests(continue…)</a:t>
            </a:r>
          </a:p>
        </p:txBody>
      </p:sp>
      <p:sp>
        <p:nvSpPr>
          <p:cNvPr id="33799"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2705" name="Rectangle 1"/>
          <p:cNvSpPr>
            <a:spLocks noChangeArrowheads="1"/>
          </p:cNvSpPr>
          <p:nvPr/>
        </p:nvSpPr>
        <p:spPr bwMode="auto">
          <a:xfrm>
            <a:off x="152400" y="878697"/>
            <a:ext cx="11963400" cy="5262979"/>
          </a:xfrm>
          <a:prstGeom prst="rect">
            <a:avLst/>
          </a:prstGeom>
          <a:solidFill>
            <a:schemeClr val="tx2">
              <a:lumMod val="40000"/>
              <a:lumOff val="60000"/>
            </a:schemeClr>
          </a:solidFill>
          <a:ln w="127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400" dirty="0">
                <a:ea typeface="Times New Roman" pitchFamily="18" charset="0"/>
                <a:cs typeface="Times New Roman" pitchFamily="18" charset="0"/>
              </a:rPr>
              <a:t>Now, to make HTTP requests in python, we can use several HTTP libraries like:</a:t>
            </a:r>
            <a:endParaRPr lang="en-US" sz="2400" dirty="0">
              <a:cs typeface="Arial" pitchFamily="34" charset="0"/>
            </a:endParaRPr>
          </a:p>
          <a:p>
            <a: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400" dirty="0" err="1">
                <a:solidFill>
                  <a:srgbClr val="0000FF"/>
                </a:solidFill>
                <a:ea typeface="Times New Roman" pitchFamily="18" charset="0"/>
                <a:cs typeface="Times New Roman" pitchFamily="18" charset="0"/>
                <a:hlinkClick r:id="rId3"/>
              </a:rPr>
              <a:t>H</a:t>
            </a:r>
            <a:r>
              <a:rPr lang="en-US" sz="2400" dirty="0" err="1">
                <a:solidFill>
                  <a:srgbClr val="0000FF"/>
                </a:solidFill>
                <a:ea typeface="Times New Roman" pitchFamily="18" charset="0"/>
                <a:cs typeface="Times New Roman" pitchFamily="18" charset="0"/>
                <a:hlinkClick r:id="rId4"/>
              </a:rPr>
              <a:t>ttplib</a:t>
            </a:r>
            <a:r>
              <a:rPr lang="en-US" sz="2400" dirty="0">
                <a:solidFill>
                  <a:srgbClr val="0000FF"/>
                </a:solidFill>
                <a:ea typeface="Times New Roman" pitchFamily="18" charset="0"/>
                <a:cs typeface="Times New Roman" pitchFamily="18" charset="0"/>
              </a:rPr>
              <a:t>      </a:t>
            </a:r>
            <a:r>
              <a:rPr lang="en-US" sz="2400" dirty="0">
                <a:ea typeface="Times New Roman" pitchFamily="18" charset="0"/>
                <a:cs typeface="Times New Roman" pitchFamily="18" charset="0"/>
              </a:rPr>
              <a:t>  </a:t>
            </a:r>
            <a:r>
              <a:rPr lang="en-US" sz="2400" dirty="0" err="1">
                <a:solidFill>
                  <a:srgbClr val="0000FF"/>
                </a:solidFill>
                <a:ea typeface="Times New Roman" pitchFamily="18" charset="0"/>
                <a:cs typeface="Times New Roman" pitchFamily="18" charset="0"/>
              </a:rPr>
              <a:t>urllib</a:t>
            </a:r>
            <a:r>
              <a:rPr lang="en-US" sz="2400" dirty="0">
                <a:ea typeface="Times New Roman" pitchFamily="18" charset="0"/>
                <a:cs typeface="Times New Roman" pitchFamily="18" charset="0"/>
              </a:rPr>
              <a:t>         </a:t>
            </a:r>
            <a:r>
              <a:rPr lang="en-US" sz="2400" dirty="0">
                <a:solidFill>
                  <a:srgbClr val="0000FF"/>
                </a:solidFill>
                <a:ea typeface="Times New Roman" pitchFamily="18" charset="0"/>
                <a:cs typeface="Times New Roman" pitchFamily="18" charset="0"/>
                <a:hlinkClick r:id="rId5"/>
              </a:rPr>
              <a:t>requests</a:t>
            </a:r>
            <a:endParaRPr lang="en-US" sz="2400" dirty="0">
              <a:solidFill>
                <a:srgbClr val="0000FF"/>
              </a:solidFill>
              <a:ea typeface="Times New Roman" pitchFamily="18" charset="0"/>
              <a:cs typeface="Times New Roman" pitchFamily="18" charset="0"/>
            </a:endParaRPr>
          </a:p>
          <a:p>
            <a: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2400" dirty="0">
              <a:cs typeface="Arial" pitchFamily="34" charset="0"/>
            </a:endParaRPr>
          </a:p>
          <a:p>
            <a: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400" dirty="0">
                <a:ea typeface="Times New Roman" pitchFamily="18" charset="0"/>
                <a:cs typeface="Times New Roman" pitchFamily="18" charset="0"/>
              </a:rPr>
              <a:t>The most elegant and simplest of above listed libraries is Requests. We will be using requests library in this article. To download and install Requests library, use following command:</a:t>
            </a:r>
            <a:endParaRPr lang="en-US" sz="2400" dirty="0">
              <a:cs typeface="Arial" pitchFamily="34" charset="0"/>
            </a:endParaRPr>
          </a:p>
          <a:p>
            <a: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r>
              <a:rPr lang="en-US" sz="2400" dirty="0">
                <a:ea typeface="Times New Roman" pitchFamily="18" charset="0"/>
                <a:cs typeface="Courier New" pitchFamily="49" charset="0"/>
              </a:rPr>
              <a:t>pip install requests</a:t>
            </a:r>
          </a:p>
          <a:p>
            <a:pPr eaLnBrk="0" fontAlgn="base" hangingPunct="0">
              <a:spcBef>
                <a:spcPct val="0"/>
              </a:spcBef>
              <a:spcAft>
                <a:spcPct val="0"/>
              </a:spcAft>
              <a:tabLst>
                <a:tab pos="581025" algn="l"/>
                <a:tab pos="1163638" algn="l"/>
                <a:tab pos="1744663" algn="l"/>
                <a:tab pos="2327275" algn="l"/>
                <a:tab pos="2908300" algn="l"/>
                <a:tab pos="3489325" algn="l"/>
                <a:tab pos="4071938" algn="l"/>
                <a:tab pos="4652963" algn="l"/>
                <a:tab pos="5235575" algn="l"/>
                <a:tab pos="5816600" algn="l"/>
                <a:tab pos="6397625" algn="l"/>
                <a:tab pos="6980238" algn="l"/>
                <a:tab pos="7561263" algn="l"/>
                <a:tab pos="8143875" algn="l"/>
                <a:tab pos="8724900" algn="l"/>
                <a:tab pos="9305925" algn="l"/>
              </a:tabLst>
            </a:pPr>
            <a:endParaRPr lang="en-US" sz="2400" dirty="0">
              <a:ea typeface="Times New Roman" pitchFamily="18" charset="0"/>
              <a:cs typeface="Courier New" pitchFamily="49" charset="0"/>
            </a:endParaRPr>
          </a:p>
          <a:p>
            <a:r>
              <a:rPr lang="en-US" sz="2400" b="1" dirty="0"/>
              <a:t>Here are some important points to ponder upon:</a:t>
            </a:r>
            <a:endParaRPr lang="en-US" sz="2400" dirty="0"/>
          </a:p>
          <a:p>
            <a:pPr lvl="0"/>
            <a:r>
              <a:rPr lang="en-US" sz="2400" dirty="0"/>
              <a:t>When the method is GET, all form data is encoded into the URL, appended to the </a:t>
            </a:r>
            <a:r>
              <a:rPr lang="en-US" sz="2400" b="1" dirty="0"/>
              <a:t>action</a:t>
            </a:r>
            <a:r>
              <a:rPr lang="en-US" sz="2400" dirty="0"/>
              <a:t> URL as query string parameters. With POST, form data appears within the </a:t>
            </a:r>
            <a:r>
              <a:rPr lang="en-US" sz="2400" b="1" dirty="0"/>
              <a:t>message body</a:t>
            </a:r>
            <a:r>
              <a:rPr lang="en-US" sz="2400" dirty="0"/>
              <a:t> of the HTTP request.</a:t>
            </a:r>
          </a:p>
          <a:p>
            <a:pPr lvl="0"/>
            <a:r>
              <a:rPr lang="en-US" sz="2400" dirty="0"/>
              <a:t>In GET method, the parameter data is limited to what we can stuff into the request line (URL). Safest to use less than 2K of parameters, some servers handle up to 64K.No such problem in POST method since we send data in </a:t>
            </a:r>
            <a:r>
              <a:rPr lang="en-US" sz="2400" b="1" dirty="0"/>
              <a:t>message body</a:t>
            </a:r>
            <a:r>
              <a:rPr lang="en-US" sz="2400" dirty="0"/>
              <a:t> of the HTTP request, not the URL.</a:t>
            </a:r>
          </a:p>
        </p:txBody>
      </p:sp>
      <p:pic>
        <p:nvPicPr>
          <p:cNvPr id="8" name="Picture 7" descr="C:\Users\Dr. CS Yadav\Downloads\New logo NIET.jpg"/>
          <p:cNvPicPr/>
          <p:nvPr/>
        </p:nvPicPr>
        <p:blipFill>
          <a:blip r:embed="rId6"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124385451"/>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FAF06266-B466-436A-9DDD-C270C628E289}" type="datetime1">
              <a:rPr lang="en-US" smtClean="0"/>
              <a:t>9/27/2024</a:t>
            </a:fld>
            <a:endParaRPr lang="en-US" dirty="0"/>
          </a:p>
        </p:txBody>
      </p:sp>
      <p:sp>
        <p:nvSpPr>
          <p:cNvPr id="5" name="Footer Placeholder 4"/>
          <p:cNvSpPr>
            <a:spLocks noGrp="1"/>
          </p:cNvSpPr>
          <p:nvPr>
            <p:ph type="ftr" sz="quarter" idx="11"/>
          </p:nvPr>
        </p:nvSpPr>
        <p:spPr>
          <a:xfrm>
            <a:off x="4038600" y="6356351"/>
            <a:ext cx="7162800" cy="365125"/>
          </a:xfrm>
        </p:spPr>
        <p:txBody>
          <a:bodyPr/>
          <a:lstStyle/>
          <a:p>
            <a:pPr>
              <a:defRPr/>
            </a:pPr>
            <a:r>
              <a:rPr lang="en-US"/>
              <a:t>Ritesh Kumar Singh                 Python web development with Django                           Unit I</a:t>
            </a:r>
            <a:endParaRPr lang="en-US" dirty="0"/>
          </a:p>
        </p:txBody>
      </p:sp>
      <p:sp>
        <p:nvSpPr>
          <p:cNvPr id="3482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AF23960-EC90-4B32-8626-4614139F0773}" type="slidenum">
              <a:rPr lang="en-US" altLang="en-US">
                <a:solidFill>
                  <a:srgbClr val="898989"/>
                </a:solidFill>
                <a:latin typeface="Calibri" panose="020F0502020204030204" pitchFamily="34" charset="0"/>
              </a:rPr>
              <a:pPr/>
              <a:t>23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HTTP – Requests(continue…)</a:t>
            </a:r>
          </a:p>
        </p:txBody>
      </p:sp>
      <p:sp>
        <p:nvSpPr>
          <p:cNvPr id="3482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0657" name="Rectangle 1"/>
          <p:cNvSpPr>
            <a:spLocks noChangeArrowheads="1"/>
          </p:cNvSpPr>
          <p:nvPr/>
        </p:nvSpPr>
        <p:spPr bwMode="auto">
          <a:xfrm>
            <a:off x="1447800" y="960442"/>
            <a:ext cx="10439400" cy="5016758"/>
          </a:xfrm>
          <a:prstGeom prst="rect">
            <a:avLst/>
          </a:prstGeom>
          <a:solidFill>
            <a:schemeClr val="tx2">
              <a:lumMod val="40000"/>
              <a:lumOff val="60000"/>
            </a:schemeClr>
          </a:solidFill>
          <a:ln w="1270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endParaRPr lang="en-US" dirty="0">
              <a:latin typeface="Arial" pitchFamily="34" charset="0"/>
              <a:cs typeface="Arial" pitchFamily="34" charset="0"/>
            </a:endParaRPr>
          </a:p>
          <a:p>
            <a:pPr eaLnBrk="0" fontAlgn="base" hangingPunct="0">
              <a:spcBef>
                <a:spcPct val="0"/>
              </a:spcBef>
              <a:spcAft>
                <a:spcPct val="0"/>
              </a:spcAft>
              <a:buFontTx/>
              <a:buChar char="•"/>
            </a:pPr>
            <a:r>
              <a:rPr lang="en-US" sz="2800" dirty="0">
                <a:ea typeface="Times New Roman" pitchFamily="18" charset="0"/>
                <a:cs typeface="Times New Roman" pitchFamily="18" charset="0"/>
              </a:rPr>
              <a:t>Only ASCII characters are allowed for data to be sent in GET method.There is no such restriction in POST method.</a:t>
            </a:r>
            <a:endParaRPr lang="en-US" sz="2800" dirty="0">
              <a:ea typeface="Calibri" pitchFamily="34" charset="0"/>
              <a:cs typeface="Times New Roman" pitchFamily="18" charset="0"/>
            </a:endParaRPr>
          </a:p>
          <a:p>
            <a:pPr eaLnBrk="0" fontAlgn="base" hangingPunct="0">
              <a:spcBef>
                <a:spcPct val="0"/>
              </a:spcBef>
              <a:spcAft>
                <a:spcPct val="0"/>
              </a:spcAft>
              <a:buFontTx/>
              <a:buChar char="•"/>
            </a:pPr>
            <a:r>
              <a:rPr lang="en-US" sz="2800" dirty="0">
                <a:ea typeface="Times New Roman" pitchFamily="18" charset="0"/>
                <a:cs typeface="Times New Roman" pitchFamily="18" charset="0"/>
              </a:rPr>
              <a:t>GET is less secure compared to POST because data sent is part of the URL. So, GET method should not be used when sending passwords or other sensitive information.</a:t>
            </a:r>
          </a:p>
          <a:p>
            <a:pPr eaLnBrk="0" fontAlgn="base" hangingPunct="0">
              <a:spcBef>
                <a:spcPct val="0"/>
              </a:spcBef>
              <a:spcAft>
                <a:spcPct val="0"/>
              </a:spcAft>
            </a:pPr>
            <a:endParaRPr lang="en-US" sz="2800" dirty="0">
              <a:ea typeface="Times New Roman" pitchFamily="18" charset="0"/>
              <a:cs typeface="Times New Roman" pitchFamily="18" charset="0"/>
            </a:endParaRPr>
          </a:p>
          <a:p>
            <a:r>
              <a:rPr lang="en-US" sz="3200" b="1" u="sng" dirty="0"/>
              <a:t>Beautiful Soup 4-web scraping</a:t>
            </a:r>
          </a:p>
          <a:p>
            <a:r>
              <a:rPr lang="en-US" sz="2800" dirty="0"/>
              <a:t>Beautiful Soup is a library that makes it easy to scrape information from web pages. It sits atop an HTML or XML parser, providing Pythonic idioms for iterating, searching, and modifying the parse tree.</a:t>
            </a:r>
            <a:endParaRPr lang="en-US" dirty="0">
              <a:cs typeface="Arial" pitchFamily="34" charset="0"/>
            </a:endParaRPr>
          </a:p>
          <a:p>
            <a:pPr eaLnBrk="0" fontAlgn="base" hangingPunct="0">
              <a:spcBef>
                <a:spcPct val="0"/>
              </a:spcBef>
              <a:spcAft>
                <a:spcPct val="0"/>
              </a:spcAft>
            </a:pPr>
            <a:endParaRPr lang="en-US" dirty="0">
              <a:latin typeface="Arial" pitchFamily="34" charset="0"/>
              <a:cs typeface="Arial" pitchFamily="34" charset="0"/>
            </a:endParaRP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682904167"/>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76137D7-5BAA-47BF-BAE3-95A63B718F59}" type="datetime1">
              <a:rPr lang="en-US" smtClean="0"/>
              <a:t>9/27/2024</a:t>
            </a:fld>
            <a:endParaRPr lang="en-US" dirty="0"/>
          </a:p>
        </p:txBody>
      </p:sp>
      <p:sp>
        <p:nvSpPr>
          <p:cNvPr id="5" name="Footer Placeholder 4"/>
          <p:cNvSpPr>
            <a:spLocks noGrp="1"/>
          </p:cNvSpPr>
          <p:nvPr>
            <p:ph type="ftr" sz="quarter" idx="11"/>
          </p:nvPr>
        </p:nvSpPr>
        <p:spPr>
          <a:xfrm>
            <a:off x="4038600" y="6356351"/>
            <a:ext cx="7086600" cy="365125"/>
          </a:xfrm>
        </p:spPr>
        <p:txBody>
          <a:bodyPr/>
          <a:lstStyle/>
          <a:p>
            <a:pPr>
              <a:defRPr/>
            </a:pPr>
            <a:r>
              <a:rPr lang="en-US"/>
              <a:t>Ritesh Kumar Singh                 Python web development with Django                           Unit I</a:t>
            </a:r>
            <a:endParaRPr lang="en-US" dirty="0"/>
          </a:p>
        </p:txBody>
      </p:sp>
      <p:sp>
        <p:nvSpPr>
          <p:cNvPr id="3584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9433E0-5C00-4205-8B0F-A2EAB7FEA952}" type="slidenum">
              <a:rPr lang="en-US" altLang="en-US">
                <a:solidFill>
                  <a:srgbClr val="898989"/>
                </a:solidFill>
                <a:latin typeface="Calibri" panose="020F0502020204030204" pitchFamily="34" charset="0"/>
              </a:rPr>
              <a:pPr/>
              <a:t>24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371600" y="0"/>
            <a:ext cx="10820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b="1" dirty="0"/>
              <a:t>                                  </a:t>
            </a:r>
            <a:r>
              <a:rPr lang="en-US" sz="3200" dirty="0"/>
              <a:t>Beautiful Soup 4-web scraping</a:t>
            </a:r>
          </a:p>
        </p:txBody>
      </p:sp>
      <p:sp>
        <p:nvSpPr>
          <p:cNvPr id="3584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47113" name="TextBox 9"/>
          <p:cNvSpPr txBox="1">
            <a:spLocks noChangeArrowheads="1"/>
          </p:cNvSpPr>
          <p:nvPr/>
        </p:nvSpPr>
        <p:spPr bwMode="auto">
          <a:xfrm>
            <a:off x="3581400" y="1676400"/>
            <a:ext cx="54102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GB" altLang="en-US" sz="22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10" name="Rectangle 9"/>
          <p:cNvSpPr/>
          <p:nvPr/>
        </p:nvSpPr>
        <p:spPr>
          <a:xfrm>
            <a:off x="1371600" y="1066800"/>
            <a:ext cx="10515600" cy="5170646"/>
          </a:xfrm>
          <a:prstGeom prst="rect">
            <a:avLst/>
          </a:prstGeom>
          <a:solidFill>
            <a:schemeClr val="tx2">
              <a:lumMod val="40000"/>
              <a:lumOff val="60000"/>
            </a:schemeClr>
          </a:solidFill>
          <a:ln w="6350">
            <a:solidFill>
              <a:schemeClr val="tx1"/>
            </a:solidFill>
          </a:ln>
        </p:spPr>
        <p:txBody>
          <a:bodyPr wrap="square">
            <a:spAutoFit/>
          </a:bodyPr>
          <a:lstStyle/>
          <a:p>
            <a:r>
              <a:rPr lang="en-US" sz="2400" dirty="0" err="1"/>
              <a:t>Scrapy</a:t>
            </a:r>
            <a:r>
              <a:rPr lang="en-US" sz="2400" dirty="0"/>
              <a:t> is a </a:t>
            </a:r>
            <a:r>
              <a:rPr lang="en-US" sz="2400" u="sng" dirty="0">
                <a:hlinkClick r:id="rId3"/>
              </a:rPr>
              <a:t>Python</a:t>
            </a:r>
            <a:r>
              <a:rPr lang="en-US" sz="2400" dirty="0"/>
              <a:t> framework for large scale web scraping. It gives you all the tools you need to efficiently </a:t>
            </a:r>
            <a:r>
              <a:rPr lang="en-US" sz="2400" b="1" i="1" dirty="0"/>
              <a:t>extract</a:t>
            </a:r>
            <a:r>
              <a:rPr lang="en-US" sz="2400" dirty="0"/>
              <a:t> data from websites, </a:t>
            </a:r>
            <a:r>
              <a:rPr lang="en-US" sz="2400" b="1" i="1" dirty="0"/>
              <a:t>process</a:t>
            </a:r>
            <a:r>
              <a:rPr lang="en-US" sz="2400" dirty="0"/>
              <a:t> them as you want, and store them in your preferred </a:t>
            </a:r>
            <a:r>
              <a:rPr lang="en-US" sz="2400" b="1" i="1" dirty="0"/>
              <a:t>structure </a:t>
            </a:r>
            <a:r>
              <a:rPr lang="en-US" sz="2400" dirty="0"/>
              <a:t>and format.</a:t>
            </a:r>
          </a:p>
          <a:p>
            <a:r>
              <a:rPr lang="en-US" sz="2400" dirty="0"/>
              <a:t>As diverse the internet is, there is no “one size fits all” approach in extracting data from websites. Many a time ad hoc approaches are taken and if you start writing code for every little task you perform, you will eventually end up creating your own scraping framework. </a:t>
            </a:r>
            <a:r>
              <a:rPr lang="en-US" sz="2400" dirty="0" err="1"/>
              <a:t>Scrapy</a:t>
            </a:r>
            <a:r>
              <a:rPr lang="en-US" sz="2400" dirty="0"/>
              <a:t> is that framework.</a:t>
            </a:r>
          </a:p>
          <a:p>
            <a:r>
              <a:rPr lang="en-US" sz="2400" dirty="0"/>
              <a:t>With Scrapy you don’t need to reinvent the wheel.</a:t>
            </a:r>
          </a:p>
          <a:p>
            <a:endParaRPr lang="en-US" sz="2400" dirty="0"/>
          </a:p>
          <a:p>
            <a:r>
              <a:rPr lang="en-US" sz="2400" b="1" dirty="0"/>
              <a:t>2. Write your first Web Scraping code with </a:t>
            </a:r>
            <a:r>
              <a:rPr lang="en-US" sz="2400" b="1" dirty="0" err="1"/>
              <a:t>Scrapy</a:t>
            </a:r>
            <a:endParaRPr lang="en-US" sz="2400" b="1" dirty="0"/>
          </a:p>
          <a:p>
            <a:r>
              <a:rPr lang="en-US" sz="2400" dirty="0"/>
              <a:t>We will first quickly take a look at how to setup your system for web scraping and then see how we can build a simple web scraping system for extracting data from </a:t>
            </a:r>
            <a:r>
              <a:rPr lang="en-US" sz="2400" dirty="0" err="1"/>
              <a:t>Reddit</a:t>
            </a:r>
            <a:r>
              <a:rPr lang="en-US" sz="2400" dirty="0"/>
              <a:t> website.</a:t>
            </a:r>
          </a:p>
          <a:p>
            <a:endParaRPr lang="en-US" dirty="0"/>
          </a:p>
        </p:txBody>
      </p:sp>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21321897"/>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nodePh="1">
                                  <p:stCondLst>
                                    <p:cond delay="0"/>
                                  </p:stCondLst>
                                  <p:endCondLst>
                                    <p:cond evt="begin" delay="0">
                                      <p:tn val="5"/>
                                    </p:cond>
                                  </p:endCondLst>
                                  <p:childTnLst>
                                    <p:set>
                                      <p:cBhvr>
                                        <p:cTn id="6" dur="1" fill="hold">
                                          <p:stCondLst>
                                            <p:cond delay="0"/>
                                          </p:stCondLst>
                                        </p:cTn>
                                        <p:tgtEl>
                                          <p:spTgt spid="47113"/>
                                        </p:tgtEl>
                                        <p:attrNameLst>
                                          <p:attrName>style.visibility</p:attrName>
                                        </p:attrNameLst>
                                      </p:cBhvr>
                                      <p:to>
                                        <p:strVal val="visible"/>
                                      </p:to>
                                    </p:set>
                                    <p:animEffect transition="in" filter="circle(in)">
                                      <p:cBhvr>
                                        <p:cTn id="7" dur="2000"/>
                                        <p:tgtEl>
                                          <p:spTgt spid="47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3"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0597C7AF-39A8-4512-A845-465C8F05A299}" type="datetime1">
              <a:rPr lang="en-US" smtClean="0"/>
              <a:t>9/27/2024</a:t>
            </a:fld>
            <a:endParaRPr lang="en-US" dirty="0"/>
          </a:p>
        </p:txBody>
      </p:sp>
      <p:sp>
        <p:nvSpPr>
          <p:cNvPr id="5" name="Footer Placeholder 4"/>
          <p:cNvSpPr>
            <a:spLocks noGrp="1"/>
          </p:cNvSpPr>
          <p:nvPr>
            <p:ph type="ftr" sz="quarter" idx="11"/>
          </p:nvPr>
        </p:nvSpPr>
        <p:spPr>
          <a:xfrm>
            <a:off x="4038600" y="6356351"/>
            <a:ext cx="6629400" cy="365125"/>
          </a:xfrm>
        </p:spPr>
        <p:txBody>
          <a:bodyPr/>
          <a:lstStyle/>
          <a:p>
            <a:pPr>
              <a:defRPr/>
            </a:pPr>
            <a:r>
              <a:rPr lang="en-US"/>
              <a:t>Ritesh Kumar Singh                 Python web development with Django                           Unit I</a:t>
            </a:r>
            <a:endParaRPr lang="en-US" dirty="0"/>
          </a:p>
        </p:txBody>
      </p:sp>
      <p:sp>
        <p:nvSpPr>
          <p:cNvPr id="3686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8F280F8-4D8B-49C9-A50B-F0E8971E98DE}" type="slidenum">
              <a:rPr lang="en-US" altLang="en-US">
                <a:solidFill>
                  <a:srgbClr val="898989"/>
                </a:solidFill>
                <a:latin typeface="Calibri" panose="020F0502020204030204" pitchFamily="34" charset="0"/>
              </a:rPr>
              <a:pPr/>
              <a:t>25</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371600" y="0"/>
            <a:ext cx="108204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itchFamily="18" charset="0"/>
                <a:cs typeface="Times New Roman" pitchFamily="18" charset="0"/>
              </a:rPr>
              <a:t>Zappa</a:t>
            </a:r>
          </a:p>
        </p:txBody>
      </p:sp>
      <p:sp>
        <p:nvSpPr>
          <p:cNvPr id="36871"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49161" name="TextBox 10"/>
          <p:cNvSpPr txBox="1">
            <a:spLocks noChangeArrowheads="1"/>
          </p:cNvSpPr>
          <p:nvPr/>
        </p:nvSpPr>
        <p:spPr bwMode="auto">
          <a:xfrm>
            <a:off x="2438400" y="1554164"/>
            <a:ext cx="4114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r>
              <a:rPr lang="en-US" altLang="en-US" dirty="0"/>
            </a:br>
            <a:endParaRPr lang="en-US" altLang="en-US" dirty="0"/>
          </a:p>
        </p:txBody>
      </p:sp>
      <p:sp>
        <p:nvSpPr>
          <p:cNvPr id="49162" name="TextBox 11"/>
          <p:cNvSpPr txBox="1">
            <a:spLocks noChangeArrowheads="1"/>
          </p:cNvSpPr>
          <p:nvPr/>
        </p:nvSpPr>
        <p:spPr bwMode="auto">
          <a:xfrm>
            <a:off x="6781800" y="1295400"/>
            <a:ext cx="3581400"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r>
              <a:rPr lang="en-US" altLang="en-US" sz="2200" dirty="0">
                <a:latin typeface="Times New Roman" panose="02020603050405020304" pitchFamily="18" charset="0"/>
                <a:cs typeface="Times New Roman" panose="02020603050405020304" pitchFamily="18" charset="0"/>
              </a:rPr>
            </a:br>
            <a:endParaRPr lang="en-GB" altLang="en-US" sz="22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66564" name="Rectangle 4"/>
          <p:cNvSpPr>
            <a:spLocks noChangeArrowheads="1"/>
          </p:cNvSpPr>
          <p:nvPr/>
        </p:nvSpPr>
        <p:spPr bwMode="auto">
          <a:xfrm rot="10800000" flipV="1">
            <a:off x="1524000" y="858805"/>
            <a:ext cx="9144000" cy="5324535"/>
          </a:xfrm>
          <a:prstGeom prst="rect">
            <a:avLst/>
          </a:prstGeom>
          <a:solidFill>
            <a:schemeClr val="tx2">
              <a:lumMod val="40000"/>
              <a:lumOff val="60000"/>
            </a:schemeClr>
          </a:solidFill>
          <a:ln w="19050">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000" dirty="0">
                <a:ea typeface="Calibri" pitchFamily="34" charset="0"/>
                <a:cs typeface="Times New Roman" pitchFamily="18" charset="0"/>
              </a:rPr>
              <a:t>Zappa is a way to deploy serverless web apps on AWS Lambda.</a:t>
            </a:r>
            <a:endParaRPr lang="en-US" sz="2000" dirty="0">
              <a:cs typeface="Arial" pitchFamily="34" charset="0"/>
            </a:endParaRPr>
          </a:p>
          <a:p>
            <a:pPr eaLnBrk="0" fontAlgn="base" hangingPunct="0">
              <a:spcBef>
                <a:spcPct val="0"/>
              </a:spcBef>
              <a:spcAft>
                <a:spcPct val="0"/>
              </a:spcAft>
            </a:pPr>
            <a:r>
              <a:rPr lang="en-US" sz="2000" dirty="0">
                <a:ea typeface="Times New Roman" pitchFamily="18" charset="0"/>
                <a:cs typeface="Times New Roman" pitchFamily="18" charset="0"/>
              </a:rPr>
              <a:t>Zappa is </a:t>
            </a:r>
            <a:r>
              <a:rPr lang="en-US" sz="2000" b="1" dirty="0">
                <a:ea typeface="Times New Roman" pitchFamily="18" charset="0"/>
                <a:cs typeface="Times New Roman" pitchFamily="18" charset="0"/>
              </a:rPr>
              <a:t>a very powerful open source python project which lets you build, deploy and update your WSGI app hosted on AWS Lambda + API Gateway easily.</a:t>
            </a:r>
          </a:p>
          <a:p>
            <a:r>
              <a:rPr lang="en-US" sz="2000" u="sng" dirty="0">
                <a:hlinkClick r:id="rId3"/>
              </a:rPr>
              <a:t>Zappa</a:t>
            </a:r>
            <a:r>
              <a:rPr lang="en-US" sz="2000" dirty="0"/>
              <a:t> is a Python package that bundles up web apps written in Flask or </a:t>
            </a:r>
            <a:r>
              <a:rPr lang="en-US" sz="2000" dirty="0" err="1"/>
              <a:t>Django</a:t>
            </a:r>
            <a:r>
              <a:rPr lang="en-US" sz="2000" dirty="0"/>
              <a:t> and deploys them to AWS (Amazon Web Services) Lambda. </a:t>
            </a:r>
          </a:p>
          <a:p>
            <a:r>
              <a:rPr lang="en-US" sz="2000" dirty="0"/>
              <a:t>Lambda is Amazon's function as a service (</a:t>
            </a:r>
            <a:r>
              <a:rPr lang="en-US" sz="2000" dirty="0" err="1"/>
              <a:t>FaaS</a:t>
            </a:r>
            <a:r>
              <a:rPr lang="en-US" sz="2000" dirty="0"/>
              <a:t>) </a:t>
            </a:r>
            <a:r>
              <a:rPr lang="en-US" sz="2000" dirty="0" err="1"/>
              <a:t>platorm</a:t>
            </a:r>
            <a:r>
              <a:rPr lang="en-US" sz="2000" dirty="0"/>
              <a:t>. Why is Zappa so great? Because instead of deploying your Flask or Django web app on a cloud server, like an AWS EC2 instance or a Digital Ocean Droplet, you can deploy your app </a:t>
            </a:r>
            <a:r>
              <a:rPr lang="en-US" sz="2000" i="1" dirty="0"/>
              <a:t>serverless</a:t>
            </a:r>
            <a:r>
              <a:rPr lang="en-US" sz="2000" dirty="0"/>
              <a:t> as an AWS Lambda function.</a:t>
            </a:r>
          </a:p>
          <a:p>
            <a:endParaRPr lang="en-US" sz="2000" dirty="0"/>
          </a:p>
          <a:p>
            <a:r>
              <a:rPr lang="en-US" sz="2000" dirty="0"/>
              <a:t>This isn't really "serverless" (servers run AWS Lambda), but with an AWS Lambda function, you don't have to spin up servers, install packages, make sure security patches are up to date, and most of all: </a:t>
            </a:r>
            <a:r>
              <a:rPr lang="en-US" sz="2000" b="1" dirty="0"/>
              <a:t>you don't have to pay for server time that isn't used.</a:t>
            </a:r>
            <a:r>
              <a:rPr lang="en-US" sz="2000" dirty="0"/>
              <a:t> </a:t>
            </a:r>
          </a:p>
          <a:p>
            <a:r>
              <a:rPr lang="en-US" sz="2000" dirty="0"/>
              <a:t>A cloud server has to run all the time, whether or not someone visits your website. But an AWS Lambda function only runs when requested.</a:t>
            </a:r>
          </a:p>
          <a:p>
            <a:pPr eaLnBrk="0" fontAlgn="base" hangingPunct="0">
              <a:spcBef>
                <a:spcPct val="0"/>
              </a:spcBef>
              <a:spcAft>
                <a:spcPct val="0"/>
              </a:spcAft>
            </a:pPr>
            <a:endParaRPr lang="en-US" sz="2000" dirty="0">
              <a:cs typeface="Arial" pitchFamily="34" charset="0"/>
            </a:endParaRPr>
          </a:p>
        </p:txBody>
      </p:sp>
      <p:pic>
        <p:nvPicPr>
          <p:cNvPr id="10" name="Picture 9"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98958492"/>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9161"/>
                                        </p:tgtEl>
                                        <p:attrNameLst>
                                          <p:attrName>style.visibility</p:attrName>
                                        </p:attrNameLst>
                                      </p:cBhvr>
                                      <p:to>
                                        <p:strVal val="visible"/>
                                      </p:to>
                                    </p:set>
                                    <p:animEffect transition="in" filter="circle(in)">
                                      <p:cBhvr>
                                        <p:cTn id="7" dur="2000"/>
                                        <p:tgtEl>
                                          <p:spTgt spid="491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grpId="0" nodeType="clickEffect">
                                  <p:stCondLst>
                                    <p:cond delay="0"/>
                                  </p:stCondLst>
                                  <p:childTnLst>
                                    <p:set>
                                      <p:cBhvr>
                                        <p:cTn id="11" dur="1" fill="hold">
                                          <p:stCondLst>
                                            <p:cond delay="0"/>
                                          </p:stCondLst>
                                        </p:cTn>
                                        <p:tgtEl>
                                          <p:spTgt spid="49162"/>
                                        </p:tgtEl>
                                        <p:attrNameLst>
                                          <p:attrName>style.visibility</p:attrName>
                                        </p:attrNameLst>
                                      </p:cBhvr>
                                      <p:to>
                                        <p:strVal val="visible"/>
                                      </p:to>
                                    </p:set>
                                    <p:animEffect transition="in" filter="circle(in)">
                                      <p:cBhvr>
                                        <p:cTn id="12" dur="2000"/>
                                        <p:tgtEl>
                                          <p:spTgt spid="49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61" grpId="0"/>
      <p:bldP spid="4916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2"/>
          <p:cNvSpPr>
            <a:spLocks noGrp="1"/>
          </p:cNvSpPr>
          <p:nvPr>
            <p:ph idx="1"/>
          </p:nvPr>
        </p:nvSpPr>
        <p:spPr>
          <a:xfrm>
            <a:off x="1500051" y="1204913"/>
            <a:ext cx="10058400" cy="4800600"/>
          </a:xfrm>
          <a:solidFill>
            <a:schemeClr val="tx2">
              <a:lumMod val="40000"/>
              <a:lumOff val="60000"/>
            </a:schemeClr>
          </a:solidFill>
          <a:ln w="9525">
            <a:solidFill>
              <a:schemeClr val="tx1"/>
            </a:solidFill>
          </a:ln>
        </p:spPr>
        <p:txBody>
          <a:bodyPr>
            <a:normAutofit fontScale="77500" lnSpcReduction="20000"/>
          </a:bodyPr>
          <a:lstStyle/>
          <a:p>
            <a:pPr marL="571500" lvl="1" indent="0" algn="just">
              <a:spcBef>
                <a:spcPts val="363"/>
              </a:spcBef>
              <a:buClr>
                <a:srgbClr val="000000"/>
              </a:buClr>
              <a:buNone/>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r>
              <a:rPr lang="en-US" sz="3400" dirty="0"/>
              <a:t>Before we can deploy our web app on AWS Lambda with Zappa, first we need to install Zappa and a web framework to build our web app with. In this project, we are going to build a </a:t>
            </a:r>
            <a:r>
              <a:rPr lang="en-US" sz="3400" u="sng" dirty="0">
                <a:hlinkClick r:id="rId2"/>
              </a:rPr>
              <a:t>Flask</a:t>
            </a:r>
            <a:r>
              <a:rPr lang="en-US" sz="3400" dirty="0"/>
              <a:t> app, so Flask needs to be installed too. You can install both of these packages with </a:t>
            </a:r>
            <a:r>
              <a:rPr lang="en-US" sz="3400" b="1" dirty="0"/>
              <a:t>pip</a:t>
            </a:r>
            <a:r>
              <a:rPr lang="en-US" sz="3400" dirty="0"/>
              <a:t>, the Python package manager. </a:t>
            </a:r>
          </a:p>
          <a:p>
            <a:r>
              <a:rPr lang="en-US" sz="3400" dirty="0"/>
              <a:t>Using a terminal, create a project directory called </a:t>
            </a:r>
            <a:r>
              <a:rPr lang="en-US" sz="3400" dirty="0" err="1"/>
              <a:t>zappa_app</a:t>
            </a:r>
            <a:r>
              <a:rPr lang="en-US" sz="3400" dirty="0"/>
              <a:t> and </a:t>
            </a:r>
            <a:r>
              <a:rPr lang="en-US" sz="3400" dirty="0" err="1"/>
              <a:t>cd</a:t>
            </a:r>
            <a:r>
              <a:rPr lang="en-US" sz="3400" dirty="0"/>
              <a:t> into it. Create a virtual environment, activate it, and install Zappa and Flask.</a:t>
            </a:r>
          </a:p>
          <a:p>
            <a:r>
              <a:rPr lang="en-US" sz="3400" dirty="0" err="1"/>
              <a:t>mkdir</a:t>
            </a:r>
            <a:r>
              <a:rPr lang="en-US" sz="3400" dirty="0"/>
              <a:t> </a:t>
            </a:r>
            <a:r>
              <a:rPr lang="en-US" sz="3400" dirty="0" err="1"/>
              <a:t>zappa_appcd</a:t>
            </a:r>
            <a:r>
              <a:rPr lang="en-US" sz="3400" dirty="0"/>
              <a:t> </a:t>
            </a:r>
            <a:r>
              <a:rPr lang="en-US" sz="3400" dirty="0" err="1"/>
              <a:t>zappa_apppython</a:t>
            </a:r>
            <a:r>
              <a:rPr lang="en-US" sz="3400" dirty="0"/>
              <a:t> -m </a:t>
            </a:r>
            <a:r>
              <a:rPr lang="en-US" sz="3400" dirty="0" err="1"/>
              <a:t>venv</a:t>
            </a:r>
            <a:r>
              <a:rPr lang="en-US" sz="3400" dirty="0"/>
              <a:t> </a:t>
            </a:r>
            <a:r>
              <a:rPr lang="en-US" sz="3400" dirty="0" err="1"/>
              <a:t>venvsource</a:t>
            </a:r>
            <a:r>
              <a:rPr lang="en-US" sz="3400" dirty="0"/>
              <a:t> </a:t>
            </a:r>
            <a:r>
              <a:rPr lang="en-US" sz="3400" dirty="0" err="1"/>
              <a:t>venv</a:t>
            </a:r>
            <a:r>
              <a:rPr lang="en-US" sz="3400" dirty="0"/>
              <a:t>/bin/activate# on windows: </a:t>
            </a:r>
            <a:r>
              <a:rPr lang="en-US" sz="3400" dirty="0" err="1"/>
              <a:t>venv</a:t>
            </a:r>
            <a:r>
              <a:rPr lang="en-US" sz="3400" dirty="0"/>
              <a:t>\Scripts\</a:t>
            </a:r>
            <a:r>
              <a:rPr lang="en-US" sz="3400" dirty="0" err="1"/>
              <a:t>activatepip</a:t>
            </a:r>
            <a:r>
              <a:rPr lang="en-US" sz="3400" dirty="0"/>
              <a:t> install </a:t>
            </a:r>
            <a:r>
              <a:rPr lang="en-US" sz="3400" dirty="0" err="1"/>
              <a:t>flaskpip</a:t>
            </a:r>
            <a:r>
              <a:rPr lang="en-US" sz="3400" dirty="0"/>
              <a:t> install </a:t>
            </a:r>
            <a:r>
              <a:rPr lang="en-US" sz="3400" dirty="0" err="1"/>
              <a:t>zappa</a:t>
            </a:r>
            <a:r>
              <a:rPr lang="en-US" sz="3400" dirty="0"/>
              <a:t> You can verify the installation by calling two help commands at the terminal.</a:t>
            </a:r>
          </a:p>
          <a:p>
            <a:r>
              <a:rPr lang="en-US" sz="3400" dirty="0"/>
              <a:t>flask --</a:t>
            </a:r>
            <a:r>
              <a:rPr lang="en-US" sz="3400" dirty="0" err="1"/>
              <a:t>helpzappa</a:t>
            </a:r>
            <a:r>
              <a:rPr lang="en-US" sz="3400" dirty="0"/>
              <a:t> --help</a:t>
            </a:r>
            <a:endParaRPr lang="en-US" altLang="en-US" sz="3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447800" y="0"/>
            <a:ext cx="10744200" cy="9144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Install Zappa and Flask</a:t>
            </a:r>
          </a:p>
        </p:txBody>
      </p:sp>
      <p:sp>
        <p:nvSpPr>
          <p:cNvPr id="11269" name="Google Shape;150;p18"/>
          <p:cNvSpPr>
            <a:spLocks noGrp="1"/>
          </p:cNvSpPr>
          <p:nvPr>
            <p:ph type="dt" sz="quarter" idx="10"/>
          </p:nvPr>
        </p:nvSpPr>
        <p:spPr>
          <a:xfrm>
            <a:off x="1524000" y="6356351"/>
            <a:ext cx="2895600" cy="365125"/>
          </a:xfrm>
        </p:spPr>
        <p:txBody>
          <a:bodyPr/>
          <a:lstStyle/>
          <a:p>
            <a:pPr algn="ctr">
              <a:buFont typeface="Arial" pitchFamily="34" charset="0"/>
              <a:buNone/>
              <a:defRPr/>
            </a:pPr>
            <a:fld id="{C8307082-C9F2-4BEB-825F-309D1107E2C1}" type="datetime1">
              <a:rPr lang="en-US" smtClean="0"/>
              <a:t>9/27/2024</a:t>
            </a:fld>
            <a:endParaRPr lang="en-US" dirty="0"/>
          </a:p>
        </p:txBody>
      </p:sp>
      <p:sp>
        <p:nvSpPr>
          <p:cNvPr id="37894" name="Google Shape;151;p18"/>
          <p:cNvSpPr>
            <a:spLocks noGrp="1" noChangeArrowheads="1"/>
          </p:cNvSpPr>
          <p:nvPr>
            <p:ph type="sldNum" sz="quarter" idx="12"/>
          </p:nvPr>
        </p:nvSpPr>
        <p:spPr bwMode="auto">
          <a:xfrm>
            <a:off x="9296400" y="6372227"/>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037F6484-EB85-4A40-9977-7CB73A871C5A}" type="slidenum">
              <a:rPr lang="en-US" altLang="en-US">
                <a:solidFill>
                  <a:srgbClr val="898989"/>
                </a:solidFill>
                <a:latin typeface="Calibri" panose="020F0502020204030204" pitchFamily="34" charset="0"/>
              </a:rPr>
              <a:pPr algn="ctr">
                <a:buSzPts val="1400"/>
                <a:buFont typeface="Arial" panose="020B0604020202020204" pitchFamily="34" charset="0"/>
                <a:buNone/>
              </a:pPr>
              <a:t>26</a:t>
            </a:fld>
            <a:endParaRPr lang="en-US" altLang="en-US" dirty="0">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810000" y="6416676"/>
            <a:ext cx="5638800" cy="365125"/>
          </a:xfrm>
        </p:spPr>
        <p:txBody>
          <a:bodyPr/>
          <a:lstStyle/>
          <a:p>
            <a:pPr algn="r">
              <a:buFont typeface="Arial" pitchFamily="34" charset="0"/>
              <a:buNone/>
              <a:defRPr/>
            </a:pPr>
            <a:r>
              <a:rPr lang="en-US"/>
              <a:t>Ritesh Kumar Singh                 Python web development with Django                           Unit I</a:t>
            </a:r>
            <a:endParaRPr lang="en-US" dirty="0"/>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8602476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Content Placeholder 2"/>
          <p:cNvSpPr>
            <a:spLocks noGrp="1"/>
          </p:cNvSpPr>
          <p:nvPr>
            <p:ph idx="1"/>
          </p:nvPr>
        </p:nvSpPr>
        <p:spPr>
          <a:xfrm>
            <a:off x="1524000" y="1219201"/>
            <a:ext cx="9144000" cy="4648201"/>
          </a:xfrm>
        </p:spPr>
        <p:txBody>
          <a:bodyPr/>
          <a:lstStyle/>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3"/>
              </a:spcBef>
              <a:buClr>
                <a:srgbClr val="000000"/>
              </a:buClr>
              <a:buNone/>
            </a:pPr>
            <a:endPar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114300" indent="0" algn="just">
              <a:spcBef>
                <a:spcPts val="363"/>
              </a:spcBef>
              <a:buClr>
                <a:srgbClr val="000000"/>
              </a:buClr>
              <a:buNone/>
            </a:pPr>
            <a:r>
              <a:rPr lang="en-US" altLang="en-US" sz="2200"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rPr>
              <a:t>	</a:t>
            </a:r>
          </a:p>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371600" y="0"/>
            <a:ext cx="10820400" cy="8382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A Simple Flask App</a:t>
            </a:r>
          </a:p>
        </p:txBody>
      </p:sp>
      <p:sp>
        <p:nvSpPr>
          <p:cNvPr id="11269" name="Google Shape;150;p18"/>
          <p:cNvSpPr>
            <a:spLocks noGrp="1"/>
          </p:cNvSpPr>
          <p:nvPr>
            <p:ph type="dt" sz="quarter" idx="10"/>
          </p:nvPr>
        </p:nvSpPr>
        <p:spPr>
          <a:xfrm>
            <a:off x="1143000" y="6356351"/>
            <a:ext cx="2895600" cy="365125"/>
          </a:xfrm>
        </p:spPr>
        <p:txBody>
          <a:bodyPr/>
          <a:lstStyle/>
          <a:p>
            <a:pPr algn="ctr">
              <a:buFont typeface="Arial" pitchFamily="34" charset="0"/>
              <a:buNone/>
              <a:defRPr/>
            </a:pPr>
            <a:fld id="{E1DDDD2D-80C0-48FD-BFA4-0619C4ACDCCD}" type="datetime1">
              <a:rPr lang="en-US" smtClean="0"/>
              <a:t>9/27/2024</a:t>
            </a:fld>
            <a:endParaRPr lang="en-US" dirty="0"/>
          </a:p>
        </p:txBody>
      </p:sp>
      <p:sp>
        <p:nvSpPr>
          <p:cNvPr id="38918" name="Google Shape;151;p18"/>
          <p:cNvSpPr>
            <a:spLocks noGrp="1" noChangeArrowheads="1"/>
          </p:cNvSpPr>
          <p:nvPr>
            <p:ph type="sldNum" sz="quarter" idx="12"/>
          </p:nvPr>
        </p:nvSpPr>
        <p:spPr bwMode="auto">
          <a:xfrm>
            <a:off x="8416925" y="6403976"/>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C389F71A-DF51-4754-8E91-5D8E77B9BA8F}" type="slidenum">
              <a:rPr lang="en-US" altLang="en-US">
                <a:solidFill>
                  <a:srgbClr val="898989"/>
                </a:solidFill>
                <a:latin typeface="Calibri" panose="020F0502020204030204" pitchFamily="34" charset="0"/>
              </a:rPr>
              <a:pPr algn="ctr">
                <a:buSzPts val="1400"/>
                <a:buFont typeface="Arial" panose="020B0604020202020204" pitchFamily="34" charset="0"/>
                <a:buNone/>
              </a:pPr>
              <a:t>27</a:t>
            </a:fld>
            <a:endParaRPr lang="en-US" altLang="en-US">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886200" y="6416676"/>
            <a:ext cx="5638800" cy="365125"/>
          </a:xfrm>
        </p:spPr>
        <p:txBody>
          <a:bodyPr/>
          <a:lstStyle/>
          <a:p>
            <a:pPr algn="r">
              <a:buFont typeface="Arial" pitchFamily="34" charset="0"/>
              <a:buNone/>
              <a:defRPr/>
            </a:pPr>
            <a:r>
              <a:rPr lang="en-US"/>
              <a:t>Ritesh Kumar Singh                 Python web development with Django                           Unit I</a:t>
            </a:r>
            <a:endParaRPr lang="en-US" dirty="0"/>
          </a:p>
        </p:txBody>
      </p:sp>
      <p:sp>
        <p:nvSpPr>
          <p:cNvPr id="63489" name="Rectangle 1"/>
          <p:cNvSpPr>
            <a:spLocks noChangeArrowheads="1"/>
          </p:cNvSpPr>
          <p:nvPr/>
        </p:nvSpPr>
        <p:spPr bwMode="auto">
          <a:xfrm>
            <a:off x="1371600" y="1033047"/>
            <a:ext cx="10650583" cy="5262979"/>
          </a:xfrm>
          <a:prstGeom prst="rect">
            <a:avLst/>
          </a:prstGeom>
          <a:solidFill>
            <a:schemeClr val="tx2">
              <a:lumMod val="40000"/>
              <a:lumOff val="60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dirty="0">
                <a:ea typeface="Times New Roman" pitchFamily="18" charset="0"/>
                <a:cs typeface="Arial" pitchFamily="34" charset="0"/>
              </a:rPr>
              <a:t>Next, we'll build a simple web app with Flask. This web app is super small and basic, but it will give you an idea of how Zappa and AWS Lambda works.</a:t>
            </a:r>
          </a:p>
          <a:p>
            <a:pPr eaLnBrk="0" fontAlgn="base" hangingPunct="0">
              <a:spcBef>
                <a:spcPct val="0"/>
              </a:spcBef>
              <a:spcAft>
                <a:spcPct val="0"/>
              </a:spcAft>
            </a:pPr>
            <a:r>
              <a:rPr lang="en-US" sz="2400" dirty="0">
                <a:ea typeface="Times New Roman" pitchFamily="18" charset="0"/>
                <a:cs typeface="Arial" pitchFamily="34" charset="0"/>
              </a:rPr>
              <a:t>Create a file called </a:t>
            </a:r>
            <a:r>
              <a:rPr lang="en-US" sz="2400" dirty="0">
                <a:ea typeface="Times New Roman" pitchFamily="18" charset="0"/>
                <a:cs typeface="Courier New" pitchFamily="49" charset="0"/>
              </a:rPr>
              <a:t>app.py</a:t>
            </a:r>
            <a:r>
              <a:rPr lang="en-US" sz="2400" dirty="0">
                <a:ea typeface="Times New Roman" pitchFamily="18" charset="0"/>
                <a:cs typeface="Arial" pitchFamily="34" charset="0"/>
              </a:rPr>
              <a:t> in the main project directory </a:t>
            </a:r>
            <a:r>
              <a:rPr lang="en-US" sz="2400" dirty="0" err="1">
                <a:ea typeface="Times New Roman" pitchFamily="18" charset="0"/>
                <a:cs typeface="Courier New" pitchFamily="49" charset="0"/>
              </a:rPr>
              <a:t>zappa_app</a:t>
            </a:r>
            <a:r>
              <a:rPr lang="en-US" sz="2400" dirty="0">
                <a:ea typeface="Times New Roman" pitchFamily="18" charset="0"/>
                <a:cs typeface="Arial" pitchFamily="34" charset="0"/>
              </a:rPr>
              <a:t> we created earlier. Inside </a:t>
            </a:r>
            <a:r>
              <a:rPr lang="en-US" sz="2400" dirty="0">
                <a:ea typeface="Times New Roman" pitchFamily="18" charset="0"/>
                <a:cs typeface="Courier New" pitchFamily="49" charset="0"/>
              </a:rPr>
              <a:t>app.py</a:t>
            </a:r>
            <a:r>
              <a:rPr lang="en-US" sz="2400" dirty="0">
                <a:ea typeface="Times New Roman" pitchFamily="18" charset="0"/>
                <a:cs typeface="Arial" pitchFamily="34" charset="0"/>
              </a:rPr>
              <a:t>, paste the following code. This super simple Flask app creates one webpage that displays the text </a:t>
            </a:r>
            <a:r>
              <a:rPr lang="en-US" sz="2400" b="1" dirty="0">
                <a:ea typeface="Times New Roman" pitchFamily="18" charset="0"/>
                <a:cs typeface="Arial" pitchFamily="34" charset="0"/>
              </a:rPr>
              <a:t>Yeah, that is Zappa! Zappa! Zap! Zap!</a:t>
            </a:r>
            <a:r>
              <a:rPr lang="en-US" sz="2400" dirty="0">
                <a:ea typeface="Times New Roman" pitchFamily="18" charset="0"/>
                <a:cs typeface="Arial" pitchFamily="34" charset="0"/>
              </a:rPr>
              <a:t>. You can modify the text between the </a:t>
            </a:r>
            <a:r>
              <a:rPr lang="en-US" sz="2400" dirty="0">
                <a:ea typeface="Times New Roman" pitchFamily="18" charset="0"/>
                <a:cs typeface="Courier New" pitchFamily="49" charset="0"/>
              </a:rPr>
              <a:t>&lt;h1&gt; .... &lt;/h1&gt;</a:t>
            </a:r>
            <a:r>
              <a:rPr lang="en-US" sz="2400" dirty="0">
                <a:ea typeface="Times New Roman" pitchFamily="18" charset="0"/>
                <a:cs typeface="Arial" pitchFamily="34" charset="0"/>
              </a:rPr>
              <a:t> tags to include any message you want.</a:t>
            </a:r>
          </a:p>
          <a:p>
            <a:pPr eaLnBrk="0" fontAlgn="base" hangingPunct="0">
              <a:spcBef>
                <a:spcPct val="0"/>
              </a:spcBef>
              <a:spcAft>
                <a:spcPct val="0"/>
              </a:spcAft>
            </a:pPr>
            <a:r>
              <a:rPr lang="en-US" sz="2400" dirty="0">
                <a:ea typeface="Times New Roman" pitchFamily="18" charset="0"/>
                <a:cs typeface="Arial" pitchFamily="34" charset="0"/>
              </a:rPr>
              <a:t>Copy the code below into </a:t>
            </a:r>
            <a:r>
              <a:rPr lang="en-US" sz="2400" dirty="0">
                <a:ea typeface="Times New Roman" pitchFamily="18" charset="0"/>
                <a:cs typeface="Courier New" pitchFamily="49" charset="0"/>
              </a:rPr>
              <a:t>app.py</a:t>
            </a:r>
            <a:r>
              <a:rPr lang="en-US" sz="2400" dirty="0">
                <a:ea typeface="Times New Roman" pitchFamily="18" charset="0"/>
                <a:cs typeface="Arial" pitchFamily="34" charset="0"/>
              </a:rPr>
              <a:t>.</a:t>
            </a:r>
          </a:p>
          <a:p>
            <a:pPr lvl="0" eaLnBrk="0" fontAlgn="base" hangingPunct="0">
              <a:spcBef>
                <a:spcPct val="0"/>
              </a:spcBef>
              <a:spcAft>
                <a:spcPct val="0"/>
              </a:spcAft>
            </a:pPr>
            <a:r>
              <a:rPr lang="en-US" sz="2400" dirty="0"/>
              <a:t># app.py </a:t>
            </a:r>
          </a:p>
          <a:p>
            <a:pPr lvl="0" eaLnBrk="0" fontAlgn="base" hangingPunct="0">
              <a:spcBef>
                <a:spcPct val="0"/>
              </a:spcBef>
              <a:spcAft>
                <a:spcPct val="0"/>
              </a:spcAft>
            </a:pPr>
            <a:r>
              <a:rPr lang="en-US" sz="2400" dirty="0"/>
              <a:t>from flask import Flask</a:t>
            </a:r>
          </a:p>
          <a:p>
            <a:pPr lvl="0" eaLnBrk="0" fontAlgn="base" hangingPunct="0">
              <a:spcBef>
                <a:spcPct val="0"/>
              </a:spcBef>
              <a:spcAft>
                <a:spcPct val="0"/>
              </a:spcAft>
            </a:pPr>
            <a:r>
              <a:rPr lang="en-US" sz="2400" dirty="0"/>
              <a:t>app = Flask(__name__) </a:t>
            </a:r>
          </a:p>
          <a:p>
            <a:pPr lvl="0" eaLnBrk="0" fontAlgn="base" hangingPunct="0">
              <a:spcBef>
                <a:spcPct val="0"/>
              </a:spcBef>
              <a:spcAft>
                <a:spcPct val="0"/>
              </a:spcAft>
            </a:pPr>
            <a:r>
              <a:rPr lang="en-US" sz="2400" dirty="0"/>
              <a:t>@</a:t>
            </a:r>
            <a:r>
              <a:rPr lang="en-US" sz="2400" dirty="0" err="1"/>
              <a:t>app.route</a:t>
            </a:r>
            <a:r>
              <a:rPr lang="en-US" sz="2400" dirty="0"/>
              <a:t>('/')</a:t>
            </a:r>
          </a:p>
          <a:p>
            <a:pPr lvl="0" eaLnBrk="0" fontAlgn="base" hangingPunct="0">
              <a:spcBef>
                <a:spcPct val="0"/>
              </a:spcBef>
              <a:spcAft>
                <a:spcPct val="0"/>
              </a:spcAft>
            </a:pPr>
            <a:r>
              <a:rPr lang="en-US" sz="2400" dirty="0"/>
              <a:t>def hello_world(): </a:t>
            </a:r>
          </a:p>
          <a:p>
            <a:pPr lvl="0" eaLnBrk="0" fontAlgn="base" hangingPunct="0">
              <a:spcBef>
                <a:spcPct val="0"/>
              </a:spcBef>
              <a:spcAft>
                <a:spcPct val="0"/>
              </a:spcAft>
            </a:pPr>
            <a:r>
              <a:rPr lang="en-US" sz="2400" dirty="0"/>
              <a:t>return '&lt;h1&gt;Yeah, that is Zappa! Zappa! Zap! Zap!&lt;/h1&gt;' # We only need this for local </a:t>
            </a:r>
            <a:r>
              <a:rPr lang="en-US" sz="2400" dirty="0" err="1"/>
              <a:t>development.if</a:t>
            </a:r>
            <a:r>
              <a:rPr lang="en-US" sz="2400" dirty="0"/>
              <a:t> __name__ == '__main__': </a:t>
            </a:r>
            <a:r>
              <a:rPr lang="en-US" sz="2400" dirty="0" err="1"/>
              <a:t>app.run</a:t>
            </a:r>
            <a:r>
              <a:rPr lang="en-US" sz="2400" dirty="0"/>
              <a:t>()</a:t>
            </a:r>
            <a:endParaRPr lang="en-US" sz="2400" dirty="0">
              <a:cs typeface="Arial" pitchFamily="34" charset="0"/>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8549413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2226">
                                            <p:txEl>
                                              <p:pRg st="2" end="2"/>
                                            </p:txEl>
                                          </p:spTgt>
                                        </p:tgtEl>
                                        <p:attrNameLst>
                                          <p:attrName>style.visibility</p:attrName>
                                        </p:attrNameLst>
                                      </p:cBhvr>
                                      <p:to>
                                        <p:strVal val="visible"/>
                                      </p:to>
                                    </p:set>
                                    <p:anim calcmode="lin" valueType="num">
                                      <p:cBhvr additive="base">
                                        <p:cTn id="12" dur="500" fill="hold"/>
                                        <p:tgtEl>
                                          <p:spTgt spid="52226">
                                            <p:txEl>
                                              <p:pRg st="2" end="2"/>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222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P spid="7"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CA2DCF1-D33E-4A93-A866-4E02782930FD}" type="datetime1">
              <a:rPr lang="en-US" smtClean="0"/>
              <a:t>9/27/2024</a:t>
            </a:fld>
            <a:endParaRPr lang="en-US" dirty="0"/>
          </a:p>
        </p:txBody>
      </p:sp>
      <p:sp>
        <p:nvSpPr>
          <p:cNvPr id="5" name="Footer Placeholder 4"/>
          <p:cNvSpPr>
            <a:spLocks noGrp="1"/>
          </p:cNvSpPr>
          <p:nvPr>
            <p:ph type="ftr" sz="quarter" idx="11"/>
          </p:nvPr>
        </p:nvSpPr>
        <p:spPr>
          <a:xfrm>
            <a:off x="4038600" y="6356351"/>
            <a:ext cx="7162800" cy="365125"/>
          </a:xfrm>
        </p:spPr>
        <p:txBody>
          <a:bodyPr/>
          <a:lstStyle/>
          <a:p>
            <a:pPr>
              <a:defRPr/>
            </a:pPr>
            <a:r>
              <a:rPr lang="en-US"/>
              <a:t>Ritesh Kumar Singh                 Python web development with Django                           Unit I</a:t>
            </a:r>
            <a:endParaRPr lang="en-US" dirty="0"/>
          </a:p>
        </p:txBody>
      </p:sp>
      <p:sp>
        <p:nvSpPr>
          <p:cNvPr id="3994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133CD90-DBD5-4B38-A654-AEC75AB3D450}" type="slidenum">
              <a:rPr lang="en-US" altLang="en-US">
                <a:solidFill>
                  <a:srgbClr val="898989"/>
                </a:solidFill>
                <a:latin typeface="Calibri" panose="020F0502020204030204" pitchFamily="34" charset="0"/>
              </a:rPr>
              <a:pPr/>
              <a:t>28</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6343"/>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latin typeface="Times New Roman" pitchFamily="18" charset="0"/>
                <a:cs typeface="Times New Roman" pitchFamily="18" charset="0"/>
              </a:rPr>
              <a:t>Zappa (continue….)</a:t>
            </a:r>
          </a:p>
        </p:txBody>
      </p:sp>
      <p:sp>
        <p:nvSpPr>
          <p:cNvPr id="3994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9" name="Picture 8" descr="C:\Users\mam\Desktop\flask_run_locally.png"/>
          <p:cNvPicPr/>
          <p:nvPr/>
        </p:nvPicPr>
        <p:blipFill>
          <a:blip r:embed="rId3"/>
          <a:srcRect/>
          <a:stretch>
            <a:fillRect/>
          </a:stretch>
        </p:blipFill>
        <p:spPr bwMode="auto">
          <a:xfrm>
            <a:off x="2133600" y="1371600"/>
            <a:ext cx="8153400" cy="3962400"/>
          </a:xfrm>
          <a:prstGeom prst="rect">
            <a:avLst/>
          </a:prstGeom>
          <a:noFill/>
          <a:ln w="9525">
            <a:noFill/>
            <a:miter lim="800000"/>
            <a:headEnd/>
            <a:tailEnd/>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37601719"/>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82F61C6-792B-4063-BF10-2CBD296E7E1F}" type="datetime1">
              <a:rPr lang="en-US" smtClean="0"/>
              <a:t>9/27/2024</a:t>
            </a:fld>
            <a:endParaRPr lang="en-US" dirty="0"/>
          </a:p>
        </p:txBody>
      </p:sp>
      <p:sp>
        <p:nvSpPr>
          <p:cNvPr id="5" name="Footer Placeholder 4"/>
          <p:cNvSpPr>
            <a:spLocks noGrp="1"/>
          </p:cNvSpPr>
          <p:nvPr>
            <p:ph type="ftr" sz="quarter" idx="11"/>
          </p:nvPr>
        </p:nvSpPr>
        <p:spPr>
          <a:xfrm>
            <a:off x="4724400" y="6356345"/>
            <a:ext cx="6477000" cy="365125"/>
          </a:xfrm>
        </p:spPr>
        <p:txBody>
          <a:bodyPr/>
          <a:lstStyle/>
          <a:p>
            <a:pPr>
              <a:defRPr/>
            </a:pPr>
            <a:r>
              <a:rPr lang="en-US"/>
              <a:t>Ritesh Kumar Singh                 Python web development with Django                           Unit I</a:t>
            </a:r>
            <a:endParaRPr lang="en-US" dirty="0"/>
          </a:p>
        </p:txBody>
      </p:sp>
      <p:sp>
        <p:nvSpPr>
          <p:cNvPr id="4096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77F57FD3-8265-44C4-A84C-2B710E804F31}" type="slidenum">
              <a:rPr lang="en-US" altLang="en-US">
                <a:solidFill>
                  <a:srgbClr val="898989"/>
                </a:solidFill>
                <a:latin typeface="Calibri" panose="020F0502020204030204" pitchFamily="34" charset="0"/>
              </a:rPr>
              <a:pPr/>
              <a:t>29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2400" dirty="0">
              <a:latin typeface="Times New Roman" pitchFamily="18" charset="0"/>
              <a:cs typeface="Times New Roman" pitchFamily="18" charset="0"/>
            </a:endParaRPr>
          </a:p>
        </p:txBody>
      </p:sp>
      <p:sp>
        <p:nvSpPr>
          <p:cNvPr id="4096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60417" name="Rectangle 1"/>
          <p:cNvSpPr>
            <a:spLocks noChangeArrowheads="1"/>
          </p:cNvSpPr>
          <p:nvPr/>
        </p:nvSpPr>
        <p:spPr bwMode="auto">
          <a:xfrm>
            <a:off x="2971800" y="90847"/>
            <a:ext cx="76962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b="1" dirty="0">
                <a:latin typeface="Calibri" pitchFamily="34" charset="0"/>
                <a:ea typeface="Times New Roman" pitchFamily="18" charset="0"/>
                <a:cs typeface="Times New Roman" pitchFamily="18" charset="0"/>
              </a:rPr>
              <a:t>                          </a:t>
            </a:r>
            <a:r>
              <a:rPr lang="en-US" sz="3200" dirty="0">
                <a:latin typeface="Calibri" pitchFamily="34" charset="0"/>
                <a:ea typeface="Times New Roman" pitchFamily="18" charset="0"/>
                <a:cs typeface="Times New Roman" pitchFamily="18" charset="0"/>
              </a:rPr>
              <a:t>Dash Framework</a:t>
            </a:r>
            <a:endParaRPr lang="en-US" sz="2400" dirty="0">
              <a:latin typeface="Arial" pitchFamily="34" charset="0"/>
              <a:cs typeface="Arial" pitchFamily="34" charset="0"/>
            </a:endParaRPr>
          </a:p>
        </p:txBody>
      </p:sp>
      <p:sp>
        <p:nvSpPr>
          <p:cNvPr id="11" name="Rectangle 10"/>
          <p:cNvSpPr/>
          <p:nvPr/>
        </p:nvSpPr>
        <p:spPr>
          <a:xfrm>
            <a:off x="1485900" y="981916"/>
            <a:ext cx="10134600" cy="5078313"/>
          </a:xfrm>
          <a:prstGeom prst="rect">
            <a:avLst/>
          </a:prstGeom>
          <a:solidFill>
            <a:schemeClr val="tx2">
              <a:lumMod val="40000"/>
              <a:lumOff val="60000"/>
            </a:schemeClr>
          </a:solidFill>
          <a:ln w="9525">
            <a:solidFill>
              <a:schemeClr val="tx1"/>
            </a:solidFill>
          </a:ln>
        </p:spPr>
        <p:txBody>
          <a:bodyPr wrap="square">
            <a:spAutoFit/>
          </a:bodyPr>
          <a:lstStyle/>
          <a:p>
            <a:pPr>
              <a:buFont typeface="Wingdings" pitchFamily="2" charset="2"/>
              <a:buChar char="§"/>
            </a:pPr>
            <a:r>
              <a:rPr lang="en-US" sz="2000" dirty="0"/>
              <a:t>Dash is an open-source Python framework used for building analytical web applications. It is a powerful library that simplifies the development of data-driven applications. It’s especially useful for Python data scientists who aren’t very familiar with web development. Users can create amazing dashboards in their browser using dash.</a:t>
            </a:r>
          </a:p>
          <a:p>
            <a:pPr>
              <a:buFont typeface="Wingdings" pitchFamily="2" charset="2"/>
              <a:buChar char="§"/>
            </a:pPr>
            <a:r>
              <a:rPr lang="en-US" sz="2000" dirty="0"/>
              <a:t>Built on top of Plotly.js, React, and Flask, Dash ties modern UI elements like dropdowns, sliders and graphs directly to your analytical python code.</a:t>
            </a:r>
          </a:p>
          <a:p>
            <a:pPr>
              <a:buFont typeface="Wingdings" pitchFamily="2" charset="2"/>
              <a:buChar char="§"/>
            </a:pPr>
            <a:r>
              <a:rPr lang="en-US" sz="2000" dirty="0"/>
              <a:t>Dash apps consist of a Flask server that communicates with front-end React components using JSON packets over HTTP requests.</a:t>
            </a:r>
          </a:p>
          <a:p>
            <a:pPr>
              <a:buFont typeface="Wingdings" pitchFamily="2" charset="2"/>
              <a:buChar char="§"/>
            </a:pPr>
            <a:r>
              <a:rPr lang="en-US" sz="2000" dirty="0"/>
              <a:t>Dash applications are written purely in python, so NO HTML or JavaScript is necessary.</a:t>
            </a:r>
          </a:p>
          <a:p>
            <a:pPr>
              <a:buFont typeface="Wingdings" pitchFamily="2" charset="2"/>
              <a:buChar char="§"/>
            </a:pPr>
            <a:endParaRPr lang="en-US" sz="2000" dirty="0"/>
          </a:p>
          <a:p>
            <a:r>
              <a:rPr lang="en-US" sz="2400" b="1" dirty="0"/>
              <a:t>Dash Setup</a:t>
            </a:r>
          </a:p>
          <a:p>
            <a:r>
              <a:rPr lang="en-US" sz="2000" dirty="0"/>
              <a:t>If Dash is not already installed in your terminal, then install the below mentioned Dash libraries. As these libraries are under active development, install and upgrade then frequently. Python 2 and 3 are also supported.</a:t>
            </a:r>
          </a:p>
          <a:p>
            <a:pPr lvl="0"/>
            <a:r>
              <a:rPr lang="en-US" sz="2000" dirty="0"/>
              <a:t>pip install dash==0.23.1 # The core dash backend</a:t>
            </a:r>
          </a:p>
          <a:p>
            <a:pPr lvl="0"/>
            <a:r>
              <a:rPr lang="en-US" sz="2000" dirty="0"/>
              <a:t>pip install dash-renderer==0.13.0 # The dash front-end</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189380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D053E196-1814-4AA8-9D64-E39DAE3AECB0}" type="datetime1">
              <a:rPr lang="en-US" smtClean="0"/>
              <a:t>9/27/2024</a:t>
            </a:fld>
            <a:endParaRPr lang="en-US" dirty="0"/>
          </a:p>
        </p:txBody>
      </p:sp>
      <p:sp>
        <p:nvSpPr>
          <p:cNvPr id="5" name="Footer Placeholder 4"/>
          <p:cNvSpPr>
            <a:spLocks noGrp="1"/>
          </p:cNvSpPr>
          <p:nvPr>
            <p:ph type="ftr" sz="quarter" idx="11"/>
          </p:nvPr>
        </p:nvSpPr>
        <p:spPr>
          <a:xfrm>
            <a:off x="4038600" y="6356351"/>
            <a:ext cx="6934200" cy="365125"/>
          </a:xfrm>
        </p:spPr>
        <p:txBody>
          <a:bodyPr/>
          <a:lstStyle/>
          <a:p>
            <a:pPr>
              <a:defRPr/>
            </a:pPr>
            <a:r>
              <a:rPr lang="en-US"/>
              <a:t>Ritesh Kumar Singh                 Python web development with Django                           Unit I</a:t>
            </a:r>
            <a:endParaRPr lang="en-US" dirty="0"/>
          </a:p>
        </p:txBody>
      </p:sp>
      <p:sp>
        <p:nvSpPr>
          <p:cNvPr id="4198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02A8EFE-9B03-44A4-B830-A269C783EF82}" type="slidenum">
              <a:rPr lang="en-US" altLang="en-US">
                <a:solidFill>
                  <a:srgbClr val="898989"/>
                </a:solidFill>
                <a:latin typeface="Calibri" panose="020F0502020204030204" pitchFamily="34" charset="0"/>
              </a:rPr>
              <a:pPr/>
              <a:t>30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Dash Setup(continue….)</a:t>
            </a:r>
          </a:p>
        </p:txBody>
      </p:sp>
      <p:sp>
        <p:nvSpPr>
          <p:cNvPr id="41991"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57353" name="TextBox 9"/>
          <p:cNvSpPr txBox="1">
            <a:spLocks noChangeArrowheads="1"/>
          </p:cNvSpPr>
          <p:nvPr/>
        </p:nvSpPr>
        <p:spPr bwMode="auto">
          <a:xfrm>
            <a:off x="3429000" y="1673225"/>
            <a:ext cx="6629400" cy="10464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sz="2200" dirty="0">
              <a:latin typeface="Times New Roman" panose="02020603050405020304" pitchFamily="18" charset="0"/>
              <a:cs typeface="Times New Roman" panose="02020603050405020304" pitchFamily="18" charset="0"/>
            </a:endParaRPr>
          </a:p>
          <a:p>
            <a:pPr eaLnBrk="1" hangingPunct="1"/>
            <a:endParaRPr lang="en-US" altLang="en-US" dirty="0"/>
          </a:p>
        </p:txBody>
      </p:sp>
      <p:sp>
        <p:nvSpPr>
          <p:cNvPr id="10" name="Rectangle 9"/>
          <p:cNvSpPr/>
          <p:nvPr/>
        </p:nvSpPr>
        <p:spPr>
          <a:xfrm>
            <a:off x="1486989" y="933275"/>
            <a:ext cx="10363200" cy="5232202"/>
          </a:xfrm>
          <a:prstGeom prst="rect">
            <a:avLst/>
          </a:prstGeom>
          <a:solidFill>
            <a:schemeClr val="tx2">
              <a:lumMod val="40000"/>
              <a:lumOff val="60000"/>
            </a:schemeClr>
          </a:solidFill>
          <a:ln w="9525">
            <a:solidFill>
              <a:schemeClr val="tx1"/>
            </a:solidFill>
          </a:ln>
        </p:spPr>
        <p:txBody>
          <a:bodyPr wrap="square">
            <a:spAutoFit/>
          </a:bodyPr>
          <a:lstStyle/>
          <a:p>
            <a:r>
              <a:rPr lang="en-US" sz="2800" b="1" dirty="0"/>
              <a:t>Dash or App Layout</a:t>
            </a:r>
          </a:p>
          <a:p>
            <a:r>
              <a:rPr lang="en-US" sz="2400" dirty="0"/>
              <a:t>Dash apps are composed of two parts. The first part is the “layout” of the app which basically describes how the application looks like. The second part describes the interactivity of the application.</a:t>
            </a:r>
          </a:p>
          <a:p>
            <a:r>
              <a:rPr lang="en-US" sz="2400" b="1" dirty="0"/>
              <a:t>Core Components</a:t>
            </a:r>
          </a:p>
          <a:p>
            <a:r>
              <a:rPr lang="en-US" sz="2400" dirty="0"/>
              <a:t>We can build the layout with the </a:t>
            </a:r>
            <a:r>
              <a:rPr lang="en-US" sz="2400" b="1" dirty="0" err="1"/>
              <a:t>dash_html_components</a:t>
            </a:r>
            <a:r>
              <a:rPr lang="en-US" sz="2400" dirty="0"/>
              <a:t> and the </a:t>
            </a:r>
            <a:r>
              <a:rPr lang="en-US" sz="2400" b="1" dirty="0" err="1"/>
              <a:t>dash_core_components</a:t>
            </a:r>
            <a:r>
              <a:rPr lang="en-US" sz="2400" dirty="0"/>
              <a:t> library. Dash provides python classes for all the visual components of the application. We can also customize our own components with JavaScript and React.js.</a:t>
            </a:r>
          </a:p>
          <a:p>
            <a:r>
              <a:rPr lang="en-US" sz="2400" dirty="0"/>
              <a:t>import </a:t>
            </a:r>
            <a:r>
              <a:rPr lang="en-US" sz="2400" dirty="0" err="1"/>
              <a:t>dash_core_components</a:t>
            </a:r>
            <a:r>
              <a:rPr lang="en-US" sz="2400" dirty="0"/>
              <a:t> as </a:t>
            </a:r>
            <a:r>
              <a:rPr lang="en-US" sz="2400" dirty="0" err="1"/>
              <a:t>dcc</a:t>
            </a:r>
            <a:endParaRPr lang="en-US" sz="2400" dirty="0"/>
          </a:p>
          <a:p>
            <a:r>
              <a:rPr lang="en-US" sz="2400" dirty="0"/>
              <a:t>import </a:t>
            </a:r>
            <a:r>
              <a:rPr lang="en-US" sz="2400" dirty="0" err="1"/>
              <a:t>dash_html_components</a:t>
            </a:r>
            <a:r>
              <a:rPr lang="en-US" sz="2400" dirty="0"/>
              <a:t> as html</a:t>
            </a:r>
          </a:p>
          <a:p>
            <a:r>
              <a:rPr lang="en-US" sz="2400" dirty="0"/>
              <a:t>The </a:t>
            </a:r>
            <a:r>
              <a:rPr lang="en-US" sz="2400" dirty="0" err="1"/>
              <a:t>dash_html_components</a:t>
            </a:r>
            <a:r>
              <a:rPr lang="en-US" sz="2400" dirty="0"/>
              <a:t> is for all HTML tags where the </a:t>
            </a:r>
            <a:r>
              <a:rPr lang="en-US" sz="2400" dirty="0" err="1"/>
              <a:t>dash_core_components</a:t>
            </a:r>
            <a:r>
              <a:rPr lang="en-US" sz="2400" dirty="0"/>
              <a:t> is for interactivity built with React.js.</a:t>
            </a:r>
          </a:p>
          <a:p>
            <a:endParaRPr lang="en-US" dirty="0"/>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8219539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57353"/>
                                        </p:tgtEl>
                                        <p:attrNameLst>
                                          <p:attrName>style.visibility</p:attrName>
                                        </p:attrNameLst>
                                      </p:cBhvr>
                                      <p:to>
                                        <p:strVal val="visible"/>
                                      </p:to>
                                    </p:set>
                                    <p:anim calcmode="lin" valueType="num">
                                      <p:cBhvr additive="base">
                                        <p:cTn id="12" dur="500" fill="hold"/>
                                        <p:tgtEl>
                                          <p:spTgt spid="57353"/>
                                        </p:tgtEl>
                                        <p:attrNameLst>
                                          <p:attrName>ppt_x</p:attrName>
                                        </p:attrNameLst>
                                      </p:cBhvr>
                                      <p:tavLst>
                                        <p:tav tm="0">
                                          <p:val>
                                            <p:strVal val="#ppt_x"/>
                                          </p:val>
                                        </p:tav>
                                        <p:tav tm="100000">
                                          <p:val>
                                            <p:strVal val="#ppt_x"/>
                                          </p:val>
                                        </p:tav>
                                      </p:tavLst>
                                    </p:anim>
                                    <p:anim calcmode="lin" valueType="num">
                                      <p:cBhvr additive="base">
                                        <p:cTn id="13" dur="500" fill="hold"/>
                                        <p:tgtEl>
                                          <p:spTgt spid="573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5735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15DD7EC-9FB3-44A2-9468-46537D8A92FC}" type="datetime1">
              <a:rPr lang="en-US" smtClean="0"/>
              <a:t>9/27/2024</a:t>
            </a:fld>
            <a:endParaRPr lang="en-US" dirty="0"/>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Python web development with Django                           Unit I</a:t>
            </a:r>
            <a:endParaRPr lang="en-US" dirty="0"/>
          </a:p>
        </p:txBody>
      </p:sp>
      <p:sp>
        <p:nvSpPr>
          <p:cNvPr id="4301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23EF2D-7FB0-40F4-ADE8-ACD574C8065A}" type="slidenum">
              <a:rPr lang="en-US" altLang="en-US">
                <a:solidFill>
                  <a:srgbClr val="898989"/>
                </a:solidFill>
                <a:latin typeface="Calibri" panose="020F0502020204030204" pitchFamily="34" charset="0"/>
              </a:rPr>
              <a:pPr/>
              <a:t>31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Dash or App Layout(continue…)</a:t>
            </a:r>
          </a:p>
        </p:txBody>
      </p:sp>
      <p:sp>
        <p:nvSpPr>
          <p:cNvPr id="43015"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56321" name="Rectangle 1"/>
          <p:cNvSpPr>
            <a:spLocks noChangeArrowheads="1"/>
          </p:cNvSpPr>
          <p:nvPr/>
        </p:nvSpPr>
        <p:spPr bwMode="auto">
          <a:xfrm>
            <a:off x="1352550" y="990600"/>
            <a:ext cx="10401300" cy="4678204"/>
          </a:xfrm>
          <a:prstGeom prst="rect">
            <a:avLst/>
          </a:prstGeom>
          <a:solidFill>
            <a:schemeClr val="tx2">
              <a:lumMod val="40000"/>
              <a:lumOff val="60000"/>
            </a:schemeClr>
          </a:solidFill>
          <a:ln w="1270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endParaRPr lang="en-US" sz="2000" dirty="0">
              <a:latin typeface="Arial Unicode MS" pitchFamily="34" charset="-128"/>
              <a:ea typeface="Times New Roman" pitchFamily="18" charset="0"/>
              <a:cs typeface="Courier New" pitchFamily="49" charset="0"/>
            </a:endParaRPr>
          </a:p>
          <a:p>
            <a:pPr eaLnBrk="0" fontAlgn="base" hangingPunct="0">
              <a:spcBef>
                <a:spcPct val="0"/>
              </a:spcBef>
              <a:spcAft>
                <a:spcPct val="0"/>
              </a:spcAft>
            </a:pPr>
            <a:r>
              <a:rPr lang="en-US" sz="2400" b="1" dirty="0"/>
              <a:t>Writing Simple Dash app</a:t>
            </a:r>
          </a:p>
          <a:p>
            <a:r>
              <a:rPr lang="en-US" sz="2400" dirty="0"/>
              <a:t>We will learn how to write a simple example on dash using above mentioned library in a file </a:t>
            </a:r>
            <a:r>
              <a:rPr lang="en-US" sz="2400" b="1" dirty="0"/>
              <a:t>dashApp.py</a:t>
            </a:r>
            <a:r>
              <a:rPr lang="en-US" sz="2400" dirty="0"/>
              <a:t>.</a:t>
            </a:r>
          </a:p>
          <a:p>
            <a:r>
              <a:rPr lang="en-US" sz="2400" dirty="0"/>
              <a:t># -*- coding: utf-8 -*-import </a:t>
            </a:r>
            <a:r>
              <a:rPr lang="en-US" sz="2400" dirty="0" err="1"/>
              <a:t>dashimport</a:t>
            </a:r>
            <a:r>
              <a:rPr lang="en-US" sz="2400" dirty="0"/>
              <a:t> </a:t>
            </a:r>
            <a:r>
              <a:rPr lang="en-US" sz="2400" dirty="0" err="1"/>
              <a:t>dash_core_components</a:t>
            </a:r>
            <a:r>
              <a:rPr lang="en-US" sz="2400" dirty="0"/>
              <a:t> as </a:t>
            </a:r>
            <a:r>
              <a:rPr lang="en-US" sz="2400" dirty="0" err="1"/>
              <a:t>dccimport</a:t>
            </a:r>
            <a:r>
              <a:rPr lang="en-US" sz="2400" dirty="0"/>
              <a:t> </a:t>
            </a:r>
            <a:r>
              <a:rPr lang="en-US" sz="2400" dirty="0" err="1"/>
              <a:t>dash_html_components</a:t>
            </a:r>
            <a:r>
              <a:rPr lang="en-US" sz="2400" dirty="0"/>
              <a:t> as html app = </a:t>
            </a:r>
            <a:r>
              <a:rPr lang="en-US" sz="2400" dirty="0" err="1"/>
              <a:t>dash.Dash</a:t>
            </a:r>
            <a:r>
              <a:rPr lang="en-US" sz="2400" dirty="0"/>
              <a:t>()</a:t>
            </a:r>
            <a:r>
              <a:rPr lang="en-US" sz="2400" dirty="0" err="1"/>
              <a:t>app.layout</a:t>
            </a:r>
            <a:r>
              <a:rPr lang="en-US" sz="2400" dirty="0"/>
              <a:t> = </a:t>
            </a:r>
            <a:r>
              <a:rPr lang="en-US" sz="2400" dirty="0" err="1"/>
              <a:t>html.Div</a:t>
            </a:r>
            <a:r>
              <a:rPr lang="en-US" sz="2400" dirty="0"/>
              <a:t>(children=[   html.H1(children='Hello Dash'),   </a:t>
            </a:r>
            <a:r>
              <a:rPr lang="en-US" sz="2400" dirty="0" err="1"/>
              <a:t>html.Div</a:t>
            </a:r>
            <a:r>
              <a:rPr lang="en-US" sz="2400" dirty="0"/>
              <a:t>(children='''Dash Framework: A web application framework for Python.'''),	   </a:t>
            </a:r>
            <a:r>
              <a:rPr lang="en-US" sz="2400" dirty="0" err="1"/>
              <a:t>dcc.Graph</a:t>
            </a:r>
            <a:r>
              <a:rPr lang="en-US" sz="2400" dirty="0"/>
              <a:t>(      id='example-graph',      figure={         'data': [            {'x': [1, 2, 3], 'y': [4, 1, 2], 'type': 'bar', 'name': 'Delhi'},            {'x': [1, 2, 3], 'y': [2, 4, 5], 'type': 'bar', 'name': </a:t>
            </a:r>
            <a:r>
              <a:rPr lang="en-US" sz="2400" dirty="0" err="1"/>
              <a:t>u'Mumbai</a:t>
            </a:r>
            <a:r>
              <a:rPr lang="en-US" sz="2400" dirty="0"/>
              <a:t>'},         ],         'layout': {            'title': 'Dash Data Visualization'         }      }   )]) if __name__ == '__main__':   </a:t>
            </a:r>
            <a:r>
              <a:rPr lang="en-US" sz="2400" dirty="0" err="1"/>
              <a:t>app.run_server</a:t>
            </a:r>
            <a:r>
              <a:rPr lang="en-US" sz="2400" dirty="0"/>
              <a:t>(debug=True)</a:t>
            </a:r>
            <a:endParaRPr lang="en-US" sz="2400" dirty="0">
              <a:latin typeface="Arial" pitchFamily="34" charset="0"/>
              <a:cs typeface="Arial" pitchFamily="34" charset="0"/>
            </a:endParaRPr>
          </a:p>
          <a:p>
            <a:pPr eaLnBrk="0" fontAlgn="base" hangingPunct="0">
              <a:spcBef>
                <a:spcPct val="0"/>
              </a:spcBef>
              <a:spcAft>
                <a:spcPct val="0"/>
              </a:spcAft>
            </a:pPr>
            <a:endParaRPr lang="en-US" sz="2000" dirty="0">
              <a:latin typeface="Arial" pitchFamily="34" charset="0"/>
              <a:cs typeface="Arial" pitchFamily="34" charset="0"/>
            </a:endParaRP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3850204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3D595807-56FA-460B-AC82-8312E13FFB14}" type="datetime1">
              <a:rPr lang="en-US" smtClean="0"/>
              <a:t>9/27/2024</a:t>
            </a:fld>
            <a:endParaRPr lang="en-US" dirty="0"/>
          </a:p>
        </p:txBody>
      </p:sp>
      <p:sp>
        <p:nvSpPr>
          <p:cNvPr id="5" name="Footer Placeholder 4"/>
          <p:cNvSpPr>
            <a:spLocks noGrp="1"/>
          </p:cNvSpPr>
          <p:nvPr>
            <p:ph type="ftr" sz="quarter" idx="11"/>
          </p:nvPr>
        </p:nvSpPr>
        <p:spPr>
          <a:xfrm>
            <a:off x="4038600" y="6356351"/>
            <a:ext cx="6705600" cy="365125"/>
          </a:xfrm>
        </p:spPr>
        <p:txBody>
          <a:bodyPr/>
          <a:lstStyle/>
          <a:p>
            <a:pPr>
              <a:defRPr/>
            </a:pPr>
            <a:r>
              <a:rPr lang="en-US"/>
              <a:t>Ritesh Kumar Singh                 Python web development with Django                           Unit I</a:t>
            </a:r>
            <a:endParaRPr lang="en-US" dirty="0"/>
          </a:p>
        </p:txBody>
      </p:sp>
      <p:sp>
        <p:nvSpPr>
          <p:cNvPr id="4403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C97866-AA4D-424E-B787-7144EB803BD8}" type="slidenum">
              <a:rPr lang="en-US" altLang="en-US">
                <a:solidFill>
                  <a:srgbClr val="898989"/>
                </a:solidFill>
                <a:latin typeface="Calibri" panose="020F0502020204030204" pitchFamily="34" charset="0"/>
              </a:rPr>
              <a:pPr/>
              <a:t>32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2400" b="1" dirty="0"/>
              <a:t>                                          </a:t>
            </a:r>
            <a:r>
              <a:rPr lang="en-US" sz="3200" dirty="0"/>
              <a:t>Dash or App Layout(continue…)</a:t>
            </a:r>
          </a:p>
        </p:txBody>
      </p:sp>
      <p:sp>
        <p:nvSpPr>
          <p:cNvPr id="44039"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10" name="Rectangle 9"/>
          <p:cNvSpPr/>
          <p:nvPr/>
        </p:nvSpPr>
        <p:spPr>
          <a:xfrm>
            <a:off x="304800" y="794802"/>
            <a:ext cx="11658600" cy="5324535"/>
          </a:xfrm>
          <a:prstGeom prst="rect">
            <a:avLst/>
          </a:prstGeom>
          <a:solidFill>
            <a:schemeClr val="tx2">
              <a:lumMod val="40000"/>
              <a:lumOff val="60000"/>
            </a:schemeClr>
          </a:solidFill>
          <a:ln w="12700">
            <a:solidFill>
              <a:schemeClr val="tx1"/>
            </a:solidFill>
          </a:ln>
        </p:spPr>
        <p:txBody>
          <a:bodyPr wrap="square">
            <a:spAutoFit/>
          </a:bodyPr>
          <a:lstStyle/>
          <a:p>
            <a:pPr eaLnBrk="0" fontAlgn="base" hangingPunct="0">
              <a:spcBef>
                <a:spcPct val="0"/>
              </a:spcBef>
              <a:spcAft>
                <a:spcPct val="0"/>
              </a:spcAft>
            </a:pPr>
            <a:r>
              <a:rPr lang="en-US" sz="2800" b="1" dirty="0"/>
              <a:t>Writing Simple Dash app</a:t>
            </a:r>
          </a:p>
          <a:p>
            <a:r>
              <a:rPr lang="en-US" sz="2400" dirty="0"/>
              <a:t>We will learn how to write a simple example on dash using above mentioned library in a file </a:t>
            </a:r>
            <a:r>
              <a:rPr lang="en-US" sz="2400" b="1" dirty="0"/>
              <a:t>dashApp.py</a:t>
            </a:r>
            <a:endParaRPr lang="en-US" sz="2400" dirty="0"/>
          </a:p>
          <a:p>
            <a:r>
              <a:rPr lang="en-US" sz="2400" dirty="0"/>
              <a:t>-import dash</a:t>
            </a:r>
          </a:p>
          <a:p>
            <a:r>
              <a:rPr lang="en-US" sz="2400" dirty="0"/>
              <a:t>import </a:t>
            </a:r>
            <a:r>
              <a:rPr lang="en-US" sz="2400" dirty="0" err="1"/>
              <a:t>dash_core_components</a:t>
            </a:r>
            <a:r>
              <a:rPr lang="en-US" sz="2400" dirty="0"/>
              <a:t> as </a:t>
            </a:r>
            <a:r>
              <a:rPr lang="en-US" sz="2400" dirty="0" err="1"/>
              <a:t>dcc</a:t>
            </a:r>
            <a:endParaRPr lang="en-US" sz="2400" dirty="0"/>
          </a:p>
          <a:p>
            <a:r>
              <a:rPr lang="en-US" sz="2400" dirty="0"/>
              <a:t>import </a:t>
            </a:r>
            <a:r>
              <a:rPr lang="en-US" sz="2400" dirty="0" err="1"/>
              <a:t>dash_html_components</a:t>
            </a:r>
            <a:r>
              <a:rPr lang="en-US" sz="2400" dirty="0"/>
              <a:t> as html</a:t>
            </a:r>
          </a:p>
          <a:p>
            <a:r>
              <a:rPr lang="en-US" sz="2400" dirty="0"/>
              <a:t> app = </a:t>
            </a:r>
            <a:r>
              <a:rPr lang="en-US" sz="2400" dirty="0" err="1"/>
              <a:t>dash.Dash</a:t>
            </a:r>
            <a:r>
              <a:rPr lang="en-US" sz="2400" dirty="0"/>
              <a:t>()</a:t>
            </a:r>
          </a:p>
          <a:p>
            <a:r>
              <a:rPr lang="en-US" sz="2400" dirty="0" err="1"/>
              <a:t>app.layout</a:t>
            </a:r>
            <a:r>
              <a:rPr lang="en-US" sz="2400" dirty="0"/>
              <a:t> = </a:t>
            </a:r>
            <a:r>
              <a:rPr lang="en-US" sz="2400" dirty="0" err="1"/>
              <a:t>html.Div</a:t>
            </a:r>
            <a:r>
              <a:rPr lang="en-US" sz="2400" dirty="0"/>
              <a:t>(children=[   html.H1(children='Hello Dash'),   </a:t>
            </a:r>
            <a:r>
              <a:rPr lang="en-US" sz="2400" dirty="0" err="1"/>
              <a:t>html.Div</a:t>
            </a:r>
            <a:r>
              <a:rPr lang="en-US" sz="2400" dirty="0"/>
              <a:t>(children='''Dash Framework: A web application framework for Python.'''),	   </a:t>
            </a:r>
            <a:r>
              <a:rPr lang="en-US" sz="2400" dirty="0" err="1"/>
              <a:t>dcc.Graph</a:t>
            </a:r>
            <a:r>
              <a:rPr lang="en-US" sz="2400" dirty="0"/>
              <a:t>(      id='example-graph',    </a:t>
            </a:r>
          </a:p>
          <a:p>
            <a:r>
              <a:rPr lang="en-US" sz="2400" dirty="0"/>
              <a:t>  figure={         'data': [            {'x': [1, 2, 3], 'y': [4, 1, 2], 'type': 'bar', 'name': 'Delhi'},            {'x': [1, 2, 3], 'y': [2, 4, 5], 'type': 'bar', 'name': </a:t>
            </a:r>
            <a:r>
              <a:rPr lang="en-US" sz="2400" dirty="0" err="1"/>
              <a:t>u'Mumbai</a:t>
            </a:r>
            <a:r>
              <a:rPr lang="en-US" sz="2400" dirty="0"/>
              <a:t>'},         ],         'layout': {            'title': 'Dash Data Visualization'         }      }   )])</a:t>
            </a:r>
          </a:p>
          <a:p>
            <a:r>
              <a:rPr lang="en-US" sz="2400" dirty="0"/>
              <a:t> if __name__ == '__main__':  </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21342682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4D910F39-0955-493C-986B-5B6062DA17B9}" type="datetime1">
              <a:rPr lang="en-US" smtClean="0"/>
              <a:t>9/27/2024</a:t>
            </a:fld>
            <a:endParaRPr lang="en-US" dirty="0"/>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Python web development with Django                           Unit I</a:t>
            </a:r>
            <a:endParaRPr lang="en-US" dirty="0"/>
          </a:p>
        </p:txBody>
      </p:sp>
      <p:sp>
        <p:nvSpPr>
          <p:cNvPr id="4506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888BF16-5BCD-4125-861B-E91975B42FBC}" type="slidenum">
              <a:rPr lang="en-US" altLang="en-US">
                <a:solidFill>
                  <a:srgbClr val="898989"/>
                </a:solidFill>
                <a:latin typeface="Calibri" panose="020F0502020204030204" pitchFamily="34" charset="0"/>
              </a:rPr>
              <a:pPr/>
              <a:t>33</a:t>
            </a:fld>
            <a:endParaRPr lang="en-US" altLang="en-US" dirty="0">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Running the Dash app</a:t>
            </a:r>
          </a:p>
        </p:txBody>
      </p:sp>
      <p:sp>
        <p:nvSpPr>
          <p:cNvPr id="45063"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52225" name="Rectangle 1"/>
          <p:cNvSpPr>
            <a:spLocks noChangeArrowheads="1"/>
          </p:cNvSpPr>
          <p:nvPr/>
        </p:nvSpPr>
        <p:spPr bwMode="auto">
          <a:xfrm>
            <a:off x="1524000" y="958335"/>
            <a:ext cx="10515600" cy="4708981"/>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tabLst>
                <a:tab pos="457200" algn="l"/>
              </a:tabLst>
            </a:pPr>
            <a:r>
              <a:rPr lang="en-US" sz="2400" dirty="0">
                <a:ea typeface="Times New Roman" pitchFamily="18" charset="0"/>
                <a:cs typeface="Arial" pitchFamily="34" charset="0"/>
              </a:rPr>
              <a:t>Note the following points while running the Dash app.</a:t>
            </a:r>
          </a:p>
          <a:p>
            <a:pPr eaLnBrk="0" fontAlgn="base" hangingPunct="0">
              <a:spcBef>
                <a:spcPct val="0"/>
              </a:spcBef>
              <a:spcAft>
                <a:spcPct val="0"/>
              </a:spcAft>
              <a:tabLst>
                <a:tab pos="457200" algn="l"/>
              </a:tabLst>
            </a:pPr>
            <a:r>
              <a:rPr lang="en-US" sz="2400" dirty="0">
                <a:ea typeface="Times New Roman" pitchFamily="18" charset="0"/>
                <a:cs typeface="Arial" pitchFamily="34" charset="0"/>
              </a:rPr>
              <a:t>(</a:t>
            </a:r>
            <a:r>
              <a:rPr lang="en-US" sz="2400" dirty="0" err="1">
                <a:ea typeface="Times New Roman" pitchFamily="18" charset="0"/>
                <a:cs typeface="Arial" pitchFamily="34" charset="0"/>
              </a:rPr>
              <a:t>MyDjangoEnv</a:t>
            </a:r>
            <a:r>
              <a:rPr lang="en-US" sz="2400" dirty="0">
                <a:ea typeface="Times New Roman" pitchFamily="18" charset="0"/>
                <a:cs typeface="Arial" pitchFamily="34" charset="0"/>
              </a:rPr>
              <a:t>) C:\Users\rajesh\Desktop\MyDjango\dash&gt;python dashApp1.py</a:t>
            </a:r>
          </a:p>
          <a:p>
            <a:pPr eaLnBrk="0" fontAlgn="base" hangingPunct="0">
              <a:spcBef>
                <a:spcPct val="0"/>
              </a:spcBef>
              <a:spcAft>
                <a:spcPct val="0"/>
              </a:spcAft>
              <a:tabLst>
                <a:tab pos="457200" algn="l"/>
              </a:tabLst>
            </a:pPr>
            <a:endParaRPr lang="en-US" sz="2400" dirty="0">
              <a:ea typeface="Times New Roman" pitchFamily="18" charset="0"/>
              <a:cs typeface="Arial" pitchFamily="34" charset="0"/>
            </a:endParaRP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Serving Flask app "dashApp1" (lazy loading)</a:t>
            </a: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Environment: production</a:t>
            </a:r>
          </a:p>
          <a:p>
            <a:pPr eaLnBrk="0" fontAlgn="base" hangingPunct="0">
              <a:spcBef>
                <a:spcPct val="0"/>
              </a:spcBef>
              <a:spcAft>
                <a:spcPct val="0"/>
              </a:spcAft>
              <a:tabLst>
                <a:tab pos="457200" algn="l"/>
              </a:tabLst>
            </a:pPr>
            <a:r>
              <a:rPr lang="en-US" sz="2400" dirty="0">
                <a:ea typeface="Times New Roman" pitchFamily="18" charset="0"/>
                <a:cs typeface="Arial" pitchFamily="34" charset="0"/>
              </a:rPr>
              <a:t>WARNING: Do not use the development server in a production environment.</a:t>
            </a:r>
          </a:p>
          <a:p>
            <a:pPr eaLnBrk="0" fontAlgn="base" hangingPunct="0">
              <a:spcBef>
                <a:spcPct val="0"/>
              </a:spcBef>
              <a:spcAft>
                <a:spcPct val="0"/>
              </a:spcAft>
              <a:tabLst>
                <a:tab pos="457200" algn="l"/>
              </a:tabLst>
            </a:pPr>
            <a:r>
              <a:rPr lang="en-US" sz="2400" dirty="0">
                <a:ea typeface="Times New Roman" pitchFamily="18" charset="0"/>
                <a:cs typeface="Arial" pitchFamily="34" charset="0"/>
              </a:rPr>
              <a:t>Use a production WSGI server instead.</a:t>
            </a: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Debug mode: on</a:t>
            </a: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Restarting with stat</a:t>
            </a: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Debugger is active!</a:t>
            </a: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Debugger PIN: 130-303-947</a:t>
            </a: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Running on </a:t>
            </a:r>
            <a:r>
              <a:rPr lang="en-US" sz="2400" b="1" dirty="0">
                <a:ea typeface="Times New Roman" pitchFamily="18" charset="0"/>
                <a:cs typeface="Arial" pitchFamily="34" charset="0"/>
              </a:rPr>
              <a:t>http://127.0.0.1:8050/</a:t>
            </a:r>
            <a:r>
              <a:rPr lang="en-US" sz="2400" dirty="0">
                <a:ea typeface="Times New Roman" pitchFamily="18" charset="0"/>
                <a:cs typeface="Arial" pitchFamily="34" charset="0"/>
              </a:rPr>
              <a:t> (Press CTRL+C to quit)</a:t>
            </a:r>
            <a:endParaRPr lang="en-US" sz="2400" dirty="0">
              <a:ea typeface="Times New Roman" pitchFamily="18" charset="0"/>
              <a:cs typeface="Courier New" pitchFamily="49" charset="0"/>
            </a:endParaRPr>
          </a:p>
          <a:p>
            <a:pPr eaLnBrk="0" fontAlgn="base" hangingPunct="0">
              <a:spcBef>
                <a:spcPct val="0"/>
              </a:spcBef>
              <a:spcAft>
                <a:spcPct val="0"/>
              </a:spcAft>
              <a:tabLst>
                <a:tab pos="457200" algn="l"/>
              </a:tabLst>
            </a:pPr>
            <a:endParaRPr lang="en-US" dirty="0">
              <a:latin typeface="Arial" pitchFamily="34" charset="0"/>
              <a:cs typeface="Arial" pitchFamily="34" charset="0"/>
            </a:endParaRP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90241399"/>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D969B75-2F3C-4FC7-8AE0-A4D6B884A261}" type="datetime1">
              <a:rPr lang="en-US" smtClean="0"/>
              <a:t>9/27/2024</a:t>
            </a:fld>
            <a:endParaRPr lang="en-US"/>
          </a:p>
        </p:txBody>
      </p:sp>
      <p:sp>
        <p:nvSpPr>
          <p:cNvPr id="5" name="Footer Placeholder 4"/>
          <p:cNvSpPr>
            <a:spLocks noGrp="1"/>
          </p:cNvSpPr>
          <p:nvPr>
            <p:ph type="ftr" sz="quarter" idx="11"/>
          </p:nvPr>
        </p:nvSpPr>
        <p:spPr>
          <a:xfrm>
            <a:off x="4038600" y="6356351"/>
            <a:ext cx="6705600" cy="365125"/>
          </a:xfrm>
        </p:spPr>
        <p:txBody>
          <a:bodyPr/>
          <a:lstStyle/>
          <a:p>
            <a:pPr>
              <a:defRPr/>
            </a:pPr>
            <a:r>
              <a:rPr lang="en-US"/>
              <a:t>Ritesh Kumar Singh                 Python web development with Django                           Unit I</a:t>
            </a:r>
            <a:endParaRPr lang="en-US" dirty="0"/>
          </a:p>
        </p:txBody>
      </p:sp>
      <p:sp>
        <p:nvSpPr>
          <p:cNvPr id="4608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54B495-0C19-45A4-96F7-F68FDEBE8FA2}" type="slidenum">
              <a:rPr lang="en-US" altLang="en-US">
                <a:solidFill>
                  <a:srgbClr val="898989"/>
                </a:solidFill>
                <a:latin typeface="Calibri" panose="020F0502020204030204" pitchFamily="34" charset="0"/>
              </a:rPr>
              <a:pPr/>
              <a:t>34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r>
              <a:rPr lang="en-US" sz="3200" dirty="0"/>
              <a:t>                                        Running the Dash app</a:t>
            </a:r>
          </a:p>
        </p:txBody>
      </p:sp>
      <p:sp>
        <p:nvSpPr>
          <p:cNvPr id="4608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pic>
        <p:nvPicPr>
          <p:cNvPr id="10" name="Picture 9" descr="C:\Users\mam\Desktop\hello_dash.jpg"/>
          <p:cNvPicPr/>
          <p:nvPr/>
        </p:nvPicPr>
        <p:blipFill>
          <a:blip r:embed="rId3"/>
          <a:srcRect/>
          <a:stretch>
            <a:fillRect/>
          </a:stretch>
        </p:blipFill>
        <p:spPr bwMode="auto">
          <a:xfrm>
            <a:off x="1447800" y="1219200"/>
            <a:ext cx="8915400" cy="4419600"/>
          </a:xfrm>
          <a:prstGeom prst="rect">
            <a:avLst/>
          </a:prstGeom>
          <a:noFill/>
          <a:ln w="9525">
            <a:noFill/>
            <a:miter lim="800000"/>
            <a:headEnd/>
            <a:tailEnd/>
          </a:ln>
        </p:spPr>
      </p:pic>
      <p:pic>
        <p:nvPicPr>
          <p:cNvPr id="8" name="Picture 7"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04112198"/>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177800" y="6247658"/>
            <a:ext cx="2844800" cy="365125"/>
          </a:xfrm>
        </p:spPr>
        <p:txBody>
          <a:bodyPr/>
          <a:lstStyle/>
          <a:p>
            <a:fld id="{E514CC8A-F86E-4B5F-A5DA-9CA5796C54FE}" type="datetime1">
              <a:rPr lang="en-US" smtClean="0"/>
              <a:t>9/27/2024</a:t>
            </a:fld>
            <a:endParaRPr lang="en-US" dirty="0"/>
          </a:p>
        </p:txBody>
      </p:sp>
      <p:sp>
        <p:nvSpPr>
          <p:cNvPr id="5" name="Footer Placeholder 4"/>
          <p:cNvSpPr>
            <a:spLocks noGrp="1"/>
          </p:cNvSpPr>
          <p:nvPr>
            <p:ph type="ftr" sz="quarter" idx="11"/>
          </p:nvPr>
        </p:nvSpPr>
        <p:spPr>
          <a:xfrm>
            <a:off x="4165600" y="6356357"/>
            <a:ext cx="6807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noGrp="1"/>
          </p:cNvSpPr>
          <p:nvPr>
            <p:ph type="title"/>
          </p:nvPr>
        </p:nvSpPr>
        <p:spPr>
          <a:xfrm>
            <a:off x="1524000" y="17417"/>
            <a:ext cx="106680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normAutofit/>
          </a:bodyPr>
          <a:lstStyle/>
          <a:p>
            <a:r>
              <a:rPr lang="en-US" sz="3200" dirty="0"/>
              <a:t>Running the Dash app</a:t>
            </a:r>
          </a:p>
        </p:txBody>
      </p:sp>
      <p:sp>
        <p:nvSpPr>
          <p:cNvPr id="9" name="Content Placeholder 8"/>
          <p:cNvSpPr>
            <a:spLocks noGrp="1"/>
          </p:cNvSpPr>
          <p:nvPr>
            <p:ph idx="1"/>
          </p:nvPr>
        </p:nvSpPr>
        <p:spPr>
          <a:xfrm>
            <a:off x="1676400" y="990600"/>
            <a:ext cx="10210800" cy="4697314"/>
          </a:xfrm>
          <a:solidFill>
            <a:schemeClr val="tx2">
              <a:lumMod val="40000"/>
              <a:lumOff val="60000"/>
            </a:schemeClr>
          </a:solidFill>
          <a:ln w="19050">
            <a:solidFill>
              <a:schemeClr val="tx1"/>
            </a:solidFill>
          </a:ln>
        </p:spPr>
        <p:txBody>
          <a:bodyPr>
            <a:noAutofit/>
          </a:bodyPr>
          <a:lstStyle/>
          <a:p>
            <a:r>
              <a:rPr lang="en-US" sz="2400" dirty="0"/>
              <a:t>In above program, few important points to be noted are as follows −</a:t>
            </a:r>
          </a:p>
          <a:p>
            <a:pPr lvl="0"/>
            <a:r>
              <a:rPr lang="en-US" sz="2400" dirty="0"/>
              <a:t>The app layout is composed of a tree of “components” like </a:t>
            </a:r>
            <a:r>
              <a:rPr lang="en-US" sz="2400" dirty="0" err="1"/>
              <a:t>html.Div</a:t>
            </a:r>
            <a:r>
              <a:rPr lang="en-US" sz="2400" dirty="0"/>
              <a:t> and </a:t>
            </a:r>
            <a:r>
              <a:rPr lang="en-US" sz="2400" dirty="0" err="1"/>
              <a:t>dcc.Graph</a:t>
            </a:r>
            <a:r>
              <a:rPr lang="en-US" sz="2400" dirty="0"/>
              <a:t>.</a:t>
            </a:r>
          </a:p>
          <a:p>
            <a:pPr lvl="0"/>
            <a:r>
              <a:rPr lang="en-US" sz="2400" dirty="0"/>
              <a:t>The </a:t>
            </a:r>
            <a:r>
              <a:rPr lang="en-US" sz="2400" dirty="0" err="1"/>
              <a:t>dash_html_components</a:t>
            </a:r>
            <a:r>
              <a:rPr lang="en-US" sz="2400" dirty="0"/>
              <a:t> library has a component for every HTML tag. The html.H1 (children = ‘Hello Dash’) component generates a &lt;h1&gt; Hello Dash &lt;/h1&gt; HTML element in your application.</a:t>
            </a:r>
          </a:p>
          <a:p>
            <a:pPr lvl="0"/>
            <a:r>
              <a:rPr lang="en-US" sz="2400" dirty="0"/>
              <a:t>Not all components are pure HTML. The </a:t>
            </a:r>
            <a:r>
              <a:rPr lang="en-US" sz="2400" dirty="0" err="1"/>
              <a:t>dash_core_components</a:t>
            </a:r>
            <a:r>
              <a:rPr lang="en-US" sz="2400" dirty="0"/>
              <a:t> describe higher-level components that are interactive and are generated with JavaScript, HTML, and CSS through the React.js library.</a:t>
            </a:r>
          </a:p>
          <a:p>
            <a:pPr lvl="0"/>
            <a:r>
              <a:rPr lang="en-US" sz="2400" dirty="0"/>
              <a:t>Each component is described entirely through keyword attributes. Dash is declarative: you will primarily describe your application through these attributes.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6470386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1EE052DD-6C92-4C55-B2C7-E6F4AC46D8C3}" type="datetime1">
              <a:rPr lang="en-US" smtClean="0"/>
              <a:t>9/27/2024</a:t>
            </a:fld>
            <a:endParaRPr lang="en-US" dirty="0"/>
          </a:p>
        </p:txBody>
      </p:sp>
      <p:sp>
        <p:nvSpPr>
          <p:cNvPr id="5" name="Footer Placeholder 4"/>
          <p:cNvSpPr>
            <a:spLocks noGrp="1"/>
          </p:cNvSpPr>
          <p:nvPr>
            <p:ph type="ftr" sz="quarter" idx="11"/>
          </p:nvPr>
        </p:nvSpPr>
        <p:spPr>
          <a:xfrm>
            <a:off x="4038600" y="6356351"/>
            <a:ext cx="6781800" cy="365125"/>
          </a:xfrm>
        </p:spPr>
        <p:txBody>
          <a:bodyPr/>
          <a:lstStyle/>
          <a:p>
            <a:pPr>
              <a:defRPr/>
            </a:pPr>
            <a:r>
              <a:rPr lang="en-US"/>
              <a:t>Ritesh Kumar Singh                 Python web development with Django                           Unit I</a:t>
            </a:r>
            <a:endParaRPr lang="en-US" dirty="0"/>
          </a:p>
        </p:txBody>
      </p:sp>
      <p:sp>
        <p:nvSpPr>
          <p:cNvPr id="4915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BCC852A-FC70-4700-8BA2-9DF617CC0245}" type="slidenum">
              <a:rPr lang="en-US" altLang="en-US">
                <a:solidFill>
                  <a:srgbClr val="898989"/>
                </a:solidFill>
                <a:latin typeface="Calibri" panose="020F0502020204030204" pitchFamily="34" charset="0"/>
              </a:rPr>
              <a:pPr/>
              <a:t>36</a:t>
            </a:fld>
            <a:endParaRPr lang="en-US" altLang="en-US" dirty="0">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CherryPy</a:t>
            </a:r>
            <a:r>
              <a:rPr lang="en-US" sz="2400" b="1" dirty="0"/>
              <a:t> </a:t>
            </a:r>
            <a:endParaRPr lang="en-US" sz="2400" dirty="0">
              <a:latin typeface="Times New Roman" pitchFamily="18" charset="0"/>
              <a:cs typeface="Times New Roman" pitchFamily="18" charset="0"/>
            </a:endParaRPr>
          </a:p>
        </p:txBody>
      </p:sp>
      <p:sp>
        <p:nvSpPr>
          <p:cNvPr id="49159"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1688" name="TextBox 9"/>
          <p:cNvSpPr txBox="1">
            <a:spLocks noChangeArrowheads="1"/>
          </p:cNvSpPr>
          <p:nvPr/>
        </p:nvSpPr>
        <p:spPr bwMode="auto">
          <a:xfrm>
            <a:off x="2286000" y="1066801"/>
            <a:ext cx="594360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endParaRPr lang="en-US" altLang="en-US" sz="2000"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a:p>
            <a:pPr algn="just" eaLnBrk="1" hangingPunct="1"/>
            <a:endParaRPr lang="en-US" altLang="en-US" sz="2400" b="1" dirty="0">
              <a:latin typeface="Times New Roman" panose="02020603050405020304" pitchFamily="18" charset="0"/>
              <a:cs typeface="Times New Roman" panose="02020603050405020304" pitchFamily="18" charset="0"/>
            </a:endParaRPr>
          </a:p>
          <a:p>
            <a:pPr lvl="3"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p:txBody>
      </p:sp>
      <p:sp>
        <p:nvSpPr>
          <p:cNvPr id="10" name="Rectangle 9"/>
          <p:cNvSpPr/>
          <p:nvPr/>
        </p:nvSpPr>
        <p:spPr>
          <a:xfrm>
            <a:off x="1524000" y="914400"/>
            <a:ext cx="10439400" cy="5262979"/>
          </a:xfrm>
          <a:prstGeom prst="rect">
            <a:avLst/>
          </a:prstGeom>
          <a:solidFill>
            <a:schemeClr val="tx2">
              <a:lumMod val="40000"/>
              <a:lumOff val="60000"/>
            </a:schemeClr>
          </a:solidFill>
          <a:ln w="6350">
            <a:solidFill>
              <a:schemeClr val="tx1"/>
            </a:solidFill>
          </a:ln>
        </p:spPr>
        <p:txBody>
          <a:bodyPr wrap="square">
            <a:spAutoFit/>
          </a:bodyPr>
          <a:lstStyle/>
          <a:p>
            <a:pPr marL="342900" indent="-342900">
              <a:buFont typeface="Arial" panose="020B0604020202020204" pitchFamily="34" charset="0"/>
              <a:buChar char="•"/>
            </a:pPr>
            <a:r>
              <a:rPr lang="en-US" sz="2400" dirty="0"/>
              <a:t>CherryPy allows developers to build web applications in much the same way they would build any other object-oriented Python program. </a:t>
            </a:r>
          </a:p>
          <a:p>
            <a:endParaRPr lang="en-US" sz="2400" dirty="0"/>
          </a:p>
          <a:p>
            <a:pPr marL="342900" indent="-342900">
              <a:buFont typeface="Arial" panose="020B0604020202020204" pitchFamily="34" charset="0"/>
              <a:buChar char="•"/>
            </a:pPr>
            <a:r>
              <a:rPr lang="en-US" sz="2400" dirty="0"/>
              <a:t>This results in smaller source code developed in less time. It is being used in many production websites.</a:t>
            </a:r>
          </a:p>
          <a:p>
            <a:pPr marL="342900" indent="-342900">
              <a:buFont typeface="Arial" panose="020B0604020202020204" pitchFamily="34" charset="0"/>
              <a:buChar char="•"/>
            </a:pPr>
            <a:r>
              <a:rPr lang="en-US" sz="2400" dirty="0"/>
              <a:t>CherryPy is a web framework of Python which provides a friendly interface to the HTTP protocol for Python developers.</a:t>
            </a:r>
          </a:p>
          <a:p>
            <a:pPr marL="342900" indent="-342900">
              <a:buFont typeface="Arial" panose="020B0604020202020204" pitchFamily="34" charset="0"/>
              <a:buChar char="•"/>
            </a:pPr>
            <a:r>
              <a:rPr lang="en-US" sz="2400" dirty="0"/>
              <a:t> It is also called a web application library.</a:t>
            </a:r>
          </a:p>
          <a:p>
            <a:endParaRPr lang="en-US" sz="2400" dirty="0"/>
          </a:p>
          <a:p>
            <a:pPr marL="342900" indent="-342900">
              <a:buFont typeface="Arial" panose="020B0604020202020204" pitchFamily="34" charset="0"/>
              <a:buChar char="•"/>
            </a:pPr>
            <a:r>
              <a:rPr lang="en-US" sz="2400" dirty="0"/>
              <a:t>CherryPy uses Python’s strengths as a dynamic language to model and bind HTTP protocol into an API. </a:t>
            </a:r>
          </a:p>
          <a:p>
            <a:endParaRPr lang="en-US" sz="2400" dirty="0"/>
          </a:p>
          <a:p>
            <a:pPr marL="342900" indent="-342900">
              <a:buFont typeface="Arial" panose="020B0604020202020204" pitchFamily="34" charset="0"/>
              <a:buChar char="•"/>
            </a:pPr>
            <a:r>
              <a:rPr lang="en-US" sz="2400" dirty="0"/>
              <a:t>It is one of the oldest web frameworks for Python, which provides clean interface and reliable platform.</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700367133"/>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71688"/>
                                        </p:tgtEl>
                                        <p:attrNameLst>
                                          <p:attrName>style.visibility</p:attrName>
                                        </p:attrNameLst>
                                      </p:cBhvr>
                                      <p:to>
                                        <p:strVal val="visible"/>
                                      </p:to>
                                    </p:set>
                                    <p:anim calcmode="lin" valueType="num">
                                      <p:cBhvr additive="base">
                                        <p:cTn id="12" dur="500" fill="hold"/>
                                        <p:tgtEl>
                                          <p:spTgt spid="71688"/>
                                        </p:tgtEl>
                                        <p:attrNameLst>
                                          <p:attrName>ppt_x</p:attrName>
                                        </p:attrNameLst>
                                      </p:cBhvr>
                                      <p:tavLst>
                                        <p:tav tm="0">
                                          <p:val>
                                            <p:strVal val="#ppt_x"/>
                                          </p:val>
                                        </p:tav>
                                        <p:tav tm="100000">
                                          <p:val>
                                            <p:strVal val="#ppt_x"/>
                                          </p:val>
                                        </p:tav>
                                      </p:tavLst>
                                    </p:anim>
                                    <p:anim calcmode="lin" valueType="num">
                                      <p:cBhvr additive="base">
                                        <p:cTn id="13" dur="500" fill="hold"/>
                                        <p:tgtEl>
                                          <p:spTgt spid="716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168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4872D14-914C-4AB5-9F5D-BE0BD16017E2}" type="datetime1">
              <a:rPr lang="en-US" smtClean="0"/>
              <a:t>9/27/2024</a:t>
            </a:fld>
            <a:endParaRPr lang="en-US" dirty="0"/>
          </a:p>
        </p:txBody>
      </p:sp>
      <p:sp>
        <p:nvSpPr>
          <p:cNvPr id="5" name="Footer Placeholder 4"/>
          <p:cNvSpPr>
            <a:spLocks noGrp="1"/>
          </p:cNvSpPr>
          <p:nvPr>
            <p:ph type="ftr" sz="quarter" idx="11"/>
          </p:nvPr>
        </p:nvSpPr>
        <p:spPr>
          <a:xfrm>
            <a:off x="4038600" y="6356351"/>
            <a:ext cx="7086600" cy="365125"/>
          </a:xfrm>
        </p:spPr>
        <p:txBody>
          <a:bodyPr/>
          <a:lstStyle/>
          <a:p>
            <a:pPr>
              <a:defRPr/>
            </a:pPr>
            <a:r>
              <a:rPr lang="en-US"/>
              <a:t>Ritesh Kumar Singh                 Python web development with Django                           Unit I</a:t>
            </a:r>
            <a:endParaRPr lang="en-US" dirty="0"/>
          </a:p>
        </p:txBody>
      </p:sp>
      <p:sp>
        <p:nvSpPr>
          <p:cNvPr id="5120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121B47C-45D3-43C9-82D1-CF1F65D2BD66}" type="slidenum">
              <a:rPr lang="en-US" altLang="en-US">
                <a:solidFill>
                  <a:srgbClr val="898989"/>
                </a:solidFill>
                <a:latin typeface="Calibri" panose="020F0502020204030204" pitchFamily="34" charset="0"/>
              </a:rPr>
              <a:pPr/>
              <a:t>37</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CherryPy (continue….)</a:t>
            </a:r>
            <a:endParaRPr lang="en-US" sz="3200" dirty="0">
              <a:latin typeface="Times New Roman" pitchFamily="18" charset="0"/>
              <a:cs typeface="Times New Roman" pitchFamily="18" charset="0"/>
            </a:endParaRPr>
          </a:p>
        </p:txBody>
      </p:sp>
      <p:sp>
        <p:nvSpPr>
          <p:cNvPr id="51207" name="TextBox 7"/>
          <p:cNvSpPr txBox="1">
            <a:spLocks noChangeArrowheads="1"/>
          </p:cNvSpPr>
          <p:nvPr/>
        </p:nvSpPr>
        <p:spPr bwMode="auto">
          <a:xfrm>
            <a:off x="2667000" y="1524001"/>
            <a:ext cx="7391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a:p>
            <a:pPr algn="just" eaLnBrk="1" hangingPunct="1"/>
            <a:r>
              <a:rPr lang="en-US" altLang="en-US" sz="2200">
                <a:latin typeface="Times New Roman" panose="02020603050405020304" pitchFamily="18" charset="0"/>
                <a:cs typeface="Times New Roman" panose="02020603050405020304" pitchFamily="18" charset="0"/>
              </a:rPr>
              <a:t> </a:t>
            </a:r>
            <a:endParaRPr lang="en-US" altLang="en-US"/>
          </a:p>
        </p:txBody>
      </p:sp>
      <p:sp>
        <p:nvSpPr>
          <p:cNvPr id="75784" name="TextBox 9"/>
          <p:cNvSpPr txBox="1">
            <a:spLocks noChangeArrowheads="1"/>
          </p:cNvSpPr>
          <p:nvPr/>
        </p:nvSpPr>
        <p:spPr bwMode="auto">
          <a:xfrm>
            <a:off x="2286000" y="1066801"/>
            <a:ext cx="5943600" cy="1508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endParaRPr lang="en-US" altLang="en-US" sz="2000" b="1" dirty="0">
              <a:latin typeface="Times New Roman" panose="02020603050405020304" pitchFamily="18" charset="0"/>
              <a:cs typeface="Times New Roman" panose="02020603050405020304" pitchFamily="18" charset="0"/>
            </a:endParaRPr>
          </a:p>
          <a:p>
            <a:pPr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a:p>
            <a:pPr algn="just" eaLnBrk="1" hangingPunct="1"/>
            <a:endParaRPr lang="en-US" altLang="en-US" sz="2400" b="1" dirty="0">
              <a:latin typeface="Times New Roman" panose="02020603050405020304" pitchFamily="18" charset="0"/>
              <a:cs typeface="Times New Roman" panose="02020603050405020304" pitchFamily="18" charset="0"/>
            </a:endParaRPr>
          </a:p>
          <a:p>
            <a:pPr lvl="3" algn="just" eaLnBrk="1" hangingPunct="1">
              <a:buFont typeface="Arial" panose="020B0604020202020204" pitchFamily="34" charset="0"/>
              <a:buChar char="•"/>
            </a:pPr>
            <a:endParaRPr lang="en-US" altLang="en-US" sz="2400" b="1" dirty="0">
              <a:latin typeface="Times New Roman" panose="02020603050405020304" pitchFamily="18" charset="0"/>
              <a:cs typeface="Times New Roman" panose="02020603050405020304" pitchFamily="18" charset="0"/>
            </a:endParaRPr>
          </a:p>
        </p:txBody>
      </p:sp>
      <p:sp>
        <p:nvSpPr>
          <p:cNvPr id="75785" name="TextBox 11"/>
          <p:cNvSpPr txBox="1">
            <a:spLocks noChangeArrowheads="1"/>
          </p:cNvSpPr>
          <p:nvPr/>
        </p:nvSpPr>
        <p:spPr bwMode="auto">
          <a:xfrm>
            <a:off x="3276600" y="2063751"/>
            <a:ext cx="6705600" cy="9848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br>
              <a:rPr lang="en-US" altLang="en-US" sz="2200" dirty="0">
                <a:latin typeface="Times New Roman" panose="02020603050405020304" pitchFamily="18" charset="0"/>
                <a:cs typeface="Times New Roman" panose="02020603050405020304" pitchFamily="18" charset="0"/>
              </a:rPr>
            </a:br>
            <a:br>
              <a:rPr lang="en-US" altLang="en-US" dirty="0"/>
            </a:br>
            <a:endParaRPr lang="en-US" altLang="en-US" dirty="0"/>
          </a:p>
        </p:txBody>
      </p:sp>
      <p:sp>
        <p:nvSpPr>
          <p:cNvPr id="39937" name="Rectangle 1"/>
          <p:cNvSpPr>
            <a:spLocks noChangeArrowheads="1"/>
          </p:cNvSpPr>
          <p:nvPr/>
        </p:nvSpPr>
        <p:spPr bwMode="auto">
          <a:xfrm>
            <a:off x="346166" y="840872"/>
            <a:ext cx="11811000" cy="5360401"/>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126960" rIns="0" bIns="0" numCol="1" anchor="ctr" anchorCtr="0" compatLnSpc="1">
            <a:prstTxWarp prst="textNoShape">
              <a:avLst/>
            </a:prstTxWarp>
            <a:spAutoFit/>
          </a:bodyPr>
          <a:lstStyle/>
          <a:p>
            <a:pPr fontAlgn="base">
              <a:spcBef>
                <a:spcPct val="0"/>
              </a:spcBef>
              <a:spcAft>
                <a:spcPct val="0"/>
              </a:spcAft>
            </a:pPr>
            <a:r>
              <a:rPr lang="en-US" sz="2800" b="1" dirty="0">
                <a:solidFill>
                  <a:srgbClr val="000000"/>
                </a:solidFill>
                <a:ea typeface="Times New Roman" pitchFamily="18" charset="0"/>
                <a:cs typeface="Times New Roman" pitchFamily="18" charset="0"/>
              </a:rPr>
              <a:t> Strengths of CherryPy</a:t>
            </a:r>
            <a:endParaRPr lang="en-US" sz="2800" b="1" dirty="0">
              <a:solidFill>
                <a:srgbClr val="4F81BD"/>
              </a:solidFill>
              <a:ea typeface="Times New Roman" pitchFamily="18" charset="0"/>
              <a:cs typeface="Times New Roman" pitchFamily="18" charset="0"/>
            </a:endParaRPr>
          </a:p>
          <a:p>
            <a:pPr eaLnBrk="0" fontAlgn="base" hangingPunct="0">
              <a:spcBef>
                <a:spcPct val="0"/>
              </a:spcBef>
              <a:spcAft>
                <a:spcPct val="0"/>
              </a:spcAft>
            </a:pPr>
            <a:r>
              <a:rPr lang="en-US" sz="2400" dirty="0">
                <a:ea typeface="Times New Roman" pitchFamily="18" charset="0"/>
                <a:cs typeface="Arial" pitchFamily="34" charset="0"/>
              </a:rPr>
              <a:t>The following features of CherryPy are considered as its strengths −</a:t>
            </a:r>
            <a:endParaRPr lang="en-US" sz="2400" b="1" dirty="0">
              <a:solidFill>
                <a:srgbClr val="4F81BD"/>
              </a:solidFill>
              <a:ea typeface="Times New Roman" pitchFamily="18" charset="0"/>
              <a:cs typeface="Times New Roman" pitchFamily="18" charset="0"/>
            </a:endParaRPr>
          </a:p>
          <a:p>
            <a:pPr eaLnBrk="0" fontAlgn="base" hangingPunct="0">
              <a:spcBef>
                <a:spcPct val="0"/>
              </a:spcBef>
              <a:spcAft>
                <a:spcPct val="0"/>
              </a:spcAft>
            </a:pPr>
            <a:r>
              <a:rPr lang="en-US" sz="2400" b="1" dirty="0">
                <a:ea typeface="Times New Roman" pitchFamily="18" charset="0"/>
                <a:cs typeface="Times New Roman" pitchFamily="18" charset="0"/>
              </a:rPr>
              <a:t> Simplicity</a:t>
            </a:r>
          </a:p>
          <a:p>
            <a:pPr eaLnBrk="0" fontAlgn="base" hangingPunct="0">
              <a:spcBef>
                <a:spcPct val="0"/>
              </a:spcBef>
              <a:spcAft>
                <a:spcPct val="0"/>
              </a:spcAft>
            </a:pPr>
            <a:r>
              <a:rPr lang="en-US" sz="2400" dirty="0">
                <a:ea typeface="Times New Roman" pitchFamily="18" charset="0"/>
                <a:cs typeface="Arial" pitchFamily="34" charset="0"/>
              </a:rPr>
              <a:t>Developing a project in CherryPy is a simple task with few lines of code developed as per the conventions and indentations of Python.</a:t>
            </a:r>
          </a:p>
          <a:p>
            <a:pPr eaLnBrk="0" fontAlgn="base" hangingPunct="0">
              <a:spcBef>
                <a:spcPct val="0"/>
              </a:spcBef>
              <a:spcAft>
                <a:spcPct val="0"/>
              </a:spcAft>
            </a:pPr>
            <a:r>
              <a:rPr lang="en-US" sz="2400" dirty="0">
                <a:ea typeface="Times New Roman" pitchFamily="18" charset="0"/>
                <a:cs typeface="Arial" pitchFamily="34" charset="0"/>
              </a:rPr>
              <a:t>CherryPy is also very modular. The primary components are well managed with correct logic concept and parent classes are expandable to child classes.</a:t>
            </a:r>
            <a:endParaRPr lang="en-US" sz="2400" b="1" dirty="0">
              <a:solidFill>
                <a:srgbClr val="4F81BD"/>
              </a:solidFill>
              <a:ea typeface="Times New Roman" pitchFamily="18" charset="0"/>
              <a:cs typeface="Times New Roman" pitchFamily="18" charset="0"/>
            </a:endParaRPr>
          </a:p>
          <a:p>
            <a:pPr eaLnBrk="0" fontAlgn="base" hangingPunct="0">
              <a:spcBef>
                <a:spcPct val="0"/>
              </a:spcBef>
              <a:spcAft>
                <a:spcPct val="0"/>
              </a:spcAft>
            </a:pPr>
            <a:r>
              <a:rPr lang="en-US" sz="2400" b="1" dirty="0">
                <a:ea typeface="Times New Roman" pitchFamily="18" charset="0"/>
                <a:cs typeface="Times New Roman" pitchFamily="18" charset="0"/>
              </a:rPr>
              <a:t> Power</a:t>
            </a:r>
          </a:p>
          <a:p>
            <a:pPr eaLnBrk="0" fontAlgn="base" hangingPunct="0">
              <a:spcBef>
                <a:spcPct val="0"/>
              </a:spcBef>
              <a:spcAft>
                <a:spcPct val="0"/>
              </a:spcAft>
            </a:pPr>
            <a:r>
              <a:rPr lang="en-US" sz="2400" dirty="0">
                <a:ea typeface="Times New Roman" pitchFamily="18" charset="0"/>
                <a:cs typeface="Arial" pitchFamily="34" charset="0"/>
              </a:rPr>
              <a:t>CherryPy leverages all the power of Python. It also provides tools and </a:t>
            </a:r>
            <a:r>
              <a:rPr lang="en-US" sz="2400" dirty="0" err="1">
                <a:ea typeface="Times New Roman" pitchFamily="18" charset="0"/>
                <a:cs typeface="Arial" pitchFamily="34" charset="0"/>
              </a:rPr>
              <a:t>plugins</a:t>
            </a:r>
            <a:r>
              <a:rPr lang="en-US" sz="2400" dirty="0">
                <a:ea typeface="Times New Roman" pitchFamily="18" charset="0"/>
                <a:cs typeface="Arial" pitchFamily="34" charset="0"/>
              </a:rPr>
              <a:t>, which are powerful extension points needed to develop world-class applications.</a:t>
            </a:r>
            <a:endParaRPr lang="en-US" sz="2400" b="1" dirty="0">
              <a:solidFill>
                <a:srgbClr val="4F81BD"/>
              </a:solidFill>
              <a:ea typeface="Times New Roman" pitchFamily="18" charset="0"/>
              <a:cs typeface="Times New Roman" pitchFamily="18" charset="0"/>
            </a:endParaRPr>
          </a:p>
          <a:p>
            <a:pPr eaLnBrk="0" fontAlgn="base" hangingPunct="0">
              <a:spcBef>
                <a:spcPct val="0"/>
              </a:spcBef>
              <a:spcAft>
                <a:spcPct val="0"/>
              </a:spcAft>
            </a:pPr>
            <a:r>
              <a:rPr lang="en-US" sz="2400" b="1" dirty="0">
                <a:ea typeface="Times New Roman" pitchFamily="18" charset="0"/>
                <a:cs typeface="Times New Roman" pitchFamily="18" charset="0"/>
              </a:rPr>
              <a:t> Open-source</a:t>
            </a:r>
          </a:p>
          <a:p>
            <a:pPr eaLnBrk="0" fontAlgn="base" hangingPunct="0">
              <a:spcBef>
                <a:spcPct val="0"/>
              </a:spcBef>
              <a:spcAft>
                <a:spcPct val="0"/>
              </a:spcAft>
            </a:pPr>
            <a:r>
              <a:rPr lang="en-US" sz="2400" dirty="0">
                <a:ea typeface="Times New Roman" pitchFamily="18" charset="0"/>
                <a:cs typeface="Arial" pitchFamily="34" charset="0"/>
              </a:rPr>
              <a:t>CherryPy is an open-source Python Web Framework (licensed under the open-source BSD license), which means this framework can be used commercially at ZERO cost.</a:t>
            </a:r>
          </a:p>
          <a:p>
            <a:pPr eaLnBrk="0" fontAlgn="base" hangingPunct="0">
              <a:spcBef>
                <a:spcPct val="0"/>
              </a:spcBef>
              <a:spcAft>
                <a:spcPct val="0"/>
              </a:spcAft>
            </a:pPr>
            <a:endParaRPr lang="en-US" sz="2400" dirty="0">
              <a:cs typeface="Arial" pitchFamily="34" charset="0"/>
            </a:endParaRPr>
          </a:p>
        </p:txBody>
      </p:sp>
      <p:pic>
        <p:nvPicPr>
          <p:cNvPr id="10" name="Picture 9"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3460217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75784"/>
                                        </p:tgtEl>
                                        <p:attrNameLst>
                                          <p:attrName>style.visibility</p:attrName>
                                        </p:attrNameLst>
                                      </p:cBhvr>
                                      <p:to>
                                        <p:strVal val="visible"/>
                                      </p:to>
                                    </p:set>
                                    <p:anim calcmode="lin" valueType="num">
                                      <p:cBhvr additive="base">
                                        <p:cTn id="12" dur="500" fill="hold"/>
                                        <p:tgtEl>
                                          <p:spTgt spid="75784"/>
                                        </p:tgtEl>
                                        <p:attrNameLst>
                                          <p:attrName>ppt_x</p:attrName>
                                        </p:attrNameLst>
                                      </p:cBhvr>
                                      <p:tavLst>
                                        <p:tav tm="0">
                                          <p:val>
                                            <p:strVal val="#ppt_x"/>
                                          </p:val>
                                        </p:tav>
                                        <p:tav tm="100000">
                                          <p:val>
                                            <p:strVal val="#ppt_x"/>
                                          </p:val>
                                        </p:tav>
                                      </p:tavLst>
                                    </p:anim>
                                    <p:anim calcmode="lin" valueType="num">
                                      <p:cBhvr additive="base">
                                        <p:cTn id="13" dur="500" fill="hold"/>
                                        <p:tgtEl>
                                          <p:spTgt spid="75784"/>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75785"/>
                                        </p:tgtEl>
                                        <p:attrNameLst>
                                          <p:attrName>style.visibility</p:attrName>
                                        </p:attrNameLst>
                                      </p:cBhvr>
                                      <p:to>
                                        <p:strVal val="visible"/>
                                      </p:to>
                                    </p:set>
                                    <p:animEffect transition="in" filter="circle(in)">
                                      <p:cBhvr>
                                        <p:cTn id="18" dur="2000"/>
                                        <p:tgtEl>
                                          <p:spTgt spid="757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5784" grpId="0"/>
      <p:bldP spid="7578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2"/>
          <p:cNvSpPr>
            <a:spLocks noGrp="1"/>
          </p:cNvSpPr>
          <p:nvPr>
            <p:ph idx="1"/>
          </p:nvPr>
        </p:nvSpPr>
        <p:spPr>
          <a:xfrm>
            <a:off x="1905000" y="838200"/>
            <a:ext cx="8382000" cy="4052888"/>
          </a:xfrm>
        </p:spPr>
        <p:txBody>
          <a:bodyPr/>
          <a:lstStyle/>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571500" lvl="1" indent="0" algn="just">
              <a:spcBef>
                <a:spcPts val="363"/>
              </a:spcBef>
              <a:buClr>
                <a:srgbClr val="000000"/>
              </a:buClr>
              <a:buNone/>
            </a:pPr>
            <a:endParaRPr lang="en-US" altLang="en-US" sz="22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524000" y="0"/>
            <a:ext cx="105918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r>
              <a:rPr lang="en-US" sz="3200" dirty="0"/>
              <a:t>CherryPy (continue….)</a:t>
            </a:r>
            <a:endParaRPr lang="en-US" sz="3200" dirty="0">
              <a:latin typeface="Times New Roman" pitchFamily="18" charset="0"/>
              <a:cs typeface="Times New Roman" pitchFamily="18" charset="0"/>
            </a:endParaRPr>
          </a:p>
        </p:txBody>
      </p:sp>
      <p:sp>
        <p:nvSpPr>
          <p:cNvPr id="11269" name="Google Shape;150;p18"/>
          <p:cNvSpPr>
            <a:spLocks noGrp="1"/>
          </p:cNvSpPr>
          <p:nvPr>
            <p:ph type="dt" sz="quarter" idx="10"/>
          </p:nvPr>
        </p:nvSpPr>
        <p:spPr>
          <a:xfrm>
            <a:off x="1143000" y="6356351"/>
            <a:ext cx="2895600" cy="365125"/>
          </a:xfrm>
        </p:spPr>
        <p:txBody>
          <a:bodyPr/>
          <a:lstStyle/>
          <a:p>
            <a:pPr algn="ctr">
              <a:buFont typeface="Arial" pitchFamily="34" charset="0"/>
              <a:buNone/>
              <a:defRPr/>
            </a:pPr>
            <a:fld id="{EF683E94-9680-4503-84D2-2BDB632D9D62}" type="datetime1">
              <a:rPr lang="en-US" smtClean="0"/>
              <a:t>9/27/2024</a:t>
            </a:fld>
            <a:endParaRPr lang="en-US" dirty="0"/>
          </a:p>
        </p:txBody>
      </p:sp>
      <p:sp>
        <p:nvSpPr>
          <p:cNvPr id="52230" name="Google Shape;151;p18"/>
          <p:cNvSpPr>
            <a:spLocks noGrp="1" noChangeArrowheads="1"/>
          </p:cNvSpPr>
          <p:nvPr>
            <p:ph type="sldNum" sz="quarter" idx="12"/>
          </p:nvPr>
        </p:nvSpPr>
        <p:spPr bwMode="auto">
          <a:xfrm>
            <a:off x="9265920" y="6492876"/>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E8F9DFC7-36A3-453A-8D5A-69BEEBA9D176}" type="slidenum">
              <a:rPr lang="en-US" altLang="en-US">
                <a:solidFill>
                  <a:srgbClr val="898989"/>
                </a:solidFill>
                <a:latin typeface="Calibri" panose="020F0502020204030204" pitchFamily="34" charset="0"/>
              </a:rPr>
              <a:pPr algn="ctr">
                <a:buSzPts val="1400"/>
                <a:buFont typeface="Arial" panose="020B0604020202020204" pitchFamily="34" charset="0"/>
                <a:buNone/>
              </a:pPr>
              <a:t>38</a:t>
            </a:fld>
            <a:endParaRPr lang="en-US" altLang="en-US">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962400" y="6492876"/>
            <a:ext cx="5715000" cy="365125"/>
          </a:xfrm>
        </p:spPr>
        <p:txBody>
          <a:bodyPr/>
          <a:lstStyle/>
          <a:p>
            <a:pPr algn="r">
              <a:buFont typeface="Arial" pitchFamily="34" charset="0"/>
              <a:buNone/>
              <a:defRPr/>
            </a:pPr>
            <a:r>
              <a:rPr lang="en-US"/>
              <a:t>Ritesh Kumar Singh                 Python web development with Django                           Unit I</a:t>
            </a:r>
            <a:endParaRPr lang="en-US" dirty="0"/>
          </a:p>
        </p:txBody>
      </p:sp>
      <p:sp>
        <p:nvSpPr>
          <p:cNvPr id="37889" name="Rectangle 1"/>
          <p:cNvSpPr>
            <a:spLocks noChangeArrowheads="1"/>
          </p:cNvSpPr>
          <p:nvPr/>
        </p:nvSpPr>
        <p:spPr bwMode="auto">
          <a:xfrm>
            <a:off x="1447800" y="932107"/>
            <a:ext cx="10591800" cy="5206513"/>
          </a:xfrm>
          <a:prstGeom prst="rect">
            <a:avLst/>
          </a:prstGeom>
          <a:solidFill>
            <a:schemeClr val="tx2">
              <a:lumMod val="40000"/>
              <a:lumOff val="60000"/>
            </a:schemeClr>
          </a:solidFill>
          <a:ln w="6350">
            <a:solidFill>
              <a:schemeClr val="tx1"/>
            </a:solidFill>
            <a:miter lim="800000"/>
            <a:headEnd/>
            <a:tailEnd/>
          </a:ln>
          <a:effectLst/>
        </p:spPr>
        <p:txBody>
          <a:bodyPr vert="horz" wrap="square" lIns="0" tIns="126960" rIns="0" bIns="0" numCol="1" anchor="ctr" anchorCtr="0" compatLnSpc="1">
            <a:prstTxWarp prst="textNoShape">
              <a:avLst/>
            </a:prstTxWarp>
            <a:spAutoFit/>
          </a:bodyPr>
          <a:lstStyle/>
          <a:p>
            <a:pPr fontAlgn="base">
              <a:spcBef>
                <a:spcPct val="0"/>
              </a:spcBef>
              <a:spcAft>
                <a:spcPct val="0"/>
              </a:spcAft>
            </a:pPr>
            <a:r>
              <a:rPr lang="en-US" sz="2400" b="1" dirty="0">
                <a:ea typeface="Times New Roman" pitchFamily="18" charset="0"/>
                <a:cs typeface="Times New Roman" pitchFamily="18" charset="0"/>
              </a:rPr>
              <a:t>Community Help</a:t>
            </a:r>
          </a:p>
          <a:p>
            <a:pPr eaLnBrk="0" fontAlgn="base" hangingPunct="0">
              <a:spcBef>
                <a:spcPct val="0"/>
              </a:spcBef>
              <a:spcAft>
                <a:spcPct val="0"/>
              </a:spcAft>
            </a:pPr>
            <a:r>
              <a:rPr lang="en-US" sz="2400" dirty="0">
                <a:ea typeface="Times New Roman" pitchFamily="18" charset="0"/>
                <a:cs typeface="Arial" pitchFamily="34" charset="0"/>
              </a:rPr>
              <a:t>It has a devoted community which provides complete support with various types of questions and answers. The community tries to give complete assistance to the developers starting from the beginner level to the advanced level.</a:t>
            </a:r>
            <a:endParaRPr lang="en-US" sz="2400" b="1" dirty="0">
              <a:solidFill>
                <a:srgbClr val="4F81BD"/>
              </a:solidFill>
              <a:ea typeface="Times New Roman" pitchFamily="18" charset="0"/>
              <a:cs typeface="Times New Roman" pitchFamily="18" charset="0"/>
            </a:endParaRPr>
          </a:p>
          <a:p>
            <a:pPr eaLnBrk="0" fontAlgn="base" hangingPunct="0">
              <a:spcBef>
                <a:spcPct val="0"/>
              </a:spcBef>
              <a:spcAft>
                <a:spcPct val="0"/>
              </a:spcAft>
            </a:pPr>
            <a:r>
              <a:rPr lang="en-US" sz="2400" b="1" dirty="0">
                <a:ea typeface="Times New Roman" pitchFamily="18" charset="0"/>
                <a:cs typeface="Times New Roman" pitchFamily="18" charset="0"/>
              </a:rPr>
              <a:t>Deployment</a:t>
            </a:r>
          </a:p>
          <a:p>
            <a:pPr eaLnBrk="0" fontAlgn="base" hangingPunct="0">
              <a:spcBef>
                <a:spcPct val="0"/>
              </a:spcBef>
              <a:spcAft>
                <a:spcPct val="0"/>
              </a:spcAft>
            </a:pPr>
            <a:r>
              <a:rPr lang="en-US" sz="2400" dirty="0">
                <a:ea typeface="Times New Roman" pitchFamily="18" charset="0"/>
                <a:cs typeface="Arial" pitchFamily="34" charset="0"/>
              </a:rPr>
              <a:t>There are cost effective ways to deploy the application. CherryPy includes its own production-ready HTTP server to host your application. CherryPy can also be deployed on any WSGI-compliant gateway.</a:t>
            </a:r>
          </a:p>
          <a:p>
            <a:pPr eaLnBrk="0" fontAlgn="base" hangingPunct="0">
              <a:spcBef>
                <a:spcPct val="0"/>
              </a:spcBef>
              <a:spcAft>
                <a:spcPct val="0"/>
              </a:spcAft>
            </a:pPr>
            <a:r>
              <a:rPr lang="en-US" sz="2400" dirty="0">
                <a:ea typeface="Times New Roman" pitchFamily="18" charset="0"/>
                <a:cs typeface="Times New Roman" pitchFamily="18" charset="0"/>
              </a:rPr>
              <a:t>CherryPy comes in packages like most open-source projects, which can be downloaded and installed in various ways which are mentioned as follows −</a:t>
            </a:r>
            <a:endParaRPr lang="en-US" sz="2400" dirty="0">
              <a:cs typeface="Arial" pitchFamily="34" charset="0"/>
            </a:endParaRPr>
          </a:p>
          <a:p>
            <a:pPr eaLnBrk="0" fontAlgn="base" hangingPunct="0">
              <a:spcBef>
                <a:spcPct val="0"/>
              </a:spcBef>
              <a:spcAft>
                <a:spcPct val="0"/>
              </a:spcAft>
              <a:buFontTx/>
              <a:buChar char="•"/>
            </a:pPr>
            <a:r>
              <a:rPr lang="en-US" sz="2400" dirty="0">
                <a:ea typeface="Times New Roman" pitchFamily="18" charset="0"/>
                <a:cs typeface="Times New Roman" pitchFamily="18" charset="0"/>
              </a:rPr>
              <a:t>Using a </a:t>
            </a:r>
            <a:r>
              <a:rPr lang="en-US" sz="2400" dirty="0" err="1">
                <a:ea typeface="Times New Roman" pitchFamily="18" charset="0"/>
                <a:cs typeface="Times New Roman" pitchFamily="18" charset="0"/>
              </a:rPr>
              <a:t>Tarball</a:t>
            </a:r>
            <a:endParaRPr lang="en-US" sz="2400" dirty="0">
              <a:ea typeface="Calibri" pitchFamily="34" charset="0"/>
              <a:cs typeface="Times New Roman" pitchFamily="18" charset="0"/>
            </a:endParaRPr>
          </a:p>
          <a:p>
            <a:pPr eaLnBrk="0" fontAlgn="base" hangingPunct="0">
              <a:spcBef>
                <a:spcPct val="0"/>
              </a:spcBef>
              <a:spcAft>
                <a:spcPct val="0"/>
              </a:spcAft>
              <a:buFontTx/>
              <a:buChar char="•"/>
            </a:pPr>
            <a:r>
              <a:rPr lang="en-US" sz="2400" dirty="0">
                <a:ea typeface="Times New Roman" pitchFamily="18" charset="0"/>
                <a:cs typeface="Times New Roman" pitchFamily="18" charset="0"/>
              </a:rPr>
              <a:t>Using </a:t>
            </a:r>
            <a:r>
              <a:rPr lang="en-US" sz="2400" dirty="0" err="1">
                <a:ea typeface="Times New Roman" pitchFamily="18" charset="0"/>
                <a:cs typeface="Times New Roman" pitchFamily="18" charset="0"/>
              </a:rPr>
              <a:t>easy_install</a:t>
            </a:r>
            <a:endParaRPr lang="en-US" sz="2400" dirty="0">
              <a:ea typeface="Calibri" pitchFamily="34" charset="0"/>
              <a:cs typeface="Times New Roman" pitchFamily="18" charset="0"/>
            </a:endParaRPr>
          </a:p>
          <a:p>
            <a:pPr eaLnBrk="0" fontAlgn="base" hangingPunct="0">
              <a:spcBef>
                <a:spcPct val="0"/>
              </a:spcBef>
              <a:spcAft>
                <a:spcPct val="0"/>
              </a:spcAft>
              <a:buFontTx/>
              <a:buChar char="•"/>
            </a:pPr>
            <a:r>
              <a:rPr lang="en-US" sz="2400" dirty="0">
                <a:ea typeface="Times New Roman" pitchFamily="18" charset="0"/>
                <a:cs typeface="Times New Roman" pitchFamily="18" charset="0"/>
              </a:rPr>
              <a:t>Using Subversion</a:t>
            </a:r>
            <a:endParaRPr lang="en-US" sz="2400" dirty="0">
              <a:cs typeface="Arial" pitchFamily="34" charset="0"/>
            </a:endParaRPr>
          </a:p>
          <a:p>
            <a:pPr eaLnBrk="0" fontAlgn="base" hangingPunct="0">
              <a:spcBef>
                <a:spcPct val="0"/>
              </a:spcBef>
              <a:spcAft>
                <a:spcPct val="0"/>
              </a:spcAft>
            </a:pPr>
            <a:endParaRPr lang="en-US" dirty="0">
              <a:latin typeface="Arial" pitchFamily="34" charset="0"/>
              <a:cs typeface="Arial" pitchFamily="34" charset="0"/>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174527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4038600" y="6356351"/>
            <a:ext cx="6781800" cy="365125"/>
          </a:xfrm>
        </p:spPr>
        <p:txBody>
          <a:bodyPr/>
          <a:lstStyle/>
          <a:p>
            <a:pPr>
              <a:defRPr/>
            </a:pPr>
            <a:r>
              <a:rPr lang="en-US"/>
              <a:t>Ritesh Kumar Singh                 Python web development with Django                           Unit I</a:t>
            </a:r>
            <a:endParaRPr lang="en-US" dirty="0"/>
          </a:p>
        </p:txBody>
      </p:sp>
      <p:sp>
        <p:nvSpPr>
          <p:cNvPr id="5632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D279F3A-713B-4D95-9B78-02BBC4B3EE4A}" type="slidenum">
              <a:rPr lang="en-US" altLang="en-US">
                <a:solidFill>
                  <a:srgbClr val="898989"/>
                </a:solidFill>
                <a:latin typeface="Calibri" panose="020F0502020204030204" pitchFamily="34" charset="0"/>
              </a:rPr>
              <a:pPr/>
              <a:t>39</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dirty="0"/>
              <a:t>                                           Turbo Gears </a:t>
            </a:r>
          </a:p>
        </p:txBody>
      </p:sp>
      <p:sp>
        <p:nvSpPr>
          <p:cNvPr id="81927" name="TextBox 9"/>
          <p:cNvSpPr txBox="1">
            <a:spLocks noChangeArrowheads="1"/>
          </p:cNvSpPr>
          <p:nvPr/>
        </p:nvSpPr>
        <p:spPr bwMode="auto">
          <a:xfrm>
            <a:off x="2286000" y="908051"/>
            <a:ext cx="7772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a:defRPr>
                <a:solidFill>
                  <a:schemeClr val="tx1"/>
                </a:solidFill>
                <a:latin typeface="Arial" panose="020B0604020202020204" pitchFamily="34" charset="0"/>
                <a:cs typeface="Arial" panose="020B0604020202020204" pitchFamily="34" charset="0"/>
              </a:defRPr>
            </a:lvl3pPr>
            <a:lvl4pPr>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r>
              <a:rPr lang="en-US" altLang="en-US" sz="2400" b="1" dirty="0">
                <a:latin typeface="Times New Roman" panose="02020603050405020304" pitchFamily="18" charset="0"/>
                <a:cs typeface="Times New Roman" panose="02020603050405020304" pitchFamily="18" charset="0"/>
              </a:rPr>
              <a:t> </a:t>
            </a:r>
          </a:p>
        </p:txBody>
      </p:sp>
      <p:sp>
        <p:nvSpPr>
          <p:cNvPr id="56328"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2" name="Rectangle 11"/>
          <p:cNvSpPr/>
          <p:nvPr/>
        </p:nvSpPr>
        <p:spPr>
          <a:xfrm>
            <a:off x="1447800" y="929816"/>
            <a:ext cx="10515600" cy="5170646"/>
          </a:xfrm>
          <a:prstGeom prst="rect">
            <a:avLst/>
          </a:prstGeom>
          <a:solidFill>
            <a:schemeClr val="tx2">
              <a:lumMod val="40000"/>
              <a:lumOff val="60000"/>
            </a:schemeClr>
          </a:solidFill>
          <a:ln w="12700">
            <a:solidFill>
              <a:schemeClr val="tx1"/>
            </a:solidFill>
          </a:ln>
        </p:spPr>
        <p:txBody>
          <a:bodyPr wrap="square">
            <a:spAutoFit/>
          </a:bodyPr>
          <a:lstStyle/>
          <a:p>
            <a:r>
              <a:rPr lang="en-US" sz="2400" dirty="0" err="1"/>
              <a:t>TurboGears</a:t>
            </a:r>
            <a:r>
              <a:rPr lang="en-US" sz="2400" dirty="0"/>
              <a:t> is a Python web application framework, which consists of many modules. It is designed around the MVC architecture that are similar to Ruby on Rails or Struts. </a:t>
            </a:r>
            <a:r>
              <a:rPr lang="en-US" sz="2400" dirty="0" err="1"/>
              <a:t>TurboGears</a:t>
            </a:r>
            <a:r>
              <a:rPr lang="en-US" sz="2400" dirty="0"/>
              <a:t> are designed to make rapid web application development in Python easier and more supportable. </a:t>
            </a:r>
          </a:p>
          <a:p>
            <a:r>
              <a:rPr lang="en-US" sz="2400" dirty="0" err="1"/>
              <a:t>TurboGears</a:t>
            </a:r>
            <a:r>
              <a:rPr lang="en-US" sz="2400" dirty="0"/>
              <a:t> is a web application framework written in Python. </a:t>
            </a:r>
          </a:p>
          <a:p>
            <a:r>
              <a:rPr lang="en-US" sz="2400" dirty="0" err="1"/>
              <a:t>TurboGears</a:t>
            </a:r>
            <a:r>
              <a:rPr lang="en-US" sz="2400" dirty="0"/>
              <a:t> follows the Model-View-Controller paradigm as do most modern web frameworks like Rails, </a:t>
            </a:r>
            <a:r>
              <a:rPr lang="en-US" sz="2400" dirty="0" err="1"/>
              <a:t>Django</a:t>
            </a:r>
            <a:r>
              <a:rPr lang="en-US" sz="2400" dirty="0"/>
              <a:t>, Struts, etc. This is an elementary tutorial that covers all the basics of </a:t>
            </a:r>
            <a:r>
              <a:rPr lang="en-US" sz="2400" dirty="0" err="1"/>
              <a:t>TurboGears</a:t>
            </a:r>
            <a:r>
              <a:rPr lang="en-US" sz="2400" dirty="0"/>
              <a:t>.</a:t>
            </a:r>
          </a:p>
          <a:p>
            <a:r>
              <a:rPr lang="en-US" sz="2400" dirty="0" err="1"/>
              <a:t>TurboGears</a:t>
            </a:r>
            <a:r>
              <a:rPr lang="en-US" sz="2400" dirty="0"/>
              <a:t> is a web application framework written in Python. Originally created by Kevin </a:t>
            </a:r>
            <a:r>
              <a:rPr lang="en-US" sz="2400" dirty="0" err="1"/>
              <a:t>Dangoor</a:t>
            </a:r>
            <a:r>
              <a:rPr lang="en-US" sz="2400" dirty="0"/>
              <a:t> in 2005, its latest version </a:t>
            </a:r>
            <a:r>
              <a:rPr lang="en-US" sz="2400" dirty="0" err="1"/>
              <a:t>TurboGears</a:t>
            </a:r>
            <a:r>
              <a:rPr lang="en-US" sz="2400" dirty="0"/>
              <a:t> (</a:t>
            </a:r>
            <a:r>
              <a:rPr lang="en-US" sz="2400" dirty="0" err="1"/>
              <a:t>ver</a:t>
            </a:r>
            <a:r>
              <a:rPr lang="en-US" sz="2400" dirty="0"/>
              <a:t> 2.3.7) is managed by a group of developers led by Mark </a:t>
            </a:r>
            <a:r>
              <a:rPr lang="en-US" sz="2400" dirty="0" err="1"/>
              <a:t>Ramm</a:t>
            </a:r>
            <a:r>
              <a:rPr lang="en-US" sz="2400" dirty="0"/>
              <a:t> and </a:t>
            </a:r>
            <a:r>
              <a:rPr lang="en-US" sz="2400" dirty="0" err="1"/>
              <a:t>Florent</a:t>
            </a:r>
            <a:r>
              <a:rPr lang="en-US" sz="2400" dirty="0"/>
              <a:t> Aide.</a:t>
            </a:r>
          </a:p>
          <a:p>
            <a:r>
              <a:rPr lang="en-US" sz="2400" dirty="0" err="1"/>
              <a:t>TurboGears</a:t>
            </a:r>
            <a:r>
              <a:rPr lang="en-US" sz="2400" dirty="0"/>
              <a:t> follows the Model-View-Controller paradigm as do most modern web frameworks like Rails, </a:t>
            </a:r>
            <a:r>
              <a:rPr lang="en-US" sz="2400" dirty="0" err="1"/>
              <a:t>Django</a:t>
            </a:r>
            <a:r>
              <a:rPr lang="en-US" sz="2400" dirty="0"/>
              <a:t>, Struts, etc.</a:t>
            </a:r>
          </a:p>
          <a:p>
            <a:r>
              <a:rPr lang="en-US" dirty="0"/>
              <a:t> </a:t>
            </a:r>
          </a:p>
        </p:txBody>
      </p:sp>
      <p:sp>
        <p:nvSpPr>
          <p:cNvPr id="2" name="Date Placeholder 1"/>
          <p:cNvSpPr>
            <a:spLocks noGrp="1"/>
          </p:cNvSpPr>
          <p:nvPr>
            <p:ph type="dt" sz="half" idx="10"/>
          </p:nvPr>
        </p:nvSpPr>
        <p:spPr/>
        <p:txBody>
          <a:bodyPr/>
          <a:lstStyle/>
          <a:p>
            <a:fld id="{107A1B2E-B840-4504-A93C-129D2684A634}" type="datetime1">
              <a:rPr lang="en-US" smtClean="0"/>
              <a:t>9/27/2024</a:t>
            </a:fld>
            <a:endParaRPr lang="en-US"/>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1733345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81927"/>
                                        </p:tgtEl>
                                        <p:attrNameLst>
                                          <p:attrName>style.visibility</p:attrName>
                                        </p:attrNameLst>
                                      </p:cBhvr>
                                      <p:to>
                                        <p:strVal val="visible"/>
                                      </p:to>
                                    </p:set>
                                    <p:anim calcmode="lin" valueType="num">
                                      <p:cBhvr additive="base">
                                        <p:cTn id="12" dur="500" fill="hold"/>
                                        <p:tgtEl>
                                          <p:spTgt spid="81927"/>
                                        </p:tgtEl>
                                        <p:attrNameLst>
                                          <p:attrName>ppt_x</p:attrName>
                                        </p:attrNameLst>
                                      </p:cBhvr>
                                      <p:tavLst>
                                        <p:tav tm="0">
                                          <p:val>
                                            <p:strVal val="#ppt_x"/>
                                          </p:val>
                                        </p:tav>
                                        <p:tav tm="100000">
                                          <p:val>
                                            <p:strVal val="#ppt_x"/>
                                          </p:val>
                                        </p:tav>
                                      </p:tavLst>
                                    </p:anim>
                                    <p:anim calcmode="lin" valueType="num">
                                      <p:cBhvr additive="base">
                                        <p:cTn id="13" dur="500" fill="hold"/>
                                        <p:tgtEl>
                                          <p:spTgt spid="819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192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79E51E1-9229-4FC6-89BE-A833090891A9}" type="datetime1">
              <a:rPr lang="en-US" smtClean="0"/>
              <a:t>9/27/2024</a:t>
            </a:fld>
            <a:endParaRPr lang="en-US" dirty="0"/>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Python web development with Django                           Unit I</a:t>
            </a:r>
            <a:endParaRPr lang="en-US" dirty="0"/>
          </a:p>
        </p:txBody>
      </p:sp>
      <p:sp>
        <p:nvSpPr>
          <p:cNvPr id="6144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E668FD6-A3EE-4562-97EF-2DB22AB9A5C3}" type="slidenum">
              <a:rPr lang="en-US" altLang="en-US">
                <a:solidFill>
                  <a:srgbClr val="898989"/>
                </a:solidFill>
                <a:latin typeface="Calibri" panose="020F0502020204030204" pitchFamily="34" charset="0"/>
              </a:rPr>
              <a:pPr/>
              <a:t>40</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591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2400" b="1" dirty="0"/>
              <a:t>                                           </a:t>
            </a:r>
            <a:r>
              <a:rPr lang="en-US" sz="3200" dirty="0"/>
              <a:t>Turbo Gears (continue….)</a:t>
            </a:r>
          </a:p>
        </p:txBody>
      </p:sp>
      <p:sp>
        <p:nvSpPr>
          <p:cNvPr id="61447"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0" name="Rectangle 9"/>
          <p:cNvSpPr/>
          <p:nvPr/>
        </p:nvSpPr>
        <p:spPr>
          <a:xfrm>
            <a:off x="1524000" y="914400"/>
            <a:ext cx="10363200" cy="1200329"/>
          </a:xfrm>
          <a:prstGeom prst="rect">
            <a:avLst/>
          </a:prstGeom>
          <a:solidFill>
            <a:schemeClr val="tx2">
              <a:lumMod val="40000"/>
              <a:lumOff val="60000"/>
            </a:schemeClr>
          </a:solidFill>
          <a:ln w="9525">
            <a:solidFill>
              <a:schemeClr val="tx1"/>
            </a:solidFill>
          </a:ln>
        </p:spPr>
        <p:txBody>
          <a:bodyPr wrap="square">
            <a:spAutoFit/>
          </a:bodyPr>
          <a:lstStyle/>
          <a:p>
            <a:r>
              <a:rPr lang="en-US" sz="2400" dirty="0"/>
              <a:t>Follow the above mentioned command to serve a pre-built example project. Open </a:t>
            </a:r>
            <a:r>
              <a:rPr lang="en-US" sz="2400" b="1" dirty="0"/>
              <a:t>http://localhost:8080</a:t>
            </a:r>
            <a:r>
              <a:rPr lang="en-US" sz="2400" dirty="0"/>
              <a:t> in browser. This readymade sample application gives a brief introduction about Turbo Gears framework itself.</a:t>
            </a:r>
          </a:p>
        </p:txBody>
      </p:sp>
      <p:pic>
        <p:nvPicPr>
          <p:cNvPr id="11" name="Picture 10" descr="C:\Users\mam\Desktop\project_window.jpg"/>
          <p:cNvPicPr/>
          <p:nvPr/>
        </p:nvPicPr>
        <p:blipFill>
          <a:blip r:embed="rId3"/>
          <a:srcRect/>
          <a:stretch>
            <a:fillRect/>
          </a:stretch>
        </p:blipFill>
        <p:spPr bwMode="auto">
          <a:xfrm>
            <a:off x="1524000" y="2307545"/>
            <a:ext cx="7010400" cy="3657600"/>
          </a:xfrm>
          <a:prstGeom prst="rect">
            <a:avLst/>
          </a:prstGeom>
          <a:noFill/>
          <a:ln w="9525">
            <a:noFill/>
            <a:miter lim="800000"/>
            <a:headEnd/>
            <a:tailEnd/>
          </a:ln>
        </p:spPr>
      </p:pic>
      <p:pic>
        <p:nvPicPr>
          <p:cNvPr id="9" name="Picture 8" descr="C:\Users\Dr. CS Yadav\Downloads\New logo NIET.jpg"/>
          <p:cNvPicPr/>
          <p:nvPr/>
        </p:nvPicPr>
        <p:blipFill>
          <a:blip r:embed="rId4"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62369876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25A3DC9E-F208-4165-9DCB-018D8EA977C2}" type="datetime1">
              <a:rPr lang="en-US" smtClean="0"/>
              <a:t>9/27/2024</a:t>
            </a:fld>
            <a:endParaRPr lang="en-US" dirty="0"/>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62468"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2D0707B-0610-4D2D-AB1F-98DA99E9C9C6}" type="slidenum">
              <a:rPr lang="en-US" altLang="en-US">
                <a:solidFill>
                  <a:srgbClr val="898989"/>
                </a:solidFill>
                <a:latin typeface="Calibri" panose="020F0502020204030204" pitchFamily="34" charset="0"/>
              </a:rPr>
              <a:pPr/>
              <a:t>41</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524000" y="0"/>
            <a:ext cx="106680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b="1" dirty="0"/>
              <a:t>                                              </a:t>
            </a:r>
            <a:r>
              <a:rPr lang="en-US" sz="3200" dirty="0"/>
              <a:t>Flask </a:t>
            </a:r>
          </a:p>
        </p:txBody>
      </p:sp>
      <p:sp>
        <p:nvSpPr>
          <p:cNvPr id="62471"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9457" name="Rectangle 1"/>
          <p:cNvSpPr>
            <a:spLocks noChangeArrowheads="1"/>
          </p:cNvSpPr>
          <p:nvPr/>
        </p:nvSpPr>
        <p:spPr bwMode="auto">
          <a:xfrm rot="10800000" flipV="1">
            <a:off x="2743200" y="2105813"/>
            <a:ext cx="7924800" cy="46166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2400" b="1" dirty="0">
                <a:latin typeface="Calibri" pitchFamily="34" charset="0"/>
                <a:ea typeface="Times New Roman" pitchFamily="18" charset="0"/>
                <a:cs typeface="Times New Roman" pitchFamily="18" charset="0"/>
              </a:rPr>
              <a:t> </a:t>
            </a:r>
            <a:endParaRPr lang="en-US" dirty="0">
              <a:latin typeface="Arial" pitchFamily="34" charset="0"/>
              <a:cs typeface="Arial" pitchFamily="34" charset="0"/>
            </a:endParaRPr>
          </a:p>
        </p:txBody>
      </p:sp>
      <p:sp>
        <p:nvSpPr>
          <p:cNvPr id="11" name="Rectangle 10"/>
          <p:cNvSpPr/>
          <p:nvPr/>
        </p:nvSpPr>
        <p:spPr>
          <a:xfrm>
            <a:off x="1562100" y="1143000"/>
            <a:ext cx="10287000" cy="4893647"/>
          </a:xfrm>
          <a:prstGeom prst="rect">
            <a:avLst/>
          </a:prstGeom>
          <a:solidFill>
            <a:schemeClr val="tx2">
              <a:lumMod val="40000"/>
              <a:lumOff val="60000"/>
            </a:schemeClr>
          </a:solidFill>
          <a:ln w="19050">
            <a:solidFill>
              <a:schemeClr val="tx1"/>
            </a:solidFill>
          </a:ln>
        </p:spPr>
        <p:txBody>
          <a:bodyPr wrap="square">
            <a:spAutoFit/>
          </a:bodyPr>
          <a:lstStyle/>
          <a:p>
            <a:pPr marL="342900" indent="-342900">
              <a:buFont typeface="Arial" panose="020B0604020202020204" pitchFamily="34" charset="0"/>
              <a:buChar char="•"/>
            </a:pPr>
            <a:r>
              <a:rPr lang="en-US" sz="2400" dirty="0"/>
              <a:t>Flask is a web application framework written in Python. </a:t>
            </a:r>
          </a:p>
          <a:p>
            <a:pPr marL="342900" indent="-342900">
              <a:buFont typeface="Arial" panose="020B0604020202020204" pitchFamily="34" charset="0"/>
              <a:buChar char="•"/>
            </a:pPr>
            <a:r>
              <a:rPr lang="en-US" sz="2400" dirty="0"/>
              <a:t>Armin </a:t>
            </a:r>
            <a:r>
              <a:rPr lang="en-US" sz="2400" dirty="0" err="1"/>
              <a:t>Ronacher</a:t>
            </a:r>
            <a:r>
              <a:rPr lang="en-US" sz="2400" dirty="0"/>
              <a:t>, who leads an international group of Python enthusiasts named </a:t>
            </a:r>
            <a:r>
              <a:rPr lang="en-US" sz="2400" dirty="0" err="1"/>
              <a:t>Pocco</a:t>
            </a:r>
            <a:r>
              <a:rPr lang="en-US" sz="2400" dirty="0"/>
              <a:t>, develops it. </a:t>
            </a:r>
          </a:p>
          <a:p>
            <a:pPr marL="342900" indent="-342900">
              <a:buFont typeface="Arial" panose="020B0604020202020204" pitchFamily="34" charset="0"/>
              <a:buChar char="•"/>
            </a:pPr>
            <a:r>
              <a:rPr lang="en-US" sz="2400" dirty="0"/>
              <a:t>Flask is based on </a:t>
            </a:r>
            <a:r>
              <a:rPr lang="en-US" sz="2400" dirty="0" err="1"/>
              <a:t>Werkzeug</a:t>
            </a:r>
            <a:r>
              <a:rPr lang="en-US" sz="2400" dirty="0"/>
              <a:t> WSGI toolkit and Jinja2 template engine. Both are </a:t>
            </a:r>
            <a:r>
              <a:rPr lang="en-US" sz="2400" dirty="0" err="1"/>
              <a:t>Pocco</a:t>
            </a:r>
            <a:r>
              <a:rPr lang="en-US" sz="2400" dirty="0"/>
              <a:t> projects.</a:t>
            </a:r>
          </a:p>
          <a:p>
            <a:pPr marL="342900" indent="-342900">
              <a:buFont typeface="Arial" panose="020B0604020202020204" pitchFamily="34" charset="0"/>
              <a:buChar char="•"/>
            </a:pPr>
            <a:r>
              <a:rPr lang="en-US" sz="2400" dirty="0"/>
              <a:t>Flask is often referred to as a micro framework.</a:t>
            </a:r>
          </a:p>
          <a:p>
            <a:pPr marL="342900" indent="-342900">
              <a:buFont typeface="Arial" panose="020B0604020202020204" pitchFamily="34" charset="0"/>
              <a:buChar char="•"/>
            </a:pPr>
            <a:r>
              <a:rPr lang="en-US" sz="2400" dirty="0"/>
              <a:t> It aims to keep the core of an application simple yet extensible. </a:t>
            </a:r>
          </a:p>
          <a:p>
            <a:pPr marL="342900" indent="-342900">
              <a:buFont typeface="Arial" panose="020B0604020202020204" pitchFamily="34" charset="0"/>
              <a:buChar char="•"/>
            </a:pPr>
            <a:r>
              <a:rPr lang="en-US" sz="2400" dirty="0"/>
              <a:t>Flask does not have built-in abstraction layer for database handling, nor does it have form a validation support. </a:t>
            </a:r>
          </a:p>
          <a:p>
            <a:pPr marL="342900" indent="-342900">
              <a:buFont typeface="Arial" panose="020B0604020202020204" pitchFamily="34" charset="0"/>
              <a:buChar char="•"/>
            </a:pPr>
            <a:r>
              <a:rPr lang="en-US" sz="2400" dirty="0"/>
              <a:t>Instead, Flask supports the extensions to add such functionality to the application.</a:t>
            </a:r>
          </a:p>
          <a:p>
            <a:pPr marL="342900" indent="-342900">
              <a:buFont typeface="Arial" panose="020B0604020202020204" pitchFamily="34" charset="0"/>
              <a:buChar char="•"/>
            </a:pPr>
            <a:r>
              <a:rPr lang="en-US" sz="2400" dirty="0">
                <a:ea typeface="Times New Roman" pitchFamily="18" charset="0"/>
                <a:cs typeface="Arial" pitchFamily="34" charset="0"/>
              </a:rPr>
              <a:t>Importing flask module in the project is mandatory. An object of Flask class is our </a:t>
            </a:r>
            <a:r>
              <a:rPr lang="en-US" sz="2400" b="1" dirty="0">
                <a:ea typeface="Times New Roman" pitchFamily="18" charset="0"/>
                <a:cs typeface="Arial" pitchFamily="34" charset="0"/>
              </a:rPr>
              <a:t>WSGI</a:t>
            </a:r>
            <a:r>
              <a:rPr lang="en-US" sz="2400" dirty="0">
                <a:ea typeface="Times New Roman" pitchFamily="18" charset="0"/>
                <a:cs typeface="Arial" pitchFamily="34" charset="0"/>
              </a:rPr>
              <a:t> application</a:t>
            </a:r>
            <a:endParaRPr lang="en-US" sz="2400" dirty="0"/>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24309581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9FA48BA4-B67B-41FD-AA4E-AA1D21772439}" type="datetime1">
              <a:rPr lang="en-US" smtClean="0"/>
              <a:t>9/27/2024</a:t>
            </a:fld>
            <a:endParaRPr lang="en-US" dirty="0"/>
          </a:p>
        </p:txBody>
      </p:sp>
      <p:sp>
        <p:nvSpPr>
          <p:cNvPr id="5" name="Footer Placeholder 4"/>
          <p:cNvSpPr>
            <a:spLocks noGrp="1"/>
          </p:cNvSpPr>
          <p:nvPr>
            <p:ph type="ftr" sz="quarter" idx="11"/>
          </p:nvPr>
        </p:nvSpPr>
        <p:spPr>
          <a:xfrm>
            <a:off x="4038600" y="6356351"/>
            <a:ext cx="7010400" cy="365125"/>
          </a:xfrm>
        </p:spPr>
        <p:txBody>
          <a:bodyPr/>
          <a:lstStyle/>
          <a:p>
            <a:pPr>
              <a:defRPr/>
            </a:pPr>
            <a:r>
              <a:rPr lang="en-US"/>
              <a:t>Ritesh Kumar Singh                 Python web development with Django                           Unit I</a:t>
            </a:r>
            <a:endParaRPr lang="en-US" dirty="0"/>
          </a:p>
        </p:txBody>
      </p:sp>
      <p:sp>
        <p:nvSpPr>
          <p:cNvPr id="63492"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B7435E-7134-4494-8BD5-E45363701B98}" type="slidenum">
              <a:rPr lang="en-US" altLang="en-US">
                <a:solidFill>
                  <a:srgbClr val="898989"/>
                </a:solidFill>
                <a:latin typeface="Calibri" panose="020F0502020204030204" pitchFamily="34" charset="0"/>
              </a:rPr>
              <a:pPr/>
              <a:t>42</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dirty="0"/>
              <a:t>                                          Flask(continue….)</a:t>
            </a:r>
            <a:endParaRPr lang="en-US" sz="3200" dirty="0">
              <a:latin typeface="Times New Roman" pitchFamily="18" charset="0"/>
              <a:cs typeface="Times New Roman" pitchFamily="18" charset="0"/>
            </a:endParaRPr>
          </a:p>
        </p:txBody>
      </p:sp>
      <p:sp>
        <p:nvSpPr>
          <p:cNvPr id="63495"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3497" name="TextBox 9"/>
          <p:cNvSpPr txBox="1">
            <a:spLocks noChangeArrowheads="1"/>
          </p:cNvSpPr>
          <p:nvPr/>
        </p:nvSpPr>
        <p:spPr bwMode="auto">
          <a:xfrm>
            <a:off x="2362200" y="19812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7409" name="Rectangle 1"/>
          <p:cNvSpPr>
            <a:spLocks noChangeArrowheads="1"/>
          </p:cNvSpPr>
          <p:nvPr/>
        </p:nvSpPr>
        <p:spPr bwMode="auto">
          <a:xfrm>
            <a:off x="1104900" y="914400"/>
            <a:ext cx="10896600" cy="4708981"/>
          </a:xfrm>
          <a:prstGeom prst="rect">
            <a:avLst/>
          </a:prstGeom>
          <a:solidFill>
            <a:schemeClr val="tx2">
              <a:lumMod val="40000"/>
              <a:lumOff val="60000"/>
            </a:schemeClr>
          </a:solidFill>
          <a:ln w="1270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tabLst>
                <a:tab pos="457200" algn="l"/>
              </a:tabLst>
            </a:pPr>
            <a:r>
              <a:rPr lang="en-US" sz="2400" dirty="0">
                <a:ea typeface="Times New Roman" pitchFamily="18" charset="0"/>
                <a:cs typeface="Arial" pitchFamily="34" charset="0"/>
              </a:rPr>
              <a:t>.Flask constructor takes the name of </a:t>
            </a:r>
            <a:r>
              <a:rPr lang="en-US" sz="2400" b="1" dirty="0">
                <a:ea typeface="Times New Roman" pitchFamily="18" charset="0"/>
                <a:cs typeface="Arial" pitchFamily="34" charset="0"/>
              </a:rPr>
              <a:t>current module (__name__)</a:t>
            </a:r>
            <a:r>
              <a:rPr lang="en-US" sz="2400" dirty="0">
                <a:ea typeface="Times New Roman" pitchFamily="18" charset="0"/>
                <a:cs typeface="Arial" pitchFamily="34" charset="0"/>
              </a:rPr>
              <a:t> as argument.</a:t>
            </a:r>
          </a:p>
          <a:p>
            <a:pPr eaLnBrk="0" fontAlgn="base" hangingPunct="0">
              <a:spcBef>
                <a:spcPct val="0"/>
              </a:spcBef>
              <a:spcAft>
                <a:spcPct val="0"/>
              </a:spcAft>
              <a:tabLst>
                <a:tab pos="457200" algn="l"/>
              </a:tabLst>
            </a:pPr>
            <a:r>
              <a:rPr lang="en-US" sz="2400" dirty="0">
                <a:ea typeface="Times New Roman" pitchFamily="18" charset="0"/>
                <a:cs typeface="Arial" pitchFamily="34" charset="0"/>
              </a:rPr>
              <a:t>The </a:t>
            </a:r>
            <a:r>
              <a:rPr lang="en-US" sz="2400" b="1" dirty="0">
                <a:ea typeface="Times New Roman" pitchFamily="18" charset="0"/>
                <a:cs typeface="Arial" pitchFamily="34" charset="0"/>
              </a:rPr>
              <a:t>route()</a:t>
            </a:r>
            <a:r>
              <a:rPr lang="en-US" sz="2400" dirty="0">
                <a:ea typeface="Times New Roman" pitchFamily="18" charset="0"/>
                <a:cs typeface="Arial" pitchFamily="34" charset="0"/>
              </a:rPr>
              <a:t> function of the Flask class is a decorator, which tells the application which URL should call the associated function.</a:t>
            </a:r>
            <a:endParaRPr lang="en-US" sz="2400" dirty="0">
              <a:ea typeface="Times New Roman" pitchFamily="18" charset="0"/>
              <a:cs typeface="Courier New" pitchFamily="49" charset="0"/>
            </a:endParaRPr>
          </a:p>
          <a:p>
            <a:pPr eaLnBrk="0" fontAlgn="base" hangingPunct="0">
              <a:spcBef>
                <a:spcPct val="0"/>
              </a:spcBef>
              <a:spcAft>
                <a:spcPct val="0"/>
              </a:spcAft>
              <a:tabLst>
                <a:tab pos="457200" algn="l"/>
              </a:tabLst>
            </a:pPr>
            <a:r>
              <a:rPr lang="en-US" sz="2400" dirty="0" err="1">
                <a:ea typeface="Times New Roman" pitchFamily="18" charset="0"/>
                <a:cs typeface="Courier New" pitchFamily="49" charset="0"/>
              </a:rPr>
              <a:t>app.route</a:t>
            </a:r>
            <a:r>
              <a:rPr lang="en-US" sz="2400" dirty="0">
                <a:ea typeface="Times New Roman" pitchFamily="18" charset="0"/>
                <a:cs typeface="Courier New" pitchFamily="49" charset="0"/>
              </a:rPr>
              <a:t>(rule, options)</a:t>
            </a:r>
            <a:r>
              <a:rPr lang="en-US" sz="2400" dirty="0">
                <a:cs typeface="Arial" pitchFamily="34" charset="0"/>
              </a:rPr>
              <a:t> </a:t>
            </a:r>
            <a:endParaRPr lang="en-US" sz="2400" dirty="0">
              <a:ea typeface="Times New Roman" pitchFamily="18" charset="0"/>
              <a:cs typeface="Arial" pitchFamily="34" charset="0"/>
            </a:endParaRP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The </a:t>
            </a:r>
            <a:r>
              <a:rPr lang="en-US" sz="2400" b="1" dirty="0">
                <a:ea typeface="Times New Roman" pitchFamily="18" charset="0"/>
                <a:cs typeface="Arial" pitchFamily="34" charset="0"/>
              </a:rPr>
              <a:t>rule</a:t>
            </a:r>
            <a:r>
              <a:rPr lang="en-US" sz="2400" dirty="0">
                <a:ea typeface="Times New Roman" pitchFamily="18" charset="0"/>
                <a:cs typeface="Arial" pitchFamily="34" charset="0"/>
              </a:rPr>
              <a:t> parameter represents URL binding with the function.</a:t>
            </a:r>
            <a:endParaRPr lang="en-US" sz="2400" dirty="0">
              <a:cs typeface="Arial" pitchFamily="34" charset="0"/>
            </a:endParaRPr>
          </a:p>
          <a:p>
            <a:pPr eaLnBrk="0" fontAlgn="base" hangingPunct="0">
              <a:spcBef>
                <a:spcPct val="0"/>
              </a:spcBef>
              <a:spcAft>
                <a:spcPct val="0"/>
              </a:spcAft>
              <a:buFontTx/>
              <a:buChar char="•"/>
              <a:tabLst>
                <a:tab pos="457200" algn="l"/>
              </a:tabLst>
            </a:pPr>
            <a:r>
              <a:rPr lang="en-US" sz="2400" dirty="0">
                <a:ea typeface="Times New Roman" pitchFamily="18" charset="0"/>
                <a:cs typeface="Arial" pitchFamily="34" charset="0"/>
              </a:rPr>
              <a:t>The </a:t>
            </a:r>
            <a:r>
              <a:rPr lang="en-US" sz="2400" b="1" dirty="0">
                <a:ea typeface="Times New Roman" pitchFamily="18" charset="0"/>
                <a:cs typeface="Arial" pitchFamily="34" charset="0"/>
              </a:rPr>
              <a:t>options</a:t>
            </a:r>
            <a:r>
              <a:rPr lang="en-US" sz="2400" dirty="0">
                <a:ea typeface="Times New Roman" pitchFamily="18" charset="0"/>
                <a:cs typeface="Arial" pitchFamily="34" charset="0"/>
              </a:rPr>
              <a:t> is a list of parameters to be forwarded to the underlying Rule object.</a:t>
            </a:r>
          </a:p>
          <a:p>
            <a:pPr eaLnBrk="0" fontAlgn="base" hangingPunct="0">
              <a:spcBef>
                <a:spcPct val="0"/>
              </a:spcBef>
              <a:spcAft>
                <a:spcPct val="0"/>
              </a:spcAft>
              <a:tabLst>
                <a:tab pos="457200" algn="l"/>
              </a:tabLst>
            </a:pPr>
            <a:r>
              <a:rPr lang="en-US" sz="2400" dirty="0">
                <a:ea typeface="Times New Roman" pitchFamily="18" charset="0"/>
                <a:cs typeface="Arial" pitchFamily="34" charset="0"/>
              </a:rPr>
              <a:t>In the above example, </a:t>
            </a:r>
            <a:r>
              <a:rPr lang="en-US" sz="2400" b="1" dirty="0">
                <a:ea typeface="Times New Roman" pitchFamily="18" charset="0"/>
                <a:cs typeface="Arial" pitchFamily="34" charset="0"/>
              </a:rPr>
              <a:t>‘/’</a:t>
            </a:r>
            <a:r>
              <a:rPr lang="en-US" sz="2400" dirty="0">
                <a:ea typeface="Times New Roman" pitchFamily="18" charset="0"/>
                <a:cs typeface="Arial" pitchFamily="34" charset="0"/>
              </a:rPr>
              <a:t> URL is bound with </a:t>
            </a:r>
            <a:r>
              <a:rPr lang="en-US" sz="2400" b="1" dirty="0">
                <a:ea typeface="Times New Roman" pitchFamily="18" charset="0"/>
                <a:cs typeface="Arial" pitchFamily="34" charset="0"/>
              </a:rPr>
              <a:t>hello_world()</a:t>
            </a:r>
            <a:r>
              <a:rPr lang="en-US" sz="2400" dirty="0">
                <a:ea typeface="Times New Roman" pitchFamily="18" charset="0"/>
                <a:cs typeface="Arial" pitchFamily="34" charset="0"/>
              </a:rPr>
              <a:t> function. Hence, when the home page of web server is opened in browser, the output of this function will be rendered.</a:t>
            </a:r>
          </a:p>
          <a:p>
            <a:pPr eaLnBrk="0" fontAlgn="base" hangingPunct="0">
              <a:spcBef>
                <a:spcPct val="0"/>
              </a:spcBef>
              <a:spcAft>
                <a:spcPct val="0"/>
              </a:spcAft>
              <a:tabLst>
                <a:tab pos="457200" algn="l"/>
              </a:tabLst>
            </a:pPr>
            <a:r>
              <a:rPr lang="en-US" sz="2400" dirty="0">
                <a:ea typeface="Times New Roman" pitchFamily="18" charset="0"/>
                <a:cs typeface="Arial" pitchFamily="34" charset="0"/>
              </a:rPr>
              <a:t>Finally the </a:t>
            </a:r>
            <a:r>
              <a:rPr lang="en-US" sz="2400" b="1" dirty="0">
                <a:ea typeface="Times New Roman" pitchFamily="18" charset="0"/>
                <a:cs typeface="Arial" pitchFamily="34" charset="0"/>
              </a:rPr>
              <a:t>run()</a:t>
            </a:r>
            <a:r>
              <a:rPr lang="en-US" sz="2400" dirty="0">
                <a:ea typeface="Times New Roman" pitchFamily="18" charset="0"/>
                <a:cs typeface="Arial" pitchFamily="34" charset="0"/>
              </a:rPr>
              <a:t> method of Flask class runs the application on the local development server.</a:t>
            </a:r>
            <a:endParaRPr lang="en-US" sz="2400" dirty="0">
              <a:ea typeface="Times New Roman" pitchFamily="18" charset="0"/>
              <a:cs typeface="Courier New" pitchFamily="49" charset="0"/>
            </a:endParaRPr>
          </a:p>
          <a:p>
            <a:pPr eaLnBrk="0" fontAlgn="base" hangingPunct="0">
              <a:spcBef>
                <a:spcPct val="0"/>
              </a:spcBef>
              <a:spcAft>
                <a:spcPct val="0"/>
              </a:spcAft>
              <a:tabLst>
                <a:tab pos="457200" algn="l"/>
              </a:tabLst>
            </a:pPr>
            <a:r>
              <a:rPr lang="en-US" sz="2400" dirty="0" err="1">
                <a:ea typeface="Times New Roman" pitchFamily="18" charset="0"/>
                <a:cs typeface="Courier New" pitchFamily="49" charset="0"/>
              </a:rPr>
              <a:t>app.run</a:t>
            </a:r>
            <a:r>
              <a:rPr lang="en-US" sz="2400" dirty="0">
                <a:ea typeface="Times New Roman" pitchFamily="18" charset="0"/>
                <a:cs typeface="Courier New" pitchFamily="49" charset="0"/>
              </a:rPr>
              <a:t>(host, port, debug, options)</a:t>
            </a:r>
            <a:endParaRPr lang="en-US" sz="2400" dirty="0">
              <a:cs typeface="Arial" pitchFamily="34" charset="0"/>
            </a:endParaRPr>
          </a:p>
          <a:p>
            <a:pPr eaLnBrk="0" fontAlgn="base" hangingPunct="0">
              <a:spcBef>
                <a:spcPct val="0"/>
              </a:spcBef>
              <a:spcAft>
                <a:spcPct val="0"/>
              </a:spcAft>
              <a:tabLst>
                <a:tab pos="457200" algn="l"/>
              </a:tabLst>
            </a:pPr>
            <a:endParaRPr lang="en-US" dirty="0">
              <a:cs typeface="Arial" pitchFamily="34" charset="0"/>
            </a:endParaRP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74962151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79354DA7-7038-468A-859F-34D0D5866CD6}" type="datetime1">
              <a:rPr lang="en-US" smtClean="0"/>
              <a:t>9/27/2024</a:t>
            </a:fld>
            <a:endParaRPr lang="en-US" dirty="0"/>
          </a:p>
        </p:txBody>
      </p:sp>
      <p:sp>
        <p:nvSpPr>
          <p:cNvPr id="5" name="Footer Placeholder 4"/>
          <p:cNvSpPr>
            <a:spLocks noGrp="1"/>
          </p:cNvSpPr>
          <p:nvPr>
            <p:ph type="ftr" sz="quarter" idx="11"/>
          </p:nvPr>
        </p:nvSpPr>
        <p:spPr>
          <a:xfrm>
            <a:off x="4038600" y="6356351"/>
            <a:ext cx="7239000" cy="365125"/>
          </a:xfrm>
        </p:spPr>
        <p:txBody>
          <a:bodyPr/>
          <a:lstStyle/>
          <a:p>
            <a:pPr>
              <a:defRPr/>
            </a:pPr>
            <a:r>
              <a:rPr lang="en-US"/>
              <a:t>Ritesh Kumar Singh                 Python web development with Django                           Unit I</a:t>
            </a:r>
            <a:endParaRPr lang="en-US" dirty="0"/>
          </a:p>
        </p:txBody>
      </p:sp>
      <p:sp>
        <p:nvSpPr>
          <p:cNvPr id="64516"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C7AC8DB-0C25-4DF7-ADCB-52E8AD56B26C}" type="slidenum">
              <a:rPr lang="en-US" altLang="en-US">
                <a:solidFill>
                  <a:srgbClr val="898989"/>
                </a:solidFill>
                <a:latin typeface="Calibri" panose="020F0502020204030204" pitchFamily="34" charset="0"/>
              </a:rPr>
              <a:pPr/>
              <a:t>43</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dirty="0"/>
              <a:t>                                           Flask(continue….)</a:t>
            </a:r>
            <a:endParaRPr lang="en-US" sz="3200" dirty="0">
              <a:latin typeface="Times New Roman" pitchFamily="18" charset="0"/>
              <a:cs typeface="Times New Roman" pitchFamily="18" charset="0"/>
            </a:endParaRPr>
          </a:p>
        </p:txBody>
      </p:sp>
      <p:sp>
        <p:nvSpPr>
          <p:cNvPr id="64519"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4521" name="TextBox 9"/>
          <p:cNvSpPr txBox="1">
            <a:spLocks noChangeArrowheads="1"/>
          </p:cNvSpPr>
          <p:nvPr/>
        </p:nvSpPr>
        <p:spPr bwMode="auto">
          <a:xfrm>
            <a:off x="2362200" y="19812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5361" name="Rectangle 1"/>
          <p:cNvSpPr>
            <a:spLocks noChangeArrowheads="1"/>
          </p:cNvSpPr>
          <p:nvPr/>
        </p:nvSpPr>
        <p:spPr bwMode="auto">
          <a:xfrm>
            <a:off x="703217" y="990600"/>
            <a:ext cx="10907486" cy="4801314"/>
          </a:xfrm>
          <a:prstGeom prst="rect">
            <a:avLst/>
          </a:prstGeom>
          <a:solidFill>
            <a:schemeClr val="tx2">
              <a:lumMod val="40000"/>
              <a:lumOff val="60000"/>
            </a:schemeClr>
          </a:solidFill>
          <a:ln w="12700">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fontAlgn="base">
              <a:spcBef>
                <a:spcPct val="0"/>
              </a:spcBef>
              <a:spcAft>
                <a:spcPct val="0"/>
              </a:spcAft>
            </a:pPr>
            <a:r>
              <a:rPr lang="en-US" sz="2400" b="1" dirty="0">
                <a:ea typeface="Times New Roman" pitchFamily="18" charset="0"/>
                <a:cs typeface="Times New Roman" pitchFamily="18" charset="0"/>
              </a:rPr>
              <a:t>Debug mode</a:t>
            </a:r>
          </a:p>
          <a:p>
            <a:pPr marL="457200" indent="-457200" eaLnBrk="0" fontAlgn="base" hangingPunct="0">
              <a:spcBef>
                <a:spcPct val="0"/>
              </a:spcBef>
              <a:spcAft>
                <a:spcPct val="0"/>
              </a:spcAft>
              <a:buFont typeface="Arial" panose="020B0604020202020204" pitchFamily="34" charset="0"/>
              <a:buChar char="•"/>
            </a:pPr>
            <a:r>
              <a:rPr lang="en-US" sz="2400" dirty="0">
                <a:ea typeface="Times New Roman" pitchFamily="18" charset="0"/>
                <a:cs typeface="Arial" pitchFamily="34" charset="0"/>
              </a:rPr>
              <a:t>A </a:t>
            </a:r>
            <a:r>
              <a:rPr lang="en-US" sz="2400" b="1" dirty="0">
                <a:ea typeface="Times New Roman" pitchFamily="18" charset="0"/>
                <a:cs typeface="Arial" pitchFamily="34" charset="0"/>
              </a:rPr>
              <a:t>Flask</a:t>
            </a:r>
            <a:r>
              <a:rPr lang="en-US" sz="2400" dirty="0">
                <a:ea typeface="Times New Roman" pitchFamily="18" charset="0"/>
                <a:cs typeface="Arial" pitchFamily="34" charset="0"/>
              </a:rPr>
              <a:t> application is started by calling the </a:t>
            </a:r>
            <a:r>
              <a:rPr lang="en-US" sz="2400" b="1" dirty="0">
                <a:ea typeface="Times New Roman" pitchFamily="18" charset="0"/>
                <a:cs typeface="Arial" pitchFamily="34" charset="0"/>
              </a:rPr>
              <a:t>run()</a:t>
            </a:r>
            <a:r>
              <a:rPr lang="en-US" sz="2400" dirty="0">
                <a:ea typeface="Times New Roman" pitchFamily="18" charset="0"/>
                <a:cs typeface="Arial" pitchFamily="34" charset="0"/>
              </a:rPr>
              <a:t> method.</a:t>
            </a:r>
          </a:p>
          <a:p>
            <a:pPr marL="457200" indent="-457200" eaLnBrk="0" fontAlgn="base" hangingPunct="0">
              <a:spcBef>
                <a:spcPct val="0"/>
              </a:spcBef>
              <a:spcAft>
                <a:spcPct val="0"/>
              </a:spcAft>
              <a:buFont typeface="Arial" panose="020B0604020202020204" pitchFamily="34" charset="0"/>
              <a:buChar char="•"/>
            </a:pPr>
            <a:r>
              <a:rPr lang="en-US" sz="2400" dirty="0">
                <a:ea typeface="Times New Roman" pitchFamily="18" charset="0"/>
                <a:cs typeface="Arial" pitchFamily="34" charset="0"/>
              </a:rPr>
              <a:t> However, while the application is under development, it should be restarted manually for each change in the code. To avoid this inconvenience, enable </a:t>
            </a:r>
            <a:r>
              <a:rPr lang="en-US" sz="2400" b="1" dirty="0">
                <a:ea typeface="Times New Roman" pitchFamily="18" charset="0"/>
                <a:cs typeface="Arial" pitchFamily="34" charset="0"/>
              </a:rPr>
              <a:t>debug support</a:t>
            </a:r>
            <a:r>
              <a:rPr lang="en-US" sz="2400" dirty="0">
                <a:ea typeface="Times New Roman" pitchFamily="18" charset="0"/>
                <a:cs typeface="Arial" pitchFamily="34" charset="0"/>
              </a:rPr>
              <a:t>. </a:t>
            </a:r>
          </a:p>
          <a:p>
            <a:pPr marL="457200" indent="-457200" eaLnBrk="0" fontAlgn="base" hangingPunct="0">
              <a:spcBef>
                <a:spcPct val="0"/>
              </a:spcBef>
              <a:spcAft>
                <a:spcPct val="0"/>
              </a:spcAft>
              <a:buFont typeface="Arial" panose="020B0604020202020204" pitchFamily="34" charset="0"/>
              <a:buChar char="•"/>
            </a:pPr>
            <a:r>
              <a:rPr lang="en-US" sz="2400" dirty="0">
                <a:ea typeface="Times New Roman" pitchFamily="18" charset="0"/>
                <a:cs typeface="Arial" pitchFamily="34" charset="0"/>
              </a:rPr>
              <a:t>The server will then reload itself if the code changes. It will also provide a useful debugger to track the errors if any, in the application.</a:t>
            </a:r>
          </a:p>
          <a:p>
            <a:pPr marL="457200" indent="-457200">
              <a:buFont typeface="Arial" panose="020B0604020202020204" pitchFamily="34" charset="0"/>
              <a:buChar char="•"/>
            </a:pPr>
            <a:r>
              <a:rPr lang="en-US" sz="2400" dirty="0"/>
              <a:t>Modern web frameworks use the routing technique to help a user remember application URLs. It is useful to access the desired page directly without having to navigate from the home page.</a:t>
            </a:r>
          </a:p>
          <a:p>
            <a:pPr marL="457200" indent="-457200">
              <a:buFont typeface="Arial" panose="020B0604020202020204" pitchFamily="34" charset="0"/>
              <a:buChar char="•"/>
            </a:pPr>
            <a:r>
              <a:rPr lang="en-US" sz="2400" dirty="0"/>
              <a:t>The </a:t>
            </a:r>
            <a:r>
              <a:rPr lang="en-US" sz="2400" b="1" dirty="0"/>
              <a:t>route()</a:t>
            </a:r>
            <a:r>
              <a:rPr lang="en-US" sz="2400" dirty="0"/>
              <a:t> decorator in Flask is used to bind URL to a function. For example −</a:t>
            </a:r>
          </a:p>
          <a:p>
            <a:pPr marL="457200" indent="-457200">
              <a:buFont typeface="Arial" panose="020B0604020202020204" pitchFamily="34" charset="0"/>
              <a:buChar char="•"/>
            </a:pPr>
            <a:r>
              <a:rPr lang="en-US" sz="2400" dirty="0"/>
              <a:t>@</a:t>
            </a:r>
            <a:r>
              <a:rPr lang="en-US" sz="2400" dirty="0" err="1"/>
              <a:t>app.route</a:t>
            </a:r>
            <a:r>
              <a:rPr lang="en-US" sz="2400" dirty="0"/>
              <a:t>(‘/hello’)def hello_world():   </a:t>
            </a:r>
          </a:p>
          <a:p>
            <a:pPr marL="457200" indent="-457200">
              <a:buFont typeface="Arial" panose="020B0604020202020204" pitchFamily="34" charset="0"/>
              <a:buChar char="•"/>
            </a:pPr>
            <a:r>
              <a:rPr lang="en-US" sz="2400" dirty="0"/>
              <a:t>return ‘hello world’</a:t>
            </a: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4103205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quarter" idx="10"/>
          </p:nvPr>
        </p:nvSpPr>
        <p:spPr/>
        <p:txBody>
          <a:bodyPr/>
          <a:lstStyle/>
          <a:p>
            <a:pPr>
              <a:defRPr/>
            </a:pPr>
            <a:fld id="{5AF1F726-EE65-40C9-BC87-9CE74FA1A20B}" type="datetime1">
              <a:rPr lang="en-US" smtClean="0"/>
              <a:t>9/27/2024</a:t>
            </a:fld>
            <a:endParaRPr lang="en-US" dirty="0"/>
          </a:p>
        </p:txBody>
      </p:sp>
      <p:sp>
        <p:nvSpPr>
          <p:cNvPr id="5" name="Footer Placeholder 4"/>
          <p:cNvSpPr>
            <a:spLocks noGrp="1"/>
          </p:cNvSpPr>
          <p:nvPr>
            <p:ph type="ftr" sz="quarter" idx="11"/>
          </p:nvPr>
        </p:nvSpPr>
        <p:spPr>
          <a:xfrm>
            <a:off x="4038600" y="6356351"/>
            <a:ext cx="7162800" cy="365125"/>
          </a:xfrm>
        </p:spPr>
        <p:txBody>
          <a:bodyPr/>
          <a:lstStyle/>
          <a:p>
            <a:pPr>
              <a:defRPr/>
            </a:pPr>
            <a:r>
              <a:rPr lang="en-US"/>
              <a:t>Ritesh Kumar Singh                 Python web development with Django                           Unit I</a:t>
            </a:r>
            <a:endParaRPr lang="en-US" dirty="0"/>
          </a:p>
        </p:txBody>
      </p:sp>
      <p:sp>
        <p:nvSpPr>
          <p:cNvPr id="6554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F03CEEC-26AA-4DC7-A8F6-9286431C6E74}" type="slidenum">
              <a:rPr lang="en-US" altLang="en-US">
                <a:solidFill>
                  <a:srgbClr val="898989"/>
                </a:solidFill>
                <a:latin typeface="Calibri" panose="020F0502020204030204" pitchFamily="34" charset="0"/>
              </a:rPr>
              <a:pPr/>
              <a:t>44</a:t>
            </a:fld>
            <a:endParaRPr lang="en-US" altLang="en-US">
              <a:solidFill>
                <a:srgbClr val="898989"/>
              </a:solidFill>
              <a:latin typeface="Calibri" panose="020F0502020204030204" pitchFamily="34" charset="0"/>
            </a:endParaRPr>
          </a:p>
        </p:txBody>
      </p:sp>
      <p:sp>
        <p:nvSpPr>
          <p:cNvPr id="7" name="Title 1"/>
          <p:cNvSpPr txBox="1">
            <a:spLocks/>
          </p:cNvSpPr>
          <p:nvPr/>
        </p:nvSpPr>
        <p:spPr>
          <a:xfrm>
            <a:off x="1447800" y="0"/>
            <a:ext cx="10744199"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defRPr/>
            </a:pPr>
            <a:r>
              <a:rPr lang="en-US" sz="3200" dirty="0"/>
              <a:t>                                       Flask(continue….)</a:t>
            </a:r>
            <a:endParaRPr lang="en-US" sz="3200" dirty="0">
              <a:latin typeface="Times New Roman" pitchFamily="18" charset="0"/>
              <a:cs typeface="Times New Roman" pitchFamily="18" charset="0"/>
            </a:endParaRPr>
          </a:p>
        </p:txBody>
      </p:sp>
      <p:sp>
        <p:nvSpPr>
          <p:cNvPr id="65543" name="TextBox 7"/>
          <p:cNvSpPr txBox="1">
            <a:spLocks noChangeArrowheads="1"/>
          </p:cNvSpPr>
          <p:nvPr/>
        </p:nvSpPr>
        <p:spPr bwMode="auto">
          <a:xfrm>
            <a:off x="2743200" y="1905000"/>
            <a:ext cx="7086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65545" name="TextBox 9"/>
          <p:cNvSpPr txBox="1">
            <a:spLocks noChangeArrowheads="1"/>
          </p:cNvSpPr>
          <p:nvPr/>
        </p:nvSpPr>
        <p:spPr bwMode="auto">
          <a:xfrm>
            <a:off x="2362200" y="1981200"/>
            <a:ext cx="7543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endParaRPr lang="en-US" altLang="en-US"/>
          </a:p>
        </p:txBody>
      </p:sp>
      <p:sp>
        <p:nvSpPr>
          <p:cNvPr id="13313" name="Rectangle 1"/>
          <p:cNvSpPr>
            <a:spLocks noChangeArrowheads="1"/>
          </p:cNvSpPr>
          <p:nvPr/>
        </p:nvSpPr>
        <p:spPr bwMode="auto">
          <a:xfrm>
            <a:off x="1684020" y="1131748"/>
            <a:ext cx="9738360" cy="4708981"/>
          </a:xfrm>
          <a:prstGeom prst="rect">
            <a:avLst/>
          </a:prstGeom>
          <a:solidFill>
            <a:schemeClr val="tx2">
              <a:lumMod val="40000"/>
              <a:lumOff val="60000"/>
            </a:schemeClr>
          </a:solidFill>
          <a:ln w="9525">
            <a:solidFill>
              <a:schemeClr val="tx1"/>
            </a:solidFill>
            <a:miter lim="800000"/>
            <a:headEnd/>
            <a:tailEnd/>
          </a:ln>
          <a:effectLst/>
        </p:spPr>
        <p:txBody>
          <a:bodyPr vert="horz" wrap="square" lIns="0" tIns="0" rIns="0" bIns="0" numCol="1" anchor="ctr" anchorCtr="0" compatLnSpc="1">
            <a:prstTxWarp prst="textNoShape">
              <a:avLst/>
            </a:prstTxWarp>
            <a:spAutoFit/>
          </a:bodyPr>
          <a:lstStyle/>
          <a:p>
            <a:pPr marL="342900" indent="-342900" fontAlgn="base">
              <a:spcBef>
                <a:spcPct val="0"/>
              </a:spcBef>
              <a:spcAft>
                <a:spcPct val="0"/>
              </a:spcAft>
              <a:buFont typeface="Arial" panose="020B0604020202020204" pitchFamily="34" charset="0"/>
              <a:buChar char="•"/>
            </a:pPr>
            <a:r>
              <a:rPr lang="en-US" sz="2400" dirty="0">
                <a:latin typeface="+mj-lt"/>
                <a:ea typeface="Times New Roman" pitchFamily="18" charset="0"/>
                <a:cs typeface="Arial" pitchFamily="34" charset="0"/>
              </a:rPr>
              <a:t>Here, URL </a:t>
            </a:r>
            <a:r>
              <a:rPr lang="en-US" sz="2400" b="1" dirty="0">
                <a:latin typeface="+mj-lt"/>
                <a:ea typeface="Times New Roman" pitchFamily="18" charset="0"/>
                <a:cs typeface="Arial" pitchFamily="34" charset="0"/>
              </a:rPr>
              <a:t>‘/hello’</a:t>
            </a:r>
            <a:r>
              <a:rPr lang="en-US" sz="2400" dirty="0">
                <a:latin typeface="+mj-lt"/>
                <a:ea typeface="Times New Roman" pitchFamily="18" charset="0"/>
                <a:cs typeface="Arial" pitchFamily="34" charset="0"/>
              </a:rPr>
              <a:t> rule is bound to the </a:t>
            </a:r>
            <a:r>
              <a:rPr lang="en-US" sz="2400" b="1" dirty="0">
                <a:latin typeface="+mj-lt"/>
                <a:ea typeface="Times New Roman" pitchFamily="18" charset="0"/>
                <a:cs typeface="Arial" pitchFamily="34" charset="0"/>
              </a:rPr>
              <a:t>hello_world()</a:t>
            </a:r>
            <a:r>
              <a:rPr lang="en-US" sz="2400" dirty="0">
                <a:latin typeface="+mj-lt"/>
                <a:ea typeface="Times New Roman" pitchFamily="18" charset="0"/>
                <a:cs typeface="Arial" pitchFamily="34" charset="0"/>
              </a:rPr>
              <a:t> function.</a:t>
            </a:r>
          </a:p>
          <a:p>
            <a:pPr fontAlgn="base">
              <a:spcBef>
                <a:spcPct val="0"/>
              </a:spcBef>
              <a:spcAft>
                <a:spcPct val="0"/>
              </a:spcAft>
            </a:pPr>
            <a:endParaRPr lang="en-US" sz="2400" dirty="0">
              <a:latin typeface="+mj-lt"/>
              <a:ea typeface="Times New Roman" pitchFamily="18" charset="0"/>
              <a:cs typeface="Arial" pitchFamily="34" charset="0"/>
            </a:endParaRPr>
          </a:p>
          <a:p>
            <a:pPr marL="342900" indent="-342900" fontAlgn="base">
              <a:spcBef>
                <a:spcPct val="0"/>
              </a:spcBef>
              <a:spcAft>
                <a:spcPct val="0"/>
              </a:spcAft>
              <a:buFont typeface="Arial" panose="020B0604020202020204" pitchFamily="34" charset="0"/>
              <a:buChar char="•"/>
            </a:pPr>
            <a:r>
              <a:rPr lang="en-US" sz="2400" dirty="0">
                <a:latin typeface="+mj-lt"/>
                <a:ea typeface="Times New Roman" pitchFamily="18" charset="0"/>
                <a:cs typeface="Arial" pitchFamily="34" charset="0"/>
              </a:rPr>
              <a:t> As a result, if a user visits </a:t>
            </a:r>
            <a:r>
              <a:rPr lang="en-US" sz="2400" b="1" dirty="0">
                <a:latin typeface="+mj-lt"/>
                <a:ea typeface="Times New Roman" pitchFamily="18" charset="0"/>
                <a:cs typeface="Arial" pitchFamily="34" charset="0"/>
              </a:rPr>
              <a:t>http://localhost:5000/hello</a:t>
            </a:r>
            <a:r>
              <a:rPr lang="en-US" sz="2400" dirty="0">
                <a:latin typeface="+mj-lt"/>
                <a:ea typeface="Times New Roman" pitchFamily="18" charset="0"/>
                <a:cs typeface="Arial" pitchFamily="34" charset="0"/>
              </a:rPr>
              <a:t> URL, the output of the </a:t>
            </a:r>
            <a:r>
              <a:rPr lang="en-US" sz="2400" b="1" dirty="0">
                <a:latin typeface="+mj-lt"/>
                <a:ea typeface="Times New Roman" pitchFamily="18" charset="0"/>
                <a:cs typeface="Arial" pitchFamily="34" charset="0"/>
              </a:rPr>
              <a:t>hello_world()</a:t>
            </a:r>
            <a:r>
              <a:rPr lang="en-US" sz="2400" dirty="0">
                <a:latin typeface="+mj-lt"/>
                <a:ea typeface="Times New Roman" pitchFamily="18" charset="0"/>
                <a:cs typeface="Arial" pitchFamily="34" charset="0"/>
              </a:rPr>
              <a:t> function will be rendered in the browser.</a:t>
            </a:r>
          </a:p>
          <a:p>
            <a:pPr fontAlgn="base">
              <a:spcBef>
                <a:spcPct val="0"/>
              </a:spcBef>
              <a:spcAft>
                <a:spcPct val="0"/>
              </a:spcAft>
            </a:pPr>
            <a:endParaRPr lang="en-US" sz="2400" dirty="0">
              <a:latin typeface="+mj-lt"/>
              <a:ea typeface="Times New Roman" pitchFamily="18" charset="0"/>
              <a:cs typeface="Arial" pitchFamily="34" charset="0"/>
            </a:endParaRPr>
          </a:p>
          <a:p>
            <a:pPr marL="342900" indent="-342900" eaLnBrk="0" fontAlgn="base" hangingPunct="0">
              <a:spcBef>
                <a:spcPct val="0"/>
              </a:spcBef>
              <a:spcAft>
                <a:spcPct val="0"/>
              </a:spcAft>
              <a:buFont typeface="Arial" panose="020B0604020202020204" pitchFamily="34" charset="0"/>
              <a:buChar char="•"/>
            </a:pPr>
            <a:r>
              <a:rPr lang="en-US" sz="2400" dirty="0">
                <a:latin typeface="+mj-lt"/>
                <a:ea typeface="Times New Roman" pitchFamily="18" charset="0"/>
                <a:cs typeface="Arial" pitchFamily="34" charset="0"/>
              </a:rPr>
              <a:t>The </a:t>
            </a:r>
            <a:r>
              <a:rPr lang="en-US" sz="2400" b="1" dirty="0" err="1">
                <a:latin typeface="+mj-lt"/>
                <a:ea typeface="Times New Roman" pitchFamily="18" charset="0"/>
                <a:cs typeface="Arial" pitchFamily="34" charset="0"/>
              </a:rPr>
              <a:t>add_url_rule</a:t>
            </a:r>
            <a:r>
              <a:rPr lang="en-US" sz="2400" b="1" dirty="0">
                <a:latin typeface="+mj-lt"/>
                <a:ea typeface="Times New Roman" pitchFamily="18" charset="0"/>
                <a:cs typeface="Arial" pitchFamily="34" charset="0"/>
              </a:rPr>
              <a:t>()</a:t>
            </a:r>
            <a:r>
              <a:rPr lang="en-US" sz="2400" dirty="0">
                <a:latin typeface="+mj-lt"/>
                <a:ea typeface="Times New Roman" pitchFamily="18" charset="0"/>
                <a:cs typeface="Arial" pitchFamily="34" charset="0"/>
              </a:rPr>
              <a:t> function of an application object is also available to bind a URL with a function as in the above example, </a:t>
            </a:r>
            <a:r>
              <a:rPr lang="en-US" sz="2400" b="1" dirty="0">
                <a:latin typeface="+mj-lt"/>
                <a:ea typeface="Times New Roman" pitchFamily="18" charset="0"/>
                <a:cs typeface="Arial" pitchFamily="34" charset="0"/>
              </a:rPr>
              <a:t>route()</a:t>
            </a:r>
            <a:r>
              <a:rPr lang="en-US" sz="2400" dirty="0">
                <a:latin typeface="+mj-lt"/>
                <a:ea typeface="Times New Roman" pitchFamily="18" charset="0"/>
                <a:cs typeface="Arial" pitchFamily="34" charset="0"/>
              </a:rPr>
              <a:t> is used.</a:t>
            </a:r>
          </a:p>
          <a:p>
            <a:pPr eaLnBrk="0" fontAlgn="base" hangingPunct="0">
              <a:spcBef>
                <a:spcPct val="0"/>
              </a:spcBef>
              <a:spcAft>
                <a:spcPct val="0"/>
              </a:spcAft>
            </a:pPr>
            <a:endParaRPr lang="en-US" sz="2400" dirty="0">
              <a:latin typeface="+mj-lt"/>
              <a:ea typeface="Times New Roman" pitchFamily="18" charset="0"/>
              <a:cs typeface="Arial" pitchFamily="34" charset="0"/>
            </a:endParaRPr>
          </a:p>
          <a:p>
            <a:pPr marL="342900" indent="-342900" eaLnBrk="0" fontAlgn="base" hangingPunct="0">
              <a:spcBef>
                <a:spcPct val="0"/>
              </a:spcBef>
              <a:spcAft>
                <a:spcPct val="0"/>
              </a:spcAft>
              <a:buFont typeface="Arial" panose="020B0604020202020204" pitchFamily="34" charset="0"/>
              <a:buChar char="•"/>
            </a:pPr>
            <a:r>
              <a:rPr lang="en-US" sz="2400" dirty="0">
                <a:latin typeface="+mj-lt"/>
                <a:ea typeface="Times New Roman" pitchFamily="18" charset="0"/>
                <a:cs typeface="Arial" pitchFamily="34" charset="0"/>
              </a:rPr>
              <a:t>A decorator’s purpose is also served by the following representation −</a:t>
            </a:r>
            <a:endParaRPr lang="en-US" sz="2400" dirty="0">
              <a:latin typeface="+mj-lt"/>
              <a:ea typeface="Times New Roman" pitchFamily="18" charset="0"/>
              <a:cs typeface="Courier New" pitchFamily="49" charset="0"/>
            </a:endParaRPr>
          </a:p>
          <a:p>
            <a:pPr marL="342900" indent="-342900" eaLnBrk="0" fontAlgn="base" hangingPunct="0">
              <a:spcBef>
                <a:spcPct val="0"/>
              </a:spcBef>
              <a:spcAft>
                <a:spcPct val="0"/>
              </a:spcAft>
              <a:buFont typeface="Arial" panose="020B0604020202020204" pitchFamily="34" charset="0"/>
              <a:buChar char="•"/>
            </a:pPr>
            <a:r>
              <a:rPr lang="en-US" sz="2400" dirty="0">
                <a:latin typeface="+mj-lt"/>
                <a:ea typeface="Times New Roman" pitchFamily="18" charset="0"/>
                <a:cs typeface="Courier New" pitchFamily="49" charset="0"/>
              </a:rPr>
              <a:t>def hello_world():   </a:t>
            </a:r>
          </a:p>
          <a:p>
            <a:pPr marL="342900" indent="-342900" eaLnBrk="0" fontAlgn="base" hangingPunct="0">
              <a:spcBef>
                <a:spcPct val="0"/>
              </a:spcBef>
              <a:spcAft>
                <a:spcPct val="0"/>
              </a:spcAft>
              <a:buFont typeface="Arial" panose="020B0604020202020204" pitchFamily="34" charset="0"/>
              <a:buChar char="•"/>
            </a:pPr>
            <a:r>
              <a:rPr lang="en-US" sz="2400" dirty="0">
                <a:latin typeface="+mj-lt"/>
                <a:ea typeface="Times New Roman" pitchFamily="18" charset="0"/>
                <a:cs typeface="Courier New" pitchFamily="49" charset="0"/>
              </a:rPr>
              <a:t>return ‘hello world’</a:t>
            </a:r>
          </a:p>
          <a:p>
            <a:pPr marL="342900" indent="-342900" eaLnBrk="0" fontAlgn="base" hangingPunct="0">
              <a:spcBef>
                <a:spcPct val="0"/>
              </a:spcBef>
              <a:spcAft>
                <a:spcPct val="0"/>
              </a:spcAft>
              <a:buFont typeface="Arial" panose="020B0604020202020204" pitchFamily="34" charset="0"/>
              <a:buChar char="•"/>
            </a:pPr>
            <a:r>
              <a:rPr lang="en-US" sz="2400" dirty="0" err="1">
                <a:latin typeface="+mj-lt"/>
                <a:ea typeface="Times New Roman" pitchFamily="18" charset="0"/>
                <a:cs typeface="Courier New" pitchFamily="49" charset="0"/>
              </a:rPr>
              <a:t>app.add_url_rule</a:t>
            </a:r>
            <a:r>
              <a:rPr lang="en-US" sz="2400" dirty="0">
                <a:latin typeface="+mj-lt"/>
                <a:ea typeface="Times New Roman" pitchFamily="18" charset="0"/>
                <a:cs typeface="Courier New" pitchFamily="49" charset="0"/>
              </a:rPr>
              <a:t>(‘/’, ‘hello’, </a:t>
            </a:r>
            <a:r>
              <a:rPr lang="en-US" sz="2400" dirty="0" err="1">
                <a:latin typeface="+mj-lt"/>
                <a:ea typeface="Times New Roman" pitchFamily="18" charset="0"/>
                <a:cs typeface="Courier New" pitchFamily="49" charset="0"/>
              </a:rPr>
              <a:t>hello_world</a:t>
            </a:r>
            <a:r>
              <a:rPr lang="en-US" sz="2400" dirty="0">
                <a:latin typeface="+mj-lt"/>
                <a:ea typeface="Times New Roman" pitchFamily="18" charset="0"/>
                <a:cs typeface="Courier New" pitchFamily="49" charset="0"/>
              </a:rPr>
              <a:t>)</a:t>
            </a:r>
            <a:endParaRPr lang="en-US" sz="2400" dirty="0">
              <a:latin typeface="+mj-lt"/>
              <a:ea typeface="Times New Roman" pitchFamily="18" charset="0"/>
              <a:cs typeface="Arial" pitchFamily="34" charset="0"/>
            </a:endParaRPr>
          </a:p>
          <a:p>
            <a:pPr marL="285750" indent="-285750" eaLnBrk="0" fontAlgn="base" hangingPunct="0">
              <a:spcBef>
                <a:spcPct val="0"/>
              </a:spcBef>
              <a:spcAft>
                <a:spcPct val="0"/>
              </a:spcAft>
              <a:buFont typeface="Arial" panose="020B0604020202020204" pitchFamily="34" charset="0"/>
              <a:buChar char="•"/>
            </a:pPr>
            <a:endParaRPr lang="en-US" dirty="0">
              <a:latin typeface="Arial" pitchFamily="34" charset="0"/>
              <a:cs typeface="Arial" pitchFamily="34" charset="0"/>
            </a:endParaRPr>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868945565"/>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Content Placeholder 2"/>
          <p:cNvSpPr>
            <a:spLocks noGrp="1"/>
          </p:cNvSpPr>
          <p:nvPr>
            <p:ph idx="1"/>
          </p:nvPr>
        </p:nvSpPr>
        <p:spPr>
          <a:xfrm>
            <a:off x="1447800" y="1010966"/>
            <a:ext cx="10439400" cy="4953000"/>
          </a:xfrm>
          <a:solidFill>
            <a:schemeClr val="tx2">
              <a:lumMod val="40000"/>
              <a:lumOff val="60000"/>
            </a:schemeClr>
          </a:solidFill>
          <a:ln w="12700">
            <a:solidFill>
              <a:schemeClr val="tx1"/>
            </a:solidFill>
          </a:ln>
        </p:spPr>
        <p:txBody>
          <a:bodyPr>
            <a:normAutofit lnSpcReduction="10000"/>
          </a:bodyPr>
          <a:lstStyle/>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a:p>
            <a:r>
              <a:rPr lang="en-US" sz="2400" b="1" dirty="0"/>
              <a:t>web2py</a:t>
            </a:r>
            <a:r>
              <a:rPr lang="en-US" sz="2400" dirty="0"/>
              <a:t> is defined as a free, open-source web framework for agile development which involves database-driven web applications. It is written and programmable in Python. It is a full-stack framework and consists of all the necessary components a developer needs to build fully functional web applications.</a:t>
            </a:r>
          </a:p>
          <a:p>
            <a:r>
              <a:rPr lang="en-US" sz="2400" b="1" dirty="0"/>
              <a:t>web2py</a:t>
            </a:r>
            <a:r>
              <a:rPr lang="en-US" sz="2400" dirty="0"/>
              <a:t> is defined as a free, open-source web framework for agile development which involves database-driven web applications; it is written in Python and programmable in Python. It is a full-stack framework; it consists of all the necessary components, a developer needs to build a fully functional web application.</a:t>
            </a:r>
          </a:p>
          <a:p>
            <a:r>
              <a:rPr lang="en-US" sz="2400" b="1" dirty="0"/>
              <a:t>web2py</a:t>
            </a:r>
            <a:r>
              <a:rPr lang="en-US" sz="2400" dirty="0"/>
              <a:t> framework follows the </a:t>
            </a:r>
            <a:r>
              <a:rPr lang="en-US" sz="2400" b="1" dirty="0"/>
              <a:t>Model-View-Controller</a:t>
            </a:r>
            <a:r>
              <a:rPr lang="en-US" sz="2400" dirty="0"/>
              <a:t> pattern of running web applications unlike traditional patterns.</a:t>
            </a:r>
          </a:p>
          <a:p>
            <a:pPr marL="114300" indent="0" algn="just">
              <a:spcBef>
                <a:spcPts val="363"/>
              </a:spcBef>
              <a:buClr>
                <a:srgbClr val="000000"/>
              </a:buClr>
              <a:buNone/>
            </a:pPr>
            <a:endParaRPr lang="en-US" altLang="en-US" sz="2400" b="1" dirty="0">
              <a:latin typeface="Times New Roman" panose="02020603050405020304" pitchFamily="18" charset="0"/>
              <a:ea typeface="Calibri" panose="020F0502020204030204" pitchFamily="34" charset="0"/>
              <a:cs typeface="Times New Roman" panose="02020603050405020304" pitchFamily="18" charset="0"/>
              <a:sym typeface="Calibri" panose="020F0502020204030204" pitchFamily="34" charset="0"/>
            </a:endParaRPr>
          </a:p>
        </p:txBody>
      </p:sp>
      <p:sp>
        <p:nvSpPr>
          <p:cNvPr id="7" name="Title 1"/>
          <p:cNvSpPr txBox="1">
            <a:spLocks/>
          </p:cNvSpPr>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a:defRPr/>
            </a:pPr>
            <a:endParaRPr lang="en-US" sz="3200" b="1" dirty="0">
              <a:solidFill>
                <a:srgbClr val="000000"/>
              </a:solidFill>
              <a:latin typeface="Times New Roman" pitchFamily="18" charset="0"/>
              <a:cs typeface="Times New Roman" pitchFamily="18" charset="0"/>
              <a:sym typeface="Arial"/>
            </a:endParaRPr>
          </a:p>
          <a:p>
            <a:pPr algn="ctr">
              <a:defRPr/>
            </a:pPr>
            <a:endParaRPr lang="en-US" sz="3200" dirty="0">
              <a:solidFill>
                <a:srgbClr val="000000"/>
              </a:solidFill>
              <a:latin typeface="Times New Roman" pitchFamily="18" charset="0"/>
              <a:cs typeface="Times New Roman" pitchFamily="18" charset="0"/>
              <a:sym typeface="Arial"/>
            </a:endParaRPr>
          </a:p>
          <a:p>
            <a:pPr algn="ctr">
              <a:defRPr/>
            </a:pPr>
            <a:endParaRPr lang="en-US" sz="3200" dirty="0">
              <a:latin typeface="Times New Roman" pitchFamily="18" charset="0"/>
              <a:cs typeface="Times New Roman" pitchFamily="18" charset="0"/>
            </a:endParaRPr>
          </a:p>
          <a:p>
            <a:pPr algn="just">
              <a:defRPr/>
            </a:pPr>
            <a:endParaRPr lang="en-US" sz="2200" dirty="0">
              <a:solidFill>
                <a:srgbClr val="000000"/>
              </a:solidFill>
              <a:latin typeface="Times New Roman" pitchFamily="18" charset="0"/>
              <a:cs typeface="Times New Roman" pitchFamily="18" charset="0"/>
              <a:sym typeface="Arial"/>
            </a:endParaRPr>
          </a:p>
        </p:txBody>
      </p:sp>
      <p:sp>
        <p:nvSpPr>
          <p:cNvPr id="11269" name="Google Shape;150;p18"/>
          <p:cNvSpPr>
            <a:spLocks noGrp="1"/>
          </p:cNvSpPr>
          <p:nvPr>
            <p:ph type="dt" sz="quarter" idx="10"/>
          </p:nvPr>
        </p:nvSpPr>
        <p:spPr>
          <a:xfrm>
            <a:off x="1143000" y="6356351"/>
            <a:ext cx="2895600" cy="365125"/>
          </a:xfrm>
        </p:spPr>
        <p:txBody>
          <a:bodyPr/>
          <a:lstStyle/>
          <a:p>
            <a:pPr algn="ctr">
              <a:buFont typeface="Arial" pitchFamily="34" charset="0"/>
              <a:buNone/>
              <a:defRPr/>
            </a:pPr>
            <a:fld id="{47B29883-5C1E-4200-93F1-C4205E69AFDF}" type="datetime1">
              <a:rPr lang="en-US" smtClean="0"/>
              <a:t>9/27/2024</a:t>
            </a:fld>
            <a:endParaRPr lang="en-US" dirty="0"/>
          </a:p>
        </p:txBody>
      </p:sp>
      <p:sp>
        <p:nvSpPr>
          <p:cNvPr id="66566" name="Google Shape;151;p18"/>
          <p:cNvSpPr>
            <a:spLocks noGrp="1" noChangeArrowheads="1"/>
          </p:cNvSpPr>
          <p:nvPr>
            <p:ph type="sldNum" sz="quarter" idx="12"/>
          </p:nvPr>
        </p:nvSpPr>
        <p:spPr bwMode="auto">
          <a:xfrm>
            <a:off x="9753600" y="6445615"/>
            <a:ext cx="2895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a:buSzPts val="1400"/>
              <a:buFont typeface="Arial" panose="020B0604020202020204" pitchFamily="34" charset="0"/>
              <a:buNone/>
            </a:pPr>
            <a:fld id="{C3A22C13-E77B-43BC-B584-842674831B33}" type="slidenum">
              <a:rPr lang="en-US" altLang="en-US">
                <a:solidFill>
                  <a:srgbClr val="898989"/>
                </a:solidFill>
                <a:latin typeface="Calibri" panose="020F0502020204030204" pitchFamily="34" charset="0"/>
              </a:rPr>
              <a:pPr algn="ctr">
                <a:buSzPts val="1400"/>
                <a:buFont typeface="Arial" panose="020B0604020202020204" pitchFamily="34" charset="0"/>
                <a:buNone/>
              </a:pPr>
              <a:t>45</a:t>
            </a:fld>
            <a:endParaRPr lang="en-US" altLang="en-US" dirty="0">
              <a:solidFill>
                <a:srgbClr val="898989"/>
              </a:solidFill>
              <a:latin typeface="Calibri" panose="020F0502020204030204" pitchFamily="34" charset="0"/>
            </a:endParaRPr>
          </a:p>
        </p:txBody>
      </p:sp>
      <p:sp>
        <p:nvSpPr>
          <p:cNvPr id="11271" name="Google Shape;131;p16"/>
          <p:cNvSpPr>
            <a:spLocks noGrp="1"/>
          </p:cNvSpPr>
          <p:nvPr>
            <p:ph type="ftr" sz="quarter" idx="11"/>
          </p:nvPr>
        </p:nvSpPr>
        <p:spPr>
          <a:xfrm>
            <a:off x="3886200" y="6416676"/>
            <a:ext cx="6705600" cy="365125"/>
          </a:xfrm>
        </p:spPr>
        <p:txBody>
          <a:bodyPr/>
          <a:lstStyle/>
          <a:p>
            <a:pPr algn="r">
              <a:buFont typeface="Arial" pitchFamily="34" charset="0"/>
              <a:buNone/>
              <a:defRPr/>
            </a:pPr>
            <a:r>
              <a:rPr lang="en-US"/>
              <a:t>Ritesh Kumar Singh                 Python web development with Django                           Unit I</a:t>
            </a:r>
            <a:endParaRPr lang="en-US" dirty="0"/>
          </a:p>
        </p:txBody>
      </p:sp>
      <p:sp>
        <p:nvSpPr>
          <p:cNvPr id="11267" name="Rectangle 3"/>
          <p:cNvSpPr>
            <a:spLocks noChangeArrowheads="1"/>
          </p:cNvSpPr>
          <p:nvPr/>
        </p:nvSpPr>
        <p:spPr bwMode="auto">
          <a:xfrm>
            <a:off x="2895600" y="88614"/>
            <a:ext cx="7772400" cy="5847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fontAlgn="base">
              <a:spcBef>
                <a:spcPct val="0"/>
              </a:spcBef>
              <a:spcAft>
                <a:spcPct val="0"/>
              </a:spcAft>
            </a:pPr>
            <a:r>
              <a:rPr lang="en-US" sz="3200" dirty="0">
                <a:latin typeface="Calibri" pitchFamily="34" charset="0"/>
                <a:ea typeface="Times New Roman" pitchFamily="18" charset="0"/>
                <a:cs typeface="Times New Roman" pitchFamily="18" charset="0"/>
              </a:rPr>
              <a:t>                                 Web2py</a:t>
            </a:r>
            <a:r>
              <a:rPr lang="en-US" sz="2400" b="1" dirty="0">
                <a:latin typeface="Calibri" pitchFamily="34" charset="0"/>
                <a:ea typeface="Times New Roman" pitchFamily="18" charset="0"/>
                <a:cs typeface="Times New Roman" pitchFamily="18" charset="0"/>
              </a:rPr>
              <a:t> </a:t>
            </a:r>
            <a:endParaRPr lang="en-US" dirty="0">
              <a:latin typeface="Arial" pitchFamily="34" charset="0"/>
              <a:cs typeface="Arial" pitchFamily="34" charset="0"/>
            </a:endParaRP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552400177"/>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0" y="274638"/>
            <a:ext cx="7315200" cy="1143000"/>
          </a:xfrm>
        </p:spPr>
        <p:txBody>
          <a:bodyPr/>
          <a:lstStyle/>
          <a:p>
            <a:pPr lvl="0"/>
            <a:br>
              <a:rPr lang="en-US" sz="2400" dirty="0">
                <a:latin typeface="Arial" pitchFamily="34" charset="0"/>
                <a:cs typeface="Arial" pitchFamily="34" charset="0"/>
              </a:rPr>
            </a:br>
            <a:endParaRPr lang="en-US" dirty="0"/>
          </a:p>
        </p:txBody>
      </p:sp>
      <p:sp>
        <p:nvSpPr>
          <p:cNvPr id="4" name="Date Placeholder 3"/>
          <p:cNvSpPr>
            <a:spLocks noGrp="1"/>
          </p:cNvSpPr>
          <p:nvPr>
            <p:ph type="dt" sz="half" idx="10"/>
          </p:nvPr>
        </p:nvSpPr>
        <p:spPr/>
        <p:txBody>
          <a:bodyPr/>
          <a:lstStyle/>
          <a:p>
            <a:fld id="{F1CED39A-DF8E-4CE5-9C7A-8D78069A5EE1}" type="datetime1">
              <a:rPr lang="en-US" smtClean="0"/>
              <a:t>9/27/2024</a:t>
            </a:fld>
            <a:endParaRPr lang="en-US" dirty="0"/>
          </a:p>
        </p:txBody>
      </p:sp>
      <p:sp>
        <p:nvSpPr>
          <p:cNvPr id="5" name="Footer Placeholder 4"/>
          <p:cNvSpPr>
            <a:spLocks noGrp="1"/>
          </p:cNvSpPr>
          <p:nvPr>
            <p:ph type="ftr" sz="quarter" idx="11"/>
          </p:nvPr>
        </p:nvSpPr>
        <p:spPr>
          <a:xfrm>
            <a:off x="4165600" y="6356357"/>
            <a:ext cx="69596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8" name="Title 1"/>
          <p:cNvSpPr txBox="1">
            <a:spLocks/>
          </p:cNvSpPr>
          <p:nvPr/>
        </p:nvSpPr>
        <p:spPr>
          <a:xfrm>
            <a:off x="1524001" y="0"/>
            <a:ext cx="10667999" cy="802784"/>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lvl="0" fontAlgn="base">
              <a:spcBef>
                <a:spcPct val="0"/>
              </a:spcBef>
              <a:spcAft>
                <a:spcPct val="0"/>
              </a:spcAft>
            </a:pPr>
            <a:r>
              <a:rPr lang="en-US" sz="2400" b="1" dirty="0">
                <a:solidFill>
                  <a:schemeClr val="tx1"/>
                </a:solidFill>
                <a:latin typeface="Calibri" pitchFamily="34" charset="0"/>
                <a:ea typeface="Times New Roman" pitchFamily="18" charset="0"/>
                <a:cs typeface="Times New Roman" pitchFamily="18" charset="0"/>
              </a:rPr>
              <a:t>                                            </a:t>
            </a:r>
            <a:r>
              <a:rPr lang="en-US" sz="3200" dirty="0">
                <a:solidFill>
                  <a:schemeClr val="tx1"/>
                </a:solidFill>
                <a:latin typeface="Calibri" pitchFamily="34" charset="0"/>
                <a:ea typeface="Times New Roman" pitchFamily="18" charset="0"/>
                <a:cs typeface="Times New Roman" pitchFamily="18" charset="0"/>
              </a:rPr>
              <a:t>Web2py (continue…)</a:t>
            </a:r>
            <a:endParaRPr lang="en-US" sz="3200" dirty="0">
              <a:solidFill>
                <a:schemeClr val="tx1"/>
              </a:solidFill>
              <a:latin typeface="Arial" pitchFamily="34" charset="0"/>
              <a:cs typeface="Arial" pitchFamily="34" charset="0"/>
            </a:endParaRPr>
          </a:p>
        </p:txBody>
      </p:sp>
      <p:pic>
        <p:nvPicPr>
          <p:cNvPr id="9" name="Content Placeholder 8" descr="C:\Users\mam\Desktop\web2py_appliance.png"/>
          <p:cNvPicPr>
            <a:picLocks noGrp="1"/>
          </p:cNvPicPr>
          <p:nvPr>
            <p:ph idx="1"/>
          </p:nvPr>
        </p:nvPicPr>
        <p:blipFill>
          <a:blip r:embed="rId2"/>
          <a:srcRect/>
          <a:stretch>
            <a:fillRect/>
          </a:stretch>
        </p:blipFill>
        <p:spPr bwMode="auto">
          <a:xfrm>
            <a:off x="1676400" y="3514284"/>
            <a:ext cx="6781799" cy="2438400"/>
          </a:xfrm>
          <a:prstGeom prst="rect">
            <a:avLst/>
          </a:prstGeom>
          <a:noFill/>
          <a:ln w="9525">
            <a:noFill/>
            <a:miter lim="800000"/>
            <a:headEnd/>
            <a:tailEnd/>
          </a:ln>
        </p:spPr>
      </p:pic>
      <p:sp>
        <p:nvSpPr>
          <p:cNvPr id="10" name="Rectangle 9"/>
          <p:cNvSpPr/>
          <p:nvPr/>
        </p:nvSpPr>
        <p:spPr>
          <a:xfrm>
            <a:off x="1561012" y="1189038"/>
            <a:ext cx="9296400" cy="1938992"/>
          </a:xfrm>
          <a:prstGeom prst="rect">
            <a:avLst/>
          </a:prstGeom>
          <a:solidFill>
            <a:schemeClr val="tx2">
              <a:lumMod val="40000"/>
              <a:lumOff val="60000"/>
            </a:schemeClr>
          </a:solidFill>
          <a:ln w="6350">
            <a:solidFill>
              <a:schemeClr val="tx1"/>
            </a:solidFill>
          </a:ln>
        </p:spPr>
        <p:txBody>
          <a:bodyPr wrap="square">
            <a:spAutoFit/>
          </a:bodyPr>
          <a:lstStyle/>
          <a:p>
            <a:pPr lvl="0"/>
            <a:r>
              <a:rPr lang="en-US" sz="2400" b="1" dirty="0"/>
              <a:t>web2py</a:t>
            </a:r>
            <a:r>
              <a:rPr lang="en-US" sz="2400" dirty="0"/>
              <a:t> has an in-built feature to manage cookies and sessions. After committing a transaction (in terms of SQL), the session is also stored simultaneously.</a:t>
            </a:r>
          </a:p>
          <a:p>
            <a:pPr lvl="0"/>
            <a:r>
              <a:rPr lang="en-US" sz="2400" b="1" dirty="0"/>
              <a:t>web2py</a:t>
            </a:r>
            <a:r>
              <a:rPr lang="en-US" sz="2400" dirty="0"/>
              <a:t> has the capacity of running the tasks in scheduled intervals after the completion of certain actions. This can be achieved with </a:t>
            </a:r>
            <a:r>
              <a:rPr lang="en-US" sz="2400" b="1" dirty="0"/>
              <a:t>CRON</a:t>
            </a:r>
            <a:r>
              <a:rPr lang="en-US" sz="2400" dirty="0"/>
              <a:t>.</a:t>
            </a:r>
          </a:p>
        </p:txBody>
      </p:sp>
      <p:pic>
        <p:nvPicPr>
          <p:cNvPr id="11" name="Picture 10"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384162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47800" y="0"/>
            <a:ext cx="10744200" cy="762000"/>
          </a:xfrm>
          <a:solidFill>
            <a:schemeClr val="accent5">
              <a:lumMod val="40000"/>
              <a:lumOff val="60000"/>
            </a:schemeClr>
          </a:solidFill>
        </p:spPr>
        <p:txBody>
          <a:bodyPr>
            <a:noAutofit/>
          </a:bodyPr>
          <a:lstStyle/>
          <a:p>
            <a:pPr algn="l"/>
            <a:r>
              <a:rPr lang="en-US" sz="3200" dirty="0"/>
              <a:t>                                            Bottle</a:t>
            </a:r>
            <a:endParaRPr lang="en-US" sz="5400" dirty="0"/>
          </a:p>
        </p:txBody>
      </p:sp>
      <p:sp>
        <p:nvSpPr>
          <p:cNvPr id="3" name="Content Placeholder 2"/>
          <p:cNvSpPr>
            <a:spLocks noGrp="1"/>
          </p:cNvSpPr>
          <p:nvPr>
            <p:ph idx="1"/>
          </p:nvPr>
        </p:nvSpPr>
        <p:spPr>
          <a:xfrm>
            <a:off x="1456509" y="1066800"/>
            <a:ext cx="10210800" cy="4190999"/>
          </a:xfrm>
          <a:solidFill>
            <a:schemeClr val="tx2">
              <a:lumMod val="40000"/>
              <a:lumOff val="60000"/>
            </a:schemeClr>
          </a:solidFill>
          <a:ln w="12700">
            <a:solidFill>
              <a:schemeClr val="tx1"/>
            </a:solidFill>
          </a:ln>
        </p:spPr>
        <p:txBody>
          <a:bodyPr>
            <a:noAutofit/>
          </a:bodyPr>
          <a:lstStyle/>
          <a:p>
            <a:r>
              <a:rPr lang="en-US" sz="2400" dirty="0"/>
              <a:t>Bottle is a fast, simple and lightweight WSGI micro web-framework for Python. It is distributed as a single file module. There are no dependencies other than the Python Standard Library. </a:t>
            </a:r>
          </a:p>
          <a:p>
            <a:r>
              <a:rPr lang="en-US" sz="2400" dirty="0"/>
              <a:t>The Web Server Gateway Interface (WSGI) is a simple calling convention for web servers to forward requests to web applications or frameworks written in the Python programming language. </a:t>
            </a:r>
          </a:p>
          <a:p>
            <a:r>
              <a:rPr lang="en-US" sz="2400" b="1" dirty="0"/>
              <a:t>Bottle installation</a:t>
            </a:r>
          </a:p>
          <a:p>
            <a:r>
              <a:rPr lang="en-US" sz="2400" dirty="0"/>
              <a:t>$ </a:t>
            </a:r>
            <a:r>
              <a:rPr lang="en-US" sz="2400" dirty="0" err="1"/>
              <a:t>sudo</a:t>
            </a:r>
            <a:r>
              <a:rPr lang="en-US" sz="2400" dirty="0"/>
              <a:t> pip3 install bottle </a:t>
            </a:r>
          </a:p>
          <a:p>
            <a:r>
              <a:rPr lang="en-US" sz="2400" dirty="0"/>
              <a:t>We use the pip3 tool to install Bottle.  </a:t>
            </a:r>
          </a:p>
        </p:txBody>
      </p:sp>
      <p:sp>
        <p:nvSpPr>
          <p:cNvPr id="4" name="Date Placeholder 3"/>
          <p:cNvSpPr>
            <a:spLocks noGrp="1"/>
          </p:cNvSpPr>
          <p:nvPr>
            <p:ph type="dt" sz="half" idx="10"/>
          </p:nvPr>
        </p:nvSpPr>
        <p:spPr/>
        <p:txBody>
          <a:bodyPr/>
          <a:lstStyle/>
          <a:p>
            <a:fld id="{2456E499-1F3E-4C1E-8994-D39BC62A0B23}" type="datetime1">
              <a:rPr lang="en-US" smtClean="0"/>
              <a:t>9/27/2024</a:t>
            </a:fld>
            <a:endParaRPr lang="en-US" dirty="0"/>
          </a:p>
        </p:txBody>
      </p:sp>
      <p:sp>
        <p:nvSpPr>
          <p:cNvPr id="5" name="Footer Placeholder 4"/>
          <p:cNvSpPr>
            <a:spLocks noGrp="1"/>
          </p:cNvSpPr>
          <p:nvPr>
            <p:ph type="ftr" sz="quarter" idx="11"/>
          </p:nvPr>
        </p:nvSpPr>
        <p:spPr>
          <a:xfrm>
            <a:off x="4165600" y="6356357"/>
            <a:ext cx="69596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dirty="0"/>
          </a:p>
        </p:txBody>
      </p:sp>
      <p:pic>
        <p:nvPicPr>
          <p:cNvPr id="7" name="Picture 6"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5396156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375954" y="914401"/>
            <a:ext cx="10439400" cy="5211763"/>
          </a:xfrm>
          <a:solidFill>
            <a:schemeClr val="tx2">
              <a:lumMod val="40000"/>
              <a:lumOff val="60000"/>
            </a:schemeClr>
          </a:solidFill>
          <a:ln w="12700">
            <a:solidFill>
              <a:schemeClr val="tx1"/>
            </a:solidFill>
          </a:ln>
        </p:spPr>
        <p:txBody>
          <a:bodyPr>
            <a:normAutofit fontScale="85000" lnSpcReduction="10000"/>
          </a:bodyPr>
          <a:lstStyle/>
          <a:p>
            <a:r>
              <a:rPr lang="en-US" dirty="0">
                <a:solidFill>
                  <a:schemeClr val="accent3">
                    <a:lumMod val="50000"/>
                  </a:schemeClr>
                </a:solidFill>
                <a:hlinkClick r:id="rId2"/>
              </a:rPr>
              <a:t>Falcon</a:t>
            </a:r>
            <a:r>
              <a:rPr lang="en-US" dirty="0">
                <a:solidFill>
                  <a:schemeClr val="accent3">
                    <a:lumMod val="50000"/>
                  </a:schemeClr>
                </a:solidFill>
              </a:rPr>
              <a:t> is a </a:t>
            </a:r>
            <a:r>
              <a:rPr lang="en-US" dirty="0">
                <a:solidFill>
                  <a:schemeClr val="accent3">
                    <a:lumMod val="50000"/>
                  </a:schemeClr>
                </a:solidFill>
                <a:hlinkClick r:id="rId3"/>
              </a:rPr>
              <a:t>WSGI-compliant</a:t>
            </a:r>
            <a:r>
              <a:rPr lang="en-US" dirty="0">
                <a:solidFill>
                  <a:schemeClr val="accent3">
                    <a:lumMod val="50000"/>
                  </a:schemeClr>
                </a:solidFill>
              </a:rPr>
              <a:t> </a:t>
            </a:r>
            <a:r>
              <a:rPr lang="en-US" dirty="0">
                <a:solidFill>
                  <a:schemeClr val="accent3">
                    <a:lumMod val="50000"/>
                  </a:schemeClr>
                </a:solidFill>
                <a:hlinkClick r:id="rId4"/>
              </a:rPr>
              <a:t>web framework</a:t>
            </a:r>
            <a:r>
              <a:rPr lang="en-US" dirty="0">
                <a:solidFill>
                  <a:schemeClr val="accent3">
                    <a:lumMod val="50000"/>
                  </a:schemeClr>
                </a:solidFill>
              </a:rPr>
              <a:t> designed to build </a:t>
            </a:r>
            <a:r>
              <a:rPr lang="en-US" dirty="0" err="1">
                <a:solidFill>
                  <a:schemeClr val="accent3">
                    <a:lumMod val="50000"/>
                  </a:schemeClr>
                </a:solidFill>
                <a:hlinkClick r:id="rId5"/>
              </a:rPr>
              <a:t>RESTful</a:t>
            </a:r>
            <a:r>
              <a:rPr lang="en-US" dirty="0">
                <a:solidFill>
                  <a:schemeClr val="accent3">
                    <a:lumMod val="50000"/>
                  </a:schemeClr>
                </a:solidFill>
                <a:hlinkClick r:id="rId5"/>
              </a:rPr>
              <a:t> APIs</a:t>
            </a:r>
            <a:r>
              <a:rPr lang="en-US" dirty="0">
                <a:solidFill>
                  <a:schemeClr val="accent3">
                    <a:lumMod val="50000"/>
                  </a:schemeClr>
                </a:solidFill>
              </a:rPr>
              <a:t> without requiring external code library dependencies.</a:t>
            </a:r>
          </a:p>
          <a:p>
            <a:r>
              <a:rPr lang="en-US" b="1" dirty="0">
                <a:solidFill>
                  <a:schemeClr val="accent3">
                    <a:lumMod val="50000"/>
                  </a:schemeClr>
                </a:solidFill>
              </a:rPr>
              <a:t>Falcon resources</a:t>
            </a:r>
          </a:p>
          <a:p>
            <a:r>
              <a:rPr lang="en-US" dirty="0">
                <a:solidFill>
                  <a:schemeClr val="accent3">
                    <a:lumMod val="50000"/>
                  </a:schemeClr>
                </a:solidFill>
                <a:hlinkClick r:id="rId6"/>
              </a:rPr>
              <a:t>Building Very Fast App </a:t>
            </a:r>
            <a:r>
              <a:rPr lang="en-US" dirty="0" err="1">
                <a:solidFill>
                  <a:schemeClr val="accent3">
                    <a:lumMod val="50000"/>
                  </a:schemeClr>
                </a:solidFill>
                <a:hlinkClick r:id="rId6"/>
              </a:rPr>
              <a:t>Backends</a:t>
            </a:r>
            <a:r>
              <a:rPr lang="en-US" dirty="0">
                <a:solidFill>
                  <a:schemeClr val="accent3">
                    <a:lumMod val="50000"/>
                  </a:schemeClr>
                </a:solidFill>
                <a:hlinkClick r:id="rId6"/>
              </a:rPr>
              <a:t> with Falcon Web Framework on </a:t>
            </a:r>
            <a:r>
              <a:rPr lang="en-US" dirty="0" err="1">
                <a:solidFill>
                  <a:schemeClr val="accent3">
                    <a:lumMod val="50000"/>
                  </a:schemeClr>
                </a:solidFill>
                <a:hlinkClick r:id="rId6"/>
              </a:rPr>
              <a:t>PyPy</a:t>
            </a:r>
            <a:r>
              <a:rPr lang="en-US" dirty="0">
                <a:solidFill>
                  <a:schemeClr val="accent3">
                    <a:lumMod val="50000"/>
                  </a:schemeClr>
                </a:solidFill>
              </a:rPr>
              <a:t> provides a walkthrough of a web API in Falcon that runs with </a:t>
            </a:r>
            <a:r>
              <a:rPr lang="en-US" dirty="0" err="1">
                <a:solidFill>
                  <a:schemeClr val="accent3">
                    <a:lumMod val="50000"/>
                  </a:schemeClr>
                </a:solidFill>
              </a:rPr>
              <a:t>PyPy</a:t>
            </a:r>
            <a:r>
              <a:rPr lang="en-US" dirty="0">
                <a:solidFill>
                  <a:schemeClr val="accent3">
                    <a:lumMod val="50000"/>
                  </a:schemeClr>
                </a:solidFill>
              </a:rPr>
              <a:t> and </a:t>
            </a:r>
            <a:r>
              <a:rPr lang="en-US" dirty="0" err="1">
                <a:solidFill>
                  <a:schemeClr val="accent3">
                    <a:lumMod val="50000"/>
                  </a:schemeClr>
                </a:solidFill>
                <a:hlinkClick r:id="rId7"/>
              </a:rPr>
              <a:t>Nginx</a:t>
            </a:r>
            <a:r>
              <a:rPr lang="en-US" dirty="0">
                <a:solidFill>
                  <a:schemeClr val="accent3">
                    <a:lumMod val="50000"/>
                  </a:schemeClr>
                </a:solidFill>
              </a:rPr>
              <a:t>.</a:t>
            </a:r>
          </a:p>
          <a:p>
            <a:r>
              <a:rPr lang="en-US" dirty="0">
                <a:solidFill>
                  <a:schemeClr val="accent3">
                    <a:lumMod val="50000"/>
                  </a:schemeClr>
                </a:solidFill>
                <a:hlinkClick r:id="rId8"/>
              </a:rPr>
              <a:t>Asynchronous Tasks with Falcon and Celery</a:t>
            </a:r>
            <a:r>
              <a:rPr lang="en-US" dirty="0">
                <a:solidFill>
                  <a:schemeClr val="accent3">
                    <a:lumMod val="50000"/>
                  </a:schemeClr>
                </a:solidFill>
              </a:rPr>
              <a:t> shows how to configure </a:t>
            </a:r>
            <a:r>
              <a:rPr lang="en-US" dirty="0">
                <a:solidFill>
                  <a:schemeClr val="accent3">
                    <a:lumMod val="50000"/>
                  </a:schemeClr>
                </a:solidFill>
                <a:hlinkClick r:id="rId9"/>
              </a:rPr>
              <a:t>Celery</a:t>
            </a:r>
            <a:r>
              <a:rPr lang="en-US" dirty="0">
                <a:solidFill>
                  <a:schemeClr val="accent3">
                    <a:lumMod val="50000"/>
                  </a:schemeClr>
                </a:solidFill>
              </a:rPr>
              <a:t> with the framework.</a:t>
            </a:r>
          </a:p>
          <a:p>
            <a:r>
              <a:rPr lang="en-US" dirty="0">
                <a:solidFill>
                  <a:schemeClr val="accent3">
                    <a:lumMod val="50000"/>
                  </a:schemeClr>
                </a:solidFill>
              </a:rPr>
              <a:t>The </a:t>
            </a:r>
            <a:r>
              <a:rPr lang="en-US" dirty="0">
                <a:solidFill>
                  <a:schemeClr val="accent3">
                    <a:lumMod val="50000"/>
                  </a:schemeClr>
                </a:solidFill>
                <a:hlinkClick r:id="rId10"/>
              </a:rPr>
              <a:t>official Falcon tutorial</a:t>
            </a:r>
            <a:r>
              <a:rPr lang="en-US" dirty="0">
                <a:solidFill>
                  <a:schemeClr val="accent3">
                    <a:lumMod val="50000"/>
                  </a:schemeClr>
                </a:solidFill>
              </a:rPr>
              <a:t> has a meaty guide for building and deploying your first Falcon web application.</a:t>
            </a:r>
          </a:p>
          <a:p>
            <a:r>
              <a:rPr lang="en-US" dirty="0">
                <a:solidFill>
                  <a:schemeClr val="accent3">
                    <a:lumMod val="50000"/>
                  </a:schemeClr>
                </a:solidFill>
                <a:hlinkClick r:id="rId11"/>
              </a:rPr>
              <a:t>Building Scalable </a:t>
            </a:r>
            <a:r>
              <a:rPr lang="en-US" dirty="0" err="1">
                <a:solidFill>
                  <a:schemeClr val="accent3">
                    <a:lumMod val="50000"/>
                  </a:schemeClr>
                </a:solidFill>
                <a:hlinkClick r:id="rId11"/>
              </a:rPr>
              <a:t>RESTful</a:t>
            </a:r>
            <a:r>
              <a:rPr lang="en-US" dirty="0">
                <a:solidFill>
                  <a:schemeClr val="accent3">
                    <a:lumMod val="50000"/>
                  </a:schemeClr>
                </a:solidFill>
                <a:hlinkClick r:id="rId11"/>
              </a:rPr>
              <a:t> APIs with Falcon and </a:t>
            </a:r>
            <a:r>
              <a:rPr lang="en-US" dirty="0" err="1">
                <a:solidFill>
                  <a:schemeClr val="accent3">
                    <a:lumMod val="50000"/>
                  </a:schemeClr>
                </a:solidFill>
                <a:hlinkClick r:id="rId11"/>
              </a:rPr>
              <a:t>PyPy</a:t>
            </a:r>
            <a:r>
              <a:rPr lang="en-US" dirty="0">
                <a:solidFill>
                  <a:schemeClr val="accent3">
                    <a:lumMod val="50000"/>
                  </a:schemeClr>
                </a:solidFill>
              </a:rPr>
              <a:t> shows a to-do list example with Falcon running on </a:t>
            </a:r>
            <a:r>
              <a:rPr lang="en-US" dirty="0" err="1">
                <a:solidFill>
                  <a:schemeClr val="accent3">
                    <a:lumMod val="50000"/>
                  </a:schemeClr>
                </a:solidFill>
              </a:rPr>
              <a:t>PyPy</a:t>
            </a:r>
            <a:r>
              <a:rPr lang="en-US" dirty="0">
                <a:solidFill>
                  <a:schemeClr val="accent3">
                    <a:lumMod val="50000"/>
                  </a:schemeClr>
                </a:solidFill>
              </a:rPr>
              <a:t>.</a:t>
            </a:r>
          </a:p>
          <a:p>
            <a:endParaRPr lang="en-US" dirty="0"/>
          </a:p>
        </p:txBody>
      </p:sp>
      <p:sp>
        <p:nvSpPr>
          <p:cNvPr id="4" name="Date Placeholder 3"/>
          <p:cNvSpPr>
            <a:spLocks noGrp="1"/>
          </p:cNvSpPr>
          <p:nvPr>
            <p:ph type="dt" sz="half" idx="10"/>
          </p:nvPr>
        </p:nvSpPr>
        <p:spPr/>
        <p:txBody>
          <a:bodyPr/>
          <a:lstStyle/>
          <a:p>
            <a:fld id="{B1A1FB09-ED7A-4559-84BC-79AFD4C7198C}" type="datetime1">
              <a:rPr lang="en-US" smtClean="0"/>
              <a:t>9/27/2024</a:t>
            </a:fld>
            <a:endParaRPr lang="en-US" dirty="0"/>
          </a:p>
        </p:txBody>
      </p:sp>
      <p:sp>
        <p:nvSpPr>
          <p:cNvPr id="5" name="Footer Placeholder 4"/>
          <p:cNvSpPr>
            <a:spLocks noGrp="1"/>
          </p:cNvSpPr>
          <p:nvPr>
            <p:ph type="ftr" sz="quarter" idx="11"/>
          </p:nvPr>
        </p:nvSpPr>
        <p:spPr>
          <a:xfrm>
            <a:off x="4165600" y="6356357"/>
            <a:ext cx="69596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a:spLocks noGrp="1"/>
          </p:cNvSpPr>
          <p:nvPr>
            <p:ph type="title"/>
          </p:nvPr>
        </p:nvSpPr>
        <p:spPr>
          <a:xfrm>
            <a:off x="1371600" y="0"/>
            <a:ext cx="10820400" cy="684208"/>
          </a:xfrm>
          <a:solidFill>
            <a:schemeClr val="accent5">
              <a:lumMod val="20000"/>
              <a:lumOff val="80000"/>
            </a:schemeClr>
          </a:solidFill>
        </p:spPr>
        <p:txBody>
          <a:bodyPr>
            <a:normAutofit/>
          </a:bodyPr>
          <a:lstStyle/>
          <a:p>
            <a:r>
              <a:rPr lang="en-US" sz="3200" dirty="0"/>
              <a:t>Falcon</a:t>
            </a:r>
          </a:p>
        </p:txBody>
      </p:sp>
      <p:pic>
        <p:nvPicPr>
          <p:cNvPr id="8" name="Picture 7" descr="C:\Users\Dr. CS Yadav\Downloads\New logo NIET.jpg"/>
          <p:cNvPicPr/>
          <p:nvPr/>
        </p:nvPicPr>
        <p:blipFill>
          <a:blip r:embed="rId1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8986001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990600"/>
            <a:ext cx="11506200" cy="4906963"/>
          </a:xfrm>
          <a:solidFill>
            <a:schemeClr val="tx2">
              <a:lumMod val="40000"/>
              <a:lumOff val="60000"/>
            </a:schemeClr>
          </a:solidFill>
          <a:ln w="12700">
            <a:solidFill>
              <a:schemeClr val="tx1"/>
            </a:solidFill>
          </a:ln>
        </p:spPr>
        <p:txBody>
          <a:bodyPr>
            <a:noAutofit/>
          </a:bodyPr>
          <a:lstStyle/>
          <a:p>
            <a:r>
              <a:rPr lang="en-US" sz="2400" dirty="0"/>
              <a:t>CubicWeb is an open-source  Python Web framework . It promotes reusability through the usage of components (called cubes). </a:t>
            </a:r>
            <a:endParaRPr lang="en-US" sz="4000" dirty="0"/>
          </a:p>
          <a:p>
            <a:r>
              <a:rPr lang="en-US" sz="2400" dirty="0"/>
              <a:t>CubicWeb is well-defined </a:t>
            </a:r>
            <a:r>
              <a:rPr lang="en-US" sz="2400" u="sng" dirty="0">
                <a:hlinkClick r:id="rId2"/>
              </a:rPr>
              <a:t>Python</a:t>
            </a:r>
            <a:r>
              <a:rPr lang="en-US" sz="2400" dirty="0"/>
              <a:t> semantic web application framework that focuses on quality, reusability and efficiency of the development solution. </a:t>
            </a:r>
            <a:endParaRPr lang="en-US" sz="4000" dirty="0"/>
          </a:p>
          <a:p>
            <a:r>
              <a:rPr lang="en-US" sz="2400" dirty="0"/>
              <a:t>CubicWeb stands out among other Python web frameworks and is not easy to learn. It positions itself as semantic web development framework and gives developers opportunity to build web applications by following the well known object-oriented design principles and reusing components called cubes.</a:t>
            </a:r>
          </a:p>
          <a:p>
            <a:r>
              <a:rPr lang="en-US" sz="2400" dirty="0"/>
              <a:t>Cube is the core concept of the CubicWeb. Basically it is a minimal web application - a software component that consists of three main parts: data model (schema), the logic (entities) needed to manipulate that data, and user interface (views) that displays the data. </a:t>
            </a:r>
          </a:p>
        </p:txBody>
      </p:sp>
      <p:sp>
        <p:nvSpPr>
          <p:cNvPr id="4" name="Date Placeholder 3"/>
          <p:cNvSpPr>
            <a:spLocks noGrp="1"/>
          </p:cNvSpPr>
          <p:nvPr>
            <p:ph type="dt" sz="half" idx="10"/>
          </p:nvPr>
        </p:nvSpPr>
        <p:spPr/>
        <p:txBody>
          <a:bodyPr/>
          <a:lstStyle/>
          <a:p>
            <a:fld id="{FC8135E2-B1C6-46EA-A7FC-2D0BECAFEAA4}" type="datetime1">
              <a:rPr lang="en-US" smtClean="0"/>
              <a:t>9/27/2024</a:t>
            </a:fld>
            <a:endParaRPr lang="en-US" dirty="0"/>
          </a:p>
        </p:txBody>
      </p:sp>
      <p:sp>
        <p:nvSpPr>
          <p:cNvPr id="5" name="Footer Placeholder 4"/>
          <p:cNvSpPr>
            <a:spLocks noGrp="1"/>
          </p:cNvSpPr>
          <p:nvPr>
            <p:ph type="ftr" sz="quarter" idx="11"/>
          </p:nvPr>
        </p:nvSpPr>
        <p:spPr>
          <a:xfrm>
            <a:off x="4165600" y="6356357"/>
            <a:ext cx="74168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a:spLocks noGrp="1"/>
          </p:cNvSpPr>
          <p:nvPr>
            <p:ph type="title"/>
          </p:nvPr>
        </p:nvSpPr>
        <p:spPr>
          <a:xfrm>
            <a:off x="1371600" y="0"/>
            <a:ext cx="10820400" cy="762000"/>
          </a:xfrm>
          <a:solidFill>
            <a:schemeClr val="accent5">
              <a:lumMod val="20000"/>
              <a:lumOff val="80000"/>
            </a:schemeClr>
          </a:solidFill>
        </p:spPr>
        <p:txBody>
          <a:bodyPr>
            <a:noAutofit/>
          </a:bodyPr>
          <a:lstStyle/>
          <a:p>
            <a:pPr algn="l"/>
            <a:r>
              <a:rPr lang="en-US" sz="3200" b="1" dirty="0"/>
              <a:t>                                           </a:t>
            </a:r>
            <a:r>
              <a:rPr lang="en-US" sz="3200" dirty="0"/>
              <a:t>Cubic Web</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511453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09600" y="990600"/>
            <a:ext cx="11353800" cy="5029200"/>
          </a:xfrm>
          <a:solidFill>
            <a:schemeClr val="tx2">
              <a:lumMod val="40000"/>
              <a:lumOff val="60000"/>
            </a:schemeClr>
          </a:solidFill>
          <a:ln w="12700">
            <a:solidFill>
              <a:schemeClr val="tx1"/>
            </a:solidFill>
          </a:ln>
        </p:spPr>
        <p:txBody>
          <a:bodyPr>
            <a:normAutofit fontScale="92500" lnSpcReduction="10000"/>
          </a:bodyPr>
          <a:lstStyle/>
          <a:p>
            <a:pPr algn="l"/>
            <a:r>
              <a:rPr lang="en-US" sz="2600" b="1" dirty="0">
                <a:solidFill>
                  <a:schemeClr val="tx1"/>
                </a:solidFill>
              </a:rPr>
              <a:t>       How CubicWeb works</a:t>
            </a:r>
          </a:p>
          <a:p>
            <a:pPr marL="457200" indent="-457200" algn="l">
              <a:buFont typeface="Arial" panose="020B0604020202020204" pitchFamily="34" charset="0"/>
              <a:buChar char="•"/>
            </a:pPr>
            <a:r>
              <a:rPr lang="en-US" sz="2600" dirty="0">
                <a:solidFill>
                  <a:schemeClr val="tx1"/>
                </a:solidFill>
              </a:rPr>
              <a:t>This development tool is written in Python and includes a web engine and a data server. The web engine replies to http requests and provides a CRUD user interface based on the data model of the instance. The data server publishes data gathered from data repositories. Although app construction is data-driven, CubicWeb is not just a database Web-client construction set.</a:t>
            </a:r>
          </a:p>
          <a:p>
            <a:pPr algn="l"/>
            <a:endParaRPr lang="en-US" sz="2600" dirty="0">
              <a:solidFill>
                <a:schemeClr val="tx1"/>
              </a:solidFill>
            </a:endParaRPr>
          </a:p>
          <a:p>
            <a:pPr marL="457200" indent="-457200" algn="l">
              <a:buFont typeface="Arial" panose="020B0604020202020204" pitchFamily="34" charset="0"/>
              <a:buChar char="•"/>
            </a:pPr>
            <a:r>
              <a:rPr lang="en-US" sz="2600" dirty="0">
                <a:solidFill>
                  <a:schemeClr val="tx1"/>
                </a:solidFill>
              </a:rPr>
              <a:t>CubicWeb contains data repository that enables access to one or more data sources such as SQL databases, LDAP repositories, </a:t>
            </a:r>
            <a:r>
              <a:rPr lang="en-US" sz="2600" dirty="0" err="1">
                <a:solidFill>
                  <a:schemeClr val="tx1"/>
                </a:solidFill>
              </a:rPr>
              <a:t>filesystems</a:t>
            </a:r>
            <a:r>
              <a:rPr lang="en-US" sz="2600" dirty="0">
                <a:solidFill>
                  <a:schemeClr val="tx1"/>
                </a:solidFill>
              </a:rPr>
              <a:t>, </a:t>
            </a:r>
            <a:r>
              <a:rPr lang="en-US" sz="2600" dirty="0">
                <a:solidFill>
                  <a:schemeClr val="tx1"/>
                </a:solidFill>
                <a:hlinkClick r:id="rId2"/>
              </a:rPr>
              <a:t>Google App Engine</a:t>
            </a:r>
            <a:r>
              <a:rPr lang="en-US" sz="2600" dirty="0">
                <a:solidFill>
                  <a:schemeClr val="tx1"/>
                </a:solidFill>
              </a:rPr>
              <a:t>’s </a:t>
            </a:r>
            <a:r>
              <a:rPr lang="en-US" sz="2600" dirty="0" err="1">
                <a:solidFill>
                  <a:schemeClr val="tx1"/>
                </a:solidFill>
              </a:rPr>
              <a:t>DataStore</a:t>
            </a:r>
            <a:r>
              <a:rPr lang="en-US" sz="2600" dirty="0">
                <a:solidFill>
                  <a:schemeClr val="tx1"/>
                </a:solidFill>
              </a:rPr>
              <a:t>, and even other CubicWeb instance repositories. A data repository can be configured to either be accessed remotely using </a:t>
            </a:r>
            <a:r>
              <a:rPr lang="en-US" sz="2600" dirty="0" err="1">
                <a:solidFill>
                  <a:schemeClr val="tx1"/>
                </a:solidFill>
              </a:rPr>
              <a:t>Pyro</a:t>
            </a:r>
            <a:r>
              <a:rPr lang="en-US" sz="2600" dirty="0">
                <a:solidFill>
                  <a:schemeClr val="tx1"/>
                </a:solidFill>
              </a:rPr>
              <a:t> (Python Remote Objects) or act as a standalone server, that in turn can be accessed either via a standalone web engine or directly. Usually the web engine and the repository are run in the same process.</a:t>
            </a:r>
          </a:p>
          <a:p>
            <a:pPr algn="l"/>
            <a:endParaRPr lang="en-US" sz="2000" b="1" dirty="0">
              <a:solidFill>
                <a:schemeClr val="tx1"/>
              </a:solidFill>
            </a:endParaRPr>
          </a:p>
          <a:p>
            <a:endParaRPr lang="en-US" dirty="0"/>
          </a:p>
        </p:txBody>
      </p:sp>
      <p:sp>
        <p:nvSpPr>
          <p:cNvPr id="4" name="Date Placeholder 3"/>
          <p:cNvSpPr>
            <a:spLocks noGrp="1"/>
          </p:cNvSpPr>
          <p:nvPr>
            <p:ph type="dt" sz="half" idx="10"/>
          </p:nvPr>
        </p:nvSpPr>
        <p:spPr/>
        <p:txBody>
          <a:bodyPr/>
          <a:lstStyle/>
          <a:p>
            <a:fld id="{DF1DE091-1A9F-4451-A05F-BF693D601506}" type="datetime1">
              <a:rPr lang="en-US" smtClean="0"/>
              <a:t>9/27/2024</a:t>
            </a:fld>
            <a:endParaRPr lang="en-US"/>
          </a:p>
        </p:txBody>
      </p:sp>
      <p:sp>
        <p:nvSpPr>
          <p:cNvPr id="5" name="Footer Placeholder 4"/>
          <p:cNvSpPr>
            <a:spLocks noGrp="1"/>
          </p:cNvSpPr>
          <p:nvPr>
            <p:ph type="ftr" sz="quarter" idx="11"/>
          </p:nvPr>
        </p:nvSpPr>
        <p:spPr>
          <a:xfrm>
            <a:off x="4165600" y="6356357"/>
            <a:ext cx="6807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a:spLocks noGrp="1"/>
          </p:cNvSpPr>
          <p:nvPr>
            <p:ph type="ctrTitle"/>
          </p:nvPr>
        </p:nvSpPr>
        <p:spPr>
          <a:xfrm>
            <a:off x="1447800" y="1"/>
            <a:ext cx="10744200" cy="761999"/>
          </a:xfrm>
          <a:solidFill>
            <a:schemeClr val="accent5">
              <a:lumMod val="20000"/>
              <a:lumOff val="80000"/>
            </a:schemeClr>
          </a:solidFill>
        </p:spPr>
        <p:txBody>
          <a:bodyPr>
            <a:noAutofit/>
          </a:bodyPr>
          <a:lstStyle/>
          <a:p>
            <a:pPr algn="l"/>
            <a:r>
              <a:rPr lang="en-US" sz="3200" dirty="0"/>
              <a:t>                                  Cubic Web(continue…)</a:t>
            </a:r>
          </a:p>
        </p:txBody>
      </p:sp>
      <p:pic>
        <p:nvPicPr>
          <p:cNvPr id="8" name="Picture 7"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11741049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990600"/>
            <a:ext cx="10515600" cy="4724399"/>
          </a:xfrm>
          <a:solidFill>
            <a:schemeClr val="tx2">
              <a:lumMod val="40000"/>
              <a:lumOff val="60000"/>
            </a:schemeClr>
          </a:solidFill>
          <a:ln w="6350">
            <a:solidFill>
              <a:schemeClr val="tx1"/>
            </a:solidFill>
          </a:ln>
        </p:spPr>
        <p:txBody>
          <a:bodyPr>
            <a:noAutofit/>
          </a:bodyPr>
          <a:lstStyle/>
          <a:p>
            <a:r>
              <a:rPr lang="en-US" sz="2400" dirty="0"/>
              <a:t>Quixote is a framework for writing Web-based applications using Python. Its goals are flexibility and high-performance, in that order. Quixote applications tend to be structured like traditional applications. The logic for formatting web pages consists of Python classes and functions. Separation of presentation logic and "back-end" logic is not enforced by Quixote. Instead, you are encouraged to use traditional techniques. For example, a solution is to put presentation logic in its own sub-package.</a:t>
            </a:r>
          </a:p>
          <a:p>
            <a:r>
              <a:rPr lang="en-US" sz="2400" dirty="0"/>
              <a:t>There are three major versions of Quixote, version 1, 2 and 3. Versions 1 and 2 are similar to each other but incompatible. Version 1 is no longer actively maintained. Version 3 of Quixote requires Python 3 but is otherwise similar to Quixote 2. Versions 2 and 3 of Quixote are actively maintained and are used by numerous public sites.</a:t>
            </a:r>
          </a:p>
        </p:txBody>
      </p:sp>
      <p:sp>
        <p:nvSpPr>
          <p:cNvPr id="4" name="Date Placeholder 3"/>
          <p:cNvSpPr>
            <a:spLocks noGrp="1"/>
          </p:cNvSpPr>
          <p:nvPr>
            <p:ph type="dt" sz="half" idx="10"/>
          </p:nvPr>
        </p:nvSpPr>
        <p:spPr/>
        <p:txBody>
          <a:bodyPr/>
          <a:lstStyle/>
          <a:p>
            <a:fld id="{223854D8-55D0-47F7-B47B-566DAC914441}" type="datetime1">
              <a:rPr lang="en-US" smtClean="0"/>
              <a:t>9/27/2024</a:t>
            </a:fld>
            <a:endParaRPr lang="en-US" dirty="0"/>
          </a:p>
        </p:txBody>
      </p:sp>
      <p:sp>
        <p:nvSpPr>
          <p:cNvPr id="5" name="Footer Placeholder 4"/>
          <p:cNvSpPr>
            <a:spLocks noGrp="1"/>
          </p:cNvSpPr>
          <p:nvPr>
            <p:ph type="ftr" sz="quarter" idx="11"/>
          </p:nvPr>
        </p:nvSpPr>
        <p:spPr>
          <a:xfrm>
            <a:off x="4165600" y="6356357"/>
            <a:ext cx="6426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a:spLocks noGrp="1"/>
          </p:cNvSpPr>
          <p:nvPr>
            <p:ph type="title"/>
          </p:nvPr>
        </p:nvSpPr>
        <p:spPr>
          <a:xfrm>
            <a:off x="1524000" y="0"/>
            <a:ext cx="10668000" cy="762000"/>
          </a:xfrm>
          <a:solidFill>
            <a:schemeClr val="accent5">
              <a:lumMod val="20000"/>
              <a:lumOff val="80000"/>
            </a:schemeClr>
          </a:solidFill>
        </p:spPr>
        <p:txBody>
          <a:bodyPr>
            <a:noAutofit/>
          </a:bodyPr>
          <a:lstStyle/>
          <a:p>
            <a:pPr algn="l"/>
            <a:r>
              <a:rPr lang="en-US" sz="3200" dirty="0"/>
              <a:t>                                           Quixote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4101140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676400" y="1295401"/>
            <a:ext cx="10058400" cy="3962399"/>
          </a:xfrm>
          <a:solidFill>
            <a:schemeClr val="tx2">
              <a:lumMod val="40000"/>
              <a:lumOff val="60000"/>
            </a:schemeClr>
          </a:solidFill>
          <a:ln>
            <a:solidFill>
              <a:schemeClr val="accent1"/>
            </a:solidFill>
          </a:ln>
        </p:spPr>
        <p:txBody>
          <a:bodyPr>
            <a:noAutofit/>
          </a:bodyPr>
          <a:lstStyle/>
          <a:p>
            <a:r>
              <a:rPr lang="en-US" sz="2400" b="1" dirty="0"/>
              <a:t>Download</a:t>
            </a:r>
          </a:p>
          <a:p>
            <a:r>
              <a:rPr lang="en-US" sz="2400" dirty="0"/>
              <a:t>The latest stable version of Quixote (Python 3 only) is </a:t>
            </a:r>
            <a:r>
              <a:rPr lang="en-US" sz="2400" dirty="0">
                <a:hlinkClick r:id="rId2"/>
              </a:rPr>
              <a:t>version 3.5</a:t>
            </a:r>
            <a:r>
              <a:rPr lang="en-US" sz="2400" dirty="0"/>
              <a:t> (</a:t>
            </a:r>
            <a:r>
              <a:rPr lang="en-US" sz="2400" dirty="0">
                <a:hlinkClick r:id="rId3"/>
              </a:rPr>
              <a:t>3.4 sig</a:t>
            </a:r>
            <a:r>
              <a:rPr lang="en-US" sz="2400" dirty="0"/>
              <a:t>), released 2021-06-12.</a:t>
            </a:r>
          </a:p>
          <a:p>
            <a:r>
              <a:rPr lang="en-US" sz="2400" dirty="0"/>
              <a:t>The version of the 2.x series (Python 2 compatible) is </a:t>
            </a:r>
            <a:r>
              <a:rPr lang="en-US" sz="2400" dirty="0">
                <a:hlinkClick r:id="rId4"/>
              </a:rPr>
              <a:t>version 2.9.1</a:t>
            </a:r>
            <a:r>
              <a:rPr lang="en-US" sz="2400" dirty="0"/>
              <a:t> (</a:t>
            </a:r>
            <a:r>
              <a:rPr lang="en-US" sz="2400" dirty="0">
                <a:hlinkClick r:id="rId5"/>
              </a:rPr>
              <a:t>2.9.1 sig</a:t>
            </a:r>
            <a:r>
              <a:rPr lang="en-US" sz="2400" dirty="0"/>
              <a:t>), released 2016-04-18.</a:t>
            </a:r>
          </a:p>
          <a:p>
            <a:r>
              <a:rPr lang="en-US" sz="2400" dirty="0"/>
              <a:t>The latest version of the 1.x series is Quixote is </a:t>
            </a:r>
            <a:r>
              <a:rPr lang="en-US" sz="2400" dirty="0">
                <a:hlinkClick r:id="rId6"/>
              </a:rPr>
              <a:t>version 1.3</a:t>
            </a:r>
            <a:r>
              <a:rPr lang="en-US" sz="2400" dirty="0"/>
              <a:t>, released 2008-08-21.</a:t>
            </a:r>
          </a:p>
          <a:p>
            <a:r>
              <a:rPr lang="en-US" sz="2400" dirty="0"/>
              <a:t>The latest test version of Quixote is </a:t>
            </a:r>
            <a:r>
              <a:rPr lang="en-US" sz="2400" dirty="0">
                <a:hlinkClick r:id="rId7"/>
              </a:rPr>
              <a:t>version 3.6a2</a:t>
            </a:r>
            <a:r>
              <a:rPr lang="en-US" sz="2400" dirty="0"/>
              <a:t> (</a:t>
            </a:r>
            <a:r>
              <a:rPr lang="en-US" sz="2400" dirty="0">
                <a:hlinkClick r:id="rId8"/>
              </a:rPr>
              <a:t>3.6a2 sig</a:t>
            </a:r>
            <a:r>
              <a:rPr lang="en-US" sz="2400" dirty="0"/>
              <a:t>), released 2021-12-20</a:t>
            </a:r>
          </a:p>
        </p:txBody>
      </p:sp>
      <p:sp>
        <p:nvSpPr>
          <p:cNvPr id="4" name="Date Placeholder 3"/>
          <p:cNvSpPr>
            <a:spLocks noGrp="1"/>
          </p:cNvSpPr>
          <p:nvPr>
            <p:ph type="dt" sz="half" idx="10"/>
          </p:nvPr>
        </p:nvSpPr>
        <p:spPr/>
        <p:txBody>
          <a:bodyPr/>
          <a:lstStyle/>
          <a:p>
            <a:fld id="{E37C7DD9-6CE1-4E5A-9D31-19CC0F62E968}" type="datetime1">
              <a:rPr lang="en-US" smtClean="0"/>
              <a:t>9/27/2024</a:t>
            </a:fld>
            <a:endParaRPr lang="en-US" dirty="0"/>
          </a:p>
        </p:txBody>
      </p:sp>
      <p:sp>
        <p:nvSpPr>
          <p:cNvPr id="5" name="Footer Placeholder 4"/>
          <p:cNvSpPr>
            <a:spLocks noGrp="1"/>
          </p:cNvSpPr>
          <p:nvPr>
            <p:ph type="ftr" sz="quarter" idx="11"/>
          </p:nvPr>
        </p:nvSpPr>
        <p:spPr>
          <a:xfrm>
            <a:off x="4165600" y="6356357"/>
            <a:ext cx="6807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a:spLocks noGrp="1"/>
          </p:cNvSpPr>
          <p:nvPr>
            <p:ph type="title"/>
          </p:nvPr>
        </p:nvSpPr>
        <p:spPr>
          <a:xfrm>
            <a:off x="1524000" y="0"/>
            <a:ext cx="10668000" cy="838200"/>
          </a:xfrm>
          <a:solidFill>
            <a:schemeClr val="accent5">
              <a:lumMod val="20000"/>
              <a:lumOff val="80000"/>
            </a:schemeClr>
          </a:solidFill>
        </p:spPr>
        <p:txBody>
          <a:bodyPr>
            <a:normAutofit/>
          </a:bodyPr>
          <a:lstStyle/>
          <a:p>
            <a:pPr algn="l"/>
            <a:r>
              <a:rPr lang="en-US" sz="2400" b="1" dirty="0"/>
              <a:t>                                               </a:t>
            </a:r>
            <a:r>
              <a:rPr lang="en-US" sz="3200" dirty="0"/>
              <a:t>Quixote(continue….)</a:t>
            </a:r>
          </a:p>
        </p:txBody>
      </p:sp>
      <p:pic>
        <p:nvPicPr>
          <p:cNvPr id="8" name="Picture 7" descr="C:\Users\Dr. CS Yadav\Downloads\New logo NIET.jpg"/>
          <p:cNvPicPr/>
          <p:nvPr/>
        </p:nvPicPr>
        <p:blipFill>
          <a:blip r:embed="rId9"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727711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47800" y="990600"/>
            <a:ext cx="10515600" cy="4754563"/>
          </a:xfrm>
          <a:solidFill>
            <a:schemeClr val="tx2">
              <a:lumMod val="40000"/>
              <a:lumOff val="60000"/>
            </a:schemeClr>
          </a:solidFill>
          <a:ln>
            <a:solidFill>
              <a:schemeClr val="accent1"/>
            </a:solidFill>
          </a:ln>
        </p:spPr>
        <p:txBody>
          <a:bodyPr>
            <a:normAutofit/>
          </a:bodyPr>
          <a:lstStyle/>
          <a:p>
            <a:r>
              <a:rPr lang="en-US" sz="2400" dirty="0"/>
              <a:t>Pyramid makes it easy to write web applications. You can </a:t>
            </a:r>
            <a:r>
              <a:rPr lang="en-US" sz="2400" b="1" dirty="0"/>
              <a:t>start small</a:t>
            </a:r>
            <a:r>
              <a:rPr lang="en-US" sz="2400" dirty="0"/>
              <a:t> with this "hello world" minimal request/response web app. </a:t>
            </a:r>
          </a:p>
          <a:p>
            <a:pPr marL="0" indent="0">
              <a:buNone/>
            </a:pPr>
            <a:endParaRPr lang="en-US" sz="2400" dirty="0"/>
          </a:p>
          <a:p>
            <a:r>
              <a:rPr lang="en-US" sz="2400" dirty="0"/>
              <a:t>This may take you far, especially while learning. As your application grows, Pyramid offers many features that make writing complex software take less effort. </a:t>
            </a:r>
          </a:p>
          <a:p>
            <a:pPr marL="0" indent="0">
              <a:buNone/>
            </a:pPr>
            <a:endParaRPr lang="en-US" sz="2400" dirty="0"/>
          </a:p>
          <a:p>
            <a:r>
              <a:rPr lang="en-US" sz="2400" dirty="0"/>
              <a:t>Pyramid works in all supported versions of Python.</a:t>
            </a:r>
          </a:p>
          <a:p>
            <a:pPr marL="0" indent="0">
              <a:buNone/>
            </a:pPr>
            <a:endParaRPr lang="en-US" sz="2400" dirty="0"/>
          </a:p>
          <a:p>
            <a:r>
              <a:rPr lang="en-US" sz="2400" dirty="0"/>
              <a:t>Pyramid is a general, open source, web application development framework built in python. It allows python developer to create web applications with ease.</a:t>
            </a:r>
          </a:p>
          <a:p>
            <a:endParaRPr lang="en-US" dirty="0"/>
          </a:p>
        </p:txBody>
      </p:sp>
      <p:sp>
        <p:nvSpPr>
          <p:cNvPr id="5" name="Footer Placeholder 4"/>
          <p:cNvSpPr>
            <a:spLocks noGrp="1"/>
          </p:cNvSpPr>
          <p:nvPr>
            <p:ph type="ftr" sz="quarter" idx="11"/>
          </p:nvPr>
        </p:nvSpPr>
        <p:spPr>
          <a:xfrm>
            <a:off x="4165600" y="6356357"/>
            <a:ext cx="68834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a:spLocks noGrp="1"/>
          </p:cNvSpPr>
          <p:nvPr>
            <p:ph type="title"/>
          </p:nvPr>
        </p:nvSpPr>
        <p:spPr>
          <a:xfrm>
            <a:off x="1447800" y="0"/>
            <a:ext cx="10744200" cy="838200"/>
          </a:xfrm>
          <a:solidFill>
            <a:schemeClr val="accent5">
              <a:lumMod val="20000"/>
              <a:lumOff val="80000"/>
            </a:schemeClr>
          </a:solidFill>
        </p:spPr>
        <p:txBody>
          <a:bodyPr>
            <a:normAutofit/>
          </a:bodyPr>
          <a:lstStyle/>
          <a:p>
            <a:pPr algn="l"/>
            <a:r>
              <a:rPr lang="en-US" sz="3200" b="1" dirty="0"/>
              <a:t>                                           </a:t>
            </a:r>
            <a:r>
              <a:rPr lang="en-US" sz="3200" dirty="0"/>
              <a:t>Pyramid</a:t>
            </a:r>
          </a:p>
        </p:txBody>
      </p:sp>
      <p:sp>
        <p:nvSpPr>
          <p:cNvPr id="2" name="Date Placeholder 1"/>
          <p:cNvSpPr>
            <a:spLocks noGrp="1"/>
          </p:cNvSpPr>
          <p:nvPr>
            <p:ph type="dt" sz="half" idx="10"/>
          </p:nvPr>
        </p:nvSpPr>
        <p:spPr/>
        <p:txBody>
          <a:bodyPr/>
          <a:lstStyle/>
          <a:p>
            <a:fld id="{66E3A204-60C1-4A63-A775-560AD6D846EE}" type="datetime1">
              <a:rPr lang="en-US" smtClean="0"/>
              <a:t>9/27/2024</a:t>
            </a:fld>
            <a:endParaRPr lang="en-US"/>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09987967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1014418"/>
            <a:ext cx="10515600" cy="5013321"/>
          </a:xfrm>
          <a:solidFill>
            <a:schemeClr val="tx2">
              <a:lumMod val="40000"/>
              <a:lumOff val="60000"/>
            </a:schemeClr>
          </a:solidFill>
          <a:ln>
            <a:solidFill>
              <a:schemeClr val="accent1"/>
            </a:solidFill>
          </a:ln>
        </p:spPr>
        <p:txBody>
          <a:bodyPr>
            <a:normAutofit fontScale="92500" lnSpcReduction="10000"/>
          </a:bodyPr>
          <a:lstStyle/>
          <a:p>
            <a:r>
              <a:rPr lang="en-US" sz="2600" b="1" dirty="0"/>
              <a:t>Installing, starting up and configuring</a:t>
            </a:r>
          </a:p>
          <a:p>
            <a:r>
              <a:rPr lang="en-US" sz="2600" dirty="0"/>
              <a:t>As described, “the start small, finish big, stay finished framework”, Pyramid is much like Flask which takes very little effort to install and run. In fact, you’ll recognize that some of the patterns are similar to Flask once you start building this application.</a:t>
            </a:r>
          </a:p>
          <a:p>
            <a:r>
              <a:rPr lang="en-US" sz="2600" dirty="0"/>
              <a:t>Following are the steps to create pyramid framework environment −</a:t>
            </a:r>
          </a:p>
          <a:p>
            <a:r>
              <a:rPr lang="en-US" sz="2600" dirty="0"/>
              <a:t>First, create a project directory. Here, we have created a directory named </a:t>
            </a:r>
            <a:r>
              <a:rPr lang="en-US" sz="2600" b="1" dirty="0" err="1"/>
              <a:t>pyramidProject</a:t>
            </a:r>
            <a:r>
              <a:rPr lang="en-US" sz="2600" dirty="0"/>
              <a:t> (you can choose any name you want).</a:t>
            </a:r>
          </a:p>
          <a:p>
            <a:r>
              <a:rPr lang="en-US" sz="2600" dirty="0"/>
              <a:t>Next, create a virtual environment where you will install all the project specific dependencies. Here, we created a virtual environment folder named </a:t>
            </a:r>
            <a:r>
              <a:rPr lang="en-US" sz="2600" b="1" dirty="0" err="1"/>
              <a:t>pyramidEnv</a:t>
            </a:r>
            <a:r>
              <a:rPr lang="en-US" sz="2600" dirty="0"/>
              <a:t> where Pyramid is installed.</a:t>
            </a:r>
          </a:p>
          <a:p>
            <a:r>
              <a:rPr lang="en-US" sz="2600" dirty="0"/>
              <a:t>Then, go to the directory, </a:t>
            </a:r>
            <a:r>
              <a:rPr lang="en-US" sz="2600" b="1" dirty="0" err="1"/>
              <a:t>pyramidEnv</a:t>
            </a:r>
            <a:r>
              <a:rPr lang="en-US" sz="2600" dirty="0"/>
              <a:t> and install the pyramid with </a:t>
            </a:r>
            <a:r>
              <a:rPr lang="en-US" sz="2600" b="1" dirty="0"/>
              <a:t>pip install pyramid</a:t>
            </a:r>
            <a:r>
              <a:rPr lang="en-US" sz="2600" dirty="0"/>
              <a:t>.</a:t>
            </a:r>
          </a:p>
          <a:p>
            <a:endParaRPr lang="en-US" dirty="0"/>
          </a:p>
        </p:txBody>
      </p:sp>
      <p:sp>
        <p:nvSpPr>
          <p:cNvPr id="4" name="Date Placeholder 3"/>
          <p:cNvSpPr>
            <a:spLocks noGrp="1"/>
          </p:cNvSpPr>
          <p:nvPr>
            <p:ph type="dt" sz="half" idx="10"/>
          </p:nvPr>
        </p:nvSpPr>
        <p:spPr/>
        <p:txBody>
          <a:bodyPr/>
          <a:lstStyle/>
          <a:p>
            <a:fld id="{48D5A563-FB82-4D68-8D1C-47DF3AA3825E}" type="datetime1">
              <a:rPr lang="en-US" smtClean="0"/>
              <a:t>9/27/2024</a:t>
            </a:fld>
            <a:endParaRPr lang="en-US" dirty="0"/>
          </a:p>
        </p:txBody>
      </p:sp>
      <p:sp>
        <p:nvSpPr>
          <p:cNvPr id="5" name="Footer Placeholder 4"/>
          <p:cNvSpPr>
            <a:spLocks noGrp="1"/>
          </p:cNvSpPr>
          <p:nvPr>
            <p:ph type="ftr" sz="quarter" idx="11"/>
          </p:nvPr>
        </p:nvSpPr>
        <p:spPr>
          <a:xfrm>
            <a:off x="4165600" y="6356357"/>
            <a:ext cx="6807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dirty="0"/>
          </a:p>
        </p:txBody>
      </p:sp>
      <p:sp>
        <p:nvSpPr>
          <p:cNvPr id="7" name="Title 1"/>
          <p:cNvSpPr>
            <a:spLocks noGrp="1"/>
          </p:cNvSpPr>
          <p:nvPr>
            <p:ph type="title"/>
          </p:nvPr>
        </p:nvSpPr>
        <p:spPr>
          <a:xfrm>
            <a:off x="1524000" y="0"/>
            <a:ext cx="10668000" cy="838200"/>
          </a:xfrm>
          <a:solidFill>
            <a:schemeClr val="accent5">
              <a:lumMod val="20000"/>
              <a:lumOff val="80000"/>
            </a:schemeClr>
          </a:solidFill>
        </p:spPr>
        <p:txBody>
          <a:bodyPr>
            <a:normAutofit/>
          </a:bodyPr>
          <a:lstStyle/>
          <a:p>
            <a:pPr algn="l"/>
            <a:r>
              <a:rPr lang="en-US" sz="2400" b="1" dirty="0"/>
              <a:t>                                               </a:t>
            </a:r>
            <a:r>
              <a:rPr lang="en-US" sz="3200" dirty="0"/>
              <a:t>Pyramid(continue….)</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2406027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558D0992-434E-4E21-8385-994C956620B5}" type="datetime1">
              <a:rPr lang="en-US" smtClean="0"/>
              <a:t>9/27/2024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447800" y="1"/>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Daily Quiz</a:t>
            </a:r>
          </a:p>
        </p:txBody>
      </p:sp>
      <p:sp>
        <p:nvSpPr>
          <p:cNvPr id="11" name="Content Placeholder 10"/>
          <p:cNvSpPr>
            <a:spLocks noGrp="1"/>
          </p:cNvSpPr>
          <p:nvPr>
            <p:ph idx="1"/>
          </p:nvPr>
        </p:nvSpPr>
        <p:spPr>
          <a:xfrm>
            <a:off x="1524000" y="976636"/>
            <a:ext cx="10058400" cy="4450449"/>
          </a:xfrm>
          <a:prstGeom prst="rect">
            <a:avLst/>
          </a:prstGeom>
          <a:solidFill>
            <a:schemeClr val="tx2">
              <a:lumMod val="40000"/>
              <a:lumOff val="60000"/>
            </a:schemeClr>
          </a:solidFill>
          <a:ln w="9525">
            <a:solidFill>
              <a:schemeClr val="tx1"/>
            </a:solidFill>
          </a:ln>
        </p:spPr>
        <p:txBody>
          <a:bodyPr wrap="square">
            <a:spAutoFit/>
          </a:bodyPr>
          <a:lstStyle/>
          <a:p>
            <a:pPr marL="457200" indent="-457200">
              <a:buFont typeface="+mj-lt"/>
              <a:buAutoNum type="arabicPeriod"/>
            </a:pPr>
            <a:r>
              <a:rPr lang="en-US" sz="2400" dirty="0"/>
              <a:t>Discuss collection container </a:t>
            </a:r>
            <a:r>
              <a:rPr lang="en-US" sz="2400" dirty="0" err="1"/>
              <a:t>datatypes</a:t>
            </a:r>
            <a:r>
              <a:rPr lang="en-US" sz="2400" dirty="0"/>
              <a:t>.</a:t>
            </a:r>
          </a:p>
          <a:p>
            <a:pPr marL="457200" indent="-457200">
              <a:buFont typeface="+mj-lt"/>
              <a:buAutoNum type="arabicPeriod"/>
            </a:pPr>
            <a:r>
              <a:rPr lang="en-US" sz="2400" dirty="0"/>
              <a:t>What is the role of frameworks in python.</a:t>
            </a:r>
          </a:p>
          <a:p>
            <a:pPr marL="457200" indent="-457200">
              <a:buFont typeface="+mj-lt"/>
              <a:buAutoNum type="arabicPeriod"/>
            </a:pPr>
            <a:r>
              <a:rPr lang="en-US" sz="2400" dirty="0"/>
              <a:t>Discuss any three frameworks.</a:t>
            </a:r>
          </a:p>
          <a:p>
            <a:pPr marL="457200" indent="-457200">
              <a:buFont typeface="+mj-lt"/>
              <a:buAutoNum type="arabicPeriod"/>
            </a:pPr>
            <a:r>
              <a:rPr lang="en-US" sz="2400" dirty="0"/>
              <a:t>Discuss about </a:t>
            </a:r>
            <a:r>
              <a:rPr lang="en-US" sz="2400" dirty="0" err="1"/>
              <a:t>Turbogear</a:t>
            </a:r>
            <a:r>
              <a:rPr lang="en-US" sz="2400" dirty="0"/>
              <a:t>.</a:t>
            </a:r>
          </a:p>
          <a:p>
            <a:pPr marL="457200" indent="-457200">
              <a:buFont typeface="+mj-lt"/>
              <a:buAutoNum type="arabicPeriod"/>
            </a:pPr>
            <a:r>
              <a:rPr lang="en-US" sz="2400" dirty="0"/>
              <a:t>Discuss implementation rule of Falcon.</a:t>
            </a:r>
          </a:p>
          <a:p>
            <a:pPr marL="457200" indent="-457200">
              <a:buFont typeface="+mj-lt"/>
              <a:buAutoNum type="arabicPeriod"/>
            </a:pPr>
            <a:r>
              <a:rPr lang="en-US" sz="2400" dirty="0"/>
              <a:t>Discuss the Zappa framework.</a:t>
            </a:r>
          </a:p>
          <a:p>
            <a:pPr marL="457200" indent="-457200">
              <a:buFont typeface="+mj-lt"/>
              <a:buAutoNum type="arabicPeriod"/>
            </a:pPr>
            <a:r>
              <a:rPr lang="en-US" sz="2400" dirty="0"/>
              <a:t>Discuss the role of Dash.</a:t>
            </a:r>
          </a:p>
          <a:p>
            <a:pPr marL="457200" indent="-457200">
              <a:buFont typeface="+mj-lt"/>
              <a:buAutoNum type="arabicPeriod"/>
            </a:pPr>
            <a:r>
              <a:rPr lang="en-US" sz="2400" dirty="0"/>
              <a:t>Discuss the application area of </a:t>
            </a:r>
            <a:r>
              <a:rPr lang="en-US" sz="2400" dirty="0" err="1"/>
              <a:t>cherryPy</a:t>
            </a:r>
            <a:r>
              <a:rPr lang="en-US" sz="2400" dirty="0"/>
              <a:t>.</a:t>
            </a:r>
          </a:p>
          <a:p>
            <a:pPr marL="457200" indent="-457200">
              <a:buFont typeface="+mj-lt"/>
              <a:buAutoNum type="arabicPeriod"/>
            </a:pPr>
            <a:r>
              <a:rPr lang="en-US" sz="2400" dirty="0"/>
              <a:t>Discuss about the Request Http methods in Python.</a:t>
            </a:r>
          </a:p>
          <a:p>
            <a:pPr marL="457200" indent="-457200">
              <a:buFont typeface="+mj-lt"/>
              <a:buAutoNum type="arabicPeriod"/>
            </a:pPr>
            <a:r>
              <a:rPr lang="en-US" sz="2400" dirty="0"/>
              <a:t>Discuss about Flask application.</a:t>
            </a:r>
            <a:endParaRPr lang="en-US" dirty="0"/>
          </a:p>
        </p:txBody>
      </p:sp>
      <p:sp>
        <p:nvSpPr>
          <p:cNvPr id="9" name="Footer Placeholder 12"/>
          <p:cNvSpPr>
            <a:spLocks noGrp="1"/>
          </p:cNvSpPr>
          <p:nvPr>
            <p:ph type="ftr" sz="quarter" idx="11"/>
          </p:nvPr>
        </p:nvSpPr>
        <p:spPr>
          <a:xfrm>
            <a:off x="3810000" y="6019801"/>
            <a:ext cx="7086600" cy="623910"/>
          </a:xfrm>
        </p:spPr>
        <p:txBody>
          <a:bodyPr/>
          <a:lstStyle/>
          <a:p>
            <a:r>
              <a:rPr lang="en-US"/>
              <a:t>Ritesh Kumar Singh                 Python web development with Django                           Unit 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358064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CC2E27-37CB-48A3-9781-CB1E6C9D5997}" type="datetime1">
              <a:rPr lang="en-US" smtClean="0"/>
              <a:t>9/27/2024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300" dirty="0"/>
              <a:t>Weekly Assignment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685800" y="1143000"/>
            <a:ext cx="11353800" cy="2554545"/>
          </a:xfrm>
          <a:prstGeom prst="rect">
            <a:avLst/>
          </a:prstGeom>
          <a:solidFill>
            <a:schemeClr val="tx2">
              <a:lumMod val="40000"/>
              <a:lumOff val="60000"/>
            </a:schemeClr>
          </a:solidFill>
          <a:ln w="28575">
            <a:solidFill>
              <a:schemeClr val="tx1"/>
            </a:solidFill>
          </a:ln>
        </p:spPr>
        <p:txBody>
          <a:bodyPr wrap="square">
            <a:spAutoFit/>
          </a:bodyPr>
          <a:lstStyle/>
          <a:p>
            <a:pPr marL="457200" indent="-457200" algn="just">
              <a:buFont typeface="+mj-lt"/>
              <a:buAutoNum type="arabicPeriod"/>
            </a:pPr>
            <a:r>
              <a:rPr lang="en-US" sz="3200" dirty="0">
                <a:latin typeface="+mj-lt"/>
              </a:rPr>
              <a:t>What are the most important uses of Django.</a:t>
            </a:r>
          </a:p>
          <a:p>
            <a:pPr marL="457200" indent="-457200" algn="just">
              <a:buFont typeface="+mj-lt"/>
              <a:buAutoNum type="arabicPeriod"/>
            </a:pPr>
            <a:r>
              <a:rPr lang="en-US" sz="3200" dirty="0">
                <a:latin typeface="+mj-lt"/>
              </a:rPr>
              <a:t>What are the disadvantages of Django?</a:t>
            </a:r>
          </a:p>
          <a:p>
            <a:pPr marL="457200" indent="-457200" algn="just">
              <a:buFont typeface="+mj-lt"/>
              <a:buAutoNum type="arabicPeriod"/>
            </a:pPr>
            <a:r>
              <a:rPr lang="en-US" sz="3200" dirty="0"/>
              <a:t>What are the different data types used in Django.</a:t>
            </a:r>
          </a:p>
          <a:p>
            <a:pPr marL="457200" indent="-457200" algn="just">
              <a:buFont typeface="+mj-lt"/>
              <a:buAutoNum type="arabicPeriod"/>
            </a:pPr>
            <a:r>
              <a:rPr lang="en-US" sz="3200" dirty="0"/>
              <a:t>What are the salient features of Django.</a:t>
            </a:r>
          </a:p>
          <a:p>
            <a:pPr marL="457200" indent="-457200" algn="just">
              <a:buFont typeface="+mj-lt"/>
              <a:buAutoNum type="arabicPeriod"/>
            </a:pPr>
            <a:r>
              <a:rPr lang="en-US" sz="3200" dirty="0"/>
              <a:t>What are some of the technical features that Django includes</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Python web development with Django                           Unit I</a:t>
            </a:r>
            <a:endParaRPr lang="en-US" dirty="0"/>
          </a:p>
        </p:txBody>
      </p:sp>
      <p:pic>
        <p:nvPicPr>
          <p:cNvPr id="9" name="Picture 8"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87084885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BEDC0E0-B8EE-461A-BBF5-E53340A2605E}" type="datetime1">
              <a:rPr lang="en-US" smtClean="0"/>
              <a:t>9/27/2024</a:t>
            </a:fld>
            <a:endParaRPr lang="en-US" dirty="0"/>
          </a:p>
        </p:txBody>
      </p:sp>
      <p:sp>
        <p:nvSpPr>
          <p:cNvPr id="5" name="Footer Placeholder 4"/>
          <p:cNvSpPr>
            <a:spLocks noGrp="1"/>
          </p:cNvSpPr>
          <p:nvPr>
            <p:ph type="ftr" sz="quarter" idx="11"/>
          </p:nvPr>
        </p:nvSpPr>
        <p:spPr>
          <a:xfrm>
            <a:off x="4038600" y="6356356"/>
            <a:ext cx="50292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dirty="0"/>
          </a:p>
        </p:txBody>
      </p:sp>
      <p:sp>
        <p:nvSpPr>
          <p:cNvPr id="7" name="Title 1"/>
          <p:cNvSpPr txBox="1">
            <a:spLocks/>
          </p:cNvSpPr>
          <p:nvPr/>
        </p:nvSpPr>
        <p:spPr>
          <a:xfrm>
            <a:off x="1447800" y="6"/>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800" dirty="0"/>
              <a:t>Topic Link ( YouTube &amp; NPTEL Video Links)</a:t>
            </a:r>
          </a:p>
        </p:txBody>
      </p:sp>
      <p:sp>
        <p:nvSpPr>
          <p:cNvPr id="9" name="Content Placeholder 2"/>
          <p:cNvSpPr>
            <a:spLocks noGrp="1"/>
          </p:cNvSpPr>
          <p:nvPr>
            <p:ph idx="1"/>
          </p:nvPr>
        </p:nvSpPr>
        <p:spPr>
          <a:xfrm>
            <a:off x="914400" y="1066800"/>
            <a:ext cx="11049000" cy="4525963"/>
          </a:xfrm>
        </p:spPr>
        <p:txBody>
          <a:bodyPr>
            <a:normAutofit/>
          </a:bodyPr>
          <a:lstStyle/>
          <a:p>
            <a:pPr marL="0" indent="0" algn="just">
              <a:buNone/>
            </a:pPr>
            <a:endParaRPr lang="en-US" sz="2800" dirty="0"/>
          </a:p>
          <a:p>
            <a:pPr>
              <a:buNone/>
            </a:pPr>
            <a:endParaRPr lang="en-US" dirty="0"/>
          </a:p>
        </p:txBody>
      </p:sp>
      <p:sp>
        <p:nvSpPr>
          <p:cNvPr id="8" name="Content Placeholder 2"/>
          <p:cNvSpPr txBox="1">
            <a:spLocks/>
          </p:cNvSpPr>
          <p:nvPr/>
        </p:nvSpPr>
        <p:spPr>
          <a:xfrm>
            <a:off x="239486" y="1062445"/>
            <a:ext cx="11876314" cy="4728755"/>
          </a:xfrm>
          <a:prstGeom prst="rect">
            <a:avLst/>
          </a:prstGeom>
          <a:solidFill>
            <a:srgbClr val="C00000"/>
          </a:solidFill>
          <a:ln w="19050">
            <a:solidFill>
              <a:schemeClr val="tx1"/>
            </a:solidFill>
          </a:ln>
        </p:spPr>
        <p:txBody>
          <a:bodyPr vert="horz" lIns="91440" tIns="45720" rIns="91440" bIns="45720" rtlCol="0">
            <a:normAutofit fontScale="85000" lnSpcReduction="20000"/>
          </a:bodyPr>
          <a:lstStyle>
            <a:lvl1pPr marL="342891" indent="-342891" algn="l" defTabSz="914377"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200000"/>
              </a:lnSpc>
              <a:buNone/>
            </a:pPr>
            <a:r>
              <a:rPr lang="en-US" sz="2800" u="sng" dirty="0"/>
              <a:t>YouTube  /other  Video Links</a:t>
            </a:r>
          </a:p>
          <a:p>
            <a:r>
              <a:rPr lang="en-US" u="sng" dirty="0">
                <a:hlinkClick r:id="rId2"/>
              </a:rPr>
              <a:t>https://youtu.be/eoPsX7MKfe8?list=PLIdgECt554OVFKXRpo_kuI0XpUQKk0ycO</a:t>
            </a:r>
            <a:endParaRPr lang="en-US" u="sng" dirty="0"/>
          </a:p>
          <a:p>
            <a:pPr marL="0" indent="0">
              <a:buNone/>
            </a:pPr>
            <a:endParaRPr lang="en-US" dirty="0"/>
          </a:p>
          <a:p>
            <a:r>
              <a:rPr lang="en-US" u="sng" dirty="0">
                <a:hlinkClick r:id="rId3"/>
              </a:rPr>
              <a:t>https://youtu.be/tA42nHmmEKw?list=PLh2mXjKcTPSACrQxPM2_1Ojus5HX88ht7</a:t>
            </a:r>
            <a:endParaRPr lang="en-US" u="sng" dirty="0"/>
          </a:p>
          <a:p>
            <a:pPr marL="0" indent="0">
              <a:buNone/>
            </a:pPr>
            <a:endParaRPr lang="en-US" dirty="0"/>
          </a:p>
          <a:p>
            <a:r>
              <a:rPr lang="en-US" u="sng" dirty="0">
                <a:hlinkClick r:id="rId4"/>
              </a:rPr>
              <a:t>https://youtu.be/8ndsDXohLMQ?list=PLDsnL5pk7-N_9oy2RN4A65Z-PEnvtc7rf</a:t>
            </a:r>
            <a:endParaRPr lang="en-US" u="sng" dirty="0"/>
          </a:p>
          <a:p>
            <a:pPr marL="0" indent="0">
              <a:buNone/>
            </a:pPr>
            <a:endParaRPr lang="en-US" dirty="0"/>
          </a:p>
          <a:p>
            <a:r>
              <a:rPr lang="en-US" u="sng" dirty="0">
                <a:hlinkClick r:id="rId5"/>
              </a:rPr>
              <a:t>https://youtu.be/QXeEoD0pB3E?list=PLsyeobzWxl7poL9JTVyndKe62ieoN-MZ3</a:t>
            </a:r>
            <a:endParaRPr lang="en-US" u="sng" dirty="0"/>
          </a:p>
          <a:p>
            <a:pPr marL="0" indent="0">
              <a:buNone/>
            </a:pPr>
            <a:endParaRPr lang="en-US" dirty="0"/>
          </a:p>
          <a:p>
            <a:r>
              <a:rPr lang="en-US" u="sng" dirty="0">
                <a:hlinkClick r:id="rId6"/>
              </a:rPr>
              <a:t>https://youtu.be/9MmC_uGjBsM?list=PL3pGy4HtqwD02GVgM96-V0sq4_DSinqvf</a:t>
            </a:r>
            <a:endParaRPr lang="en-US" u="sng" dirty="0"/>
          </a:p>
          <a:p>
            <a:pPr marL="0" indent="0">
              <a:buNone/>
            </a:pPr>
            <a:endParaRPr lang="en-US" u="sng" dirty="0"/>
          </a:p>
          <a:p>
            <a:pPr marL="0" indent="0">
              <a:buNone/>
            </a:pPr>
            <a:endParaRPr lang="en-US" dirty="0"/>
          </a:p>
          <a:p>
            <a:pPr marL="0" indent="0">
              <a:lnSpc>
                <a:spcPct val="200000"/>
              </a:lnSpc>
              <a:buNone/>
            </a:pPr>
            <a:endParaRPr lang="en-US" sz="2800" u="sng" dirty="0"/>
          </a:p>
        </p:txBody>
      </p:sp>
      <p:pic>
        <p:nvPicPr>
          <p:cNvPr id="10" name="Picture 9" descr="C:\Users\Dr. CS Yadav\Downloads\New logo NIET.jpg"/>
          <p:cNvPicPr/>
          <p:nvPr/>
        </p:nvPicPr>
        <p:blipFill>
          <a:blip r:embed="rId7"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77409232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23CB557-B014-4D52-96FC-BDD1961E2AD4}" type="datetime1">
              <a:rPr lang="en-US" smtClean="0"/>
              <a:t>9/27/2024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4010231441"/>
              </p:ext>
            </p:extLst>
          </p:nvPr>
        </p:nvGraphicFramePr>
        <p:xfrm>
          <a:off x="76200" y="762000"/>
          <a:ext cx="12115800" cy="6106312"/>
        </p:xfrm>
        <a:graphic>
          <a:graphicData uri="http://schemas.openxmlformats.org/drawingml/2006/table">
            <a:tbl>
              <a:tblPr firstRow="1" bandRow="1">
                <a:tableStyleId>{3B4B98B0-60AC-42C2-AFA5-B58CD77FA1E5}</a:tableStyleId>
              </a:tblPr>
              <a:tblGrid>
                <a:gridCol w="6057900">
                  <a:extLst>
                    <a:ext uri="{9D8B030D-6E8A-4147-A177-3AD203B41FA5}">
                      <a16:colId xmlns:a16="http://schemas.microsoft.com/office/drawing/2014/main" val="3349441241"/>
                    </a:ext>
                  </a:extLst>
                </a:gridCol>
                <a:gridCol w="6057900">
                  <a:extLst>
                    <a:ext uri="{9D8B030D-6E8A-4147-A177-3AD203B41FA5}">
                      <a16:colId xmlns:a16="http://schemas.microsoft.com/office/drawing/2014/main" val="4272054345"/>
                    </a:ext>
                  </a:extLst>
                </a:gridCol>
              </a:tblGrid>
              <a:tr h="2023065">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1. What is a </a:t>
                      </a:r>
                      <a:r>
                        <a:rPr lang="en-US" sz="2000" b="0" dirty="0" err="1"/>
                        <a:t>Django</a:t>
                      </a:r>
                      <a:r>
                        <a:rPr lang="en-US" sz="2000" b="0" dirty="0"/>
                        <a:t> App?</a:t>
                      </a:r>
                    </a:p>
                    <a:p>
                      <a:pPr algn="just"/>
                      <a:r>
                        <a:rPr lang="en-US" sz="2000" b="0" dirty="0"/>
                        <a:t> </a:t>
                      </a:r>
                      <a:r>
                        <a:rPr lang="en-US" sz="2000" b="0" dirty="0" err="1"/>
                        <a:t>ADjango</a:t>
                      </a:r>
                      <a:r>
                        <a:rPr lang="en-US" sz="2000" b="0" dirty="0"/>
                        <a:t> app is an extended package with base package is </a:t>
                      </a:r>
                      <a:r>
                        <a:rPr lang="en-US" sz="2000" b="0" dirty="0" err="1"/>
                        <a:t>Django</a:t>
                      </a:r>
                      <a:r>
                        <a:rPr lang="en-US" sz="2000" b="0" dirty="0"/>
                        <a:t> </a:t>
                      </a:r>
                    </a:p>
                    <a:p>
                      <a:pPr algn="just"/>
                      <a:r>
                        <a:rPr lang="en-US" sz="2000" b="0" dirty="0"/>
                        <a:t> B. </a:t>
                      </a:r>
                      <a:r>
                        <a:rPr lang="en-US" sz="2000" b="0" dirty="0" err="1"/>
                        <a:t>Django</a:t>
                      </a:r>
                      <a:r>
                        <a:rPr lang="en-US" sz="2000" b="0" dirty="0"/>
                        <a:t> app is a python package with its own components. </a:t>
                      </a:r>
                    </a:p>
                    <a:p>
                      <a:pPr algn="just"/>
                      <a:r>
                        <a:rPr lang="en-US" sz="2000" b="0" dirty="0"/>
                        <a:t> C. Both 1 &amp; 2 Option </a:t>
                      </a:r>
                    </a:p>
                    <a:p>
                      <a:pPr algn="just"/>
                      <a:r>
                        <a:rPr lang="en-US" sz="2000" b="0" dirty="0"/>
                        <a:t> D. All of the above </a:t>
                      </a:r>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2. </a:t>
                      </a:r>
                      <a:r>
                        <a:rPr lang="en-US" sz="2000" b="0" dirty="0" err="1"/>
                        <a:t>Django</a:t>
                      </a:r>
                      <a:r>
                        <a:rPr lang="en-US" sz="2000" b="0" dirty="0"/>
                        <a:t> was introduced by </a:t>
                      </a:r>
                    </a:p>
                    <a:p>
                      <a:pPr algn="just"/>
                      <a:endParaRPr lang="en-US" sz="2000" b="0" dirty="0"/>
                    </a:p>
                    <a:p>
                      <a:pPr algn="just"/>
                      <a:r>
                        <a:rPr lang="en-US" sz="2000" b="0" dirty="0"/>
                        <a:t> A. Adrian </a:t>
                      </a:r>
                      <a:r>
                        <a:rPr lang="en-US" sz="2000" b="0" dirty="0" err="1"/>
                        <a:t>Holovaty</a:t>
                      </a:r>
                      <a:endParaRPr lang="en-US" sz="2000" b="0" dirty="0"/>
                    </a:p>
                    <a:p>
                      <a:pPr algn="just"/>
                      <a:r>
                        <a:rPr lang="en-US" sz="2000" b="0" dirty="0"/>
                        <a:t> B. Bill Gates </a:t>
                      </a:r>
                    </a:p>
                    <a:p>
                      <a:pPr algn="just"/>
                      <a:r>
                        <a:rPr lang="en-US" sz="2000" b="0" dirty="0"/>
                        <a:t> C. </a:t>
                      </a:r>
                      <a:r>
                        <a:rPr lang="en-US" sz="2000" b="0" dirty="0" err="1"/>
                        <a:t>Rasmus</a:t>
                      </a:r>
                      <a:r>
                        <a:rPr lang="en-US" sz="2000" b="0" dirty="0"/>
                        <a:t> </a:t>
                      </a:r>
                      <a:r>
                        <a:rPr lang="en-US" sz="2000" b="0" dirty="0" err="1"/>
                        <a:t>Lerdorf</a:t>
                      </a:r>
                      <a:r>
                        <a:rPr lang="en-US" sz="2000" b="0" dirty="0"/>
                        <a:t> </a:t>
                      </a:r>
                    </a:p>
                    <a:p>
                      <a:pPr algn="just"/>
                      <a:r>
                        <a:rPr lang="en-US" sz="2000" b="0" dirty="0"/>
                        <a:t> D. Tim Berners-Lee </a:t>
                      </a:r>
                    </a:p>
                  </a:txBody>
                  <a:tcPr>
                    <a:solidFill>
                      <a:schemeClr val="tx2">
                        <a:lumMod val="40000"/>
                        <a:lumOff val="60000"/>
                      </a:schemeClr>
                    </a:solidFill>
                  </a:tcPr>
                </a:tc>
                <a:extLst>
                  <a:ext uri="{0D108BD9-81ED-4DB2-BD59-A6C34878D82A}">
                    <a16:rowId xmlns:a16="http://schemas.microsoft.com/office/drawing/2014/main" val="2536190218"/>
                  </a:ext>
                </a:extLst>
              </a:tr>
              <a:tr h="2265832">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3. What are Migrations in </a:t>
                      </a:r>
                      <a:r>
                        <a:rPr lang="en-US" sz="2000" b="0" dirty="0" err="1"/>
                        <a:t>Django</a:t>
                      </a:r>
                      <a:endParaRPr lang="en-US" sz="2000" b="0" dirty="0"/>
                    </a:p>
                    <a:p>
                      <a:pPr algn="just"/>
                      <a:r>
                        <a:rPr lang="en-US" sz="2000" b="0" dirty="0"/>
                        <a:t> A.</a:t>
                      </a:r>
                      <a:r>
                        <a:rPr lang="en-US" sz="2000" dirty="0"/>
                        <a:t> They are files saved in migrations directory. </a:t>
                      </a:r>
                      <a:r>
                        <a:rPr lang="en-US" sz="2000" b="0" dirty="0"/>
                        <a:t> </a:t>
                      </a:r>
                      <a:endParaRPr lang="en-US" sz="2000" b="1" dirty="0"/>
                    </a:p>
                    <a:p>
                      <a:pPr algn="just"/>
                      <a:r>
                        <a:rPr lang="en-US" sz="2000" b="0" dirty="0"/>
                        <a:t> B. </a:t>
                      </a:r>
                      <a:r>
                        <a:rPr lang="en-US" sz="2000" dirty="0"/>
                        <a:t>They are created when you run make migrations command. </a:t>
                      </a:r>
                      <a:endParaRPr lang="en-US" sz="2000" b="0" dirty="0"/>
                    </a:p>
                    <a:p>
                      <a:pPr algn="just"/>
                      <a:r>
                        <a:rPr lang="en-US" sz="2000" b="0" dirty="0"/>
                        <a:t> C. </a:t>
                      </a:r>
                      <a:r>
                        <a:rPr lang="en-US" sz="2000" dirty="0"/>
                        <a:t>Migrations are files where </a:t>
                      </a:r>
                      <a:r>
                        <a:rPr lang="en-US" sz="2000" dirty="0" err="1"/>
                        <a:t>Django</a:t>
                      </a:r>
                      <a:r>
                        <a:rPr lang="en-US" sz="2000" dirty="0"/>
                        <a:t> stores changes to your models. </a:t>
                      </a:r>
                      <a:endParaRPr lang="en-US" sz="2000" b="0" dirty="0"/>
                    </a:p>
                    <a:p>
                      <a:pPr algn="just"/>
                      <a:r>
                        <a:rPr lang="en-US" sz="2000" b="0" dirty="0"/>
                        <a:t> D. </a:t>
                      </a:r>
                      <a:r>
                        <a:rPr lang="en-US" sz="2000" dirty="0"/>
                        <a:t>All of the above </a:t>
                      </a:r>
                      <a:endParaRPr lang="en-US" sz="2000" b="0" dirty="0"/>
                    </a:p>
                  </a:txBody>
                  <a:tcPr>
                    <a:solidFill>
                      <a:schemeClr val="tx2">
                        <a:lumMod val="40000"/>
                        <a:lumOff val="60000"/>
                      </a:schemeClr>
                    </a:solidFill>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endParaRPr lang="en-US" sz="2000" b="1" dirty="0"/>
                    </a:p>
                  </a:txBody>
                  <a:tcPr>
                    <a:solidFill>
                      <a:schemeClr val="tx2">
                        <a:lumMod val="40000"/>
                        <a:lumOff val="60000"/>
                      </a:schemeClr>
                    </a:solidFill>
                  </a:tcPr>
                </a:tc>
                <a:extLst>
                  <a:ext uri="{0D108BD9-81ED-4DB2-BD59-A6C34878D82A}">
                    <a16:rowId xmlns:a16="http://schemas.microsoft.com/office/drawing/2014/main" val="2601322747"/>
                  </a:ext>
                </a:extLst>
              </a:tr>
              <a:tr h="1537529">
                <a:tc gridSpan="2">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2000" b="0" dirty="0"/>
                        <a:t>4. Which architectural pattern does </a:t>
                      </a:r>
                      <a:r>
                        <a:rPr lang="en-US" sz="2000" b="0" dirty="0" err="1"/>
                        <a:t>django</a:t>
                      </a:r>
                      <a:r>
                        <a:rPr lang="en-US" sz="2000" b="0" dirty="0"/>
                        <a:t> follow</a:t>
                      </a:r>
                    </a:p>
                    <a:p>
                      <a:pPr algn="just"/>
                      <a:r>
                        <a:rPr lang="en-US" sz="2000" b="0" dirty="0"/>
                        <a:t> A</a:t>
                      </a:r>
                      <a:r>
                        <a:rPr lang="en-US" sz="2000" dirty="0"/>
                        <a:t>PHP</a:t>
                      </a:r>
                      <a:endParaRPr lang="en-US" sz="2000" b="0" dirty="0"/>
                    </a:p>
                    <a:p>
                      <a:pPr algn="just"/>
                      <a:r>
                        <a:rPr lang="en-US" sz="2000" b="0" dirty="0"/>
                        <a:t> B. </a:t>
                      </a:r>
                      <a:r>
                        <a:rPr lang="en-US" sz="2000" dirty="0"/>
                        <a:t>MVT</a:t>
                      </a:r>
                      <a:endParaRPr lang="en-US" sz="2000" b="0" dirty="0"/>
                    </a:p>
                    <a:p>
                      <a:pPr algn="just"/>
                      <a:r>
                        <a:rPr lang="en-US" sz="2000" b="0" dirty="0"/>
                        <a:t> C. </a:t>
                      </a:r>
                      <a:r>
                        <a:rPr lang="en-US" sz="2000" dirty="0"/>
                        <a:t>HTML</a:t>
                      </a:r>
                      <a:endParaRPr lang="en-US" sz="2000" b="1" dirty="0"/>
                    </a:p>
                    <a:p>
                      <a:pPr algn="just"/>
                      <a:r>
                        <a:rPr lang="en-US" sz="2000" b="0" dirty="0"/>
                        <a:t> D. </a:t>
                      </a:r>
                      <a:r>
                        <a:rPr lang="en-US" sz="2000" dirty="0"/>
                        <a:t>None of the above </a:t>
                      </a:r>
                      <a:endParaRPr lang="en-US" sz="2000" b="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6553200" cy="365125"/>
          </a:xfrm>
        </p:spPr>
        <p:txBody>
          <a:bodyPr/>
          <a:lstStyle/>
          <a:p>
            <a:r>
              <a:rPr lang="en-US"/>
              <a:t>Ritesh Kumar Singh                 Python web development with Django                           Unit 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22108955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1219201"/>
            <a:ext cx="11353800" cy="4495799"/>
          </a:xfrm>
          <a:solidFill>
            <a:schemeClr val="tx2">
              <a:lumMod val="40000"/>
              <a:lumOff val="60000"/>
            </a:schemeClr>
          </a:solidFill>
          <a:ln w="6350">
            <a:solidFill>
              <a:schemeClr val="tx1"/>
            </a:solidFill>
          </a:ln>
        </p:spPr>
        <p:txBody>
          <a:bodyPr>
            <a:normAutofit fontScale="92500" lnSpcReduction="20000"/>
          </a:bodyPr>
          <a:lstStyle/>
          <a:p>
            <a:pPr marL="0" indent="0" algn="just">
              <a:spcBef>
                <a:spcPts val="0"/>
              </a:spcBef>
              <a:buNone/>
              <a:defRPr/>
            </a:pPr>
            <a:r>
              <a:rPr lang="en-US" sz="4300" dirty="0"/>
              <a:t> </a:t>
            </a:r>
            <a:r>
              <a:rPr lang="en-US" sz="2600" dirty="0"/>
              <a:t>which of these is not a valid backend for caching in </a:t>
            </a:r>
            <a:r>
              <a:rPr lang="en-US" sz="2600" dirty="0" err="1"/>
              <a:t>django</a:t>
            </a:r>
            <a:endParaRPr lang="en-US" sz="2600" dirty="0"/>
          </a:p>
          <a:p>
            <a:pPr algn="just">
              <a:buNone/>
            </a:pPr>
            <a:r>
              <a:rPr lang="en-US" sz="2600" dirty="0"/>
              <a:t> A. </a:t>
            </a:r>
            <a:r>
              <a:rPr lang="en-US" sz="2600" dirty="0" err="1"/>
              <a:t>Django.core.cache.backends.sys.memory</a:t>
            </a:r>
            <a:r>
              <a:rPr lang="en-US" sz="2600" dirty="0"/>
              <a:t> </a:t>
            </a:r>
          </a:p>
          <a:p>
            <a:pPr algn="just">
              <a:buNone/>
            </a:pPr>
            <a:r>
              <a:rPr lang="en-US" sz="2600" dirty="0"/>
              <a:t> B. </a:t>
            </a:r>
            <a:r>
              <a:rPr lang="en-US" sz="2600" dirty="0" err="1"/>
              <a:t>django.core.cache.backends.db.DatabaseCache</a:t>
            </a:r>
            <a:r>
              <a:rPr lang="en-US" sz="2600" dirty="0"/>
              <a:t> </a:t>
            </a:r>
          </a:p>
          <a:p>
            <a:pPr algn="just">
              <a:buNone/>
            </a:pPr>
            <a:r>
              <a:rPr lang="en-US" sz="2600" dirty="0"/>
              <a:t>C</a:t>
            </a:r>
            <a:r>
              <a:rPr lang="en-US" sz="2600" b="1" dirty="0"/>
              <a:t>.</a:t>
            </a:r>
            <a:r>
              <a:rPr lang="en-US" sz="2600" dirty="0"/>
              <a:t> </a:t>
            </a:r>
            <a:r>
              <a:rPr lang="en-US" sz="2600" dirty="0" err="1"/>
              <a:t>django.core.cache.backends.locmem.LocMemCache</a:t>
            </a:r>
            <a:r>
              <a:rPr lang="en-US" sz="2600" dirty="0"/>
              <a:t> </a:t>
            </a:r>
          </a:p>
          <a:p>
            <a:pPr algn="just">
              <a:buNone/>
            </a:pPr>
            <a:r>
              <a:rPr lang="en-US" sz="2600" dirty="0"/>
              <a:t>D</a:t>
            </a:r>
            <a:r>
              <a:rPr lang="en-US" sz="2600" b="1" dirty="0"/>
              <a:t>.</a:t>
            </a:r>
            <a:r>
              <a:rPr lang="en-US" sz="2600" dirty="0"/>
              <a:t> None of the above </a:t>
            </a:r>
            <a:endParaRPr lang="en-US" sz="2600" b="1" dirty="0"/>
          </a:p>
          <a:p>
            <a:pPr marL="0" indent="0" algn="just">
              <a:spcBef>
                <a:spcPts val="0"/>
              </a:spcBef>
              <a:buNone/>
              <a:defRPr/>
            </a:pPr>
            <a:endParaRPr lang="en-US" sz="2600" dirty="0"/>
          </a:p>
          <a:p>
            <a:pPr marL="0" indent="0" algn="just">
              <a:spcBef>
                <a:spcPts val="0"/>
              </a:spcBef>
              <a:buNone/>
              <a:defRPr/>
            </a:pPr>
            <a:r>
              <a:rPr lang="en-US" sz="2600" dirty="0"/>
              <a:t>5. Which architectural pattern does </a:t>
            </a:r>
            <a:r>
              <a:rPr lang="en-US" sz="2600" dirty="0" err="1"/>
              <a:t>django</a:t>
            </a:r>
            <a:r>
              <a:rPr lang="en-US" sz="2600" dirty="0"/>
              <a:t> follow</a:t>
            </a:r>
          </a:p>
          <a:p>
            <a:pPr algn="just">
              <a:buNone/>
            </a:pPr>
            <a:r>
              <a:rPr lang="en-US" sz="2600" dirty="0"/>
              <a:t> A.PHP</a:t>
            </a:r>
          </a:p>
          <a:p>
            <a:pPr algn="just">
              <a:buNone/>
            </a:pPr>
            <a:r>
              <a:rPr lang="en-US" sz="2600" dirty="0"/>
              <a:t> B. MVT</a:t>
            </a:r>
          </a:p>
          <a:p>
            <a:pPr algn="just">
              <a:buNone/>
            </a:pPr>
            <a:r>
              <a:rPr lang="en-US" sz="2600" dirty="0"/>
              <a:t> C. HTML</a:t>
            </a:r>
            <a:endParaRPr lang="en-US" sz="2600" b="1" dirty="0"/>
          </a:p>
          <a:p>
            <a:pPr algn="just">
              <a:buNone/>
            </a:pPr>
            <a:r>
              <a:rPr lang="en-US" sz="2600" dirty="0"/>
              <a:t> D. None of the above </a:t>
            </a:r>
          </a:p>
          <a:p>
            <a:pPr>
              <a:buNone/>
            </a:pPr>
            <a:endParaRPr lang="en-US" sz="1800" dirty="0"/>
          </a:p>
        </p:txBody>
      </p:sp>
      <p:sp>
        <p:nvSpPr>
          <p:cNvPr id="4" name="Date Placeholder 3"/>
          <p:cNvSpPr>
            <a:spLocks noGrp="1"/>
          </p:cNvSpPr>
          <p:nvPr>
            <p:ph type="dt" sz="half" idx="10"/>
          </p:nvPr>
        </p:nvSpPr>
        <p:spPr/>
        <p:txBody>
          <a:bodyPr/>
          <a:lstStyle/>
          <a:p>
            <a:fld id="{EC6020BA-85DF-4AB6-8C01-4577A1978181}" type="datetime1">
              <a:rPr lang="en-US" smtClean="0"/>
              <a:t>9/27/2024</a:t>
            </a:fld>
            <a:endParaRPr lang="en-US" dirty="0"/>
          </a:p>
        </p:txBody>
      </p:sp>
      <p:sp>
        <p:nvSpPr>
          <p:cNvPr id="5" name="Footer Placeholder 4"/>
          <p:cNvSpPr>
            <a:spLocks noGrp="1"/>
          </p:cNvSpPr>
          <p:nvPr>
            <p:ph type="ftr" sz="quarter" idx="11"/>
          </p:nvPr>
        </p:nvSpPr>
        <p:spPr>
          <a:xfrm>
            <a:off x="4165600" y="6356357"/>
            <a:ext cx="61214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59</a:t>
            </a:fld>
            <a:endParaRPr lang="en-US"/>
          </a:p>
        </p:txBody>
      </p:sp>
      <p:sp>
        <p:nvSpPr>
          <p:cNvPr id="7" name="Title 1"/>
          <p:cNvSpPr txBox="1">
            <a:spLocks noGrp="1"/>
          </p:cNvSpPr>
          <p:nvPr>
            <p:ph type="title"/>
          </p:nvPr>
        </p:nvSpPr>
        <p:spPr>
          <a:xfrm>
            <a:off x="1447800" y="0"/>
            <a:ext cx="107442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defTabSz="914400">
              <a:defRPr/>
            </a:pPr>
            <a:r>
              <a:rPr lang="en-US" sz="3200" dirty="0"/>
              <a:t>MCQ s</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494943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3B8A21E8-8F67-437B-B03D-A17A26FBAFCE}" type="datetime1">
              <a:rPr lang="en-US" smtClean="0"/>
              <a:t>9/27/2024</a:t>
            </a:fld>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447800" y="2"/>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200" dirty="0"/>
              <a:t>MCQ s</a:t>
            </a:r>
          </a:p>
        </p:txBody>
      </p:sp>
      <p:graphicFrame>
        <p:nvGraphicFramePr>
          <p:cNvPr id="10" name="Content Placeholder 2"/>
          <p:cNvGraphicFramePr>
            <a:graphicFrameLocks/>
          </p:cNvGraphicFramePr>
          <p:nvPr>
            <p:extLst>
              <p:ext uri="{D42A27DB-BD31-4B8C-83A1-F6EECF244321}">
                <p14:modId xmlns:p14="http://schemas.microsoft.com/office/powerpoint/2010/main" val="1650871838"/>
              </p:ext>
            </p:extLst>
          </p:nvPr>
        </p:nvGraphicFramePr>
        <p:xfrm>
          <a:off x="304800" y="792480"/>
          <a:ext cx="11582400" cy="6065520"/>
        </p:xfrm>
        <a:graphic>
          <a:graphicData uri="http://schemas.openxmlformats.org/drawingml/2006/table">
            <a:tbl>
              <a:tblPr firstRow="1" bandRow="1">
                <a:tableStyleId>{3B4B98B0-60AC-42C2-AFA5-B58CD77FA1E5}</a:tableStyleId>
              </a:tblPr>
              <a:tblGrid>
                <a:gridCol w="5791200">
                  <a:extLst>
                    <a:ext uri="{9D8B030D-6E8A-4147-A177-3AD203B41FA5}">
                      <a16:colId xmlns:a16="http://schemas.microsoft.com/office/drawing/2014/main" val="3349441241"/>
                    </a:ext>
                  </a:extLst>
                </a:gridCol>
                <a:gridCol w="5791200">
                  <a:extLst>
                    <a:ext uri="{9D8B030D-6E8A-4147-A177-3AD203B41FA5}">
                      <a16:colId xmlns:a16="http://schemas.microsoft.com/office/drawing/2014/main" val="4272054345"/>
                    </a:ext>
                  </a:extLst>
                </a:gridCol>
              </a:tblGrid>
              <a:tr h="1908651">
                <a:tc>
                  <a:txBody>
                    <a:bodyPr/>
                    <a:lstStyle/>
                    <a:p>
                      <a:pPr marL="342900" indent="-342900" algn="just">
                        <a:buFont typeface="+mj-lt"/>
                        <a:buNone/>
                      </a:pPr>
                      <a:r>
                        <a:rPr lang="en-US" sz="2000" b="0" dirty="0"/>
                        <a:t>6.</a:t>
                      </a:r>
                      <a:r>
                        <a:rPr lang="en-US" sz="2000" b="1" dirty="0"/>
                        <a:t> </a:t>
                      </a:r>
                      <a:r>
                        <a:rPr lang="en-US" sz="2000" b="0" dirty="0"/>
                        <a:t>Python is a :</a:t>
                      </a:r>
                    </a:p>
                    <a:p>
                      <a:pPr>
                        <a:buFont typeface="Wingdings" pitchFamily="2" charset="2"/>
                        <a:buChar char="§"/>
                      </a:pPr>
                      <a:r>
                        <a:rPr lang="en-US" sz="2000" b="0" dirty="0"/>
                        <a:t>Development environment</a:t>
                      </a:r>
                    </a:p>
                    <a:p>
                      <a:pPr>
                        <a:buFont typeface="Wingdings" pitchFamily="2" charset="2"/>
                        <a:buChar char="§"/>
                      </a:pPr>
                      <a:r>
                        <a:rPr lang="en-US" sz="2000" b="0" dirty="0"/>
                        <a:t>Set of editing tools</a:t>
                      </a:r>
                    </a:p>
                    <a:p>
                      <a:pPr>
                        <a:buFont typeface="Wingdings" pitchFamily="2" charset="2"/>
                        <a:buChar char="§"/>
                      </a:pPr>
                      <a:r>
                        <a:rPr lang="en-US" sz="2000" b="0" u="none" dirty="0"/>
                        <a:t>Programming Language</a:t>
                      </a:r>
                    </a:p>
                  </a:txBody>
                  <a:tcPr>
                    <a:solidFill>
                      <a:schemeClr val="tx2">
                        <a:lumMod val="40000"/>
                        <a:lumOff val="60000"/>
                      </a:schemeClr>
                    </a:solidFill>
                  </a:tcPr>
                </a:tc>
                <a:tc>
                  <a:txBody>
                    <a:bodyPr/>
                    <a:lstStyle/>
                    <a:p>
                      <a:pPr marL="342900" indent="-342900" algn="just">
                        <a:buFont typeface="+mj-lt"/>
                        <a:buAutoNum type="arabicPeriod" startAt="7"/>
                      </a:pPr>
                      <a:r>
                        <a:rPr lang="en-US" sz="2000" b="0" dirty="0"/>
                        <a:t>Python is Case Sensitive when dealing with Identifiers?</a:t>
                      </a:r>
                    </a:p>
                    <a:p>
                      <a:pPr>
                        <a:buFont typeface="Wingdings" pitchFamily="2" charset="2"/>
                        <a:buChar char="§"/>
                      </a:pPr>
                      <a:r>
                        <a:rPr lang="en-US" sz="2000" b="0" u="none" dirty="0"/>
                        <a:t>Yes</a:t>
                      </a:r>
                    </a:p>
                    <a:p>
                      <a:pPr>
                        <a:buFont typeface="Wingdings" pitchFamily="2" charset="2"/>
                        <a:buChar char="§"/>
                      </a:pPr>
                      <a:r>
                        <a:rPr lang="en-US" sz="2000" b="0" dirty="0"/>
                        <a:t>No</a:t>
                      </a:r>
                    </a:p>
                    <a:p>
                      <a:pPr>
                        <a:buFont typeface="Wingdings" pitchFamily="2" charset="2"/>
                        <a:buChar char="§"/>
                      </a:pPr>
                      <a:r>
                        <a:rPr lang="en-US" sz="2000" b="0" dirty="0"/>
                        <a:t>Sometimes Only</a:t>
                      </a:r>
                    </a:p>
                    <a:p>
                      <a:pPr>
                        <a:buFont typeface="Wingdings" pitchFamily="2" charset="2"/>
                        <a:buChar char="§"/>
                      </a:pPr>
                      <a:r>
                        <a:rPr lang="en-US" sz="2000" b="0" dirty="0"/>
                        <a:t>None Of the Above</a:t>
                      </a:r>
                    </a:p>
                    <a:p>
                      <a:pPr marL="342900" indent="-342900" algn="just">
                        <a:buFont typeface="+mj-lt"/>
                        <a:buNone/>
                      </a:pPr>
                      <a:endParaRPr lang="en-US" sz="2000" b="0" dirty="0"/>
                    </a:p>
                  </a:txBody>
                  <a:tcPr>
                    <a:solidFill>
                      <a:schemeClr val="tx2">
                        <a:lumMod val="40000"/>
                        <a:lumOff val="60000"/>
                      </a:schemeClr>
                    </a:solidFill>
                  </a:tcPr>
                </a:tc>
                <a:extLst>
                  <a:ext uri="{0D108BD9-81ED-4DB2-BD59-A6C34878D82A}">
                    <a16:rowId xmlns:a16="http://schemas.microsoft.com/office/drawing/2014/main" val="2536190218"/>
                  </a:ext>
                </a:extLst>
              </a:tr>
              <a:tr h="2170110">
                <a:tc>
                  <a:txBody>
                    <a:bodyPr/>
                    <a:lstStyle/>
                    <a:p>
                      <a:pPr marL="342900" indent="-342900" algn="just">
                        <a:buFont typeface="+mj-lt"/>
                        <a:buAutoNum type="arabicPeriod" startAt="8"/>
                      </a:pPr>
                      <a:r>
                        <a:rPr lang="en-US" sz="2000" b="0" dirty="0"/>
                        <a:t>What is the OUTPUT of the following Statement?</a:t>
                      </a:r>
                      <a:br>
                        <a:rPr lang="en-US" sz="2000" b="0" dirty="0"/>
                      </a:br>
                      <a:r>
                        <a:rPr lang="en-US" sz="2000" b="0" dirty="0"/>
                        <a:t>print 0xA + 0xB + 0xC :</a:t>
                      </a:r>
                    </a:p>
                    <a:p>
                      <a:pPr>
                        <a:buFont typeface="Wingdings" pitchFamily="2" charset="2"/>
                        <a:buChar char="§"/>
                      </a:pPr>
                      <a:r>
                        <a:rPr lang="en-US" sz="2000" dirty="0"/>
                        <a:t>0xA0xB0xC</a:t>
                      </a:r>
                    </a:p>
                    <a:p>
                      <a:pPr>
                        <a:buFont typeface="Wingdings" pitchFamily="2" charset="2"/>
                        <a:buChar char="§"/>
                      </a:pPr>
                      <a:r>
                        <a:rPr lang="en-US" sz="2000" b="0" u="none" dirty="0"/>
                        <a:t>33</a:t>
                      </a:r>
                    </a:p>
                    <a:p>
                      <a:pPr>
                        <a:buFont typeface="Wingdings" pitchFamily="2" charset="2"/>
                        <a:buChar char="§"/>
                      </a:pPr>
                      <a:r>
                        <a:rPr lang="en-US" sz="2000" dirty="0"/>
                        <a:t>ABC</a:t>
                      </a:r>
                    </a:p>
                    <a:p>
                      <a:pPr>
                        <a:buFont typeface="Wingdings" pitchFamily="2" charset="2"/>
                        <a:buChar char="§"/>
                      </a:pPr>
                      <a:r>
                        <a:rPr lang="en-US" sz="2000" dirty="0"/>
                        <a:t>000XXXABC</a:t>
                      </a:r>
                    </a:p>
                    <a:p>
                      <a:pPr marL="342900" indent="-342900" algn="just">
                        <a:buFont typeface="+mj-lt"/>
                        <a:buNone/>
                      </a:pPr>
                      <a:endParaRPr lang="en-US" sz="2000" b="0" dirty="0"/>
                    </a:p>
                  </a:txBody>
                  <a:tcPr>
                    <a:solidFill>
                      <a:schemeClr val="tx2">
                        <a:lumMod val="40000"/>
                        <a:lumOff val="60000"/>
                      </a:schemeClr>
                    </a:solidFill>
                  </a:tcPr>
                </a:tc>
                <a:tc>
                  <a:txBody>
                    <a:bodyPr/>
                    <a:lstStyle/>
                    <a:p>
                      <a:pPr marL="342900" indent="-342900" algn="just">
                        <a:buFont typeface="+mj-lt"/>
                        <a:buAutoNum type="arabicPeriod" startAt="9"/>
                      </a:pPr>
                      <a:r>
                        <a:rPr lang="en-US" sz="2000" b="0" dirty="0"/>
                        <a:t>What is the OUTPUT when the following Statement is executed?</a:t>
                      </a:r>
                      <a:br>
                        <a:rPr lang="en-US" sz="2000" b="0" dirty="0"/>
                      </a:br>
                      <a:r>
                        <a:rPr lang="en-US" sz="2000" b="0" dirty="0"/>
                        <a:t>“</a:t>
                      </a:r>
                      <a:r>
                        <a:rPr lang="en-US" sz="2000" b="0" dirty="0" err="1"/>
                        <a:t>abc</a:t>
                      </a:r>
                      <a:r>
                        <a:rPr lang="en-US" sz="2000" b="0" dirty="0"/>
                        <a:t>”+”xyz”</a:t>
                      </a:r>
                    </a:p>
                    <a:p>
                      <a:pPr>
                        <a:buFont typeface="Wingdings" pitchFamily="2" charset="2"/>
                        <a:buChar char="§"/>
                      </a:pPr>
                      <a:r>
                        <a:rPr lang="en-US" sz="2000" dirty="0" err="1"/>
                        <a:t>abc</a:t>
                      </a:r>
                      <a:endParaRPr lang="en-US" sz="2000" dirty="0"/>
                    </a:p>
                    <a:p>
                      <a:pPr>
                        <a:buFont typeface="Wingdings" pitchFamily="2" charset="2"/>
                        <a:buChar char="§"/>
                      </a:pPr>
                      <a:r>
                        <a:rPr lang="en-US" sz="2000" u="sng" dirty="0" err="1"/>
                        <a:t>abcxyz</a:t>
                      </a:r>
                      <a:endParaRPr lang="en-US" sz="2000" dirty="0"/>
                    </a:p>
                    <a:p>
                      <a:pPr>
                        <a:buFont typeface="Wingdings" pitchFamily="2" charset="2"/>
                        <a:buChar char="§"/>
                      </a:pPr>
                      <a:r>
                        <a:rPr lang="en-US" sz="2000" dirty="0" err="1"/>
                        <a:t>abcz</a:t>
                      </a:r>
                      <a:endParaRPr lang="en-US" sz="2000" dirty="0"/>
                    </a:p>
                    <a:p>
                      <a:pPr>
                        <a:buFont typeface="Wingdings" pitchFamily="2" charset="2"/>
                        <a:buChar char="§"/>
                      </a:pPr>
                      <a:r>
                        <a:rPr lang="en-US" sz="2000" dirty="0" err="1"/>
                        <a:t>abcxy</a:t>
                      </a:r>
                      <a:endParaRPr lang="en-US" sz="2000" dirty="0"/>
                    </a:p>
                    <a:p>
                      <a:pPr marL="342900" indent="-342900" algn="just">
                        <a:buFont typeface="+mj-lt"/>
                        <a:buNone/>
                      </a:pPr>
                      <a:endParaRPr lang="en-US" sz="2000" b="0" kern="1200" dirty="0">
                        <a:solidFill>
                          <a:schemeClr val="tx1"/>
                        </a:solidFill>
                        <a:latin typeface="+mn-lt"/>
                        <a:ea typeface="+mn-ea"/>
                        <a:cs typeface="+mn-cs"/>
                      </a:endParaRPr>
                    </a:p>
                  </a:txBody>
                  <a:tcPr>
                    <a:solidFill>
                      <a:schemeClr val="tx2">
                        <a:lumMod val="40000"/>
                        <a:lumOff val="60000"/>
                      </a:schemeClr>
                    </a:solidFill>
                  </a:tcPr>
                </a:tc>
                <a:extLst>
                  <a:ext uri="{0D108BD9-81ED-4DB2-BD59-A6C34878D82A}">
                    <a16:rowId xmlns:a16="http://schemas.microsoft.com/office/drawing/2014/main" val="2601322747"/>
                  </a:ext>
                </a:extLst>
              </a:tr>
              <a:tr h="1124274">
                <a:tc gridSpan="2">
                  <a:txBody>
                    <a:bodyPr/>
                    <a:lstStyle/>
                    <a:p>
                      <a:pPr marL="342900" indent="-342900" algn="l">
                        <a:buFont typeface="+mj-lt"/>
                        <a:buAutoNum type="arabicPeriod" startAt="10"/>
                      </a:pPr>
                      <a:r>
                        <a:rPr lang="en-US" sz="2000" b="0" dirty="0"/>
                        <a:t>what is the type of a?</a:t>
                      </a:r>
                      <a:r>
                        <a:rPr lang="en-US" sz="2000" b="0" baseline="0" dirty="0"/>
                        <a:t> </a:t>
                      </a:r>
                      <a:r>
                        <a:rPr lang="en-US" sz="2000" b="0" dirty="0"/>
                        <a:t>a={1,2:3</a:t>
                      </a:r>
                      <a:r>
                        <a:rPr lang="en-US" sz="2000" b="1" dirty="0"/>
                        <a:t>}</a:t>
                      </a:r>
                      <a:r>
                        <a:rPr lang="en-US" sz="2000" b="1" baseline="0" dirty="0"/>
                        <a:t> </a:t>
                      </a:r>
                      <a:r>
                        <a:rPr lang="en-US" sz="2000" dirty="0"/>
                        <a:t>list</a:t>
                      </a:r>
                    </a:p>
                    <a:p>
                      <a:r>
                        <a:rPr lang="en-US" sz="2000" dirty="0"/>
                        <a:t>set</a:t>
                      </a:r>
                    </a:p>
                    <a:p>
                      <a:r>
                        <a:rPr lang="en-US" sz="2000" dirty="0" err="1"/>
                        <a:t>dict</a:t>
                      </a:r>
                      <a:endParaRPr lang="en-US" sz="2000" dirty="0"/>
                    </a:p>
                    <a:p>
                      <a:r>
                        <a:rPr lang="en-US" sz="2000" u="sng" dirty="0"/>
                        <a:t>syntax error</a:t>
                      </a:r>
                      <a:endParaRPr lang="en-US" sz="2000" dirty="0"/>
                    </a:p>
                  </a:txBody>
                  <a:tcPr>
                    <a:solidFill>
                      <a:schemeClr val="tx2">
                        <a:lumMod val="40000"/>
                        <a:lumOff val="60000"/>
                      </a:schemeClr>
                    </a:solidFill>
                  </a:tcPr>
                </a:tc>
                <a:tc hMerge="1">
                  <a:txBody>
                    <a:bodyPr/>
                    <a:lstStyle/>
                    <a:p>
                      <a:pPr algn="just"/>
                      <a:endParaRPr lang="en-US" dirty="0"/>
                    </a:p>
                  </a:txBody>
                  <a:tcPr/>
                </a:tc>
                <a:extLst>
                  <a:ext uri="{0D108BD9-81ED-4DB2-BD59-A6C34878D82A}">
                    <a16:rowId xmlns:a16="http://schemas.microsoft.com/office/drawing/2014/main" val="104609377"/>
                  </a:ext>
                </a:extLst>
              </a:tr>
            </a:tbl>
          </a:graphicData>
        </a:graphic>
      </p:graphicFrame>
      <p:sp>
        <p:nvSpPr>
          <p:cNvPr id="9" name="Footer Placeholder 12"/>
          <p:cNvSpPr>
            <a:spLocks noGrp="1"/>
          </p:cNvSpPr>
          <p:nvPr>
            <p:ph type="ftr" sz="quarter" idx="11"/>
          </p:nvPr>
        </p:nvSpPr>
        <p:spPr>
          <a:xfrm>
            <a:off x="3810000" y="6278586"/>
            <a:ext cx="7467600" cy="365125"/>
          </a:xfrm>
        </p:spPr>
        <p:txBody>
          <a:bodyPr/>
          <a:lstStyle/>
          <a:p>
            <a:r>
              <a:rPr lang="en-US"/>
              <a:t>Ritesh Kumar Singh                 Python web development with Django                           Unit 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04966477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C3AF6D2-2FCD-4C07-BF49-41E5F108BF75}" type="datetime1">
              <a:rPr lang="en-US" smtClean="0"/>
              <a:t>9/27/2024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Glossary Questions</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5283200" cy="365125"/>
          </a:xfrm>
        </p:spPr>
        <p:txBody>
          <a:bodyPr/>
          <a:lstStyle/>
          <a:p>
            <a:r>
              <a:rPr lang="en-US"/>
              <a:t>Ritesh Kumar Singh                 Python web development with Django                           Unit 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15062544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F96A4D8A-E11D-4061-BE3D-A0A00902904A}" type="datetime1">
              <a:rPr lang="en-US" smtClean="0"/>
              <a:t>9/27/2024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Expected Questions for University Exam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381000" y="1066800"/>
            <a:ext cx="11620500" cy="5570756"/>
          </a:xfrm>
          <a:prstGeom prst="rect">
            <a:avLst/>
          </a:prstGeom>
          <a:solidFill>
            <a:schemeClr val="tx2">
              <a:lumMod val="40000"/>
              <a:lumOff val="60000"/>
            </a:schemeClr>
          </a:solidFill>
          <a:ln w="28575">
            <a:solidFill>
              <a:schemeClr val="tx1"/>
            </a:solidFill>
          </a:ln>
        </p:spPr>
        <p:txBody>
          <a:bodyPr wrap="square">
            <a:spAutoFit/>
          </a:bodyPr>
          <a:lstStyle/>
          <a:p>
            <a:pPr algn="ctr"/>
            <a:r>
              <a:rPr lang="en-US" sz="2400" b="1" u="sng" dirty="0">
                <a:latin typeface="+mj-lt"/>
              </a:rPr>
              <a:t>Top 10 design pattern interview questions </a:t>
            </a:r>
          </a:p>
          <a:p>
            <a:pPr algn="ctr"/>
            <a:endParaRPr lang="en-US" sz="2400" b="1" u="sng" dirty="0">
              <a:latin typeface="+mj-lt"/>
            </a:endParaRPr>
          </a:p>
          <a:p>
            <a:pPr marL="342900" indent="-342900">
              <a:buFont typeface="+mj-lt"/>
              <a:buAutoNum type="arabicPeriod"/>
            </a:pPr>
            <a:r>
              <a:rPr lang="en-US" sz="2800" dirty="0"/>
              <a:t>Explain Django Architecture?</a:t>
            </a:r>
          </a:p>
          <a:p>
            <a:pPr marL="342900" indent="-342900">
              <a:buFont typeface="+mj-lt"/>
              <a:buAutoNum type="arabicPeriod"/>
            </a:pPr>
            <a:r>
              <a:rPr lang="en-US" sz="2800" dirty="0"/>
              <a:t>Explain the Django project directory structure?</a:t>
            </a:r>
          </a:p>
          <a:p>
            <a:pPr marL="342900" indent="-342900">
              <a:buFont typeface="+mj-lt"/>
              <a:buAutoNum type="arabicPeriod"/>
            </a:pPr>
            <a:r>
              <a:rPr lang="en-US" sz="2800" dirty="0"/>
              <a:t>What are models in Django?</a:t>
            </a:r>
          </a:p>
          <a:p>
            <a:pPr marL="342900" indent="-342900">
              <a:buFont typeface="+mj-lt"/>
              <a:buAutoNum type="arabicPeriod"/>
            </a:pPr>
            <a:r>
              <a:rPr lang="en-US" sz="2800" dirty="0"/>
              <a:t>What are templates in Django or Django template language?</a:t>
            </a:r>
          </a:p>
          <a:p>
            <a:pPr marL="342900" indent="-342900">
              <a:buFont typeface="+mj-lt"/>
              <a:buAutoNum type="arabicPeriod"/>
            </a:pPr>
            <a:r>
              <a:rPr lang="en-US" sz="2800" dirty="0"/>
              <a:t>What are views in Django?</a:t>
            </a:r>
          </a:p>
          <a:p>
            <a:pPr marL="342900" indent="-342900">
              <a:buFont typeface="+mj-lt"/>
              <a:buAutoNum type="arabicPeriod"/>
            </a:pPr>
            <a:r>
              <a:rPr lang="en-US" sz="2800" dirty="0"/>
              <a:t>What is Django ORM?</a:t>
            </a:r>
          </a:p>
          <a:p>
            <a:pPr marL="342900" indent="-342900">
              <a:buFont typeface="+mj-lt"/>
              <a:buAutoNum type="arabicPeriod"/>
            </a:pPr>
            <a:r>
              <a:rPr lang="en-US" sz="2800" dirty="0"/>
              <a:t>What is Django Rest Framework(DRF)?</a:t>
            </a:r>
          </a:p>
          <a:p>
            <a:pPr marL="342900" indent="-342900">
              <a:buFont typeface="+mj-lt"/>
              <a:buAutoNum type="arabicPeriod"/>
            </a:pPr>
            <a:r>
              <a:rPr lang="en-US" sz="2800" dirty="0"/>
              <a:t> What is the difference between a project and an app in Django?</a:t>
            </a:r>
          </a:p>
          <a:p>
            <a:pPr marL="342900" indent="-342900">
              <a:buFont typeface="+mj-lt"/>
              <a:buAutoNum type="arabicPeriod"/>
            </a:pPr>
            <a:r>
              <a:rPr lang="en-US" sz="2800" dirty="0"/>
              <a:t>What are different model inheritance styles in the Django?</a:t>
            </a:r>
          </a:p>
          <a:p>
            <a:pPr marL="342900" indent="-342900">
              <a:buFont typeface="+mj-lt"/>
              <a:buAutoNum type="arabicPeriod"/>
            </a:pPr>
            <a:r>
              <a:rPr lang="en-US" sz="2800" dirty="0"/>
              <a:t>What are Django Signals?</a:t>
            </a:r>
          </a:p>
          <a:p>
            <a:endParaRPr lang="en-US" sz="2800" dirty="0"/>
          </a:p>
        </p:txBody>
      </p:sp>
      <p:sp>
        <p:nvSpPr>
          <p:cNvPr id="5" name="Footer Placeholder 4"/>
          <p:cNvSpPr>
            <a:spLocks noGrp="1"/>
          </p:cNvSpPr>
          <p:nvPr>
            <p:ph type="ftr" sz="quarter" idx="11"/>
          </p:nvPr>
        </p:nvSpPr>
        <p:spPr>
          <a:xfrm>
            <a:off x="4165600" y="6356357"/>
            <a:ext cx="4978400" cy="365125"/>
          </a:xfrm>
        </p:spPr>
        <p:txBody>
          <a:bodyPr/>
          <a:lstStyle/>
          <a:p>
            <a:r>
              <a:rPr lang="en-US"/>
              <a:t>Ritesh Kumar Singh                 Python web development with Django                           Unit I</a:t>
            </a:r>
            <a:endParaRPr lang="en-US" dirty="0"/>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371687875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62573B3-5250-41BA-91F4-7C9DA79A2EFE}" type="datetime1">
              <a:rPr lang="en-US" smtClean="0"/>
              <a:t>9/27/2024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Summary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Rectangle 2"/>
          <p:cNvSpPr/>
          <p:nvPr/>
        </p:nvSpPr>
        <p:spPr>
          <a:xfrm>
            <a:off x="208461" y="889592"/>
            <a:ext cx="11775078" cy="5262979"/>
          </a:xfrm>
          <a:prstGeom prst="rect">
            <a:avLst/>
          </a:prstGeom>
          <a:solidFill>
            <a:schemeClr val="tx2">
              <a:lumMod val="40000"/>
              <a:lumOff val="60000"/>
            </a:schemeClr>
          </a:solidFill>
          <a:ln w="28575">
            <a:solidFill>
              <a:schemeClr val="tx1"/>
            </a:solidFill>
          </a:ln>
        </p:spPr>
        <p:txBody>
          <a:bodyPr wrap="square">
            <a:spAutoFit/>
          </a:bodyPr>
          <a:lstStyle/>
          <a:p>
            <a:r>
              <a:rPr lang="en-US" sz="2800" b="1" dirty="0">
                <a:latin typeface="+mj-lt"/>
              </a:rPr>
              <a:t>Till Now we understand </a:t>
            </a:r>
            <a:r>
              <a:rPr lang="en-US" sz="2800" dirty="0"/>
              <a:t>The idea of this module implements specialized container datatypes providing alternatives to Python’s general purpose built-in containers,</a:t>
            </a:r>
            <a:r>
              <a:rPr lang="en-US" sz="2800" dirty="0">
                <a:ea typeface="Times New Roman" pitchFamily="18" charset="0"/>
                <a:cs typeface="Arial" pitchFamily="34" charset="0"/>
              </a:rPr>
              <a:t> </a:t>
            </a:r>
            <a:r>
              <a:rPr lang="en-US" sz="2800" dirty="0" err="1">
                <a:ea typeface="Times New Roman" pitchFamily="18" charset="0"/>
                <a:cs typeface="Arial" pitchFamily="34" charset="0"/>
              </a:rPr>
              <a:t>Tkinter</a:t>
            </a:r>
            <a:r>
              <a:rPr lang="en-US" sz="2800" dirty="0">
                <a:ea typeface="Times New Roman" pitchFamily="18" charset="0"/>
                <a:cs typeface="Arial" pitchFamily="34" charset="0"/>
              </a:rPr>
              <a:t> is the Python interface to the </a:t>
            </a:r>
            <a:r>
              <a:rPr lang="en-US" sz="2800" dirty="0" err="1">
                <a:ea typeface="Times New Roman" pitchFamily="18" charset="0"/>
                <a:cs typeface="Arial" pitchFamily="34" charset="0"/>
              </a:rPr>
              <a:t>Tk</a:t>
            </a:r>
            <a:r>
              <a:rPr lang="en-US" sz="2800" dirty="0">
                <a:ea typeface="Times New Roman" pitchFamily="18" charset="0"/>
                <a:cs typeface="Arial" pitchFamily="34" charset="0"/>
              </a:rPr>
              <a:t> GUI toolkit shipped with Python. GET and POST requests using Python,</a:t>
            </a:r>
            <a:r>
              <a:rPr lang="en-US" sz="2800" dirty="0"/>
              <a:t> </a:t>
            </a:r>
            <a:r>
              <a:rPr lang="en-US" sz="2800" dirty="0" err="1"/>
              <a:t>Scrapy</a:t>
            </a:r>
            <a:r>
              <a:rPr lang="en-US" sz="2800" dirty="0"/>
              <a:t> is a </a:t>
            </a:r>
            <a:r>
              <a:rPr lang="en-US" sz="2800" u="sng" dirty="0">
                <a:hlinkClick r:id="rId2"/>
              </a:rPr>
              <a:t>Python</a:t>
            </a:r>
            <a:r>
              <a:rPr lang="en-US" sz="2800" dirty="0"/>
              <a:t> framework for large scale web scraping. It gives you all the tools you need to efficiently </a:t>
            </a:r>
            <a:r>
              <a:rPr lang="en-US" sz="2800" b="1" i="1" dirty="0"/>
              <a:t>extract</a:t>
            </a:r>
            <a:r>
              <a:rPr lang="en-US" sz="2800" dirty="0"/>
              <a:t> data from websites, </a:t>
            </a:r>
            <a:r>
              <a:rPr lang="en-US" sz="2800" b="1" i="1" dirty="0"/>
              <a:t>process</a:t>
            </a:r>
            <a:r>
              <a:rPr lang="en-US" sz="2800" dirty="0"/>
              <a:t> them as you want, and store them in your preferred </a:t>
            </a:r>
            <a:r>
              <a:rPr lang="en-US" sz="2800" b="1" i="1" dirty="0"/>
              <a:t>structure </a:t>
            </a:r>
            <a:r>
              <a:rPr lang="en-US" sz="2800" dirty="0"/>
              <a:t>and format. Quixote is a framework for writing Web-based applications using Python. Its goals are flexibility and high-performance, in that order. Pyramid makes it easy to write web applications. You can </a:t>
            </a:r>
            <a:r>
              <a:rPr lang="en-US" sz="2800" b="1" dirty="0"/>
              <a:t>start small</a:t>
            </a:r>
            <a:r>
              <a:rPr lang="en-US" sz="2800" dirty="0"/>
              <a:t> with this "hello world" minimal request/response web app. </a:t>
            </a:r>
          </a:p>
          <a:p>
            <a:r>
              <a:rPr lang="en-US" sz="2800" dirty="0"/>
              <a:t>Pyramid offers many features that make writing complex software take less effort. </a:t>
            </a:r>
          </a:p>
        </p:txBody>
      </p:sp>
      <p:sp>
        <p:nvSpPr>
          <p:cNvPr id="8" name="Footer Placeholder 4"/>
          <p:cNvSpPr>
            <a:spLocks noGrp="1"/>
          </p:cNvSpPr>
          <p:nvPr>
            <p:ph type="ftr" sz="quarter" idx="11"/>
          </p:nvPr>
        </p:nvSpPr>
        <p:spPr>
          <a:xfrm>
            <a:off x="3733800" y="6356356"/>
            <a:ext cx="5562600" cy="365125"/>
          </a:xfrm>
        </p:spPr>
        <p:txBody>
          <a:bodyPr/>
          <a:lstStyle/>
          <a:p>
            <a:r>
              <a:rPr lang="en-US"/>
              <a:t>Ritesh Kumar Singh                 Python web development with Django                           Unit I</a:t>
            </a:r>
            <a:endParaRPr lang="en-US" dirty="0"/>
          </a:p>
        </p:txBody>
      </p:sp>
      <p:pic>
        <p:nvPicPr>
          <p:cNvPr id="9" name="Picture 8" descr="C:\Users\Dr. CS Yadav\Downloads\New logo NIET.jpg"/>
          <p:cNvPicPr/>
          <p:nvPr/>
        </p:nvPicPr>
        <p:blipFill>
          <a:blip r:embed="rId3"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5652066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69D9A5F6-9C19-4FD5-AED3-5812E09FC225}" type="datetime1">
              <a:rPr lang="en-US" smtClean="0"/>
              <a:t>9/27/2024</a:t>
            </a:fld>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dirty="0"/>
          </a:p>
        </p:txBody>
      </p:sp>
      <p:sp>
        <p:nvSpPr>
          <p:cNvPr id="7" name="Title 1"/>
          <p:cNvSpPr txBox="1">
            <a:spLocks/>
          </p:cNvSpPr>
          <p:nvPr/>
        </p:nvSpPr>
        <p:spPr>
          <a:xfrm>
            <a:off x="1447800" y="7"/>
            <a:ext cx="107442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600" dirty="0"/>
              <a:t>References </a:t>
            </a:r>
          </a:p>
        </p:txBody>
      </p:sp>
      <p:sp>
        <p:nvSpPr>
          <p:cNvPr id="2" name="Rectangle 1"/>
          <p:cNvSpPr/>
          <p:nvPr/>
        </p:nvSpPr>
        <p:spPr>
          <a:xfrm>
            <a:off x="609600" y="1386804"/>
            <a:ext cx="10972800" cy="523220"/>
          </a:xfrm>
          <a:prstGeom prst="rect">
            <a:avLst/>
          </a:prstGeom>
        </p:spPr>
        <p:txBody>
          <a:bodyPr wrap="square">
            <a:spAutoFit/>
          </a:bodyPr>
          <a:lstStyle/>
          <a:p>
            <a:pPr lvl="0" algn="just">
              <a:spcBef>
                <a:spcPct val="20000"/>
              </a:spcBef>
              <a:defRPr/>
            </a:pPr>
            <a:endParaRPr lang="en-US" sz="2800" dirty="0"/>
          </a:p>
        </p:txBody>
      </p:sp>
      <p:sp>
        <p:nvSpPr>
          <p:cNvPr id="3" name="Footer Placeholder 2"/>
          <p:cNvSpPr>
            <a:spLocks noGrp="1"/>
          </p:cNvSpPr>
          <p:nvPr>
            <p:ph type="ftr" sz="quarter" idx="11"/>
          </p:nvPr>
        </p:nvSpPr>
        <p:spPr>
          <a:xfrm>
            <a:off x="3911600" y="6356356"/>
            <a:ext cx="5816600" cy="365125"/>
          </a:xfrm>
        </p:spPr>
        <p:txBody>
          <a:bodyPr/>
          <a:lstStyle/>
          <a:p>
            <a:r>
              <a:rPr lang="en-US"/>
              <a:t>Ritesh Kumar Singh                 Python web development with Django                           Unit I</a:t>
            </a:r>
            <a:endParaRPr lang="en-US" dirty="0"/>
          </a:p>
        </p:txBody>
      </p:sp>
      <p:graphicFrame>
        <p:nvGraphicFramePr>
          <p:cNvPr id="12" name="Table 11"/>
          <p:cNvGraphicFramePr>
            <a:graphicFrameLocks noGrp="1"/>
          </p:cNvGraphicFramePr>
          <p:nvPr>
            <p:extLst>
              <p:ext uri="{D42A27DB-BD31-4B8C-83A1-F6EECF244321}">
                <p14:modId xmlns:p14="http://schemas.microsoft.com/office/powerpoint/2010/main" val="901399830"/>
              </p:ext>
            </p:extLst>
          </p:nvPr>
        </p:nvGraphicFramePr>
        <p:xfrm>
          <a:off x="533400" y="991662"/>
          <a:ext cx="11353800" cy="5058839"/>
        </p:xfrm>
        <a:graphic>
          <a:graphicData uri="http://schemas.openxmlformats.org/drawingml/2006/table">
            <a:tbl>
              <a:tblPr firstRow="1" firstCol="1" lastRow="1" lastCol="1" bandRow="1" bandCol="1">
                <a:tableStyleId>{5C22544A-7EE6-4342-B048-85BDC9FD1C3A}</a:tableStyleId>
              </a:tblPr>
              <a:tblGrid>
                <a:gridCol w="11353800">
                  <a:extLst>
                    <a:ext uri="{9D8B030D-6E8A-4147-A177-3AD203B41FA5}">
                      <a16:colId xmlns:a16="http://schemas.microsoft.com/office/drawing/2014/main" val="3372635850"/>
                    </a:ext>
                  </a:extLst>
                </a:gridCol>
              </a:tblGrid>
              <a:tr h="1273635">
                <a:tc>
                  <a:txBody>
                    <a:bodyPr/>
                    <a:lstStyle/>
                    <a:p>
                      <a:pPr marL="0" marR="0" algn="just">
                        <a:lnSpc>
                          <a:spcPct val="115000"/>
                        </a:lnSpc>
                        <a:spcBef>
                          <a:spcPts val="0"/>
                        </a:spcBef>
                        <a:spcAft>
                          <a:spcPts val="0"/>
                        </a:spcAft>
                      </a:pPr>
                      <a:r>
                        <a:rPr lang="en-US" sz="2400" dirty="0">
                          <a:effectLst/>
                        </a:rPr>
                        <a:t>(1)</a:t>
                      </a:r>
                      <a:r>
                        <a:rPr lang="en-US" sz="1800" dirty="0">
                          <a:effectLst/>
                        </a:rPr>
                        <a:t> </a:t>
                      </a:r>
                      <a:r>
                        <a:rPr lang="en-US" sz="2400" dirty="0">
                          <a:effectLst/>
                        </a:rPr>
                        <a:t>Tom </a:t>
                      </a:r>
                      <a:r>
                        <a:rPr lang="en-US" sz="2400" dirty="0" err="1">
                          <a:effectLst/>
                        </a:rPr>
                        <a:t>Aratyn</a:t>
                      </a:r>
                      <a:r>
                        <a:rPr lang="en-US" sz="2400" dirty="0">
                          <a:effectLst/>
                        </a:rPr>
                        <a:t>,</a:t>
                      </a:r>
                      <a:r>
                        <a:rPr lang="en-US" sz="1800" dirty="0">
                          <a:effectLst/>
                        </a:rPr>
                        <a:t> “</a:t>
                      </a:r>
                      <a:r>
                        <a:rPr lang="en-US" sz="2400" dirty="0">
                          <a:effectLst/>
                        </a:rPr>
                        <a:t>Building Django 2.0 Web Applications: Create enterprise-grade, scalable Python web applications easily with Django 2.0”, 2</a:t>
                      </a:r>
                      <a:r>
                        <a:rPr lang="en-US" sz="2400" baseline="30000" dirty="0">
                          <a:effectLst/>
                        </a:rPr>
                        <a:t>nd</a:t>
                      </a:r>
                      <a:r>
                        <a:rPr lang="en-US" sz="2400" dirty="0">
                          <a:effectLst/>
                        </a:rPr>
                        <a:t> Edition 2018, </a:t>
                      </a:r>
                      <a:r>
                        <a:rPr lang="en-US" sz="2400" dirty="0" err="1">
                          <a:effectLst/>
                        </a:rPr>
                        <a:t>Packt</a:t>
                      </a:r>
                      <a:r>
                        <a:rPr lang="en-US" sz="2400" dirty="0">
                          <a:effectLst/>
                        </a:rPr>
                        <a:t> Publishing.</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2810108072"/>
                  </a:ext>
                </a:extLst>
              </a:tr>
              <a:tr h="1243074">
                <a:tc>
                  <a:txBody>
                    <a:bodyPr/>
                    <a:lstStyle/>
                    <a:p>
                      <a:pPr marL="0" marR="0" algn="just">
                        <a:lnSpc>
                          <a:spcPct val="115000"/>
                        </a:lnSpc>
                        <a:spcBef>
                          <a:spcPts val="0"/>
                        </a:spcBef>
                        <a:spcAft>
                          <a:spcPts val="0"/>
                        </a:spcAft>
                      </a:pPr>
                      <a:r>
                        <a:rPr lang="en-US" sz="2400" dirty="0">
                          <a:effectLst/>
                        </a:rPr>
                        <a:t>(2) Nigel George, “Build a website with Django”, 1</a:t>
                      </a:r>
                      <a:r>
                        <a:rPr lang="en-US" sz="2400" baseline="30000" dirty="0">
                          <a:effectLst/>
                        </a:rPr>
                        <a:t>st</a:t>
                      </a:r>
                      <a:r>
                        <a:rPr lang="en-US" sz="2400" dirty="0">
                          <a:effectLst/>
                        </a:rPr>
                        <a:t>  Edition 2019, GNW Independent Publishing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490192612"/>
                  </a:ext>
                </a:extLst>
              </a:tr>
              <a:tr h="1243074">
                <a:tc>
                  <a:txBody>
                    <a:bodyPr/>
                    <a:lstStyle/>
                    <a:p>
                      <a:pPr marL="0" marR="0" algn="just">
                        <a:lnSpc>
                          <a:spcPct val="115000"/>
                        </a:lnSpc>
                        <a:spcBef>
                          <a:spcPts val="205"/>
                        </a:spcBef>
                        <a:spcAft>
                          <a:spcPts val="0"/>
                        </a:spcAft>
                      </a:pPr>
                      <a:r>
                        <a:rPr lang="en-US" sz="2400" dirty="0">
                          <a:effectLst/>
                        </a:rPr>
                        <a:t>(3) Ray Yao,”</a:t>
                      </a:r>
                      <a:r>
                        <a:rPr lang="en-US" sz="1800" dirty="0">
                          <a:effectLst/>
                        </a:rPr>
                        <a:t> </a:t>
                      </a:r>
                      <a:r>
                        <a:rPr lang="en-US" sz="2400" dirty="0">
                          <a:effectLst/>
                        </a:rPr>
                        <a:t>Django in 8 Hours: For Beginners, Learn Coding Fast!, 2</a:t>
                      </a:r>
                      <a:r>
                        <a:rPr lang="en-US" sz="2400" baseline="30000" dirty="0">
                          <a:effectLst/>
                        </a:rPr>
                        <a:t>nd</a:t>
                      </a:r>
                      <a:r>
                        <a:rPr lang="en-US" sz="2400" dirty="0">
                          <a:effectLst/>
                        </a:rPr>
                        <a:t> Edition 2020,</a:t>
                      </a:r>
                      <a:r>
                        <a:rPr lang="en-US" sz="1800" dirty="0">
                          <a:effectLst/>
                        </a:rPr>
                        <a:t> </a:t>
                      </a:r>
                      <a:r>
                        <a:rPr lang="en-US" sz="2400" dirty="0">
                          <a:effectLst/>
                        </a:rPr>
                        <a:t>Independently published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617959602"/>
                  </a:ext>
                </a:extLst>
              </a:tr>
              <a:tr h="1299056">
                <a:tc>
                  <a:txBody>
                    <a:bodyPr/>
                    <a:lstStyle/>
                    <a:p>
                      <a:pPr marL="0" marR="0" algn="just">
                        <a:lnSpc>
                          <a:spcPct val="115000"/>
                        </a:lnSpc>
                        <a:spcBef>
                          <a:spcPts val="0"/>
                        </a:spcBef>
                        <a:spcAft>
                          <a:spcPts val="0"/>
                        </a:spcAft>
                      </a:pPr>
                      <a:r>
                        <a:rPr lang="en-US" sz="2400" dirty="0">
                          <a:effectLst/>
                        </a:rPr>
                        <a:t>(4) Harry Percival,</a:t>
                      </a:r>
                      <a:r>
                        <a:rPr lang="en-US" sz="1800" dirty="0">
                          <a:effectLst/>
                        </a:rPr>
                        <a:t> “</a:t>
                      </a:r>
                      <a:r>
                        <a:rPr lang="en-US" sz="2400" dirty="0">
                          <a:effectLst/>
                        </a:rPr>
                        <a:t>Test-Driven Development with Python: Obey the Testing Goat: Using Django, Selenium, and JavaScript”, 2nd Edition 2019, Kindle Edition.</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solidFill>
                      <a:schemeClr val="accent1">
                        <a:lumMod val="50000"/>
                      </a:schemeClr>
                    </a:solidFill>
                  </a:tcPr>
                </a:tc>
                <a:extLst>
                  <a:ext uri="{0D108BD9-81ED-4DB2-BD59-A6C34878D82A}">
                    <a16:rowId xmlns:a16="http://schemas.microsoft.com/office/drawing/2014/main" val="1451876080"/>
                  </a:ext>
                </a:extLst>
              </a:tr>
            </a:tbl>
          </a:graphicData>
        </a:graphic>
      </p:graphicFrame>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40165679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E50BBAF1-70B5-4A88-9F79-4440BD1809BA}" type="datetime1">
              <a:rPr lang="en-US" smtClean="0"/>
              <a:t>9/27/2024</a:t>
            </a:fld>
            <a:endParaRPr lang="en-US"/>
          </a:p>
        </p:txBody>
      </p:sp>
      <p:sp>
        <p:nvSpPr>
          <p:cNvPr id="5" name="Footer Placeholder 4"/>
          <p:cNvSpPr>
            <a:spLocks noGrp="1"/>
          </p:cNvSpPr>
          <p:nvPr>
            <p:ph type="ftr" sz="quarter" idx="11"/>
          </p:nvPr>
        </p:nvSpPr>
        <p:spPr>
          <a:xfrm>
            <a:off x="3733800" y="6356356"/>
            <a:ext cx="5562600" cy="365125"/>
          </a:xfrm>
        </p:spPr>
        <p:txBody>
          <a:bodyPr/>
          <a:lstStyle/>
          <a:p>
            <a:r>
              <a:rPr lang="en-US"/>
              <a:t>Ritesh Kumar Singh                 Python web development with Django                           Unit I</a:t>
            </a:r>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7" name="Title 1"/>
          <p:cNvSpPr txBox="1">
            <a:spLocks/>
          </p:cNvSpPr>
          <p:nvPr/>
        </p:nvSpPr>
        <p:spPr>
          <a:xfrm>
            <a:off x="1600200" y="1"/>
            <a:ext cx="10591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endParaRPr lang="en-US" sz="3200" dirty="0"/>
          </a:p>
        </p:txBody>
      </p:sp>
      <p:sp>
        <p:nvSpPr>
          <p:cNvPr id="10" name="Rectangle 9">
            <a:extLst>
              <a:ext uri="{FF2B5EF4-FFF2-40B4-BE49-F238E27FC236}">
                <a16:creationId xmlns:a16="http://schemas.microsoft.com/office/drawing/2014/main" id="{6C347AEB-0CE8-4933-B463-5582E57CBB68}"/>
              </a:ext>
            </a:extLst>
          </p:cNvPr>
          <p:cNvSpPr/>
          <p:nvPr/>
        </p:nvSpPr>
        <p:spPr>
          <a:xfrm>
            <a:off x="2819400" y="2286000"/>
            <a:ext cx="5918200" cy="1200329"/>
          </a:xfrm>
          <a:prstGeom prst="rect">
            <a:avLst/>
          </a:prstGeom>
          <a:noFill/>
        </p:spPr>
        <p:txBody>
          <a:bodyPr wrap="square" lIns="91440" tIns="45720" rIns="91440" bIns="45720">
            <a:spAutoFit/>
          </a:bodyPr>
          <a:lstStyle/>
          <a:p>
            <a:pPr algn="ctr"/>
            <a:r>
              <a:rPr lang="en-US" sz="7200" b="0" cap="none" spc="0"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THANK YOU</a:t>
            </a:r>
          </a:p>
        </p:txBody>
      </p:sp>
      <p:pic>
        <p:nvPicPr>
          <p:cNvPr id="8" name="Picture 7" descr="C:\Users\Dr. CS Yadav\Downloads\New logo NIET.jpg"/>
          <p:cNvPicPr/>
          <p:nvPr/>
        </p:nvPicPr>
        <p:blipFill>
          <a:blip r:embed="rId2" cstate="print">
            <a:extLst>
              <a:ext uri="{28A0092B-C50C-407E-A947-70E740481C1C}">
                <a14:useLocalDpi xmlns:a14="http://schemas.microsoft.com/office/drawing/2010/main" val="0"/>
              </a:ext>
            </a:extLst>
          </a:blip>
          <a:srcRect t="15703" b="15289"/>
          <a:stretch>
            <a:fillRect/>
          </a:stretch>
        </p:blipFill>
        <p:spPr>
          <a:xfrm>
            <a:off x="0" y="7936"/>
            <a:ext cx="1600200" cy="792167"/>
          </a:xfrm>
          <a:prstGeom prst="rect">
            <a:avLst/>
          </a:prstGeom>
          <a:noFill/>
        </p:spPr>
      </p:pic>
    </p:spTree>
    <p:extLst>
      <p:ext uri="{BB962C8B-B14F-4D97-AF65-F5344CB8AC3E}">
        <p14:creationId xmlns:p14="http://schemas.microsoft.com/office/powerpoint/2010/main" val="2170694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36568</TotalTime>
  <Words>7713</Words>
  <Application>Microsoft Office PowerPoint</Application>
  <PresentationFormat>Widescreen</PresentationFormat>
  <Paragraphs>803</Paragraphs>
  <Slides>65</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65</vt:i4>
      </vt:variant>
    </vt:vector>
  </HeadingPairs>
  <TitlesOfParts>
    <vt:vector size="71" baseType="lpstr">
      <vt:lpstr>Arial</vt:lpstr>
      <vt:lpstr>Arial Unicode MS</vt:lpstr>
      <vt:lpstr>Calibri</vt:lpstr>
      <vt:lpstr>Times New Roman</vt:lpstr>
      <vt:lpstr>Wingdings</vt:lpstr>
      <vt:lpstr>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Running the Dash app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Bottle</vt:lpstr>
      <vt:lpstr>Falcon</vt:lpstr>
      <vt:lpstr>                                           Cubic Web</vt:lpstr>
      <vt:lpstr>                                  Cubic Web(continue…)</vt:lpstr>
      <vt:lpstr>                                           Quixote</vt:lpstr>
      <vt:lpstr>                                               Quixote(continue….)</vt:lpstr>
      <vt:lpstr>                                           Pyramid</vt:lpstr>
      <vt:lpstr>                                               Pyramid(continue….)</vt:lpstr>
      <vt:lpstr>PowerPoint Presentation</vt:lpstr>
      <vt:lpstr>PowerPoint Presentation</vt:lpstr>
      <vt:lpstr>PowerPoint Presentation</vt:lpstr>
      <vt:lpstr>PowerPoint Presentation</vt:lpstr>
      <vt:lpstr>MCQ s</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Manks</dc:creator>
  <cp:lastModifiedBy>KESHAB KUMAR</cp:lastModifiedBy>
  <cp:revision>1188</cp:revision>
  <dcterms:created xsi:type="dcterms:W3CDTF">2006-08-16T00:00:00Z</dcterms:created>
  <dcterms:modified xsi:type="dcterms:W3CDTF">2024-09-27T09:15:38Z</dcterms:modified>
</cp:coreProperties>
</file>