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7" r:id="rId2"/>
    <p:sldId id="604" r:id="rId3"/>
    <p:sldId id="607" r:id="rId4"/>
    <p:sldId id="608" r:id="rId5"/>
    <p:sldId id="609" r:id="rId6"/>
    <p:sldId id="610" r:id="rId7"/>
    <p:sldId id="646" r:id="rId8"/>
    <p:sldId id="649" r:id="rId9"/>
    <p:sldId id="770" r:id="rId10"/>
    <p:sldId id="720" r:id="rId11"/>
    <p:sldId id="771" r:id="rId12"/>
    <p:sldId id="772" r:id="rId13"/>
    <p:sldId id="773" r:id="rId14"/>
    <p:sldId id="774" r:id="rId15"/>
    <p:sldId id="775" r:id="rId16"/>
    <p:sldId id="776" r:id="rId17"/>
    <p:sldId id="777" r:id="rId18"/>
    <p:sldId id="778" r:id="rId19"/>
    <p:sldId id="779" r:id="rId20"/>
    <p:sldId id="780" r:id="rId21"/>
    <p:sldId id="781" r:id="rId22"/>
    <p:sldId id="782" r:id="rId23"/>
    <p:sldId id="783" r:id="rId24"/>
    <p:sldId id="784" r:id="rId25"/>
    <p:sldId id="785" r:id="rId26"/>
    <p:sldId id="786" r:id="rId27"/>
    <p:sldId id="787" r:id="rId28"/>
    <p:sldId id="788" r:id="rId29"/>
    <p:sldId id="790" r:id="rId30"/>
    <p:sldId id="791" r:id="rId31"/>
    <p:sldId id="792" r:id="rId32"/>
    <p:sldId id="793" r:id="rId33"/>
    <p:sldId id="794" r:id="rId34"/>
    <p:sldId id="795" r:id="rId35"/>
    <p:sldId id="796" r:id="rId36"/>
    <p:sldId id="798" r:id="rId37"/>
    <p:sldId id="800" r:id="rId38"/>
    <p:sldId id="801" r:id="rId39"/>
    <p:sldId id="805" r:id="rId40"/>
    <p:sldId id="810" r:id="rId41"/>
    <p:sldId id="811" r:id="rId42"/>
    <p:sldId id="812" r:id="rId43"/>
    <p:sldId id="813" r:id="rId44"/>
    <p:sldId id="814" r:id="rId45"/>
    <p:sldId id="815" r:id="rId46"/>
    <p:sldId id="816" r:id="rId47"/>
    <p:sldId id="817" r:id="rId48"/>
    <p:sldId id="829" r:id="rId49"/>
    <p:sldId id="761" r:id="rId50"/>
    <p:sldId id="789" r:id="rId51"/>
    <p:sldId id="830" r:id="rId52"/>
    <p:sldId id="831" r:id="rId53"/>
    <p:sldId id="832" r:id="rId54"/>
    <p:sldId id="765" r:id="rId55"/>
    <p:sldId id="833" r:id="rId56"/>
    <p:sldId id="767" r:id="rId57"/>
    <p:sldId id="768" r:id="rId58"/>
    <p:sldId id="76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0B44"/>
    <a:srgbClr val="FC56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48" autoAdjust="0"/>
    <p:restoredTop sz="95824" autoAdjust="0"/>
  </p:normalViewPr>
  <p:slideViewPr>
    <p:cSldViewPr snapToGrid="0">
      <p:cViewPr varScale="1">
        <p:scale>
          <a:sx n="89" d="100"/>
          <a:sy n="89" d="100"/>
        </p:scale>
        <p:origin x="56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Collections-Container datatypes, Tkinter-GUI applications, Requests-HTTP requests, BeautifulSoup4-web scraping, Scrapy, Zappa, Dash, CherryPy, TurboGears, Flask, Web2Py,</a:t>
          </a:r>
        </a:p>
        <a:p>
          <a:r>
            <a:rPr lang="en-US" sz="2700" dirty="0"/>
            <a:t>Bottle, Falcon, CubicWeb, Quixote, Pyramid.</a:t>
          </a:r>
        </a:p>
        <a:p>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8632B43A-A1FB-4963-84A0-F0A61C5BFA59}">
      <dgm:prSet custT="1"/>
      <dgm:spPr/>
      <dgm:t>
        <a:bodyPr/>
        <a:lstStyle/>
        <a:p>
          <a:r>
            <a:rPr lang="en-US" sz="2700" dirty="0"/>
            <a:t>Understanding Django environment, Features of Django and Django architecture, MVC &amp;MVT,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dirty="0"/>
        </a:p>
      </dgm:t>
    </dgm:pt>
    <dgm:pt modelId="{8954BA86-F411-4F2D-BEFA-BBF9617D879B}" type="parTrans" cxnId="{6F0FFE21-F288-41B6-AC2F-F6C2F97FC76B}">
      <dgm:prSet/>
      <dgm:spPr/>
      <dgm:t>
        <a:bodyPr/>
        <a:lstStyle/>
        <a:p>
          <a:endParaRPr lang="en-US"/>
        </a:p>
      </dgm:t>
    </dgm:pt>
    <dgm:pt modelId="{B34E360E-2AF5-434A-80B9-E34DD0DE11AF}" type="sibTrans" cxnId="{6F0FFE21-F288-41B6-AC2F-F6C2F97FC76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6DCBBEC5-5B01-4132-A331-9D4D3453D65C}" type="pres">
      <dgm:prSet presAssocID="{8632B43A-A1FB-4963-84A0-F0A61C5BFA59}" presName="parentText" presStyleLbl="node1" presStyleIdx="0" presStyleCnt="1" custScaleY="894540" custLinFactNeighborY="-25629">
        <dgm:presLayoutVars>
          <dgm:chMax val="0"/>
          <dgm:bulletEnabled val="1"/>
        </dgm:presLayoutVars>
      </dgm:prSet>
      <dgm:spPr/>
    </dgm:pt>
  </dgm:ptLst>
  <dgm:cxnLst>
    <dgm:cxn modelId="{6F0FFE21-F288-41B6-AC2F-F6C2F97FC76B}" srcId="{18EA6042-2EA2-4065-81DF-7A18BEC42C1C}" destId="{8632B43A-A1FB-4963-84A0-F0A61C5BFA59}" srcOrd="0" destOrd="0" parTransId="{8954BA86-F411-4F2D-BEFA-BBF9617D879B}" sibTransId="{B34E360E-2AF5-434A-80B9-E34DD0DE11AF}"/>
    <dgm:cxn modelId="{C48F0660-5664-41FE-99C0-FABF7335C0CC}" type="presOf" srcId="{8632B43A-A1FB-4963-84A0-F0A61C5BFA59}" destId="{6DCBBEC5-5B01-4132-A331-9D4D3453D65C}"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9D7AB4E3-F7D3-46CD-8818-41B8682B7C05}" type="presParOf" srcId="{5935E145-FD17-4F9E-B302-F21214F4A468}" destId="{6DCBBEC5-5B01-4132-A331-9D4D3453D65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baseline="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848527" custLinFactNeighborY="-250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D8C5DAEA-C992-4E2A-9A51-E215DE48D2A6}">
      <dgm:prSet custT="1"/>
      <dgm:spPr/>
      <dgm:t>
        <a:bodyPr/>
        <a:lstStyle/>
        <a:p>
          <a:r>
            <a:rPr lang="en-US" sz="2700" dirty="0"/>
            <a:t>Database Migrations, Fetch Data From Database, Displaying Data On Templates, Adding Condition On Data, Sending data from </a:t>
          </a:r>
          <a:r>
            <a:rPr lang="en-US" sz="2700" dirty="0" err="1"/>
            <a:t>url</a:t>
          </a:r>
          <a:r>
            <a:rPr lang="en-US" sz="2700" dirty="0"/>
            <a:t> to view, Sending data from view to template, Saving objects into database, Sorting objects, Filtering objects, Deleting objects, Difference between session and cookie, Creating sessions and cookies in Django.</a:t>
          </a:r>
          <a:endParaRPr lang="en-IN" sz="2700" b="0" dirty="0"/>
        </a:p>
      </dgm:t>
    </dgm:pt>
    <dgm:pt modelId="{0A91DE68-EA12-436C-90AD-A77B8BC894D9}" type="parTrans" cxnId="{A8956CE6-FC52-435B-B274-B2464F6589BB}">
      <dgm:prSet/>
      <dgm:spPr/>
      <dgm:t>
        <a:bodyPr/>
        <a:lstStyle/>
        <a:p>
          <a:endParaRPr lang="en-US"/>
        </a:p>
      </dgm:t>
    </dgm:pt>
    <dgm:pt modelId="{A7454706-B742-4409-A511-DC9BD534002F}" type="sibTrans" cxnId="{A8956CE6-FC52-435B-B274-B2464F6589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C8F18B38-BDBB-470A-815C-35A2A46B78E0}" type="pres">
      <dgm:prSet presAssocID="{D8C5DAEA-C992-4E2A-9A51-E215DE48D2A6}" presName="parentText" presStyleLbl="node1" presStyleIdx="0" presStyleCnt="1" custLinFactNeighborX="-148" custLinFactNeighborY="-7917">
        <dgm:presLayoutVars>
          <dgm:chMax val="0"/>
          <dgm:bulletEnabled val="1"/>
        </dgm:presLayoutVars>
      </dgm:prSet>
      <dgm:spPr/>
    </dgm:pt>
  </dgm:ptLst>
  <dgm:cxnLst>
    <dgm:cxn modelId="{1A102205-18B3-446C-A3D0-E5B8DBD2AEBB}" type="presOf" srcId="{D8C5DAEA-C992-4E2A-9A51-E215DE48D2A6}" destId="{C8F18B38-BDBB-470A-815C-35A2A46B78E0}"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A8956CE6-FC52-435B-B274-B2464F6589BB}" srcId="{18EA6042-2EA2-4065-81DF-7A18BEC42C1C}" destId="{D8C5DAEA-C992-4E2A-9A51-E215DE48D2A6}" srcOrd="0" destOrd="0" parTransId="{0A91DE68-EA12-436C-90AD-A77B8BC894D9}" sibTransId="{A7454706-B742-4409-A511-DC9BD534002F}"/>
    <dgm:cxn modelId="{C10C5AFD-0029-4F37-A899-5D5BE25480F0}" type="presParOf" srcId="{5935E145-FD17-4F9E-B302-F21214F4A468}" destId="{C8F18B38-BDBB-470A-815C-35A2A46B78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Creating a functional website in Django, Four Important Pillars to Deploy, Registering on </a:t>
          </a:r>
          <a:r>
            <a:rPr lang="en-US" sz="2700" dirty="0" err="1"/>
            <a:t>Heroku</a:t>
          </a:r>
          <a:r>
            <a:rPr lang="en-US" sz="2700" dirty="0"/>
            <a:t> and GitHub, Push project from Local System to GitHub, Working with Django </a:t>
          </a:r>
          <a:r>
            <a:rPr lang="en-US" sz="2700" dirty="0" err="1"/>
            <a:t>Heroku</a:t>
          </a:r>
          <a:endParaRPr lang="en-US" sz="2700" dirty="0"/>
        </a:p>
        <a:p>
          <a:r>
            <a:rPr lang="en-US" sz="2700" dirty="0"/>
            <a:t>Working with Static Root, Handling WSGI with </a:t>
          </a:r>
          <a:r>
            <a:rPr lang="en-US" sz="2700" dirty="0" err="1"/>
            <a:t>gunicorn</a:t>
          </a:r>
          <a:r>
            <a:rPr lang="en-US" sz="2700" dirty="0"/>
            <a:t>, Setting up Database &amp; adding users</a:t>
          </a:r>
        </a:p>
      </dgm:t>
    </dgm:pt>
    <dgm:pt modelId="{5A57522C-1C32-440C-9F64-9EF818720D9C}" type="sibTrans" cxnId="{F61405CD-BF4D-4132-A8F6-94A55AFF2516}">
      <dgm:prSet/>
      <dgm:spPr/>
      <dgm:t>
        <a:bodyPr/>
        <a:lstStyle/>
        <a:p>
          <a:endParaRPr lang="en-IN"/>
        </a:p>
      </dgm:t>
    </dgm:pt>
    <dgm:pt modelId="{317883E6-23F7-434D-A777-EB6C46138693}" type="par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Y="21758">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0625"/>
          <a:ext cx="10020299" cy="25857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Collections-Container datatypes, Tkinter-GUI applications, Requests-HTTP requests, BeautifulSoup4-web scraping, Scrapy, Zappa, Dash, CherryPy, TurboGears, Flask, Web2Py,</a:t>
          </a:r>
        </a:p>
        <a:p>
          <a:pPr marL="0" lvl="0" indent="0" algn="l" defTabSz="1200150">
            <a:lnSpc>
              <a:spcPct val="90000"/>
            </a:lnSpc>
            <a:spcBef>
              <a:spcPct val="0"/>
            </a:spcBef>
            <a:spcAft>
              <a:spcPct val="35000"/>
            </a:spcAft>
            <a:buNone/>
          </a:pPr>
          <a:r>
            <a:rPr lang="en-US" sz="2700" kern="1200" dirty="0"/>
            <a:t>Bottle, Falcon, CubicWeb, Quixote, Pyramid.</a:t>
          </a:r>
        </a:p>
        <a:p>
          <a:pPr marL="0" lvl="0" indent="0" algn="l" defTabSz="1200150">
            <a:lnSpc>
              <a:spcPct val="90000"/>
            </a:lnSpc>
            <a:spcBef>
              <a:spcPct val="0"/>
            </a:spcBef>
            <a:spcAft>
              <a:spcPct val="35000"/>
            </a:spcAft>
            <a:buNone/>
          </a:pPr>
          <a:endParaRPr lang="en-IN" sz="2000" kern="1200" dirty="0"/>
        </a:p>
      </dsp:txBody>
      <dsp:txXfrm>
        <a:off x="126223" y="176848"/>
        <a:ext cx="9767853" cy="2333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BBEC5-5B01-4132-A331-9D4D3453D65C}">
      <dsp:nvSpPr>
        <dsp:cNvPr id="0" name=""/>
        <dsp:cNvSpPr/>
      </dsp:nvSpPr>
      <dsp:spPr>
        <a:xfrm>
          <a:off x="0" y="0"/>
          <a:ext cx="11201399" cy="277081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Understanding Django environment, Features of Django and Django architecture, MVC &amp;MVT,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kern="1200" dirty="0"/>
        </a:p>
      </dsp:txBody>
      <dsp:txXfrm>
        <a:off x="135260" y="135260"/>
        <a:ext cx="10930879" cy="2500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6262"/>
          <a:ext cx="11430000" cy="2628288"/>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kern="1200" baseline="0" dirty="0"/>
        </a:p>
      </dsp:txBody>
      <dsp:txXfrm>
        <a:off x="128302" y="154564"/>
        <a:ext cx="11173396" cy="23716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18B38-BDBB-470A-815C-35A2A46B78E0}">
      <dsp:nvSpPr>
        <dsp:cNvPr id="0" name=""/>
        <dsp:cNvSpPr/>
      </dsp:nvSpPr>
      <dsp:spPr>
        <a:xfrm>
          <a:off x="0" y="128848"/>
          <a:ext cx="10591799" cy="273780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Database Migrations, Fetch Data From Database, Displaying Data On Templates, Adding Condition On Data, Sending data from </a:t>
          </a:r>
          <a:r>
            <a:rPr lang="en-US" sz="2700" kern="1200" dirty="0" err="1"/>
            <a:t>url</a:t>
          </a:r>
          <a:r>
            <a:rPr lang="en-US" sz="2700" kern="1200" dirty="0"/>
            <a:t> to view, Sending data from view to template, Saving objects into database, Sorting objects, Filtering objects, Deleting objects, Difference between session and cookie, Creating sessions and cookies in Django.</a:t>
          </a:r>
          <a:endParaRPr lang="en-IN" sz="2700" b="0" kern="1200" dirty="0"/>
        </a:p>
      </dsp:txBody>
      <dsp:txXfrm>
        <a:off x="133648" y="262496"/>
        <a:ext cx="10324503" cy="24705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52841"/>
          <a:ext cx="9982200" cy="250965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Creating a functional website in Django, Four Important Pillars to Deploy, Registering on </a:t>
          </a:r>
          <a:r>
            <a:rPr lang="en-US" sz="2700" kern="1200" dirty="0" err="1"/>
            <a:t>Heroku</a:t>
          </a:r>
          <a:r>
            <a:rPr lang="en-US" sz="2700" kern="1200" dirty="0"/>
            <a:t> and GitHub, Push project from Local System to GitHub, Working with Django </a:t>
          </a:r>
          <a:r>
            <a:rPr lang="en-US" sz="2700" kern="1200" dirty="0" err="1"/>
            <a:t>Heroku</a:t>
          </a:r>
          <a:endParaRPr lang="en-US" sz="2700" kern="1200" dirty="0"/>
        </a:p>
        <a:p>
          <a:pPr marL="0" lvl="0" indent="0" algn="l" defTabSz="1200150">
            <a:lnSpc>
              <a:spcPct val="90000"/>
            </a:lnSpc>
            <a:spcBef>
              <a:spcPct val="0"/>
            </a:spcBef>
            <a:spcAft>
              <a:spcPct val="35000"/>
            </a:spcAft>
            <a:buNone/>
          </a:pPr>
          <a:r>
            <a:rPr lang="en-US" sz="2700" kern="1200" dirty="0"/>
            <a:t>Working with Static Root, Handling WSGI with </a:t>
          </a:r>
          <a:r>
            <a:rPr lang="en-US" sz="2700" kern="1200" dirty="0" err="1"/>
            <a:t>gunicorn</a:t>
          </a:r>
          <a:r>
            <a:rPr lang="en-US" sz="2700" kern="1200" dirty="0"/>
            <a:t>, Setting up Database &amp; adding users</a:t>
          </a:r>
        </a:p>
      </dsp:txBody>
      <dsp:txXfrm>
        <a:off x="122511" y="675352"/>
        <a:ext cx="9737178" cy="22646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78553-746B-4B4C-B1AD-AD587D3BB6A9}" type="datetimeFigureOut">
              <a:rPr lang="en-IN" smtClean="0"/>
              <a:t>30-09-2024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65AB8-BB99-48EF-A170-0B9686C5C5D3}" type="slidenum">
              <a:rPr lang="en-IN" smtClean="0"/>
              <a:t>‹#›</a:t>
            </a:fld>
            <a:endParaRPr lang="en-IN"/>
          </a:p>
        </p:txBody>
      </p:sp>
    </p:spTree>
    <p:extLst>
      <p:ext uri="{BB962C8B-B14F-4D97-AF65-F5344CB8AC3E}">
        <p14:creationId xmlns:p14="http://schemas.microsoft.com/office/powerpoint/2010/main" val="358566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dirty="0"/>
          </a:p>
        </p:txBody>
      </p:sp>
    </p:spTree>
    <p:extLst>
      <p:ext uri="{BB962C8B-B14F-4D97-AF65-F5344CB8AC3E}">
        <p14:creationId xmlns:p14="http://schemas.microsoft.com/office/powerpoint/2010/main" val="4646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a:t>
            </a:fld>
            <a:endParaRPr lang="en-US" dirty="0"/>
          </a:p>
        </p:txBody>
      </p:sp>
    </p:spTree>
    <p:extLst>
      <p:ext uri="{BB962C8B-B14F-4D97-AF65-F5344CB8AC3E}">
        <p14:creationId xmlns:p14="http://schemas.microsoft.com/office/powerpoint/2010/main" val="1043892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9259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8177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309145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284613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46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E49F85D-D2E3-4BFA-BAAF-D7159CD14521}"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364922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57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47F5CB-1360-458C-95B4-03A517A1A1B9}" type="slidenum">
              <a:rPr lang="en-US" altLang="en-US">
                <a:latin typeface="Calibri" panose="020F0502020204030204" pitchFamily="34" charset="0"/>
              </a:rPr>
              <a:pPr/>
              <a:t>18</a:t>
            </a:fld>
            <a:endParaRPr lang="en-US" altLang="en-US">
              <a:latin typeface="Calibri" panose="020F0502020204030204" pitchFamily="34" charset="0"/>
            </a:endParaRPr>
          </a:p>
        </p:txBody>
      </p:sp>
    </p:spTree>
    <p:extLst>
      <p:ext uri="{BB962C8B-B14F-4D97-AF65-F5344CB8AC3E}">
        <p14:creationId xmlns:p14="http://schemas.microsoft.com/office/powerpoint/2010/main" val="1151566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67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84989A-591C-4F1A-A60E-CFA0A24CC5CE}" type="slidenum">
              <a:rPr lang="en-US" altLang="en-US">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1578718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77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3B10EA-4C2F-404B-B35D-3AA00E59F384}" type="slidenum">
              <a:rPr lang="en-US" altLang="en-US">
                <a:latin typeface="Calibri" panose="020F0502020204030204" pitchFamily="34" charset="0"/>
              </a:rPr>
              <a:pPr/>
              <a:t>20</a:t>
            </a:fld>
            <a:endParaRPr lang="en-US" altLang="en-US">
              <a:latin typeface="Calibri" panose="020F0502020204030204" pitchFamily="34" charset="0"/>
            </a:endParaRPr>
          </a:p>
        </p:txBody>
      </p:sp>
    </p:spTree>
    <p:extLst>
      <p:ext uri="{BB962C8B-B14F-4D97-AF65-F5344CB8AC3E}">
        <p14:creationId xmlns:p14="http://schemas.microsoft.com/office/powerpoint/2010/main" val="203772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A1BE0D-E860-42C6-A7D7-C496895B2260}" type="slidenum">
              <a:rPr lang="en-US" altLang="en-US">
                <a:latin typeface="Calibri" panose="020F0502020204030204" pitchFamily="34" charset="0"/>
              </a:rPr>
              <a:pPr/>
              <a:t>21</a:t>
            </a:fld>
            <a:endParaRPr lang="en-US" altLang="en-US">
              <a:latin typeface="Calibri" panose="020F0502020204030204" pitchFamily="34" charset="0"/>
            </a:endParaRPr>
          </a:p>
        </p:txBody>
      </p:sp>
    </p:spTree>
    <p:extLst>
      <p:ext uri="{BB962C8B-B14F-4D97-AF65-F5344CB8AC3E}">
        <p14:creationId xmlns:p14="http://schemas.microsoft.com/office/powerpoint/2010/main" val="3252137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98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AA31F6-4B12-4192-96EB-67260B631F1D}" type="slidenum">
              <a:rPr lang="en-US" altLang="en-US">
                <a:latin typeface="Calibri" panose="020F0502020204030204" pitchFamily="34" charset="0"/>
              </a:rPr>
              <a:pPr/>
              <a:t>22</a:t>
            </a:fld>
            <a:endParaRPr lang="en-US" altLang="en-US">
              <a:latin typeface="Calibri" panose="020F0502020204030204" pitchFamily="34" charset="0"/>
            </a:endParaRPr>
          </a:p>
        </p:txBody>
      </p:sp>
    </p:spTree>
    <p:extLst>
      <p:ext uri="{BB962C8B-B14F-4D97-AF65-F5344CB8AC3E}">
        <p14:creationId xmlns:p14="http://schemas.microsoft.com/office/powerpoint/2010/main" val="1532474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2D203F-92EA-46DC-8E84-64283595DB1B}"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411190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18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0E8DB6A-CA7C-4C0C-8BEF-899ECDFFC191}"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3903734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C843BC-CDEB-496C-8390-E23649FBF89E}" type="slidenum">
              <a:rPr lang="en-US" altLang="en-US">
                <a:latin typeface="Calibri" panose="020F0502020204030204" pitchFamily="34" charset="0"/>
              </a:rPr>
              <a:pPr/>
              <a:t>25</a:t>
            </a:fld>
            <a:endParaRPr lang="en-US" altLang="en-US">
              <a:latin typeface="Calibri" panose="020F0502020204030204" pitchFamily="34" charset="0"/>
            </a:endParaRPr>
          </a:p>
        </p:txBody>
      </p:sp>
    </p:spTree>
    <p:extLst>
      <p:ext uri="{BB962C8B-B14F-4D97-AF65-F5344CB8AC3E}">
        <p14:creationId xmlns:p14="http://schemas.microsoft.com/office/powerpoint/2010/main" val="39645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39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54A13B-C3CD-4C52-A312-6D1358D21A26}" type="slidenum">
              <a:rPr lang="en-US" altLang="en-US">
                <a:latin typeface="Calibri" panose="020F0502020204030204" pitchFamily="34" charset="0"/>
              </a:rPr>
              <a:pPr/>
              <a:t>28</a:t>
            </a:fld>
            <a:endParaRPr lang="en-US" altLang="en-US">
              <a:latin typeface="Calibri" panose="020F0502020204030204" pitchFamily="34" charset="0"/>
            </a:endParaRPr>
          </a:p>
        </p:txBody>
      </p:sp>
    </p:spTree>
    <p:extLst>
      <p:ext uri="{BB962C8B-B14F-4D97-AF65-F5344CB8AC3E}">
        <p14:creationId xmlns:p14="http://schemas.microsoft.com/office/powerpoint/2010/main" val="3470209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493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065EEAA-8EA5-4F04-A042-A6E73B56891B}" type="slidenum">
              <a:rPr lang="en-US" altLang="en-US">
                <a:latin typeface="Calibri" panose="020F0502020204030204" pitchFamily="34" charset="0"/>
              </a:rPr>
              <a:pPr/>
              <a:t>29</a:t>
            </a:fld>
            <a:endParaRPr lang="en-US" altLang="en-US">
              <a:latin typeface="Calibri" panose="020F0502020204030204" pitchFamily="34" charset="0"/>
            </a:endParaRPr>
          </a:p>
        </p:txBody>
      </p:sp>
    </p:spTree>
    <p:extLst>
      <p:ext uri="{BB962C8B-B14F-4D97-AF65-F5344CB8AC3E}">
        <p14:creationId xmlns:p14="http://schemas.microsoft.com/office/powerpoint/2010/main" val="3419607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595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ECFF1F-18D6-4801-8541-81F97C76200A}" type="slidenum">
              <a:rPr lang="en-US" altLang="en-US">
                <a:latin typeface="Calibri" panose="020F0502020204030204" pitchFamily="34" charset="0"/>
              </a:rPr>
              <a:pPr/>
              <a:t>30</a:t>
            </a:fld>
            <a:endParaRPr lang="en-US" altLang="en-US">
              <a:latin typeface="Calibri" panose="020F0502020204030204" pitchFamily="34" charset="0"/>
            </a:endParaRPr>
          </a:p>
        </p:txBody>
      </p:sp>
    </p:spTree>
    <p:extLst>
      <p:ext uri="{BB962C8B-B14F-4D97-AF65-F5344CB8AC3E}">
        <p14:creationId xmlns:p14="http://schemas.microsoft.com/office/powerpoint/2010/main" val="913967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69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6A65251-A7E1-4D3D-861B-4F0994557FCC}" type="slidenum">
              <a:rPr lang="en-US" altLang="en-US">
                <a:latin typeface="Calibri" panose="020F0502020204030204" pitchFamily="34" charset="0"/>
              </a:rPr>
              <a:pPr/>
              <a:t>31</a:t>
            </a:fld>
            <a:endParaRPr lang="en-US" altLang="en-US">
              <a:latin typeface="Calibri" panose="020F0502020204030204" pitchFamily="34" charset="0"/>
            </a:endParaRPr>
          </a:p>
        </p:txBody>
      </p:sp>
    </p:spTree>
    <p:extLst>
      <p:ext uri="{BB962C8B-B14F-4D97-AF65-F5344CB8AC3E}">
        <p14:creationId xmlns:p14="http://schemas.microsoft.com/office/powerpoint/2010/main" val="41098164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80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AF2957-422D-484D-9659-5C80E48975E2}" type="slidenum">
              <a:rPr lang="en-US" altLang="en-US">
                <a:latin typeface="Calibri" panose="020F0502020204030204" pitchFamily="34" charset="0"/>
              </a:rPr>
              <a:pPr/>
              <a:t>32</a:t>
            </a:fld>
            <a:endParaRPr lang="en-US" altLang="en-US">
              <a:latin typeface="Calibri" panose="020F0502020204030204" pitchFamily="34" charset="0"/>
            </a:endParaRPr>
          </a:p>
        </p:txBody>
      </p:sp>
    </p:spTree>
    <p:extLst>
      <p:ext uri="{BB962C8B-B14F-4D97-AF65-F5344CB8AC3E}">
        <p14:creationId xmlns:p14="http://schemas.microsoft.com/office/powerpoint/2010/main" val="4134297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902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143BF3-064C-4C21-B537-1169C9EEC4FC}" type="slidenum">
              <a:rPr lang="en-US" altLang="en-US">
                <a:latin typeface="Calibri" panose="020F0502020204030204" pitchFamily="34" charset="0"/>
              </a:rPr>
              <a:pPr/>
              <a:t>33</a:t>
            </a:fld>
            <a:endParaRPr lang="en-US" altLang="en-US">
              <a:latin typeface="Calibri" panose="020F0502020204030204" pitchFamily="34" charset="0"/>
            </a:endParaRPr>
          </a:p>
        </p:txBody>
      </p:sp>
    </p:spTree>
    <p:extLst>
      <p:ext uri="{BB962C8B-B14F-4D97-AF65-F5344CB8AC3E}">
        <p14:creationId xmlns:p14="http://schemas.microsoft.com/office/powerpoint/2010/main" val="1814761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005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D873F7-FB8B-420D-9568-724A809F075E}" type="slidenum">
              <a:rPr lang="en-US" altLang="en-US">
                <a:latin typeface="Calibri" panose="020F0502020204030204" pitchFamily="34" charset="0"/>
              </a:rPr>
              <a:pPr/>
              <a:t>34</a:t>
            </a:fld>
            <a:endParaRPr lang="en-US" altLang="en-US">
              <a:latin typeface="Calibri" panose="020F0502020204030204" pitchFamily="34" charset="0"/>
            </a:endParaRPr>
          </a:p>
        </p:txBody>
      </p:sp>
    </p:spTree>
    <p:extLst>
      <p:ext uri="{BB962C8B-B14F-4D97-AF65-F5344CB8AC3E}">
        <p14:creationId xmlns:p14="http://schemas.microsoft.com/office/powerpoint/2010/main" val="34086905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31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2D27E9-7C2D-4308-9C2E-15F384B177A2}" type="slidenum">
              <a:rPr lang="en-US" altLang="en-US">
                <a:latin typeface="Calibri" panose="020F0502020204030204" pitchFamily="34" charset="0"/>
              </a:rPr>
              <a:pPr/>
              <a:t>36</a:t>
            </a:fld>
            <a:endParaRPr lang="en-US" altLang="en-US">
              <a:latin typeface="Calibri" panose="020F0502020204030204" pitchFamily="34" charset="0"/>
            </a:endParaRPr>
          </a:p>
        </p:txBody>
      </p:sp>
    </p:spTree>
    <p:extLst>
      <p:ext uri="{BB962C8B-B14F-4D97-AF65-F5344CB8AC3E}">
        <p14:creationId xmlns:p14="http://schemas.microsoft.com/office/powerpoint/2010/main" val="9614344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51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306C2B2-1FA7-48D5-939B-77D479476A59}" type="slidenum">
              <a:rPr lang="en-US" altLang="en-US">
                <a:latin typeface="Calibri" panose="020F0502020204030204" pitchFamily="34" charset="0"/>
              </a:rPr>
              <a:pPr/>
              <a:t>37</a:t>
            </a:fld>
            <a:endParaRPr lang="en-US" altLang="en-US">
              <a:latin typeface="Calibri" panose="020F0502020204030204" pitchFamily="34" charset="0"/>
            </a:endParaRPr>
          </a:p>
        </p:txBody>
      </p:sp>
    </p:spTree>
    <p:extLst>
      <p:ext uri="{BB962C8B-B14F-4D97-AF65-F5344CB8AC3E}">
        <p14:creationId xmlns:p14="http://schemas.microsoft.com/office/powerpoint/2010/main" val="3894995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82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41816F9-10E7-4E27-9128-A7EEA0D7C6FA}" type="slidenum">
              <a:rPr lang="en-US" altLang="en-US">
                <a:latin typeface="Calibri" panose="020F0502020204030204" pitchFamily="34" charset="0"/>
              </a:rPr>
              <a:pPr/>
              <a:t>39</a:t>
            </a:fld>
            <a:endParaRPr lang="en-US" altLang="en-US">
              <a:latin typeface="Calibri" panose="020F0502020204030204" pitchFamily="34" charset="0"/>
            </a:endParaRPr>
          </a:p>
        </p:txBody>
      </p:sp>
    </p:spTree>
    <p:extLst>
      <p:ext uri="{BB962C8B-B14F-4D97-AF65-F5344CB8AC3E}">
        <p14:creationId xmlns:p14="http://schemas.microsoft.com/office/powerpoint/2010/main" val="1624227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33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981F77-6726-4D0F-A8A5-C5A39911A92E}" type="slidenum">
              <a:rPr lang="en-US" altLang="en-US">
                <a:latin typeface="Calibri" panose="020F0502020204030204" pitchFamily="34" charset="0"/>
              </a:rPr>
              <a:pPr/>
              <a:t>40</a:t>
            </a:fld>
            <a:endParaRPr lang="en-US" altLang="en-US">
              <a:latin typeface="Calibri" panose="020F0502020204030204" pitchFamily="34" charset="0"/>
            </a:endParaRPr>
          </a:p>
        </p:txBody>
      </p:sp>
    </p:spTree>
    <p:extLst>
      <p:ext uri="{BB962C8B-B14F-4D97-AF65-F5344CB8AC3E}">
        <p14:creationId xmlns:p14="http://schemas.microsoft.com/office/powerpoint/2010/main" val="2826041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43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67A53A7-D947-414E-B8FC-7E1BC49B9CC9}" type="slidenum">
              <a:rPr lang="en-US" altLang="en-US">
                <a:latin typeface="Calibri" panose="020F0502020204030204" pitchFamily="34" charset="0"/>
              </a:rPr>
              <a:pPr/>
              <a:t>41</a:t>
            </a:fld>
            <a:endParaRPr lang="en-US" altLang="en-US">
              <a:latin typeface="Calibri" panose="020F0502020204030204" pitchFamily="34" charset="0"/>
            </a:endParaRPr>
          </a:p>
        </p:txBody>
      </p:sp>
    </p:spTree>
    <p:extLst>
      <p:ext uri="{BB962C8B-B14F-4D97-AF65-F5344CB8AC3E}">
        <p14:creationId xmlns:p14="http://schemas.microsoft.com/office/powerpoint/2010/main" val="4214162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54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5EDF7C-DA17-4D11-B5EA-2B10F5F7DD5A}" type="slidenum">
              <a:rPr lang="en-US" altLang="en-US">
                <a:latin typeface="Calibri" panose="020F0502020204030204" pitchFamily="34" charset="0"/>
              </a:rPr>
              <a:pPr/>
              <a:t>42</a:t>
            </a:fld>
            <a:endParaRPr lang="en-US" altLang="en-US">
              <a:latin typeface="Calibri" panose="020F0502020204030204" pitchFamily="34" charset="0"/>
            </a:endParaRPr>
          </a:p>
        </p:txBody>
      </p:sp>
    </p:spTree>
    <p:extLst>
      <p:ext uri="{BB962C8B-B14F-4D97-AF65-F5344CB8AC3E}">
        <p14:creationId xmlns:p14="http://schemas.microsoft.com/office/powerpoint/2010/main" val="764034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64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361DB3-6264-4F47-A9C4-D1B466E775B4}" type="slidenum">
              <a:rPr lang="en-US" altLang="en-US">
                <a:latin typeface="Calibri" panose="020F0502020204030204" pitchFamily="34" charset="0"/>
              </a:rPr>
              <a:pPr/>
              <a:t>43</a:t>
            </a:fld>
            <a:endParaRPr lang="en-US" altLang="en-US">
              <a:latin typeface="Calibri" panose="020F0502020204030204" pitchFamily="34" charset="0"/>
            </a:endParaRPr>
          </a:p>
        </p:txBody>
      </p:sp>
    </p:spTree>
    <p:extLst>
      <p:ext uri="{BB962C8B-B14F-4D97-AF65-F5344CB8AC3E}">
        <p14:creationId xmlns:p14="http://schemas.microsoft.com/office/powerpoint/2010/main" val="23038416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74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69061C-90CB-4ECF-BD2D-C477CDEAC4F2}" type="slidenum">
              <a:rPr lang="en-US" altLang="en-US">
                <a:latin typeface="Calibri" panose="020F0502020204030204" pitchFamily="34" charset="0"/>
              </a:rPr>
              <a:pPr/>
              <a:t>44</a:t>
            </a:fld>
            <a:endParaRPr lang="en-US" altLang="en-US">
              <a:latin typeface="Calibri" panose="020F0502020204030204" pitchFamily="34" charset="0"/>
            </a:endParaRPr>
          </a:p>
        </p:txBody>
      </p:sp>
    </p:spTree>
    <p:extLst>
      <p:ext uri="{BB962C8B-B14F-4D97-AF65-F5344CB8AC3E}">
        <p14:creationId xmlns:p14="http://schemas.microsoft.com/office/powerpoint/2010/main" val="286462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8402-47CD-FD8B-1748-0F145B9A70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FB5104-5529-401C-6ADB-C046CE1CAB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B7B02D-360B-2D14-51E1-85317D531AEB}"/>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CD6D4AB4-3AF8-E247-92FE-A03D2C3C96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7A215D-6A84-0CD7-54C7-FDBF02096BAF}"/>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2814131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CC20-5478-0BD6-7DBD-4F2793F655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89F9E9-CA95-E078-260C-CA017B6355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DBCD41-CAFC-44F7-31E5-2E9E56F94F13}"/>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51271D03-F40C-25E6-EF35-5B93EFF9AA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11B554-6ED3-3FBE-265C-4F29D7DD630D}"/>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372241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2B112-F561-1BAD-EDF6-D1938BDE78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4028BE-D61C-79C6-F443-14F264C687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9EC867-1F97-CFEB-CCCC-D546B41A07B2}"/>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2D9A426A-0D28-2C4B-73BA-DF6729C97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E4BD06-DE5B-CAA5-33B2-7561839F62A1}"/>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2435935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47F0-1D6D-0D17-5FF8-8E4EA839D6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68E3A6-BA31-9F9C-FE9E-876A50F49A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E52250-5E18-CDA7-FECC-3F476EDCBA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697022-B0B8-7196-B124-C560A50E5D45}"/>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6" name="Footer Placeholder 5">
            <a:extLst>
              <a:ext uri="{FF2B5EF4-FFF2-40B4-BE49-F238E27FC236}">
                <a16:creationId xmlns:a16="http://schemas.microsoft.com/office/drawing/2014/main" id="{A3229DE2-8886-21B3-3B66-42E913F8E9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A96236-BD6B-387A-81FB-C361398F8D18}"/>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514566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4A48-3A14-CA80-BBE7-EED601E768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52D9AF-F19A-C68C-51E5-87CD6BF67B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D9427A-3FCB-2F9B-EC1D-4FD22A4595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C88716-646C-188B-E141-3F3A694FF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33E1AF-E942-7683-E169-4F346DA9BB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C18A52-753E-220A-F67F-EA01E0817670}"/>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8" name="Footer Placeholder 7">
            <a:extLst>
              <a:ext uri="{FF2B5EF4-FFF2-40B4-BE49-F238E27FC236}">
                <a16:creationId xmlns:a16="http://schemas.microsoft.com/office/drawing/2014/main" id="{471A8CBA-DBF5-97A6-7E4A-FF7E95F82B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6DEBF0-CB43-2D1D-AF63-A91232318B02}"/>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3502923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E00CB-5EC2-F621-98CC-79D85017FC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781826-A792-6063-1A7E-C9F382377832}"/>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4" name="Footer Placeholder 3">
            <a:extLst>
              <a:ext uri="{FF2B5EF4-FFF2-40B4-BE49-F238E27FC236}">
                <a16:creationId xmlns:a16="http://schemas.microsoft.com/office/drawing/2014/main" id="{274C8707-3AD3-638F-06D5-6E15633F65A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1BF39B-334E-F0C7-6F99-BB51A655E21D}"/>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2275734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E70BE-5551-588E-1B52-FC2A41B54195}"/>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3" name="Footer Placeholder 2">
            <a:extLst>
              <a:ext uri="{FF2B5EF4-FFF2-40B4-BE49-F238E27FC236}">
                <a16:creationId xmlns:a16="http://schemas.microsoft.com/office/drawing/2014/main" id="{9BECD3BF-4C35-4493-C772-9CD51C9F3B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1F8B2E-560E-DC55-9437-53CE3FCA7F9E}"/>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798268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B93E-6005-DECC-6A76-A71C3362BF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F02216-9176-4909-8BF8-35FEE08755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E72892-9205-545A-C4BF-1EE00C9F1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A36EE-5D53-1EDE-980D-65CB8EAC1AEF}"/>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6" name="Footer Placeholder 5">
            <a:extLst>
              <a:ext uri="{FF2B5EF4-FFF2-40B4-BE49-F238E27FC236}">
                <a16:creationId xmlns:a16="http://schemas.microsoft.com/office/drawing/2014/main" id="{DD8B675F-7C5C-C6A2-E3D3-C5B5722FCE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D77367-E90B-574F-E96C-14268717DFE9}"/>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2790490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3F62-C25B-7EA0-BF68-6FC5D0801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245B97-EF8D-B527-7E4D-5D62FF446D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5DC4F5-CF69-4369-F650-ADFE76A35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08F55-FB71-7165-587D-4DAA770A7B19}"/>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6" name="Footer Placeholder 5">
            <a:extLst>
              <a:ext uri="{FF2B5EF4-FFF2-40B4-BE49-F238E27FC236}">
                <a16:creationId xmlns:a16="http://schemas.microsoft.com/office/drawing/2014/main" id="{06E43375-EBDA-7207-385E-B05A9AAB1D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F784F3-2087-F6A2-1F6B-C62375A7CE99}"/>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2638381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2906-9C26-CAAE-9E35-7A71319D49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B8CE5A-6B92-7F1C-E377-987B0E74FD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ADD22-2098-19FB-E52D-5AC6E9A8FF10}"/>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17BEFFF0-5B72-C6DC-01D1-AACF9C35B5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956CCA-9833-74FE-7CF9-FF3DE6149676}"/>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1287077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2FE9C-3FF7-6ECA-F680-B3821C0C95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7CEF8D-2A7A-DC1F-D987-25A4BE807B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27EB6-E06A-2542-0B76-77CE867926D2}"/>
              </a:ext>
            </a:extLst>
          </p:cNvPr>
          <p:cNvSpPr>
            <a:spLocks noGrp="1"/>
          </p:cNvSpPr>
          <p:nvPr>
            <p:ph type="dt" sz="half" idx="10"/>
          </p:nvPr>
        </p:nvSpPr>
        <p:spPr/>
        <p:txBody>
          <a:body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BE282995-583F-86BA-7570-04A7608D5C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AB9879-B984-8EFF-0DA2-AC2CD9FABD43}"/>
              </a:ext>
            </a:extLst>
          </p:cNvPr>
          <p:cNvSpPr>
            <a:spLocks noGrp="1"/>
          </p:cNvSpPr>
          <p:nvPr>
            <p:ph type="sldNum" sz="quarter" idx="12"/>
          </p:nvPr>
        </p:nvSpPr>
        <p:spPr/>
        <p:txBody>
          <a:bodyPr/>
          <a:lstStyle/>
          <a:p>
            <a:fld id="{FB3A92A5-841B-40A1-B873-5CAD5849BDC3}" type="slidenum">
              <a:rPr lang="en-IN" smtClean="0"/>
              <a:t>‹#›</a:t>
            </a:fld>
            <a:endParaRPr lang="en-IN"/>
          </a:p>
        </p:txBody>
      </p:sp>
    </p:spTree>
    <p:extLst>
      <p:ext uri="{BB962C8B-B14F-4D97-AF65-F5344CB8AC3E}">
        <p14:creationId xmlns:p14="http://schemas.microsoft.com/office/powerpoint/2010/main" val="552759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1E68DA-B3B6-2D02-EBC8-7849DBE97F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44B44C-1819-1B3C-C307-F529E2439A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680B35-E53B-90E0-CFF2-9070760101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709A42-0DA4-40A3-9451-535FCA8C4D75}" type="datetimeFigureOut">
              <a:rPr lang="en-IN" smtClean="0"/>
              <a:t>30-09-2024</a:t>
            </a:fld>
            <a:endParaRPr lang="en-IN"/>
          </a:p>
        </p:txBody>
      </p:sp>
      <p:sp>
        <p:nvSpPr>
          <p:cNvPr id="5" name="Footer Placeholder 4">
            <a:extLst>
              <a:ext uri="{FF2B5EF4-FFF2-40B4-BE49-F238E27FC236}">
                <a16:creationId xmlns:a16="http://schemas.microsoft.com/office/drawing/2014/main" id="{96B3E701-1348-9A57-78D2-AFC4BD413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04AD46D-13AF-2147-9B6E-B29AD3F4E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3A92A5-841B-40A1-B873-5CAD5849BDC3}" type="slidenum">
              <a:rPr lang="en-IN" smtClean="0"/>
              <a:t>‹#›</a:t>
            </a:fld>
            <a:endParaRPr lang="en-IN"/>
          </a:p>
        </p:txBody>
      </p:sp>
    </p:spTree>
    <p:extLst>
      <p:ext uri="{BB962C8B-B14F-4D97-AF65-F5344CB8AC3E}">
        <p14:creationId xmlns:p14="http://schemas.microsoft.com/office/powerpoint/2010/main" val="1479983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djangoproject.com/download"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postgresql.org/" TargetMode="External"/><Relationship Id="rId7" Type="http://schemas.openxmlformats.org/officeDocument/2006/relationships/hyperlink" Target="https://cloud.google.com/appengine/articles/django-nonrel" TargetMode="External"/><Relationship Id="rId2" Type="http://schemas.openxmlformats.org/officeDocument/2006/relationships/hyperlink" Target="http://www.mysql.com/" TargetMode="External"/><Relationship Id="rId1" Type="http://schemas.openxmlformats.org/officeDocument/2006/relationships/slideLayout" Target="../slideLayouts/slideLayout2.xml"/><Relationship Id="rId6" Type="http://schemas.openxmlformats.org/officeDocument/2006/relationships/hyperlink" Target="https://django-mongodb-engine.readthedocs.org/en/latest/" TargetMode="External"/><Relationship Id="rId5" Type="http://schemas.openxmlformats.org/officeDocument/2006/relationships/hyperlink" Target="http://www.oracle.com/index.html" TargetMode="External"/><Relationship Id="rId4" Type="http://schemas.openxmlformats.org/officeDocument/2006/relationships/hyperlink" Target="http://www.sqlite.or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overiq.com/django-1-10/template-inheritance-in-django/"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djangoproject.com/en/3.0/topics/db/querie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courses.analyticsvidhya.com/courses/introduction-to-data-science-2?utm_source=blog&amp;utm_medium=WebScrapinginPythonarticle"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5731"/>
            <a:ext cx="10591800" cy="877457"/>
          </a:xfrm>
          <a:gradFill>
            <a:gsLst>
              <a:gs pos="0">
                <a:srgbClr val="FC5685"/>
              </a:gs>
              <a:gs pos="100000">
                <a:schemeClr val="accent5">
                  <a:lumMod val="105000"/>
                  <a:satMod val="103000"/>
                  <a:tint val="73000"/>
                </a:schemeClr>
              </a:gs>
              <a:gs pos="100000">
                <a:srgbClr val="B50B44"/>
              </a:gs>
            </a:gsLst>
          </a:gradFill>
        </p:spPr>
        <p:style>
          <a:lnRef idx="1">
            <a:schemeClr val="accent5"/>
          </a:lnRef>
          <a:fillRef idx="2">
            <a:schemeClr val="accent5"/>
          </a:fillRef>
          <a:effectRef idx="1">
            <a:schemeClr val="accent5"/>
          </a:effectRef>
          <a:fontRef idx="minor">
            <a:schemeClr val="dk1"/>
          </a:fontRef>
        </p:style>
        <p:txBody>
          <a:bodyPr>
            <a:noAutofit/>
          </a:bodyPr>
          <a:lstStyle/>
          <a:p>
            <a:br>
              <a:rPr lang="en-US" sz="3200" dirty="0"/>
            </a:br>
            <a:br>
              <a:rPr lang="en-US" sz="3200" dirty="0"/>
            </a:br>
            <a:br>
              <a:rPr lang="en-US" sz="3200" dirty="0"/>
            </a:br>
            <a:br>
              <a:rPr lang="en-US" sz="3200" dirty="0"/>
            </a:br>
            <a:br>
              <a:rPr lang="en-US" sz="3200" dirty="0"/>
            </a:br>
            <a:r>
              <a:rPr lang="en-US" sz="3200" dirty="0"/>
              <a:t>Noida Institute of Engineering and Technology, Greater Noida</a:t>
            </a:r>
          </a:p>
        </p:txBody>
      </p:sp>
      <p:sp>
        <p:nvSpPr>
          <p:cNvPr id="3" name="Subtitle 2"/>
          <p:cNvSpPr>
            <a:spLocks noGrp="1"/>
          </p:cNvSpPr>
          <p:nvPr>
            <p:ph type="subTitle" idx="1"/>
          </p:nvPr>
        </p:nvSpPr>
        <p:spPr>
          <a:xfrm>
            <a:off x="2928257" y="989017"/>
            <a:ext cx="6400800" cy="1752600"/>
          </a:xfrm>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 Python Web Development with Django</a:t>
            </a:r>
          </a:p>
        </p:txBody>
      </p:sp>
      <p:sp>
        <p:nvSpPr>
          <p:cNvPr id="6" name="Subtitle 2"/>
          <p:cNvSpPr txBox="1">
            <a:spLocks/>
          </p:cNvSpPr>
          <p:nvPr/>
        </p:nvSpPr>
        <p:spPr>
          <a:xfrm>
            <a:off x="8382000" y="4449766"/>
            <a:ext cx="3048000" cy="1341433"/>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a:bodyPr>
          <a:lstStyle/>
          <a:p>
            <a:pPr algn="ctr">
              <a:spcBef>
                <a:spcPct val="20000"/>
              </a:spcBef>
              <a:defRPr/>
            </a:pPr>
            <a:r>
              <a:rPr lang="en-US" sz="2800" dirty="0">
                <a:solidFill>
                  <a:schemeClr val="tx1"/>
                </a:solidFill>
              </a:rPr>
              <a:t>Ritesh Kumar Singh</a:t>
            </a:r>
          </a:p>
          <a:p>
            <a:pPr algn="ctr">
              <a:spcBef>
                <a:spcPct val="20000"/>
              </a:spcBef>
              <a:defRPr/>
            </a:pPr>
            <a:r>
              <a:rPr lang="en-US" sz="2400" dirty="0">
                <a:solidFill>
                  <a:schemeClr val="tx1"/>
                </a:solidFill>
              </a:rPr>
              <a:t> (Asst.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2859AD26-A584-42D8-82C5-64A572D2BB4B}" type="datetime1">
              <a:rPr lang="en-US" smtClean="0"/>
              <a:t>9/30/2024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4478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II</a:t>
            </a:r>
          </a:p>
        </p:txBody>
      </p:sp>
      <p:sp>
        <p:nvSpPr>
          <p:cNvPr id="13" name="Footer Placeholder 12"/>
          <p:cNvSpPr>
            <a:spLocks noGrp="1"/>
          </p:cNvSpPr>
          <p:nvPr>
            <p:ph type="ftr" sz="quarter" idx="11"/>
          </p:nvPr>
        </p:nvSpPr>
        <p:spPr>
          <a:xfrm>
            <a:off x="4078514" y="6430967"/>
            <a:ext cx="6324600" cy="365125"/>
          </a:xfrm>
        </p:spPr>
        <p:txBody>
          <a:bodyPr/>
          <a:lstStyle/>
          <a:p>
            <a:r>
              <a:rPr lang="en-US"/>
              <a:t>Ritesh Kumar Singh          Python web development with Django     Unit II</a:t>
            </a:r>
            <a:endParaRPr lang="en-US" dirty="0"/>
          </a:p>
        </p:txBody>
      </p:sp>
      <p:sp>
        <p:nvSpPr>
          <p:cNvPr id="14" name="Subtitle 2"/>
          <p:cNvSpPr txBox="1">
            <a:spLocks/>
          </p:cNvSpPr>
          <p:nvPr/>
        </p:nvSpPr>
        <p:spPr>
          <a:xfrm>
            <a:off x="14478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000" dirty="0">
                <a:solidFill>
                  <a:schemeClr val="tx1"/>
                </a:solidFill>
              </a:rPr>
              <a:t>Introduction to Django Framework</a:t>
            </a:r>
          </a:p>
        </p:txBody>
      </p:sp>
      <p:sp>
        <p:nvSpPr>
          <p:cNvPr id="15" name="Subtitle 2"/>
          <p:cNvSpPr txBox="1">
            <a:spLocks/>
          </p:cNvSpPr>
          <p:nvPr/>
        </p:nvSpPr>
        <p:spPr>
          <a:xfrm>
            <a:off x="14478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pic>
        <p:nvPicPr>
          <p:cNvPr id="4" name="Picture 4">
            <a:extLst>
              <a:ext uri="{FF2B5EF4-FFF2-40B4-BE49-F238E27FC236}">
                <a16:creationId xmlns:a16="http://schemas.microsoft.com/office/drawing/2014/main" id="{ECE67FFE-8FD0-2F16-DC0B-7F5764F0F8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9067800" y="2741610"/>
            <a:ext cx="1516498" cy="15164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095332-6189-470C-9ACA-8974440C2CB4}" type="datetime1">
              <a:rPr lang="en-US" smtClean="0"/>
              <a:t>9/30/2024</a:t>
            </a:fld>
            <a:endParaRPr lang="en-US" dirty="0"/>
          </a:p>
        </p:txBody>
      </p:sp>
      <p:sp>
        <p:nvSpPr>
          <p:cNvPr id="5" name="Footer Placeholder 4"/>
          <p:cNvSpPr>
            <a:spLocks noGrp="1"/>
          </p:cNvSpPr>
          <p:nvPr>
            <p:ph type="ftr" sz="quarter" idx="11"/>
          </p:nvPr>
        </p:nvSpPr>
        <p:spPr>
          <a:xfrm>
            <a:off x="3810000" y="6455769"/>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687286" y="7"/>
            <a:ext cx="1050471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3039" y="1067772"/>
            <a:ext cx="9455331"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Python libraries for web development</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nvGraphicFramePr>
        <p:xfrm>
          <a:off x="1447800" y="2158974"/>
          <a:ext cx="100203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46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9F610A-5F11-4C2D-B657-784EC4CC0F80}" type="datetime1">
              <a:rPr lang="en-US" smtClean="0"/>
              <a:t>9/30/2024</a:t>
            </a:fld>
            <a:endParaRPr lang="en-US" dirty="0"/>
          </a:p>
        </p:txBody>
      </p:sp>
      <p:sp>
        <p:nvSpPr>
          <p:cNvPr id="5" name="Footer Placeholder 4"/>
          <p:cNvSpPr>
            <a:spLocks noGrp="1"/>
          </p:cNvSpPr>
          <p:nvPr>
            <p:ph type="ftr" sz="quarter" idx="11"/>
          </p:nvPr>
        </p:nvSpPr>
        <p:spPr>
          <a:xfrm>
            <a:off x="4032794" y="6373774"/>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698170" y="7"/>
            <a:ext cx="1049382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162288"/>
            <a:ext cx="85344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  Introduction to Django Framework   </a:t>
            </a:r>
          </a:p>
        </p:txBody>
      </p:sp>
      <p:graphicFrame>
        <p:nvGraphicFramePr>
          <p:cNvPr id="23" name="Diagram 22">
            <a:extLst>
              <a:ext uri="{FF2B5EF4-FFF2-40B4-BE49-F238E27FC236}">
                <a16:creationId xmlns:a16="http://schemas.microsoft.com/office/drawing/2014/main" id="{5BD0C95D-4009-4941-AFEE-6336F152559B}"/>
              </a:ext>
            </a:extLst>
          </p:cNvPr>
          <p:cNvGraphicFramePr/>
          <p:nvPr/>
        </p:nvGraphicFramePr>
        <p:xfrm>
          <a:off x="762000" y="2429460"/>
          <a:ext cx="11201400" cy="282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622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53E8A7-15AF-4B40-9AAA-F72A1DE14689}"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589314" y="7"/>
            <a:ext cx="1060268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78280" y="1162431"/>
            <a:ext cx="957072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UNIT-III: </a:t>
            </a:r>
            <a:r>
              <a:rPr lang="en-US" sz="2800" b="1" dirty="0"/>
              <a:t> Integrating Accounts &amp; Authentication on Django </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nvGraphicFramePr>
        <p:xfrm>
          <a:off x="609600" y="2162276"/>
          <a:ext cx="11430000" cy="283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323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1A9DDB-E8C9-480E-B44E-3CCC9331A853}"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600200" y="7"/>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7394" y="1245982"/>
            <a:ext cx="7600406"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UNIT-IV: </a:t>
            </a:r>
            <a:r>
              <a:rPr lang="en-US" sz="2800" b="1" dirty="0"/>
              <a:t>Connecting  SQLite  with Django</a:t>
            </a:r>
            <a:r>
              <a:rPr lang="en-IN" sz="2800" b="1" dirty="0"/>
              <a:t> </a:t>
            </a:r>
            <a:endParaRPr lang="en-IN" sz="30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nvGraphicFramePr>
        <p:xfrm>
          <a:off x="1143000" y="2209800"/>
          <a:ext cx="105918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837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0D95C5-776E-42D3-8B20-0B18A56FFF61}"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600200" y="7"/>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213828"/>
            <a:ext cx="86106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UNIT-V: </a:t>
            </a:r>
            <a:r>
              <a:rPr lang="en-US" sz="2800" b="1" dirty="0"/>
              <a:t> Deploying Django Web Application on Cloud</a:t>
            </a:r>
            <a:r>
              <a:rPr lang="en-IN" sz="2800" b="1" dirty="0"/>
              <a:t> </a:t>
            </a:r>
          </a:p>
        </p:txBody>
      </p:sp>
      <p:graphicFrame>
        <p:nvGraphicFramePr>
          <p:cNvPr id="23" name="Diagram 22">
            <a:extLst>
              <a:ext uri="{FF2B5EF4-FFF2-40B4-BE49-F238E27FC236}">
                <a16:creationId xmlns:a16="http://schemas.microsoft.com/office/drawing/2014/main" id="{5BD0C95D-4009-4941-AFEE-6336F152559B}"/>
              </a:ext>
            </a:extLst>
          </p:cNvPr>
          <p:cNvGraphicFramePr/>
          <p:nvPr/>
        </p:nvGraphicFramePr>
        <p:xfrm>
          <a:off x="1447800" y="1966709"/>
          <a:ext cx="9982200" cy="306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285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133600" y="865193"/>
            <a:ext cx="7696200" cy="5311776"/>
          </a:xfrm>
          <a:solidFill>
            <a:schemeClr val="bg2">
              <a:lumMod val="10000"/>
            </a:schemeClr>
          </a:solidFill>
          <a:ln w="19050">
            <a:solidFill>
              <a:schemeClr val="tx1"/>
            </a:solidFill>
          </a:ln>
        </p:spPr>
        <p:txBody>
          <a:bodyPr>
            <a:normAutofit lnSpcReduction="10000"/>
          </a:bodyPr>
          <a:lstStyle/>
          <a:p>
            <a:pPr>
              <a:lnSpc>
                <a:spcPct val="120000"/>
              </a:lnSpc>
            </a:pPr>
            <a:endParaRPr lang="en-US" dirty="0">
              <a:solidFill>
                <a:srgbClr val="00B050"/>
              </a:solidFill>
            </a:endParaRPr>
          </a:p>
          <a:p>
            <a:r>
              <a:rPr lang="en-US" dirty="0">
                <a:solidFill>
                  <a:schemeClr val="accent1">
                    <a:lumMod val="40000"/>
                    <a:lumOff val="60000"/>
                  </a:schemeClr>
                </a:solidFill>
              </a:rPr>
              <a:t>Understanding Django environment, </a:t>
            </a:r>
          </a:p>
          <a:p>
            <a:r>
              <a:rPr lang="en-US" dirty="0">
                <a:solidFill>
                  <a:schemeClr val="accent1">
                    <a:lumMod val="40000"/>
                    <a:lumOff val="60000"/>
                  </a:schemeClr>
                </a:solidFill>
              </a:rPr>
              <a:t>Features of Django and Django architecture</a:t>
            </a:r>
            <a:endParaRPr lang="en-US" sz="2000" dirty="0">
              <a:solidFill>
                <a:schemeClr val="accent1">
                  <a:lumMod val="40000"/>
                  <a:lumOff val="60000"/>
                </a:schemeClr>
              </a:solidFill>
            </a:endParaRPr>
          </a:p>
          <a:p>
            <a:r>
              <a:rPr lang="en-US" dirty="0">
                <a:solidFill>
                  <a:schemeClr val="accent1">
                    <a:lumMod val="40000"/>
                    <a:lumOff val="60000"/>
                  </a:schemeClr>
                </a:solidFill>
              </a:rPr>
              <a:t>MTV</a:t>
            </a:r>
          </a:p>
          <a:p>
            <a:r>
              <a:rPr lang="en-US" dirty="0">
                <a:solidFill>
                  <a:schemeClr val="accent1">
                    <a:lumMod val="40000"/>
                    <a:lumOff val="60000"/>
                  </a:schemeClr>
                </a:solidFill>
              </a:rPr>
              <a:t>Urls and Views, Mapping the views to URLs, Django Template</a:t>
            </a:r>
          </a:p>
          <a:p>
            <a:r>
              <a:rPr lang="en-US" dirty="0">
                <a:solidFill>
                  <a:schemeClr val="accent1">
                    <a:lumMod val="40000"/>
                    <a:lumOff val="60000"/>
                  </a:schemeClr>
                </a:solidFill>
              </a:rPr>
              <a:t>Template inheritance</a:t>
            </a:r>
          </a:p>
          <a:p>
            <a:r>
              <a:rPr lang="en-US" dirty="0">
                <a:solidFill>
                  <a:schemeClr val="accent1">
                    <a:lumMod val="40000"/>
                    <a:lumOff val="60000"/>
                  </a:schemeClr>
                </a:solidFill>
              </a:rPr>
              <a:t>Django Models, Creating model for site, Converting the model into a table, Fields in Models</a:t>
            </a:r>
          </a:p>
          <a:p>
            <a:r>
              <a:rPr lang="en-US" dirty="0">
                <a:solidFill>
                  <a:schemeClr val="accent1">
                    <a:lumMod val="40000"/>
                    <a:lumOff val="60000"/>
                  </a:schemeClr>
                </a:solidFill>
              </a:rPr>
              <a:t>Integrating Bootstrap into Django</a:t>
            </a:r>
          </a:p>
          <a:p>
            <a:pPr marL="0" indent="0">
              <a:buNone/>
            </a:pPr>
            <a:endParaRPr lang="en-US" sz="400" dirty="0">
              <a:solidFill>
                <a:schemeClr val="accent1">
                  <a:lumMod val="40000"/>
                  <a:lumOff val="60000"/>
                </a:schemeClr>
              </a:solidFill>
            </a:endParaRPr>
          </a:p>
        </p:txBody>
      </p:sp>
      <p:sp>
        <p:nvSpPr>
          <p:cNvPr id="6" name="Date Placeholder 5"/>
          <p:cNvSpPr>
            <a:spLocks noGrp="1"/>
          </p:cNvSpPr>
          <p:nvPr>
            <p:ph type="dt" sz="half" idx="10"/>
          </p:nvPr>
        </p:nvSpPr>
        <p:spPr/>
        <p:txBody>
          <a:bodyPr/>
          <a:lstStyle/>
          <a:p>
            <a:fld id="{F90C59B8-EAC2-4590-8FAF-21A36F1CE6E3}" type="datetime1">
              <a:rPr lang="en-US" smtClean="0"/>
              <a:t>9/30/2024</a:t>
            </a:fld>
            <a:endParaRPr lang="en-US" dirty="0"/>
          </a:p>
        </p:txBody>
      </p:sp>
      <p:sp>
        <p:nvSpPr>
          <p:cNvPr id="10" name="Footer Placeholder 9"/>
          <p:cNvSpPr>
            <a:spLocks noGrp="1"/>
          </p:cNvSpPr>
          <p:nvPr>
            <p:ph type="ftr" sz="quarter" idx="11"/>
          </p:nvPr>
        </p:nvSpPr>
        <p:spPr>
          <a:xfrm>
            <a:off x="4165600" y="6356357"/>
            <a:ext cx="5816600" cy="365125"/>
          </a:xfrm>
        </p:spPr>
        <p:txBody>
          <a:bodyPr/>
          <a:lstStyle/>
          <a:p>
            <a:r>
              <a:rPr lang="en-US"/>
              <a:t>Ritesh Kumar Singh          Python web development with Django     Unit 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dirty="0"/>
          </a:p>
        </p:txBody>
      </p:sp>
      <p:sp>
        <p:nvSpPr>
          <p:cNvPr id="8" name="Title 1"/>
          <p:cNvSpPr txBox="1">
            <a:spLocks/>
          </p:cNvSpPr>
          <p:nvPr/>
        </p:nvSpPr>
        <p:spPr>
          <a:xfrm>
            <a:off x="1447800" y="7"/>
            <a:ext cx="10668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II Content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E5133E-88C5-4324-AA79-54C896C8D197}"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Understanding Django environment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889592"/>
            <a:ext cx="11277600" cy="4293483"/>
          </a:xfrm>
          <a:prstGeom prst="rect">
            <a:avLst/>
          </a:prstGeom>
          <a:solidFill>
            <a:schemeClr val="accent1">
              <a:lumMod val="40000"/>
              <a:lumOff val="60000"/>
            </a:schemeClr>
          </a:solidFill>
          <a:ln w="28575">
            <a:solidFill>
              <a:schemeClr val="tx1"/>
            </a:solidFill>
          </a:ln>
        </p:spPr>
        <p:txBody>
          <a:bodyPr wrap="square">
            <a:spAutoFit/>
          </a:bodyPr>
          <a:lstStyle/>
          <a:p>
            <a:pPr algn="just">
              <a:buFont typeface="Wingdings" pitchFamily="2" charset="2"/>
              <a:buChar char="Ø"/>
            </a:pPr>
            <a:r>
              <a:rPr lang="en-US" sz="2800" dirty="0"/>
              <a:t> </a:t>
            </a:r>
            <a:r>
              <a:rPr lang="en-US" dirty="0"/>
              <a:t>Django development environment consists of installing and setting up Python, Django, and a Database System. Since Django deals with web application, it's worth mentioning that you would need a web server setup as well.</a:t>
            </a:r>
          </a:p>
          <a:p>
            <a:pPr>
              <a:buFont typeface="Wingdings" pitchFamily="2" charset="2"/>
              <a:buChar char="Ø"/>
            </a:pPr>
            <a:r>
              <a:rPr lang="en-US" dirty="0"/>
              <a:t>Step 1 – Installing Python</a:t>
            </a:r>
          </a:p>
          <a:p>
            <a:pPr>
              <a:buFont typeface="Wingdings" pitchFamily="2" charset="2"/>
              <a:buChar char="Ø"/>
            </a:pPr>
            <a:r>
              <a:rPr lang="en-US" dirty="0"/>
              <a:t>Django is written in 100% pure Python code, so you'll need to install Python on your system. Latest Django version requires Python 2.6.5 or higher </a:t>
            </a:r>
          </a:p>
          <a:p>
            <a:pPr>
              <a:buFont typeface="Wingdings" pitchFamily="2" charset="2"/>
              <a:buChar char="Ø"/>
            </a:pPr>
            <a:r>
              <a:rPr lang="en-US" dirty="0"/>
              <a:t>If you're on one of the latest Linux or Mac OS X distribution, you probably already have Python installed. You can verify it by typing </a:t>
            </a:r>
            <a:r>
              <a:rPr lang="en-US" i="1" dirty="0"/>
              <a:t>python</a:t>
            </a:r>
            <a:r>
              <a:rPr lang="en-US" dirty="0"/>
              <a:t> command at a command prompt. If you see something like this, then Python is installed.</a:t>
            </a:r>
          </a:p>
          <a:p>
            <a:pPr>
              <a:buFont typeface="Wingdings" pitchFamily="2" charset="2"/>
              <a:buChar char="Ø"/>
            </a:pPr>
            <a:r>
              <a:rPr lang="en-US" dirty="0"/>
              <a:t>$ python </a:t>
            </a:r>
          </a:p>
          <a:p>
            <a:pPr>
              <a:buFont typeface="Wingdings" pitchFamily="2" charset="2"/>
              <a:buChar char="Ø"/>
            </a:pPr>
            <a:r>
              <a:rPr lang="en-US" dirty="0"/>
              <a:t>Python 2.7.5 (default, Jun 17 2014, 18:11:42) </a:t>
            </a:r>
          </a:p>
          <a:p>
            <a:pPr>
              <a:buFont typeface="Wingdings" pitchFamily="2" charset="2"/>
              <a:buChar char="Ø"/>
            </a:pPr>
            <a:r>
              <a:rPr lang="en-US" dirty="0"/>
              <a:t>[GCC 4.8.2 20140120 (Red Hat 4.8.2-16)] on linux2</a:t>
            </a:r>
          </a:p>
          <a:p>
            <a:pPr>
              <a:buFont typeface="Wingdings" pitchFamily="2" charset="2"/>
              <a:buChar char="Ø"/>
            </a:pPr>
            <a:endParaRPr lang="en-US" sz="2800" dirty="0"/>
          </a:p>
          <a:p>
            <a:pPr algn="just"/>
            <a:endParaRPr lang="en-US" sz="2800" dirty="0"/>
          </a:p>
          <a:p>
            <a:pPr marL="457200" indent="-457200" algn="just">
              <a:buFont typeface="Wingdings" panose="05000000000000000000" pitchFamily="2" charset="2"/>
              <a:buChar char="Ø"/>
            </a:pPr>
            <a:endParaRPr lang="en-US" sz="2700" dirty="0">
              <a:latin typeface="+mj-lt"/>
            </a:endParaRPr>
          </a:p>
        </p:txBody>
      </p:sp>
    </p:spTree>
    <p:extLst>
      <p:ext uri="{BB962C8B-B14F-4D97-AF65-F5344CB8AC3E}">
        <p14:creationId xmlns:p14="http://schemas.microsoft.com/office/powerpoint/2010/main" val="351392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990D3A-D442-43F2-990E-E0F87067221B}"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Understanding Django environment(continue…)</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1219200"/>
            <a:ext cx="11277600" cy="2616101"/>
          </a:xfrm>
          <a:prstGeom prst="rect">
            <a:avLst/>
          </a:prstGeom>
          <a:solidFill>
            <a:schemeClr val="accent1">
              <a:lumMod val="40000"/>
              <a:lumOff val="60000"/>
            </a:schemeClr>
          </a:solidFill>
          <a:ln w="28575">
            <a:solidFill>
              <a:schemeClr val="tx1"/>
            </a:solidFill>
          </a:ln>
        </p:spPr>
        <p:txBody>
          <a:bodyPr wrap="square">
            <a:spAutoFit/>
          </a:bodyPr>
          <a:lstStyle/>
          <a:p>
            <a:r>
              <a:rPr lang="en-US" sz="2000" b="1" dirty="0"/>
              <a:t>Step 2 - Installing Django</a:t>
            </a:r>
          </a:p>
          <a:p>
            <a:r>
              <a:rPr lang="en-US" dirty="0"/>
              <a:t>Installing Django is very easy, but the steps required for its installation depends on your operating system. Since Python is a platform-independent language, Django has one package that works everywhere regardless of your operating system.</a:t>
            </a:r>
          </a:p>
          <a:p>
            <a:r>
              <a:rPr lang="en-US" dirty="0"/>
              <a:t>You can download the latest version of Django from the link </a:t>
            </a:r>
            <a:r>
              <a:rPr lang="en-US" dirty="0">
                <a:hlinkClick r:id="rId2"/>
              </a:rPr>
              <a:t>http://www.djangoproject.com/download</a:t>
            </a:r>
            <a:r>
              <a:rPr lang="en-US" dirty="0"/>
              <a:t>/.</a:t>
            </a:r>
          </a:p>
          <a:p>
            <a:r>
              <a:rPr lang="en-US" dirty="0"/>
              <a:t>You can test your installation by running this command −</a:t>
            </a:r>
          </a:p>
          <a:p>
            <a:r>
              <a:rPr lang="en-US" dirty="0"/>
              <a:t>$ django-admin.py --version </a:t>
            </a:r>
          </a:p>
          <a:p>
            <a:r>
              <a:rPr lang="en-US" dirty="0"/>
              <a:t>If you see the current version of Django printed on the screen, then everything is set.</a:t>
            </a:r>
          </a:p>
          <a:p>
            <a:r>
              <a:rPr lang="en-US" b="1" dirty="0"/>
              <a:t>Note</a:t>
            </a:r>
            <a:r>
              <a:rPr lang="en-US" dirty="0"/>
              <a:t> − For some version of Django it will be </a:t>
            </a:r>
            <a:r>
              <a:rPr lang="en-US" dirty="0" err="1"/>
              <a:t>django</a:t>
            </a:r>
            <a:r>
              <a:rPr lang="en-US" dirty="0"/>
              <a:t>-admin the ".</a:t>
            </a:r>
            <a:r>
              <a:rPr lang="en-US" dirty="0" err="1"/>
              <a:t>py</a:t>
            </a:r>
            <a:r>
              <a:rPr lang="en-US" dirty="0"/>
              <a:t>" is removed.</a:t>
            </a:r>
          </a:p>
        </p:txBody>
      </p:sp>
    </p:spTree>
    <p:extLst>
      <p:ext uri="{BB962C8B-B14F-4D97-AF65-F5344CB8AC3E}">
        <p14:creationId xmlns:p14="http://schemas.microsoft.com/office/powerpoint/2010/main" val="2058563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3CE585-8C41-46E1-B9E4-59EF0D75F887}"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Understanding Django environment(continue…)</a:t>
            </a:r>
            <a:br>
              <a:rPr lang="en-US" sz="2400" b="1" dirty="0"/>
            </a:br>
            <a:endParaRPr lang="en-US" sz="2400"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877389" y="1219200"/>
            <a:ext cx="10476411" cy="3139321"/>
          </a:xfrm>
          <a:prstGeom prst="rect">
            <a:avLst/>
          </a:prstGeom>
          <a:solidFill>
            <a:schemeClr val="accent1">
              <a:lumMod val="40000"/>
              <a:lumOff val="60000"/>
            </a:schemeClr>
          </a:solidFill>
          <a:ln w="28575">
            <a:solidFill>
              <a:schemeClr val="tx1"/>
            </a:solidFill>
          </a:ln>
        </p:spPr>
        <p:txBody>
          <a:bodyPr wrap="square">
            <a:spAutoFit/>
          </a:bodyPr>
          <a:lstStyle/>
          <a:p>
            <a:r>
              <a:rPr lang="en-US" b="1" dirty="0"/>
              <a:t>Windows Installation</a:t>
            </a:r>
          </a:p>
          <a:p>
            <a:r>
              <a:rPr lang="en-US" dirty="0"/>
              <a:t>We assume you have your Django archive and python installed on your computer.</a:t>
            </a:r>
          </a:p>
          <a:p>
            <a:r>
              <a:rPr lang="en-US" dirty="0"/>
              <a:t>First, PATH verification.</a:t>
            </a:r>
          </a:p>
          <a:p>
            <a:r>
              <a:rPr lang="en-US" dirty="0"/>
              <a:t>On some version of windows (windows 7) you might need to make sure the Path system variable has the path the following </a:t>
            </a:r>
          </a:p>
          <a:p>
            <a:r>
              <a:rPr lang="en-US" dirty="0"/>
              <a:t>C:\Python34\;C:\Python34\Lib\site-packages\</a:t>
            </a:r>
            <a:r>
              <a:rPr lang="en-US" dirty="0" err="1"/>
              <a:t>django</a:t>
            </a:r>
            <a:r>
              <a:rPr lang="en-US" dirty="0"/>
              <a:t>\bin\ in it, of course depending on your Python version.</a:t>
            </a:r>
          </a:p>
          <a:p>
            <a:r>
              <a:rPr lang="en-US" dirty="0"/>
              <a:t>Then, extract and install Django.</a:t>
            </a:r>
          </a:p>
          <a:p>
            <a:r>
              <a:rPr lang="en-US" dirty="0"/>
              <a:t>c:\&gt;</a:t>
            </a:r>
            <a:r>
              <a:rPr lang="en-US" dirty="0" err="1"/>
              <a:t>cd</a:t>
            </a:r>
            <a:r>
              <a:rPr lang="en-US" dirty="0"/>
              <a:t> c:\Django-x.xx </a:t>
            </a:r>
          </a:p>
          <a:p>
            <a:r>
              <a:rPr lang="en-US" dirty="0"/>
              <a:t>Next, install Django by running the following command for which you will need administrative privileges in windows shell "</a:t>
            </a:r>
            <a:r>
              <a:rPr lang="en-US" dirty="0" err="1"/>
              <a:t>cmd</a:t>
            </a:r>
            <a:r>
              <a:rPr lang="en-US" dirty="0"/>
              <a:t>" −</a:t>
            </a:r>
          </a:p>
          <a:p>
            <a:r>
              <a:rPr lang="en-US" dirty="0"/>
              <a:t>c:\Django-x.xx&gt;python setup.py install </a:t>
            </a:r>
          </a:p>
        </p:txBody>
      </p:sp>
    </p:spTree>
    <p:extLst>
      <p:ext uri="{BB962C8B-B14F-4D97-AF65-F5344CB8AC3E}">
        <p14:creationId xmlns:p14="http://schemas.microsoft.com/office/powerpoint/2010/main" val="3392104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F348E0-06EC-4151-91B3-FBB5301A8B87}" type="datetime1">
              <a:rPr lang="en-US" smtClean="0"/>
              <a:t>9/30/2024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a:t>Understanding Django environment(continue…)</a:t>
            </a:r>
            <a:br>
              <a:rPr lang="en-US" sz="2400" b="1" dirty="0"/>
            </a:br>
            <a:endParaRPr lang="en-US" sz="2400" b="1"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33549" y="919665"/>
            <a:ext cx="11277600" cy="3970318"/>
          </a:xfrm>
          <a:prstGeom prst="rect">
            <a:avLst/>
          </a:prstGeom>
          <a:solidFill>
            <a:schemeClr val="accent1">
              <a:lumMod val="40000"/>
              <a:lumOff val="60000"/>
            </a:schemeClr>
          </a:solidFill>
          <a:ln w="28575">
            <a:solidFill>
              <a:schemeClr val="tx1"/>
            </a:solidFill>
          </a:ln>
        </p:spPr>
        <p:txBody>
          <a:bodyPr wrap="square">
            <a:spAutoFit/>
          </a:bodyPr>
          <a:lstStyle/>
          <a:p>
            <a:pPr lvl="0" fontAlgn="base">
              <a:spcBef>
                <a:spcPct val="0"/>
              </a:spcBef>
              <a:spcAft>
                <a:spcPct val="0"/>
              </a:spcAft>
            </a:pPr>
            <a:r>
              <a:rPr lang="en-US" dirty="0">
                <a:cs typeface="Arial" pitchFamily="34" charset="0"/>
              </a:rPr>
              <a:t>To test your installation, open a command prompt and type the following command −</a:t>
            </a:r>
          </a:p>
          <a:p>
            <a:pPr lvl="0" eaLnBrk="0" fontAlgn="base" hangingPunct="0">
              <a:spcBef>
                <a:spcPct val="0"/>
              </a:spcBef>
              <a:spcAft>
                <a:spcPct val="0"/>
              </a:spcAft>
            </a:pPr>
            <a:r>
              <a:rPr lang="en-US" dirty="0">
                <a:cs typeface="Arial" pitchFamily="34" charset="0"/>
              </a:rPr>
              <a:t>c:\&gt;python -c "import </a:t>
            </a:r>
            <a:r>
              <a:rPr lang="en-US" dirty="0" err="1">
                <a:cs typeface="Arial" pitchFamily="34" charset="0"/>
              </a:rPr>
              <a:t>django</a:t>
            </a:r>
            <a:r>
              <a:rPr lang="en-US" dirty="0">
                <a:cs typeface="Arial" pitchFamily="34" charset="0"/>
              </a:rPr>
              <a:t>; print(</a:t>
            </a:r>
            <a:r>
              <a:rPr lang="en-US" dirty="0" err="1">
                <a:cs typeface="Arial" pitchFamily="34" charset="0"/>
              </a:rPr>
              <a:t>django.get_version</a:t>
            </a:r>
            <a:r>
              <a:rPr lang="en-US" dirty="0">
                <a:cs typeface="Arial" pitchFamily="34" charset="0"/>
              </a:rPr>
              <a:t>())" </a:t>
            </a:r>
          </a:p>
          <a:p>
            <a:pPr lvl="0" eaLnBrk="0" fontAlgn="base" hangingPunct="0">
              <a:spcBef>
                <a:spcPct val="0"/>
              </a:spcBef>
              <a:spcAft>
                <a:spcPct val="0"/>
              </a:spcAft>
            </a:pPr>
            <a:r>
              <a:rPr lang="en-US" dirty="0">
                <a:cs typeface="Arial" pitchFamily="34" charset="0"/>
              </a:rPr>
              <a:t>If you see the current version of Django printed on screen, then everything is set.</a:t>
            </a:r>
          </a:p>
          <a:p>
            <a:pPr lvl="0" eaLnBrk="0" fontAlgn="base" hangingPunct="0">
              <a:spcBef>
                <a:spcPct val="0"/>
              </a:spcBef>
              <a:spcAft>
                <a:spcPct val="0"/>
              </a:spcAft>
            </a:pPr>
            <a:r>
              <a:rPr lang="en-US" dirty="0">
                <a:cs typeface="Arial" pitchFamily="34" charset="0"/>
              </a:rPr>
              <a:t>OR</a:t>
            </a:r>
          </a:p>
          <a:p>
            <a:pPr lvl="0" eaLnBrk="0" fontAlgn="base" hangingPunct="0">
              <a:spcBef>
                <a:spcPct val="0"/>
              </a:spcBef>
              <a:spcAft>
                <a:spcPct val="0"/>
              </a:spcAft>
            </a:pPr>
            <a:r>
              <a:rPr lang="en-US" dirty="0">
                <a:cs typeface="Arial" pitchFamily="34" charset="0"/>
              </a:rPr>
              <a:t>Launch a "</a:t>
            </a:r>
            <a:r>
              <a:rPr lang="en-US" dirty="0" err="1">
                <a:cs typeface="Arial" pitchFamily="34" charset="0"/>
              </a:rPr>
              <a:t>cmd</a:t>
            </a:r>
            <a:r>
              <a:rPr lang="en-US" dirty="0">
                <a:cs typeface="Arial" pitchFamily="34" charset="0"/>
              </a:rPr>
              <a:t>" prompt and type python then −</a:t>
            </a:r>
          </a:p>
          <a:p>
            <a:pPr lvl="0" eaLnBrk="0" fontAlgn="base" hangingPunct="0">
              <a:spcBef>
                <a:spcPct val="0"/>
              </a:spcBef>
              <a:spcAft>
                <a:spcPct val="0"/>
              </a:spcAft>
            </a:pPr>
            <a:r>
              <a:rPr lang="en-US" dirty="0">
                <a:cs typeface="Arial" pitchFamily="34" charset="0"/>
              </a:rPr>
              <a:t>c:\&gt; python &gt;&gt;&gt; import </a:t>
            </a:r>
            <a:r>
              <a:rPr lang="en-US" dirty="0" err="1">
                <a:cs typeface="Arial" pitchFamily="34" charset="0"/>
              </a:rPr>
              <a:t>django</a:t>
            </a:r>
            <a:r>
              <a:rPr lang="en-US" dirty="0">
                <a:cs typeface="Arial" pitchFamily="34" charset="0"/>
              </a:rPr>
              <a:t> &gt;&gt;&gt; </a:t>
            </a:r>
            <a:r>
              <a:rPr lang="en-US" dirty="0" err="1">
                <a:cs typeface="Arial" pitchFamily="34" charset="0"/>
              </a:rPr>
              <a:t>django.VERSION</a:t>
            </a:r>
            <a:endParaRPr lang="en-US" dirty="0">
              <a:cs typeface="Arial" pitchFamily="34" charset="0"/>
            </a:endParaRPr>
          </a:p>
          <a:p>
            <a:pPr eaLnBrk="0" fontAlgn="base" hangingPunct="0">
              <a:spcBef>
                <a:spcPct val="0"/>
              </a:spcBef>
              <a:spcAft>
                <a:spcPct val="0"/>
              </a:spcAft>
            </a:pPr>
            <a:r>
              <a:rPr lang="en-US" b="1" dirty="0"/>
              <a:t>Step 3 – Database Setup</a:t>
            </a:r>
          </a:p>
          <a:p>
            <a:r>
              <a:rPr lang="en-US" dirty="0"/>
              <a:t>Django supports several major database engines and you can set up any of them based on your comfort.</a:t>
            </a:r>
          </a:p>
          <a:p>
            <a:r>
              <a:rPr lang="en-US" dirty="0" err="1">
                <a:hlinkClick r:id="rId2"/>
              </a:rPr>
              <a:t>MySQL</a:t>
            </a:r>
            <a:r>
              <a:rPr lang="en-US" dirty="0">
                <a:hlinkClick r:id="rId2"/>
              </a:rPr>
              <a:t> (http://www.mysql.com/)</a:t>
            </a:r>
            <a:endParaRPr lang="en-US" dirty="0"/>
          </a:p>
          <a:p>
            <a:r>
              <a:rPr lang="en-US" dirty="0" err="1">
                <a:hlinkClick r:id="rId3"/>
              </a:rPr>
              <a:t>PostgreSQL</a:t>
            </a:r>
            <a:r>
              <a:rPr lang="en-US" dirty="0">
                <a:hlinkClick r:id="rId3"/>
              </a:rPr>
              <a:t> (http://www.postgresql.org/)</a:t>
            </a:r>
            <a:endParaRPr lang="en-US" dirty="0"/>
          </a:p>
          <a:p>
            <a:r>
              <a:rPr lang="en-US" dirty="0" err="1">
                <a:hlinkClick r:id="rId4"/>
              </a:rPr>
              <a:t>SQLite</a:t>
            </a:r>
            <a:r>
              <a:rPr lang="en-US" dirty="0">
                <a:hlinkClick r:id="rId4"/>
              </a:rPr>
              <a:t> 3 (http://www.sqlite.org/)</a:t>
            </a:r>
            <a:endParaRPr lang="en-US" dirty="0"/>
          </a:p>
          <a:p>
            <a:r>
              <a:rPr lang="en-US" dirty="0">
                <a:hlinkClick r:id="rId5"/>
              </a:rPr>
              <a:t>Oracle (http://www.oracle.com/)</a:t>
            </a:r>
            <a:endParaRPr lang="en-US" dirty="0"/>
          </a:p>
          <a:p>
            <a:r>
              <a:rPr lang="en-US" dirty="0" err="1">
                <a:hlinkClick r:id="rId6"/>
              </a:rPr>
              <a:t>MongoDb</a:t>
            </a:r>
            <a:r>
              <a:rPr lang="en-US" dirty="0">
                <a:hlinkClick r:id="rId6"/>
              </a:rPr>
              <a:t> (https://django-mongodb-engine.readthedocs.org)</a:t>
            </a:r>
            <a:endParaRPr lang="en-US" dirty="0"/>
          </a:p>
          <a:p>
            <a:r>
              <a:rPr lang="en-US" dirty="0" err="1">
                <a:hlinkClick r:id="rId7"/>
              </a:rPr>
              <a:t>GoogleAppEngine</a:t>
            </a:r>
            <a:r>
              <a:rPr lang="en-US" dirty="0">
                <a:hlinkClick r:id="rId7"/>
              </a:rPr>
              <a:t> </a:t>
            </a:r>
            <a:r>
              <a:rPr lang="en-US" dirty="0" err="1">
                <a:hlinkClick r:id="rId7"/>
              </a:rPr>
              <a:t>Datastore</a:t>
            </a:r>
            <a:r>
              <a:rPr lang="en-US" dirty="0">
                <a:hlinkClick r:id="rId7"/>
              </a:rPr>
              <a:t> (https://cloud.google.com/appengine/articles/django-nonrel</a:t>
            </a:r>
            <a:endParaRPr lang="en-US" dirty="0"/>
          </a:p>
        </p:txBody>
      </p:sp>
    </p:spTree>
    <p:extLst>
      <p:ext uri="{BB962C8B-B14F-4D97-AF65-F5344CB8AC3E}">
        <p14:creationId xmlns:p14="http://schemas.microsoft.com/office/powerpoint/2010/main" val="221993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2446C90-DABB-4395-887D-32EC0978075B}"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1843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F991F0-CD39-438A-873C-2228C503E987}" type="slidenum">
              <a:rPr lang="en-US" altLang="en-US">
                <a:solidFill>
                  <a:srgbClr val="898989"/>
                </a:solidFill>
                <a:latin typeface="Calibri" panose="020F0502020204030204" pitchFamily="34" charset="0"/>
              </a:rPr>
              <a:pPr/>
              <a:t>12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Understanding Django environment(continue…)</a:t>
            </a:r>
            <a:br>
              <a:rPr lang="en-US" sz="2400" b="1" dirty="0"/>
            </a:br>
            <a:endParaRPr lang="en-US" sz="2400" b="1" dirty="0"/>
          </a:p>
        </p:txBody>
      </p:sp>
      <p:sp>
        <p:nvSpPr>
          <p:cNvPr id="18440"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23561" name="TextBox 9"/>
          <p:cNvSpPr txBox="1">
            <a:spLocks noChangeArrowheads="1"/>
          </p:cNvSpPr>
          <p:nvPr/>
        </p:nvSpPr>
        <p:spPr bwMode="auto">
          <a:xfrm>
            <a:off x="2667000" y="1816101"/>
            <a:ext cx="7239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r>
              <a:rPr lang="en-US" altLang="en-US" sz="2200" dirty="0">
                <a:latin typeface="Times New Roman" panose="02020603050405020304" pitchFamily="18" charset="0"/>
                <a:cs typeface="Times New Roman" panose="02020603050405020304" pitchFamily="18" charset="0"/>
              </a:rPr>
              <a:t>	</a:t>
            </a:r>
            <a:endParaRPr lang="en-US" altLang="en-US" dirty="0"/>
          </a:p>
        </p:txBody>
      </p:sp>
      <p:sp>
        <p:nvSpPr>
          <p:cNvPr id="94209" name="Rectangle 1"/>
          <p:cNvSpPr>
            <a:spLocks noChangeArrowheads="1"/>
          </p:cNvSpPr>
          <p:nvPr/>
        </p:nvSpPr>
        <p:spPr bwMode="auto">
          <a:xfrm>
            <a:off x="228600" y="1219198"/>
            <a:ext cx="11811000" cy="3600986"/>
          </a:xfrm>
          <a:prstGeom prst="rect">
            <a:avLst/>
          </a:prstGeom>
          <a:solidFill>
            <a:schemeClr val="accent1">
              <a:lumMod val="60000"/>
              <a:lumOff val="4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r>
              <a:rPr lang="en-US" b="1" dirty="0"/>
              <a:t>Step 4 – Web Server</a:t>
            </a:r>
          </a:p>
          <a:p>
            <a:r>
              <a:rPr lang="en-US" dirty="0"/>
              <a:t>Django comes with a lightweight web server for developing and testing applications. This server is pre-configured to work with Django, and more importantly, it restarts whenever you modify the code.</a:t>
            </a:r>
          </a:p>
          <a:p>
            <a:r>
              <a:rPr lang="en-US" dirty="0"/>
              <a:t>However, Django does support Apache and other popular web servers such as </a:t>
            </a:r>
            <a:r>
              <a:rPr lang="en-US" dirty="0" err="1"/>
              <a:t>Lighttpd</a:t>
            </a:r>
            <a:r>
              <a:rPr lang="en-US" dirty="0"/>
              <a:t>.</a:t>
            </a:r>
          </a:p>
          <a:p>
            <a:r>
              <a:rPr lang="en-US" b="1" dirty="0"/>
              <a:t>Django - Creating a Project</a:t>
            </a:r>
          </a:p>
          <a:p>
            <a:r>
              <a:rPr lang="en-US" dirty="0"/>
              <a:t>Now that we have installed Django, let's start using it. In Django, every web app you want to create is called a project; and a project is a sum of applications. An application is a set of code files relying on the MVT pattern. As example let's say we want to build a website, the website is our project and, the forum, news, contact engine are applications. This structure makes it easier to move an application between projects since every application is independent.</a:t>
            </a:r>
          </a:p>
          <a:p>
            <a:r>
              <a:rPr lang="en-US" b="1" dirty="0"/>
              <a:t>Create a Project</a:t>
            </a:r>
          </a:p>
          <a:p>
            <a:r>
              <a:rPr lang="en-US" dirty="0"/>
              <a:t>Whether you are on Windows or Linux, just get a terminal or a </a:t>
            </a:r>
            <a:r>
              <a:rPr lang="en-US" b="1" dirty="0" err="1"/>
              <a:t>cmd</a:t>
            </a:r>
            <a:r>
              <a:rPr lang="en-US" dirty="0"/>
              <a:t> prompt and navigate to the place you want your project to be created, then use this code −</a:t>
            </a:r>
          </a:p>
          <a:p>
            <a:r>
              <a:rPr lang="en-US" b="1" dirty="0"/>
              <a:t>$ </a:t>
            </a:r>
            <a:r>
              <a:rPr lang="en-US" b="1" dirty="0" err="1"/>
              <a:t>django</a:t>
            </a:r>
            <a:r>
              <a:rPr lang="en-US" b="1" dirty="0"/>
              <a:t>-admin </a:t>
            </a:r>
            <a:r>
              <a:rPr lang="en-US" b="1" dirty="0" err="1"/>
              <a:t>startproject</a:t>
            </a:r>
            <a:r>
              <a:rPr lang="en-US" b="1" dirty="0"/>
              <a:t> </a:t>
            </a:r>
            <a:r>
              <a:rPr lang="en-US" b="1" dirty="0" err="1"/>
              <a:t>myproject</a:t>
            </a:r>
            <a:r>
              <a:rPr lang="en-US" b="1" dirty="0"/>
              <a:t> </a:t>
            </a:r>
          </a:p>
        </p:txBody>
      </p:sp>
    </p:spTree>
    <p:extLst>
      <p:ext uri="{BB962C8B-B14F-4D97-AF65-F5344CB8AC3E}">
        <p14:creationId xmlns:p14="http://schemas.microsoft.com/office/powerpoint/2010/main" val="228188763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 calcmode="lin" valueType="num">
                                      <p:cBhvr additive="base">
                                        <p:cTn id="7" dur="500" fill="hold"/>
                                        <p:tgtEl>
                                          <p:spTgt spid="23561"/>
                                        </p:tgtEl>
                                        <p:attrNameLst>
                                          <p:attrName>ppt_x</p:attrName>
                                        </p:attrNameLst>
                                      </p:cBhvr>
                                      <p:tavLst>
                                        <p:tav tm="0">
                                          <p:val>
                                            <p:strVal val="#ppt_x"/>
                                          </p:val>
                                        </p:tav>
                                        <p:tav tm="100000">
                                          <p:val>
                                            <p:strVal val="#ppt_x"/>
                                          </p:val>
                                        </p:tav>
                                      </p:tavLst>
                                    </p:anim>
                                    <p:anim calcmode="lin" valueType="num">
                                      <p:cBhvr additive="base">
                                        <p:cTn id="8"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1A93399-CD09-43A0-9CE9-A929D3F9E3A1}"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1946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EDFF600-644D-414A-A537-F38C633C8845}" type="slidenum">
              <a:rPr lang="en-US" altLang="en-US">
                <a:solidFill>
                  <a:srgbClr val="898989"/>
                </a:solidFill>
                <a:latin typeface="Calibri" panose="020F0502020204030204" pitchFamily="34" charset="0"/>
              </a:rPr>
              <a:pPr/>
              <a:t>13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Understanding Django environment(continue…)</a:t>
            </a:r>
            <a:br>
              <a:rPr lang="en-US" sz="2400" b="1" dirty="0"/>
            </a:br>
            <a:endParaRPr lang="en-US" sz="2400" b="1" dirty="0"/>
          </a:p>
        </p:txBody>
      </p:sp>
      <p:sp>
        <p:nvSpPr>
          <p:cNvPr id="19464"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93185" name="Rectangle 1"/>
          <p:cNvSpPr>
            <a:spLocks noChangeArrowheads="1"/>
          </p:cNvSpPr>
          <p:nvPr/>
        </p:nvSpPr>
        <p:spPr bwMode="auto">
          <a:xfrm>
            <a:off x="381000" y="1066801"/>
            <a:ext cx="11506199" cy="4708981"/>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lvl="0" fontAlgn="base">
              <a:spcBef>
                <a:spcPct val="0"/>
              </a:spcBef>
              <a:spcAft>
                <a:spcPct val="0"/>
              </a:spcAft>
            </a:pPr>
            <a:r>
              <a:rPr lang="en-US" dirty="0">
                <a:cs typeface="Arial" pitchFamily="34" charset="0"/>
              </a:rPr>
              <a:t>This will create a "</a:t>
            </a:r>
            <a:r>
              <a:rPr lang="en-US" dirty="0" err="1">
                <a:cs typeface="Arial" pitchFamily="34" charset="0"/>
              </a:rPr>
              <a:t>myproject</a:t>
            </a:r>
            <a:r>
              <a:rPr lang="en-US" dirty="0">
                <a:cs typeface="Arial" pitchFamily="34" charset="0"/>
              </a:rPr>
              <a:t>" folder with the following structure −</a:t>
            </a:r>
          </a:p>
          <a:p>
            <a:pPr lvl="0" eaLnBrk="0" fontAlgn="base" hangingPunct="0">
              <a:spcBef>
                <a:spcPct val="0"/>
              </a:spcBef>
              <a:spcAft>
                <a:spcPct val="0"/>
              </a:spcAft>
            </a:pPr>
            <a:r>
              <a:rPr lang="en-US" dirty="0" err="1">
                <a:cs typeface="Arial" pitchFamily="34" charset="0"/>
              </a:rPr>
              <a:t>myproject</a:t>
            </a:r>
            <a:r>
              <a:rPr lang="en-US" dirty="0">
                <a:cs typeface="Arial" pitchFamily="34" charset="0"/>
              </a:rPr>
              <a:t>/</a:t>
            </a:r>
          </a:p>
          <a:p>
            <a:pPr lvl="0" eaLnBrk="0" fontAlgn="base" hangingPunct="0">
              <a:spcBef>
                <a:spcPct val="0"/>
              </a:spcBef>
              <a:spcAft>
                <a:spcPct val="0"/>
              </a:spcAft>
            </a:pPr>
            <a:r>
              <a:rPr lang="en-US" dirty="0">
                <a:cs typeface="Arial" pitchFamily="34" charset="0"/>
              </a:rPr>
              <a:t> manage.py </a:t>
            </a:r>
          </a:p>
          <a:p>
            <a:pPr lvl="0" eaLnBrk="0" fontAlgn="base" hangingPunct="0">
              <a:spcBef>
                <a:spcPct val="0"/>
              </a:spcBef>
              <a:spcAft>
                <a:spcPct val="0"/>
              </a:spcAft>
            </a:pPr>
            <a:r>
              <a:rPr lang="en-US" dirty="0" err="1">
                <a:cs typeface="Arial" pitchFamily="34" charset="0"/>
              </a:rPr>
              <a:t>myproject</a:t>
            </a:r>
            <a:r>
              <a:rPr lang="en-US" dirty="0">
                <a:cs typeface="Arial" pitchFamily="34" charset="0"/>
              </a:rPr>
              <a:t>/</a:t>
            </a:r>
          </a:p>
          <a:p>
            <a:pPr lvl="0" eaLnBrk="0" fontAlgn="base" hangingPunct="0">
              <a:spcBef>
                <a:spcPct val="0"/>
              </a:spcBef>
              <a:spcAft>
                <a:spcPct val="0"/>
              </a:spcAft>
            </a:pPr>
            <a:r>
              <a:rPr lang="en-US" dirty="0">
                <a:cs typeface="Arial" pitchFamily="34" charset="0"/>
              </a:rPr>
              <a:t> __</a:t>
            </a:r>
            <a:r>
              <a:rPr lang="en-US" dirty="0" err="1">
                <a:cs typeface="Arial" pitchFamily="34" charset="0"/>
              </a:rPr>
              <a:t>init__.py</a:t>
            </a:r>
            <a:r>
              <a:rPr lang="en-US" dirty="0">
                <a:cs typeface="Arial" pitchFamily="34" charset="0"/>
              </a:rPr>
              <a:t> settings.py</a:t>
            </a:r>
          </a:p>
          <a:p>
            <a:pPr lvl="0" eaLnBrk="0" fontAlgn="base" hangingPunct="0">
              <a:spcBef>
                <a:spcPct val="0"/>
              </a:spcBef>
              <a:spcAft>
                <a:spcPct val="0"/>
              </a:spcAft>
            </a:pPr>
            <a:r>
              <a:rPr lang="en-US" dirty="0">
                <a:cs typeface="Arial" pitchFamily="34" charset="0"/>
              </a:rPr>
              <a:t> urls.py </a:t>
            </a:r>
          </a:p>
          <a:p>
            <a:pPr lvl="0" eaLnBrk="0" fontAlgn="base" hangingPunct="0">
              <a:spcBef>
                <a:spcPct val="0"/>
              </a:spcBef>
              <a:spcAft>
                <a:spcPct val="0"/>
              </a:spcAft>
            </a:pPr>
            <a:r>
              <a:rPr lang="en-US" dirty="0">
                <a:cs typeface="Arial" pitchFamily="34" charset="0"/>
              </a:rPr>
              <a:t>wsgi.py</a:t>
            </a:r>
          </a:p>
          <a:p>
            <a:pPr eaLnBrk="0" fontAlgn="base" hangingPunct="0">
              <a:spcBef>
                <a:spcPct val="0"/>
              </a:spcBef>
              <a:spcAft>
                <a:spcPct val="0"/>
              </a:spcAft>
            </a:pPr>
            <a:r>
              <a:rPr lang="en-US" b="1" dirty="0"/>
              <a:t>The Project Structure</a:t>
            </a:r>
          </a:p>
          <a:p>
            <a:r>
              <a:rPr lang="en-US" dirty="0"/>
              <a:t>The “</a:t>
            </a:r>
            <a:r>
              <a:rPr lang="en-US" dirty="0" err="1"/>
              <a:t>myproject</a:t>
            </a:r>
            <a:r>
              <a:rPr lang="en-US" dirty="0"/>
              <a:t>” folder is just your project container, it actually contains two elements −</a:t>
            </a:r>
          </a:p>
          <a:p>
            <a:r>
              <a:rPr lang="en-US" b="1" dirty="0"/>
              <a:t>manage.py</a:t>
            </a:r>
            <a:r>
              <a:rPr lang="en-US" dirty="0"/>
              <a:t> − This file is kind of your project local </a:t>
            </a:r>
            <a:r>
              <a:rPr lang="en-US" dirty="0" err="1"/>
              <a:t>django</a:t>
            </a:r>
            <a:r>
              <a:rPr lang="en-US" dirty="0"/>
              <a:t>-admin for interacting with your project via command line (start the development server, sync db...). To get a full list of command accessible via manage.py you can use the code −</a:t>
            </a:r>
          </a:p>
          <a:p>
            <a:r>
              <a:rPr lang="en-US" b="1" dirty="0"/>
              <a:t>$ python manage.py help </a:t>
            </a:r>
          </a:p>
          <a:p>
            <a:r>
              <a:rPr lang="en-US" b="1" dirty="0"/>
              <a:t>The “</a:t>
            </a:r>
            <a:r>
              <a:rPr lang="en-US" b="1" dirty="0" err="1"/>
              <a:t>myproject</a:t>
            </a:r>
            <a:r>
              <a:rPr lang="en-US" b="1" dirty="0"/>
              <a:t>” subfolder</a:t>
            </a:r>
            <a:r>
              <a:rPr lang="en-US" dirty="0"/>
              <a:t> − This folder is the actual python package of your project. It contains four files −</a:t>
            </a:r>
          </a:p>
          <a:p>
            <a:pPr lvl="1"/>
            <a:r>
              <a:rPr lang="en-US" b="1" dirty="0"/>
              <a:t>__</a:t>
            </a:r>
            <a:r>
              <a:rPr lang="en-US" b="1" dirty="0" err="1"/>
              <a:t>init__.py</a:t>
            </a:r>
            <a:r>
              <a:rPr lang="en-US" dirty="0"/>
              <a:t> − Just for python, treat this folder as package.</a:t>
            </a:r>
          </a:p>
          <a:p>
            <a:pPr lvl="1"/>
            <a:r>
              <a:rPr lang="en-US" b="1" dirty="0"/>
              <a:t>settings.py</a:t>
            </a:r>
            <a:r>
              <a:rPr lang="en-US" dirty="0"/>
              <a:t> − As the name indicates, your project settings.</a:t>
            </a:r>
          </a:p>
          <a:p>
            <a:pPr lvl="1"/>
            <a:r>
              <a:rPr lang="en-US" b="1" dirty="0"/>
              <a:t>urls.py</a:t>
            </a:r>
            <a:r>
              <a:rPr lang="en-US" dirty="0"/>
              <a:t> − All links of your project and the function to call. A kind of </a:t>
            </a:r>
            <a:r>
              <a:rPr lang="en-US" dirty="0" err="1"/>
              <a:t>ToC</a:t>
            </a:r>
            <a:r>
              <a:rPr lang="en-US" dirty="0"/>
              <a:t> of your project.</a:t>
            </a:r>
          </a:p>
          <a:p>
            <a:pPr lvl="1"/>
            <a:r>
              <a:rPr lang="en-US" b="1" dirty="0"/>
              <a:t>wsgi.py</a:t>
            </a:r>
            <a:r>
              <a:rPr lang="en-US" dirty="0"/>
              <a:t> − If you need to deploy your project over WSGI.</a:t>
            </a:r>
          </a:p>
        </p:txBody>
      </p:sp>
    </p:spTree>
    <p:extLst>
      <p:ext uri="{BB962C8B-B14F-4D97-AF65-F5344CB8AC3E}">
        <p14:creationId xmlns:p14="http://schemas.microsoft.com/office/powerpoint/2010/main" val="914863709"/>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B957C1E-3E8E-492D-AF0D-04A7871CD1D1}"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2560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45FA4E-F205-4302-ADF6-042E49104BD2}" type="slidenum">
              <a:rPr lang="en-US" altLang="en-US">
                <a:solidFill>
                  <a:srgbClr val="898989"/>
                </a:solidFill>
                <a:latin typeface="Calibri" panose="020F0502020204030204" pitchFamily="34" charset="0"/>
              </a:rPr>
              <a:pPr/>
              <a:t>14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Understanding Django environment(continue…)</a:t>
            </a:r>
            <a:br>
              <a:rPr lang="en-US" sz="2400" b="1" dirty="0"/>
            </a:br>
            <a:endParaRPr lang="en-US" sz="2400" b="1" dirty="0"/>
          </a:p>
        </p:txBody>
      </p:sp>
      <p:sp>
        <p:nvSpPr>
          <p:cNvPr id="25608" name="TextBox 7"/>
          <p:cNvSpPr txBox="1">
            <a:spLocks noChangeArrowheads="1"/>
          </p:cNvSpPr>
          <p:nvPr/>
        </p:nvSpPr>
        <p:spPr bwMode="auto">
          <a:xfrm>
            <a:off x="762001" y="1143000"/>
            <a:ext cx="10972800" cy="4124206"/>
          </a:xfrm>
          <a:prstGeom prst="rect">
            <a:avLst/>
          </a:prstGeom>
          <a:solidFill>
            <a:schemeClr val="tx2">
              <a:lumMod val="40000"/>
              <a:lumOff val="60000"/>
            </a:schemeClr>
          </a:solidFill>
          <a:ln w="9525">
            <a:solidFill>
              <a:srgbClr val="000000"/>
            </a:solidFill>
            <a:miter lim="800000"/>
            <a:headEnd/>
            <a:tailEnd/>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latin typeface="+mn-lt"/>
              </a:rPr>
              <a:t>Setting Up Your Project</a:t>
            </a:r>
          </a:p>
          <a:p>
            <a:r>
              <a:rPr lang="en-US" dirty="0">
                <a:latin typeface="+mn-lt"/>
              </a:rPr>
              <a:t>Your project is set up in the subfolder </a:t>
            </a:r>
            <a:r>
              <a:rPr lang="en-US" dirty="0" err="1">
                <a:latin typeface="+mn-lt"/>
              </a:rPr>
              <a:t>myproject</a:t>
            </a:r>
            <a:r>
              <a:rPr lang="en-US" dirty="0">
                <a:latin typeface="+mn-lt"/>
              </a:rPr>
              <a:t>/settings.py. Following are some important options you might need to set −</a:t>
            </a:r>
          </a:p>
          <a:p>
            <a:r>
              <a:rPr lang="en-US" dirty="0">
                <a:latin typeface="+mn-lt"/>
              </a:rPr>
              <a:t>DEBUG = True This option lets you set if your project is in debug mode or not. Debug mode lets you get more information about your project's error. Never set it to ‘True’ for a live project. However, this has to be set to ‘True’ if you want the Django light server to serve static files. Do it only in the development mode.</a:t>
            </a:r>
          </a:p>
          <a:p>
            <a:r>
              <a:rPr lang="en-US" dirty="0">
                <a:latin typeface="+mn-lt"/>
              </a:rPr>
              <a:t>DATABASES = { 'default': { 'ENGINE': 'django.db.backends.sqlite3', 'NAME': 'database.sql', 'USER': '', 'PASSWORD': '', 'HOST': '', 'PORT': '', } } Database is set in the ‘Database’ dictionary. The example above is for </a:t>
            </a:r>
            <a:r>
              <a:rPr lang="en-US" dirty="0" err="1">
                <a:latin typeface="+mn-lt"/>
              </a:rPr>
              <a:t>SQLite</a:t>
            </a:r>
            <a:r>
              <a:rPr lang="en-US" dirty="0">
                <a:latin typeface="+mn-lt"/>
              </a:rPr>
              <a:t> engine. As stated earlier, Django also supports −</a:t>
            </a:r>
          </a:p>
          <a:p>
            <a:r>
              <a:rPr lang="en-US" dirty="0" err="1">
                <a:latin typeface="+mn-lt"/>
              </a:rPr>
              <a:t>MySQL</a:t>
            </a:r>
            <a:r>
              <a:rPr lang="en-US" dirty="0">
                <a:latin typeface="+mn-lt"/>
              </a:rPr>
              <a:t> (</a:t>
            </a:r>
            <a:r>
              <a:rPr lang="en-US" dirty="0" err="1">
                <a:latin typeface="+mn-lt"/>
              </a:rPr>
              <a:t>django.db.backends.mysql</a:t>
            </a:r>
            <a:r>
              <a:rPr lang="en-US" dirty="0">
                <a:latin typeface="+mn-lt"/>
              </a:rPr>
              <a:t>)</a:t>
            </a:r>
          </a:p>
          <a:p>
            <a:r>
              <a:rPr lang="en-US" dirty="0" err="1">
                <a:latin typeface="+mn-lt"/>
              </a:rPr>
              <a:t>PostGreSQL</a:t>
            </a:r>
            <a:r>
              <a:rPr lang="en-US" dirty="0">
                <a:latin typeface="+mn-lt"/>
              </a:rPr>
              <a:t> (django.db.backends.postgresql_psycopg2)</a:t>
            </a:r>
          </a:p>
          <a:p>
            <a:r>
              <a:rPr lang="en-US" dirty="0">
                <a:latin typeface="+mn-lt"/>
              </a:rPr>
              <a:t>Oracle (</a:t>
            </a:r>
            <a:r>
              <a:rPr lang="en-US" dirty="0" err="1">
                <a:latin typeface="+mn-lt"/>
              </a:rPr>
              <a:t>django.db.backends.oracle</a:t>
            </a:r>
            <a:r>
              <a:rPr lang="en-US" dirty="0">
                <a:latin typeface="+mn-lt"/>
              </a:rPr>
              <a:t>) and </a:t>
            </a:r>
            <a:r>
              <a:rPr lang="en-US" dirty="0" err="1">
                <a:latin typeface="+mn-lt"/>
              </a:rPr>
              <a:t>NoSQL</a:t>
            </a:r>
            <a:r>
              <a:rPr lang="en-US" dirty="0">
                <a:latin typeface="+mn-lt"/>
              </a:rPr>
              <a:t> DB</a:t>
            </a:r>
          </a:p>
          <a:p>
            <a:r>
              <a:rPr lang="en-US" dirty="0" err="1">
                <a:latin typeface="+mn-lt"/>
              </a:rPr>
              <a:t>MongoDB</a:t>
            </a:r>
            <a:r>
              <a:rPr lang="en-US" dirty="0">
                <a:latin typeface="+mn-lt"/>
              </a:rPr>
              <a:t> (</a:t>
            </a:r>
            <a:r>
              <a:rPr lang="en-US" dirty="0" err="1">
                <a:latin typeface="+mn-lt"/>
              </a:rPr>
              <a:t>django_mongodb_engine</a:t>
            </a:r>
            <a:r>
              <a:rPr lang="en-US" dirty="0">
                <a:latin typeface="+mn-lt"/>
              </a:rPr>
              <a:t>)</a:t>
            </a:r>
          </a:p>
          <a:p>
            <a:endParaRPr lang="en-US" sz="2800" b="1" dirty="0"/>
          </a:p>
        </p:txBody>
      </p:sp>
    </p:spTree>
    <p:extLst>
      <p:ext uri="{BB962C8B-B14F-4D97-AF65-F5344CB8AC3E}">
        <p14:creationId xmlns:p14="http://schemas.microsoft.com/office/powerpoint/2010/main" val="1541163977"/>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76A52ED-D53D-43E4-86E6-B8E8200EE38F}"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2662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548BD3-A9FA-4955-8C67-1E36AE28F6D0}" type="slidenum">
              <a:rPr lang="en-US" altLang="en-US">
                <a:solidFill>
                  <a:srgbClr val="898989"/>
                </a:solidFill>
                <a:latin typeface="Calibri" panose="020F0502020204030204" pitchFamily="34" charset="0"/>
              </a:rPr>
              <a:pPr/>
              <a:t>15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Understanding Django environment(continue…)</a:t>
            </a:r>
            <a:br>
              <a:rPr lang="en-US" sz="2400" b="1" dirty="0"/>
            </a:br>
            <a:endParaRPr lang="en-US" sz="2400" b="1" dirty="0"/>
          </a:p>
        </p:txBody>
      </p:sp>
      <p:sp>
        <p:nvSpPr>
          <p:cNvPr id="26632"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29705" name="TextBox 10"/>
          <p:cNvSpPr txBox="1">
            <a:spLocks noChangeArrowheads="1"/>
          </p:cNvSpPr>
          <p:nvPr/>
        </p:nvSpPr>
        <p:spPr bwMode="auto">
          <a:xfrm>
            <a:off x="2667000" y="1447801"/>
            <a:ext cx="78486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200" dirty="0">
              <a:latin typeface="Times New Roman" panose="02020603050405020304" pitchFamily="18" charset="0"/>
              <a:cs typeface="Times New Roman" panose="02020603050405020304" pitchFamily="18" charset="0"/>
            </a:endParaRPr>
          </a:p>
          <a:p>
            <a:pPr algn="just" eaLnBrk="1" hangingPunct="1"/>
            <a:endParaRPr lang="en-US" altLang="en-US" sz="2200" dirty="0">
              <a:latin typeface="Times New Roman" panose="02020603050405020304" pitchFamily="18" charset="0"/>
              <a:cs typeface="Times New Roman" panose="02020603050405020304" pitchFamily="18" charset="0"/>
            </a:endParaRPr>
          </a:p>
        </p:txBody>
      </p:sp>
      <p:sp>
        <p:nvSpPr>
          <p:cNvPr id="10" name="Rectangle 9"/>
          <p:cNvSpPr/>
          <p:nvPr/>
        </p:nvSpPr>
        <p:spPr>
          <a:xfrm>
            <a:off x="838200" y="1066800"/>
            <a:ext cx="9525000" cy="2308324"/>
          </a:xfrm>
          <a:prstGeom prst="rect">
            <a:avLst/>
          </a:prstGeom>
          <a:solidFill>
            <a:schemeClr val="tx2">
              <a:lumMod val="40000"/>
              <a:lumOff val="60000"/>
            </a:schemeClr>
          </a:solidFill>
          <a:ln w="9525">
            <a:solidFill>
              <a:schemeClr val="tx1"/>
            </a:solidFill>
          </a:ln>
        </p:spPr>
        <p:txBody>
          <a:bodyPr wrap="square">
            <a:spAutoFit/>
          </a:bodyPr>
          <a:lstStyle/>
          <a:p>
            <a:pPr lvl="0" fontAlgn="base">
              <a:spcBef>
                <a:spcPct val="0"/>
              </a:spcBef>
              <a:spcAft>
                <a:spcPct val="0"/>
              </a:spcAft>
            </a:pPr>
            <a:r>
              <a:rPr lang="en-US" dirty="0">
                <a:cs typeface="Arial" pitchFamily="34" charset="0"/>
              </a:rPr>
              <a:t>Before setting any new engine, make sure you have the correct db driver installed.</a:t>
            </a:r>
          </a:p>
          <a:p>
            <a:pPr lvl="0" eaLnBrk="0" fontAlgn="base" hangingPunct="0">
              <a:spcBef>
                <a:spcPct val="0"/>
              </a:spcBef>
              <a:spcAft>
                <a:spcPct val="0"/>
              </a:spcAft>
            </a:pPr>
            <a:r>
              <a:rPr lang="en-US" dirty="0">
                <a:cs typeface="Arial" pitchFamily="34" charset="0"/>
              </a:rPr>
              <a:t>You can also set others options like: TIME_ZONE, LANGUAGE_CODE, TEMPLATE…</a:t>
            </a:r>
          </a:p>
          <a:p>
            <a:pPr lvl="0" eaLnBrk="0" fontAlgn="base" hangingPunct="0">
              <a:spcBef>
                <a:spcPct val="0"/>
              </a:spcBef>
              <a:spcAft>
                <a:spcPct val="0"/>
              </a:spcAft>
            </a:pPr>
            <a:r>
              <a:rPr lang="en-US" dirty="0">
                <a:cs typeface="Arial" pitchFamily="34" charset="0"/>
              </a:rPr>
              <a:t>Now that your project is created and configured make sure it's working −</a:t>
            </a:r>
          </a:p>
          <a:p>
            <a:pPr lvl="0" eaLnBrk="0" fontAlgn="base" hangingPunct="0">
              <a:spcBef>
                <a:spcPct val="0"/>
              </a:spcBef>
              <a:spcAft>
                <a:spcPct val="0"/>
              </a:spcAft>
            </a:pPr>
            <a:r>
              <a:rPr lang="en-US" b="1" dirty="0">
                <a:cs typeface="Arial" pitchFamily="34" charset="0"/>
              </a:rPr>
              <a:t>$ python manage.py </a:t>
            </a:r>
            <a:r>
              <a:rPr lang="en-US" b="1" dirty="0" err="1">
                <a:cs typeface="Arial" pitchFamily="34" charset="0"/>
              </a:rPr>
              <a:t>runserver</a:t>
            </a:r>
            <a:r>
              <a:rPr lang="en-US" b="1" dirty="0">
                <a:cs typeface="Arial" pitchFamily="34" charset="0"/>
              </a:rPr>
              <a:t> </a:t>
            </a:r>
          </a:p>
          <a:p>
            <a:pPr lvl="0" eaLnBrk="0" fontAlgn="base" hangingPunct="0">
              <a:spcBef>
                <a:spcPct val="0"/>
              </a:spcBef>
              <a:spcAft>
                <a:spcPct val="0"/>
              </a:spcAft>
            </a:pPr>
            <a:r>
              <a:rPr lang="en-US" dirty="0">
                <a:cs typeface="Arial" pitchFamily="34" charset="0"/>
              </a:rPr>
              <a:t>You will get something like the following on running the above code −</a:t>
            </a:r>
          </a:p>
          <a:p>
            <a:pPr lvl="0" eaLnBrk="0" fontAlgn="base" hangingPunct="0">
              <a:spcBef>
                <a:spcPct val="0"/>
              </a:spcBef>
              <a:spcAft>
                <a:spcPct val="0"/>
              </a:spcAft>
            </a:pPr>
            <a:r>
              <a:rPr lang="en-US" dirty="0">
                <a:cs typeface="Arial" pitchFamily="34" charset="0"/>
              </a:rPr>
              <a:t>Validating models... 0 errors found September 03, 2015 - 11:41:50 Django version 1.6.11, using settings '</a:t>
            </a:r>
            <a:r>
              <a:rPr lang="en-US" dirty="0" err="1">
                <a:cs typeface="Arial" pitchFamily="34" charset="0"/>
              </a:rPr>
              <a:t>myproject.settings</a:t>
            </a:r>
            <a:r>
              <a:rPr lang="en-US" dirty="0">
                <a:cs typeface="Arial" pitchFamily="34" charset="0"/>
              </a:rPr>
              <a:t>' Starting development server at http://127.0.0.1:8000/ Quit the server with CONTROL-C. </a:t>
            </a:r>
          </a:p>
        </p:txBody>
      </p:sp>
    </p:spTree>
    <p:extLst>
      <p:ext uri="{BB962C8B-B14F-4D97-AF65-F5344CB8AC3E}">
        <p14:creationId xmlns:p14="http://schemas.microsoft.com/office/powerpoint/2010/main" val="29871363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9705"/>
                                        </p:tgtEl>
                                        <p:attrNameLst>
                                          <p:attrName>style.visibility</p:attrName>
                                        </p:attrNameLst>
                                      </p:cBhvr>
                                      <p:to>
                                        <p:strVal val="visible"/>
                                      </p:to>
                                    </p:set>
                                    <p:anim calcmode="lin" valueType="num">
                                      <p:cBhvr additive="base">
                                        <p:cTn id="7" dur="500" fill="hold"/>
                                        <p:tgtEl>
                                          <p:spTgt spid="29705"/>
                                        </p:tgtEl>
                                        <p:attrNameLst>
                                          <p:attrName>ppt_x</p:attrName>
                                        </p:attrNameLst>
                                      </p:cBhvr>
                                      <p:tavLst>
                                        <p:tav tm="0">
                                          <p:val>
                                            <p:strVal val="#ppt_x"/>
                                          </p:val>
                                        </p:tav>
                                        <p:tav tm="100000">
                                          <p:val>
                                            <p:strVal val="#ppt_x"/>
                                          </p:val>
                                        </p:tav>
                                      </p:tavLst>
                                    </p:anim>
                                    <p:anim calcmode="lin" valueType="num">
                                      <p:cBhvr additive="base">
                                        <p:cTn id="8" dur="500" fill="hold"/>
                                        <p:tgtEl>
                                          <p:spTgt spid="29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945C54C-3D1F-4C4D-BF55-490E26BE9E5C}"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dirty="0"/>
              <a:t>Ritesh Kumar Singh          Python web development with Django     Unit II</a:t>
            </a:r>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16</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676400" y="0"/>
            <a:ext cx="105156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400" b="1" dirty="0"/>
              <a:t>Features of Django</a:t>
            </a:r>
          </a:p>
          <a:p>
            <a:pPr algn="ctr">
              <a:defRPr/>
            </a:pPr>
            <a:endParaRPr lang="en-US" sz="2400" b="1"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4993" name="Rectangle 1"/>
          <p:cNvSpPr>
            <a:spLocks noChangeArrowheads="1"/>
          </p:cNvSpPr>
          <p:nvPr/>
        </p:nvSpPr>
        <p:spPr bwMode="auto">
          <a:xfrm>
            <a:off x="152400" y="896115"/>
            <a:ext cx="11887200" cy="3416320"/>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a:buFont typeface="Wingdings" pitchFamily="2" charset="2"/>
              <a:buChar char="Ø"/>
            </a:pPr>
            <a:r>
              <a:rPr lang="en-US" dirty="0"/>
              <a:t>Rapid Development: Django was designed with the intention to make a framework which takes less time to build web application. The project implementation phase is a very time taken but Django creates it rapidly.</a:t>
            </a:r>
          </a:p>
          <a:p>
            <a:pPr>
              <a:buFont typeface="Wingdings" pitchFamily="2" charset="2"/>
              <a:buChar char="Ø"/>
            </a:pPr>
            <a:r>
              <a:rPr lang="en-US" dirty="0"/>
              <a:t>Secure: Django takes security seriously and helps developers to avoid many common security mistakes, such as SQL injection, cross-site scripting, cross-site request forgery etc. Its user authentication system provides a secure way to manage user accounts and passwords.</a:t>
            </a:r>
          </a:p>
          <a:p>
            <a:pPr>
              <a:buFont typeface="Wingdings" pitchFamily="2" charset="2"/>
              <a:buChar char="Ø"/>
            </a:pPr>
            <a:r>
              <a:rPr lang="en-US" dirty="0"/>
              <a:t>Scalable: Django is scalable in nature and has ability to quickly and flexibly switch from small to large scale application project.</a:t>
            </a:r>
          </a:p>
          <a:p>
            <a:pPr>
              <a:buFont typeface="Wingdings" pitchFamily="2" charset="2"/>
              <a:buChar char="Ø"/>
            </a:pPr>
            <a:r>
              <a:rPr lang="en-US" dirty="0"/>
              <a:t>Fully loaded: Django includes various helping task modules and libraries which can be used to handle common Web development tasks. Django takes care of user authentication, content administration, site maps, RSS feeds etc.</a:t>
            </a:r>
          </a:p>
          <a:p>
            <a:pPr>
              <a:buFont typeface="Wingdings" pitchFamily="2" charset="2"/>
              <a:buChar char="Ø"/>
            </a:pPr>
            <a:r>
              <a:rPr lang="en-US" dirty="0"/>
              <a:t>Versatile: Django is versatile in nature which allows it to build applications for different-different domains. Now a days, Companies are using Django to build various types of applications like: content management systems, social networks sites or scientific computing platforms etc.</a:t>
            </a:r>
          </a:p>
        </p:txBody>
      </p:sp>
    </p:spTree>
    <p:extLst>
      <p:ext uri="{BB962C8B-B14F-4D97-AF65-F5344CB8AC3E}">
        <p14:creationId xmlns:p14="http://schemas.microsoft.com/office/powerpoint/2010/main" val="4203081364"/>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87CB053-887A-47B8-A3C4-E17CDE6E6950}"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2867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1E6E84E-4941-46E4-A4E7-635E796525D8}" type="slidenum">
              <a:rPr lang="en-US" altLang="en-US">
                <a:solidFill>
                  <a:srgbClr val="898989"/>
                </a:solidFill>
                <a:latin typeface="Calibri" panose="020F0502020204030204" pitchFamily="34" charset="0"/>
              </a:rPr>
              <a:pPr/>
              <a:t>17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400" b="1" dirty="0"/>
              <a:t>Features of Django</a:t>
            </a:r>
          </a:p>
        </p:txBody>
      </p:sp>
      <p:sp>
        <p:nvSpPr>
          <p:cNvPr id="28679" name="TextBox 7"/>
          <p:cNvSpPr txBox="1">
            <a:spLocks noChangeArrowheads="1"/>
          </p:cNvSpPr>
          <p:nvPr/>
        </p:nvSpPr>
        <p:spPr bwMode="auto">
          <a:xfrm>
            <a:off x="2667000" y="1981200"/>
            <a:ext cx="7391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2946" name="Rectangle 2"/>
          <p:cNvSpPr>
            <a:spLocks noChangeArrowheads="1"/>
          </p:cNvSpPr>
          <p:nvPr/>
        </p:nvSpPr>
        <p:spPr bwMode="auto">
          <a:xfrm>
            <a:off x="304801" y="1371599"/>
            <a:ext cx="10896600" cy="1938992"/>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a:buFont typeface="Wingdings" pitchFamily="2" charset="2"/>
              <a:buChar char="Ø"/>
            </a:pPr>
            <a:r>
              <a:rPr lang="en-US" dirty="0"/>
              <a:t>Open </a:t>
            </a:r>
            <a:r>
              <a:rPr lang="en-US" dirty="0" err="1"/>
              <a:t>Source:Django</a:t>
            </a:r>
            <a:r>
              <a:rPr lang="en-US" dirty="0"/>
              <a:t> is an open source web application framework. It is publicly available without cost. It can be downloaded with source code from the public repository. Open source reduces the total cost of the application development. </a:t>
            </a:r>
          </a:p>
          <a:p>
            <a:pPr>
              <a:buFont typeface="Wingdings" pitchFamily="2" charset="2"/>
              <a:buChar char="Ø"/>
            </a:pPr>
            <a:r>
              <a:rPr lang="en-US" dirty="0"/>
              <a:t>Vast and Supported </a:t>
            </a:r>
            <a:r>
              <a:rPr lang="en-US" dirty="0" err="1"/>
              <a:t>Community:Django</a:t>
            </a:r>
            <a:r>
              <a:rPr lang="en-US" dirty="0"/>
              <a:t> is an one of the most popular web framework. It has widely supportive community and channels to share and connect.</a:t>
            </a:r>
          </a:p>
          <a:p>
            <a:endParaRPr lang="en-US" dirty="0"/>
          </a:p>
          <a:p>
            <a:endParaRPr lang="en-US" dirty="0"/>
          </a:p>
        </p:txBody>
      </p:sp>
      <p:sp>
        <p:nvSpPr>
          <p:cNvPr id="82947" name="Rectangle 3"/>
          <p:cNvSpPr>
            <a:spLocks noChangeArrowheads="1"/>
          </p:cNvSpPr>
          <p:nvPr/>
        </p:nvSpPr>
        <p:spPr bwMode="auto">
          <a:xfrm>
            <a:off x="1524000" y="2438400"/>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Tree>
    <p:extLst>
      <p:ext uri="{BB962C8B-B14F-4D97-AF65-F5344CB8AC3E}">
        <p14:creationId xmlns:p14="http://schemas.microsoft.com/office/powerpoint/2010/main" val="392743901"/>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D52499E-2626-457C-8FE2-E5B37A035938}"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2970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3BEEBC-AF46-4D5A-A8A2-E1237A713141}" type="slidenum">
              <a:rPr lang="en-US" altLang="en-US">
                <a:solidFill>
                  <a:srgbClr val="898989"/>
                </a:solidFill>
                <a:latin typeface="Calibri" panose="020F0502020204030204" pitchFamily="34" charset="0"/>
              </a:rPr>
              <a:pPr/>
              <a:t>18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a:t>
            </a:r>
            <a:r>
              <a:rPr lang="en-US" sz="2400" b="1" dirty="0"/>
              <a:t>Django Architecture</a:t>
            </a:r>
          </a:p>
          <a:p>
            <a:endParaRPr lang="en-US" sz="3200" dirty="0"/>
          </a:p>
        </p:txBody>
      </p:sp>
      <p:sp>
        <p:nvSpPr>
          <p:cNvPr id="2970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34825" name="TextBox 10"/>
          <p:cNvSpPr txBox="1">
            <a:spLocks noChangeArrowheads="1"/>
          </p:cNvSpPr>
          <p:nvPr/>
        </p:nvSpPr>
        <p:spPr bwMode="auto">
          <a:xfrm>
            <a:off x="2743200" y="1676401"/>
            <a:ext cx="71628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endParaRPr lang="en-US" altLang="en-US" sz="2200" b="1" dirty="0">
              <a:latin typeface="Times New Roman" panose="02020603050405020304" pitchFamily="18" charset="0"/>
              <a:cs typeface="Times New Roman" panose="02020603050405020304" pitchFamily="18" charset="0"/>
            </a:endParaRPr>
          </a:p>
          <a:p>
            <a:pPr algn="just" eaLnBrk="1" hangingPunct="1"/>
            <a:endParaRPr lang="en-US" altLang="en-US" sz="2200" dirty="0">
              <a:latin typeface="Times New Roman" panose="02020603050405020304" pitchFamily="18" charset="0"/>
              <a:cs typeface="Times New Roman" panose="02020603050405020304" pitchFamily="18" charset="0"/>
            </a:endParaRPr>
          </a:p>
          <a:p>
            <a:pPr lvl="1" algn="just" eaLnBrk="1" hangingPunct="1"/>
            <a:endParaRPr lang="en-US" altLang="en-US" sz="2200" dirty="0">
              <a:latin typeface="Times New Roman" panose="02020603050405020304" pitchFamily="18" charset="0"/>
              <a:cs typeface="Times New Roman" panose="02020603050405020304" pitchFamily="18" charset="0"/>
            </a:endParaRPr>
          </a:p>
        </p:txBody>
      </p:sp>
      <p:graphicFrame>
        <p:nvGraphicFramePr>
          <p:cNvPr id="12" name="Table 11"/>
          <p:cNvGraphicFramePr>
            <a:graphicFrameLocks noGrp="1"/>
          </p:cNvGraphicFramePr>
          <p:nvPr/>
        </p:nvGraphicFramePr>
        <p:xfrm>
          <a:off x="304800" y="815464"/>
          <a:ext cx="10896600" cy="2689737"/>
        </p:xfrm>
        <a:graphic>
          <a:graphicData uri="http://schemas.openxmlformats.org/drawingml/2006/table">
            <a:tbl>
              <a:tblPr/>
              <a:tblGrid>
                <a:gridCol w="699782">
                  <a:extLst>
                    <a:ext uri="{9D8B030D-6E8A-4147-A177-3AD203B41FA5}">
                      <a16:colId xmlns:a16="http://schemas.microsoft.com/office/drawing/2014/main" val="20000"/>
                    </a:ext>
                  </a:extLst>
                </a:gridCol>
                <a:gridCol w="10196818">
                  <a:extLst>
                    <a:ext uri="{9D8B030D-6E8A-4147-A177-3AD203B41FA5}">
                      <a16:colId xmlns:a16="http://schemas.microsoft.com/office/drawing/2014/main" val="20001"/>
                    </a:ext>
                  </a:extLst>
                </a:gridCol>
              </a:tblGrid>
              <a:tr h="648453">
                <a:tc>
                  <a:txBody>
                    <a:bodyPr/>
                    <a:lstStyle/>
                    <a:p>
                      <a:pPr marL="0" marR="0">
                        <a:lnSpc>
                          <a:spcPct val="115000"/>
                        </a:lnSpc>
                        <a:spcBef>
                          <a:spcPts val="0"/>
                        </a:spcBef>
                        <a:spcAft>
                          <a:spcPts val="1000"/>
                        </a:spcAft>
                      </a:pPr>
                      <a:endParaRPr lang="en-US" sz="2400" dirty="0">
                        <a:latin typeface="Calibri"/>
                        <a:ea typeface="Calibri"/>
                        <a:cs typeface="Times New Roman"/>
                      </a:endParaRP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endParaRPr lang="en-US" sz="2400" dirty="0">
                        <a:latin typeface="Calibri"/>
                        <a:ea typeface="Times New Roman"/>
                        <a:cs typeface="Times New Roman"/>
                      </a:endParaRP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0"/>
                  </a:ext>
                </a:extLst>
              </a:tr>
              <a:tr h="510321">
                <a:tc>
                  <a:txBody>
                    <a:bodyPr/>
                    <a:lstStyle/>
                    <a:p>
                      <a:pPr marL="0" marR="0">
                        <a:lnSpc>
                          <a:spcPct val="115000"/>
                        </a:lnSpc>
                        <a:spcBef>
                          <a:spcPts val="0"/>
                        </a:spcBef>
                        <a:spcAft>
                          <a:spcPts val="1000"/>
                        </a:spcAft>
                      </a:pPr>
                      <a:endParaRPr lang="en-US" sz="2400" dirty="0">
                        <a:latin typeface="Calibri"/>
                        <a:ea typeface="Calibri"/>
                        <a:cs typeface="Times New Roman"/>
                      </a:endParaRP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endParaRPr lang="en-US" sz="2400" dirty="0">
                        <a:latin typeface="Calibri"/>
                        <a:ea typeface="Times New Roman"/>
                        <a:cs typeface="Times New Roman"/>
                      </a:endParaRP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1"/>
                  </a:ext>
                </a:extLst>
              </a:tr>
              <a:tr h="510321">
                <a:tc>
                  <a:txBody>
                    <a:bodyPr/>
                    <a:lstStyle/>
                    <a:p>
                      <a:pPr marL="0" marR="0">
                        <a:lnSpc>
                          <a:spcPct val="115000"/>
                        </a:lnSpc>
                        <a:spcBef>
                          <a:spcPts val="0"/>
                        </a:spcBef>
                        <a:spcAft>
                          <a:spcPts val="1000"/>
                        </a:spcAft>
                      </a:pPr>
                      <a:endParaRPr lang="en-US" sz="2400" dirty="0">
                        <a:latin typeface="Calibri"/>
                        <a:ea typeface="Calibri"/>
                        <a:cs typeface="Times New Roman"/>
                      </a:endParaRP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endParaRPr lang="en-US" sz="2400" dirty="0">
                        <a:latin typeface="Calibri"/>
                        <a:ea typeface="Times New Roman"/>
                        <a:cs typeface="Times New Roman"/>
                      </a:endParaRP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2"/>
                  </a:ext>
                </a:extLst>
              </a:tr>
              <a:tr h="510321">
                <a:tc>
                  <a:txBody>
                    <a:bodyPr/>
                    <a:lstStyle/>
                    <a:p>
                      <a:pPr marL="0" marR="0">
                        <a:lnSpc>
                          <a:spcPct val="115000"/>
                        </a:lnSpc>
                        <a:spcBef>
                          <a:spcPts val="0"/>
                        </a:spcBef>
                        <a:spcAft>
                          <a:spcPts val="1000"/>
                        </a:spcAft>
                      </a:pPr>
                      <a:endParaRPr lang="en-US" sz="2400" dirty="0">
                        <a:latin typeface="Calibri"/>
                        <a:ea typeface="Calibri"/>
                        <a:cs typeface="Times New Roman"/>
                      </a:endParaRP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endParaRPr lang="en-US" sz="2400" dirty="0">
                        <a:latin typeface="Calibri"/>
                        <a:ea typeface="Times New Roman"/>
                        <a:cs typeface="Times New Roman"/>
                      </a:endParaRP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3"/>
                  </a:ext>
                </a:extLst>
              </a:tr>
              <a:tr h="510321">
                <a:tc>
                  <a:txBody>
                    <a:bodyPr/>
                    <a:lstStyle/>
                    <a:p>
                      <a:pPr marL="0" marR="0">
                        <a:lnSpc>
                          <a:spcPct val="115000"/>
                        </a:lnSpc>
                        <a:spcBef>
                          <a:spcPts val="0"/>
                        </a:spcBef>
                        <a:spcAft>
                          <a:spcPts val="1000"/>
                        </a:spcAft>
                      </a:pPr>
                      <a:endParaRPr lang="en-US" sz="2400" dirty="0">
                        <a:latin typeface="Calibri"/>
                        <a:ea typeface="Calibri"/>
                        <a:cs typeface="Times New Roman"/>
                      </a:endParaRP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endParaRPr lang="en-US" sz="2400" dirty="0">
                        <a:latin typeface="Calibri"/>
                        <a:ea typeface="Times New Roman"/>
                        <a:cs typeface="Times New Roman"/>
                      </a:endParaRP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304800" y="838201"/>
            <a:ext cx="8839200" cy="2666999"/>
          </a:xfrm>
          <a:prstGeom prst="rect">
            <a:avLst/>
          </a:prstGeom>
        </p:spPr>
        <p:txBody>
          <a:bodyPr wrap="square">
            <a:spAutoFit/>
          </a:bodyPr>
          <a:lstStyle/>
          <a:p>
            <a:pPr>
              <a:buFont typeface="Wingdings" pitchFamily="2" charset="2"/>
              <a:buChar char="§"/>
            </a:pPr>
            <a:r>
              <a:rPr lang="en-US" dirty="0"/>
              <a:t>Every website has three main code sections: input logic, business logic, and user interface logic. The code has certain functions to perform, the input data is the dataset and how it is stored in the database. It is just a matter of delivering the input to the database in the desired format. The Business Logic is what controls the output of the server in HTML or another format. The HTML and CSS are the pages that it is written for.</a:t>
            </a:r>
          </a:p>
          <a:p>
            <a:pPr>
              <a:buFont typeface="Wingdings" pitchFamily="2" charset="2"/>
              <a:buChar char="§"/>
            </a:pPr>
            <a:r>
              <a:rPr lang="en-US" dirty="0"/>
              <a:t>MVC has a model, view, and controller. The Model is the information that your website/ application will be working with. The View is the presentation of the Model on your website/application. Finally, the Controller is the code that connects the View and Model together. In most cases, the Controller is the place where you will be writing your code.</a:t>
            </a:r>
          </a:p>
        </p:txBody>
      </p:sp>
      <p:pic>
        <p:nvPicPr>
          <p:cNvPr id="10" name="Picture 1" descr="C:\Users\mam\Desktop\Django-Architecture-550x559.png"/>
          <p:cNvPicPr>
            <a:picLocks noChangeAspect="1" noChangeArrowheads="1"/>
          </p:cNvPicPr>
          <p:nvPr/>
        </p:nvPicPr>
        <p:blipFill>
          <a:blip r:embed="rId3"/>
          <a:srcRect/>
          <a:stretch>
            <a:fillRect/>
          </a:stretch>
        </p:blipFill>
        <p:spPr bwMode="auto">
          <a:xfrm>
            <a:off x="1952952" y="3581400"/>
            <a:ext cx="5238096" cy="2509504"/>
          </a:xfrm>
          <a:prstGeom prst="rect">
            <a:avLst/>
          </a:prstGeom>
          <a:noFill/>
        </p:spPr>
      </p:pic>
    </p:spTree>
    <p:extLst>
      <p:ext uri="{BB962C8B-B14F-4D97-AF65-F5344CB8AC3E}">
        <p14:creationId xmlns:p14="http://schemas.microsoft.com/office/powerpoint/2010/main" val="40441199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4825"/>
                                        </p:tgtEl>
                                        <p:attrNameLst>
                                          <p:attrName>style.visibility</p:attrName>
                                        </p:attrNameLst>
                                      </p:cBhvr>
                                      <p:to>
                                        <p:strVal val="visible"/>
                                      </p:to>
                                    </p:set>
                                    <p:anim calcmode="lin" valueType="num">
                                      <p:cBhvr additive="base">
                                        <p:cTn id="7" dur="500" fill="hold"/>
                                        <p:tgtEl>
                                          <p:spTgt spid="34825"/>
                                        </p:tgtEl>
                                        <p:attrNameLst>
                                          <p:attrName>ppt_x</p:attrName>
                                        </p:attrNameLst>
                                      </p:cBhvr>
                                      <p:tavLst>
                                        <p:tav tm="0">
                                          <p:val>
                                            <p:strVal val="#ppt_x"/>
                                          </p:val>
                                        </p:tav>
                                        <p:tav tm="100000">
                                          <p:val>
                                            <p:strVal val="#ppt_x"/>
                                          </p:val>
                                        </p:tav>
                                      </p:tavLst>
                                    </p:anim>
                                    <p:anim calcmode="lin" valueType="num">
                                      <p:cBhvr additive="base">
                                        <p:cTn id="8" dur="500" fill="hold"/>
                                        <p:tgtEl>
                                          <p:spTgt spid="348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A90AEA0-9400-4C22-8A78-FD060917B671}"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072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D45A2CA-2195-4218-BFC8-0298D1E896E6}" type="slidenum">
              <a:rPr lang="en-US" altLang="en-US">
                <a:solidFill>
                  <a:srgbClr val="898989"/>
                </a:solidFill>
                <a:latin typeface="Calibri" panose="020F0502020204030204" pitchFamily="34" charset="0"/>
              </a:rPr>
              <a:pPr/>
              <a:t>19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Architecture(continue…)</a:t>
            </a:r>
          </a:p>
        </p:txBody>
      </p:sp>
      <p:sp>
        <p:nvSpPr>
          <p:cNvPr id="3072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8849" name="Rectangle 1"/>
          <p:cNvSpPr>
            <a:spLocks noChangeArrowheads="1"/>
          </p:cNvSpPr>
          <p:nvPr/>
        </p:nvSpPr>
        <p:spPr bwMode="auto">
          <a:xfrm>
            <a:off x="228600" y="914400"/>
            <a:ext cx="11800114" cy="2621190"/>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r>
              <a:rPr lang="en-US" b="1" dirty="0"/>
              <a:t>Model</a:t>
            </a:r>
          </a:p>
          <a:p>
            <a:r>
              <a:rPr lang="en-US" dirty="0"/>
              <a:t>The model is responsible for handling all data-related tasks. It can be a table in a database, a JSON file, or anything else. The model takes the data from where it is stored and then processes it before sending it to the view. If the model needs to be changed, it is done in a single place. In a web-based application, the model is the place where data is transformed from one format to another.</a:t>
            </a:r>
          </a:p>
          <a:p>
            <a:r>
              <a:rPr lang="en-US" b="1" dirty="0"/>
              <a:t>View</a:t>
            </a:r>
          </a:p>
          <a:p>
            <a:r>
              <a:rPr lang="en-US" dirty="0"/>
              <a:t>The View component in the Django architecture is used to display the data from the Model component. It can also be used to collect data from the user and send it to the Model as a form input. In this way, the View component contains the UI logic. Examples of UI logic can be found in JavaScript code for animations, visualizations, and other interactive elements.</a:t>
            </a:r>
          </a:p>
        </p:txBody>
      </p:sp>
    </p:spTree>
    <p:extLst>
      <p:ext uri="{BB962C8B-B14F-4D97-AF65-F5344CB8AC3E}">
        <p14:creationId xmlns:p14="http://schemas.microsoft.com/office/powerpoint/2010/main" val="2415643900"/>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C8B140C-B2C7-4C36-97CF-0A21B6C8F75F}"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174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BB6F79D-E4C1-4A1B-A47E-5D4DE5A70319}" type="slidenum">
              <a:rPr lang="en-US" altLang="en-US">
                <a:solidFill>
                  <a:srgbClr val="898989"/>
                </a:solidFill>
                <a:latin typeface="Calibri" panose="020F0502020204030204" pitchFamily="34" charset="0"/>
              </a:rPr>
              <a:pPr/>
              <a:t>20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a:t>
            </a:r>
            <a:r>
              <a:rPr lang="en-US" sz="2400" b="1" dirty="0"/>
              <a:t>Django Architecture(continue…)</a:t>
            </a:r>
          </a:p>
          <a:p>
            <a:endParaRPr lang="en-US" sz="3200" dirty="0"/>
          </a:p>
        </p:txBody>
      </p:sp>
      <p:sp>
        <p:nvSpPr>
          <p:cNvPr id="3175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38920" name="TextBox 8"/>
          <p:cNvSpPr txBox="1">
            <a:spLocks noChangeArrowheads="1"/>
          </p:cNvSpPr>
          <p:nvPr/>
        </p:nvSpPr>
        <p:spPr bwMode="auto">
          <a:xfrm>
            <a:off x="2514600" y="1066801"/>
            <a:ext cx="533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Times New Roman" panose="02020603050405020304" pitchFamily="18" charset="0"/>
                <a:cs typeface="Times New Roman" panose="02020603050405020304" pitchFamily="18" charset="0"/>
              </a:rPr>
              <a:t> </a:t>
            </a:r>
            <a:endParaRPr lang="en-US" altLang="en-US" sz="2200" b="1" dirty="0">
              <a:latin typeface="Times New Roman" panose="02020603050405020304" pitchFamily="18" charset="0"/>
              <a:cs typeface="Times New Roman" panose="02020603050405020304" pitchFamily="18" charset="0"/>
            </a:endParaRPr>
          </a:p>
          <a:p>
            <a:pPr algn="just" eaLnBrk="1" hangingPunct="1"/>
            <a:endParaRPr lang="en-IN" altLang="en-US" sz="2400" u="sng" dirty="0"/>
          </a:p>
        </p:txBody>
      </p:sp>
      <p:sp>
        <p:nvSpPr>
          <p:cNvPr id="76801" name="Rectangle 1"/>
          <p:cNvSpPr>
            <a:spLocks noChangeArrowheads="1"/>
          </p:cNvSpPr>
          <p:nvPr/>
        </p:nvSpPr>
        <p:spPr bwMode="auto">
          <a:xfrm>
            <a:off x="533400" y="914400"/>
            <a:ext cx="11277600" cy="4801314"/>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45720" rIns="0" bIns="45720" numCol="1" anchor="ctr" anchorCtr="0" compatLnSpc="1">
            <a:prstTxWarp prst="textNoShape">
              <a:avLst/>
            </a:prstTxWarp>
            <a:spAutoFit/>
          </a:bodyPr>
          <a:lstStyle/>
          <a:p>
            <a:r>
              <a:rPr lang="en-US" b="1" dirty="0"/>
              <a:t>Controller</a:t>
            </a:r>
          </a:p>
          <a:p>
            <a:pPr>
              <a:buFont typeface="Wingdings" pitchFamily="2" charset="2"/>
              <a:buChar char="§"/>
            </a:pPr>
            <a:r>
              <a:rPr lang="en-US" dirty="0"/>
              <a:t>Since the controller decides which view to display, it has the power to manipulate the view’s model. In this way, it can apply any logic and rules to the view’s model. The controller also determines how to display the view and how to respond to user input. It can manipulate the view’s model for this purpose as well. Since the view’s model is an abstraction of the data model, the controller can manipulate the view’s model in any way it wants. It can also choose not to manipulate the model, but rather display the data as it is. This is useful in cases where the model’s data is sensitive and must be displayed exactly as it is. We can say that the controller is the one that decides when and what needs to be displayed. Controllers are very helpful in keeping our code DRY, maintainable, and scalable. We can also have more than one controller in a single application.</a:t>
            </a:r>
          </a:p>
          <a:p>
            <a:pPr>
              <a:buFont typeface="Wingdings" pitchFamily="2" charset="2"/>
              <a:buChar char="§"/>
            </a:pPr>
            <a:r>
              <a:rPr lang="en-US" b="1" dirty="0"/>
              <a:t>Django MTV Pattern</a:t>
            </a:r>
          </a:p>
          <a:p>
            <a:r>
              <a:rPr lang="en-US" dirty="0"/>
              <a:t>The web browser requests the page. When the page is received, the data is displayed in the placeholders on the page. The response is then sent back to the client, ending the session and blocking further requests for a few moments. The next time the client browses to the same URL, the application will be ready and a new session will start. This is how traditional web applications work. Traditional web applications are hard to change. If the business requirements change, the application is usually too big to change. If the marketing requirements change, the application is usually too big to change.</a:t>
            </a:r>
          </a:p>
          <a:p>
            <a:r>
              <a:rPr lang="en-US" dirty="0"/>
              <a:t>Separate files are used to handle each of these steps in a Django web application.</a:t>
            </a:r>
          </a:p>
        </p:txBody>
      </p:sp>
    </p:spTree>
    <p:extLst>
      <p:ext uri="{BB962C8B-B14F-4D97-AF65-F5344CB8AC3E}">
        <p14:creationId xmlns:p14="http://schemas.microsoft.com/office/powerpoint/2010/main" val="8412503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20"/>
                                        </p:tgtEl>
                                        <p:attrNameLst>
                                          <p:attrName>style.visibility</p:attrName>
                                        </p:attrNameLst>
                                      </p:cBhvr>
                                      <p:to>
                                        <p:strVal val="visible"/>
                                      </p:to>
                                    </p:set>
                                    <p:anim calcmode="lin" valueType="num">
                                      <p:cBhvr additive="base">
                                        <p:cTn id="7" dur="500" fill="hold"/>
                                        <p:tgtEl>
                                          <p:spTgt spid="38920"/>
                                        </p:tgtEl>
                                        <p:attrNameLst>
                                          <p:attrName>ppt_x</p:attrName>
                                        </p:attrNameLst>
                                      </p:cBhvr>
                                      <p:tavLst>
                                        <p:tav tm="0">
                                          <p:val>
                                            <p:strVal val="#ppt_x"/>
                                          </p:val>
                                        </p:tav>
                                        <p:tav tm="100000">
                                          <p:val>
                                            <p:strVal val="#ppt_x"/>
                                          </p:val>
                                        </p:tav>
                                      </p:tavLst>
                                    </p:anim>
                                    <p:anim calcmode="lin" valueType="num">
                                      <p:cBhvr additive="base">
                                        <p:cTn id="8"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277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47B820-A8D2-42C0-B479-0B3A052CC349}" type="slidenum">
              <a:rPr lang="en-US" altLang="en-US">
                <a:solidFill>
                  <a:srgbClr val="898989"/>
                </a:solidFill>
                <a:latin typeface="Calibri" panose="020F0502020204030204" pitchFamily="34" charset="0"/>
              </a:rPr>
              <a:pPr/>
              <a:t>21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Architecture(continue…)</a:t>
            </a:r>
          </a:p>
        </p:txBody>
      </p:sp>
      <p:sp>
        <p:nvSpPr>
          <p:cNvPr id="3277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2" name="Date Placeholder 1"/>
          <p:cNvSpPr>
            <a:spLocks noGrp="1"/>
          </p:cNvSpPr>
          <p:nvPr>
            <p:ph type="dt" sz="half" idx="10"/>
          </p:nvPr>
        </p:nvSpPr>
        <p:spPr/>
        <p:txBody>
          <a:bodyPr/>
          <a:lstStyle/>
          <a:p>
            <a:fld id="{6874A327-6E8E-4842-AB80-2192A2B8405D}" type="datetime1">
              <a:rPr lang="en-US" smtClean="0"/>
              <a:t>9/30/2024</a:t>
            </a:fld>
            <a:endParaRPr lang="en-US"/>
          </a:p>
        </p:txBody>
      </p:sp>
      <p:sp>
        <p:nvSpPr>
          <p:cNvPr id="9" name="Rectangle 8"/>
          <p:cNvSpPr/>
          <p:nvPr/>
        </p:nvSpPr>
        <p:spPr>
          <a:xfrm>
            <a:off x="609600" y="914400"/>
            <a:ext cx="10439400" cy="4801314"/>
          </a:xfrm>
          <a:prstGeom prst="rect">
            <a:avLst/>
          </a:prstGeom>
          <a:ln>
            <a:solidFill>
              <a:schemeClr val="tx1"/>
            </a:solidFill>
            <a:prstDash val="solid"/>
          </a:ln>
        </p:spPr>
        <p:txBody>
          <a:bodyPr wrap="square">
            <a:spAutoFit/>
          </a:bodyPr>
          <a:lstStyle/>
          <a:p>
            <a:r>
              <a:rPr lang="en-US" b="1" dirty="0"/>
              <a:t>URLs: </a:t>
            </a:r>
            <a:r>
              <a:rPr lang="en-US" dirty="0"/>
              <a:t>View functions can be used to handle HTTP requests in a more efficient manner by processing each resource individually. URLs, on the other hand, can be processed collectively via a single function. View functions may handle each resource individually by processing URLs individually. View functions may also receive data from a URL </a:t>
            </a:r>
            <a:r>
              <a:rPr lang="en-US" dirty="0" err="1"/>
              <a:t>mapper</a:t>
            </a:r>
            <a:r>
              <a:rPr lang="en-US" dirty="0"/>
              <a:t> that matches certain literal strings or characters in a URL and passes them on as data.</a:t>
            </a:r>
          </a:p>
          <a:p>
            <a:r>
              <a:rPr lang="en-US" b="1" dirty="0"/>
              <a:t>View:</a:t>
            </a:r>
            <a:r>
              <a:rPr lang="en-US" dirty="0"/>
              <a:t> A view can be based on a database, an application, or any other source of information, and it is typically separate from the code that receives and responds to HTTP requests. When you send an HTTP request to an application, the code that handles that request might be on the same physical machine as the application code. This might not be the case for a high volume of requests. For example, a web application that runs on a cloud infrastructure might have a single virtual host running on a single physical machine. In this case, the code that handles requests might not be on the same physical machine as the code that receives the requests.</a:t>
            </a:r>
          </a:p>
          <a:p>
            <a:r>
              <a:rPr lang="en-US" b="1" dirty="0"/>
              <a:t>Models:</a:t>
            </a:r>
            <a:r>
              <a:rPr lang="en-US" dirty="0"/>
              <a:t> Data structure and database application methodologies are defined by a model.</a:t>
            </a:r>
          </a:p>
          <a:p>
            <a:r>
              <a:rPr lang="en-US" b="1" dirty="0"/>
              <a:t>Templates:</a:t>
            </a:r>
            <a:r>
              <a:rPr lang="en-US" dirty="0"/>
              <a:t> An HTML template text file defines the structure or layout of a file (for example, an HTML page) with placeholder text representing actual content. A model can be used to dynamically populate an HTML page with data from a view, producing a view. A template may be used to define the structure of any kind of file, not just HTML.</a:t>
            </a:r>
          </a:p>
          <a:p>
            <a:endParaRPr lang="en-US" dirty="0"/>
          </a:p>
        </p:txBody>
      </p:sp>
    </p:spTree>
    <p:extLst>
      <p:ext uri="{BB962C8B-B14F-4D97-AF65-F5344CB8AC3E}">
        <p14:creationId xmlns:p14="http://schemas.microsoft.com/office/powerpoint/2010/main" val="3543270108"/>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5E6A989-2370-4C72-810D-D9E849AD6B1B}"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379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9A5823-33FB-4E6C-B22A-326E52BDD863}" type="slidenum">
              <a:rPr lang="en-US" altLang="en-US">
                <a:solidFill>
                  <a:srgbClr val="898989"/>
                </a:solidFill>
                <a:latin typeface="Calibri" panose="020F0502020204030204" pitchFamily="34" charset="0"/>
              </a:rPr>
              <a:pPr/>
              <a:t>22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Benefits of Django Architecture</a:t>
            </a:r>
          </a:p>
        </p:txBody>
      </p:sp>
      <p:sp>
        <p:nvSpPr>
          <p:cNvPr id="3379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2705" name="Rectangle 1"/>
          <p:cNvSpPr>
            <a:spLocks noChangeArrowheads="1"/>
          </p:cNvSpPr>
          <p:nvPr/>
        </p:nvSpPr>
        <p:spPr bwMode="auto">
          <a:xfrm>
            <a:off x="152400" y="878697"/>
            <a:ext cx="11963400" cy="4062651"/>
          </a:xfrm>
          <a:prstGeom prst="rect">
            <a:avLst/>
          </a:prstGeom>
          <a:solidFill>
            <a:schemeClr val="tx2">
              <a:lumMod val="40000"/>
              <a:lumOff val="60000"/>
            </a:schemeClr>
          </a:solidFill>
          <a:ln w="127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r>
              <a:rPr lang="en-US" dirty="0"/>
              <a:t>The Django framework utilizes this architecture and does not require complex code to communicate between all three of these components. That is why Django is becoming popular.</a:t>
            </a:r>
          </a:p>
          <a:p>
            <a:r>
              <a:rPr lang="en-US" b="1" dirty="0"/>
              <a:t>Rapid Development:</a:t>
            </a:r>
            <a:r>
              <a:rPr lang="en-US" dirty="0"/>
              <a:t> It’s also one of </a:t>
            </a:r>
            <a:r>
              <a:rPr lang="en-US" dirty="0" err="1"/>
              <a:t>Django’s</a:t>
            </a:r>
            <a:r>
              <a:rPr lang="en-US" dirty="0"/>
              <a:t> advantages that multiple developers can work on different aspects of the same application simultaneously. In fact, </a:t>
            </a:r>
            <a:r>
              <a:rPr lang="en-US" dirty="0" err="1"/>
              <a:t>Django’s</a:t>
            </a:r>
            <a:r>
              <a:rPr lang="en-US" dirty="0"/>
              <a:t> architecture, which separates components, makes it simple for multiple developers to work on different aspects of the same application simultaneously.</a:t>
            </a:r>
          </a:p>
          <a:p>
            <a:r>
              <a:rPr lang="en-US" b="1" dirty="0"/>
              <a:t>Loosely Coupled:</a:t>
            </a:r>
            <a:r>
              <a:rPr lang="en-US" dirty="0"/>
              <a:t> Every part of </a:t>
            </a:r>
            <a:r>
              <a:rPr lang="en-US" dirty="0" err="1"/>
              <a:t>Django’s</a:t>
            </a:r>
            <a:r>
              <a:rPr lang="en-US" dirty="0"/>
              <a:t> architecture must be present in order to maintain a high level of website security. Because the model file will now be stored only on our server rather than on the webpage.</a:t>
            </a:r>
          </a:p>
          <a:p>
            <a:r>
              <a:rPr lang="en-US" b="1" dirty="0"/>
              <a:t>Ease of Modification:</a:t>
            </a:r>
            <a:r>
              <a:rPr lang="en-US" dirty="0"/>
              <a:t> The significance of this element of Django architecture is that we don’t have to modify other components if there are alterations in different components. The advantage of using Django is that it gives us much more flexibility in designing our website than other frameworks.</a:t>
            </a:r>
          </a:p>
          <a:p>
            <a:r>
              <a:rPr lang="en-US" b="1" dirty="0"/>
              <a:t>Conclusion</a:t>
            </a:r>
          </a:p>
          <a:p>
            <a:r>
              <a:rPr lang="en-US" dirty="0"/>
              <a:t>Django is a popular Content Management System (CMS) and web framework that uses Python to build web applications. Django provides a flexible, scalable architecture that makes it easy to build maintainable and secure applications.</a:t>
            </a:r>
          </a:p>
          <a:p>
            <a:pPr fontAlgn="base">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2400" dirty="0"/>
          </a:p>
        </p:txBody>
      </p:sp>
    </p:spTree>
    <p:extLst>
      <p:ext uri="{BB962C8B-B14F-4D97-AF65-F5344CB8AC3E}">
        <p14:creationId xmlns:p14="http://schemas.microsoft.com/office/powerpoint/2010/main" val="1124385451"/>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C7128ED-42A7-4F71-B421-5F10009D2939}"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482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F23960-EC90-4B32-8626-4614139F0773}" type="slidenum">
              <a:rPr lang="en-US" altLang="en-US">
                <a:solidFill>
                  <a:srgbClr val="898989"/>
                </a:solidFill>
                <a:latin typeface="Calibri" panose="020F0502020204030204" pitchFamily="34" charset="0"/>
              </a:rPr>
              <a:pPr/>
              <a:t>23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 Creating Views</a:t>
            </a:r>
          </a:p>
          <a:p>
            <a:endParaRPr lang="en-US" sz="3200" b="1" dirty="0"/>
          </a:p>
        </p:txBody>
      </p:sp>
      <p:sp>
        <p:nvSpPr>
          <p:cNvPr id="3482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0657" name="Rectangle 1"/>
          <p:cNvSpPr>
            <a:spLocks noChangeArrowheads="1"/>
          </p:cNvSpPr>
          <p:nvPr/>
        </p:nvSpPr>
        <p:spPr bwMode="auto">
          <a:xfrm>
            <a:off x="685800" y="1219200"/>
            <a:ext cx="11201400" cy="3611245"/>
          </a:xfrm>
          <a:prstGeom prst="rect">
            <a:avLst/>
          </a:prstGeom>
          <a:solidFill>
            <a:schemeClr val="tx2">
              <a:lumMod val="40000"/>
              <a:lumOff val="60000"/>
            </a:schemeClr>
          </a:solidFill>
          <a:ln w="127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571500" lvl="1" indent="0">
              <a:spcBef>
                <a:spcPts val="363"/>
              </a:spcBef>
              <a:buClr>
                <a:srgbClr val="000000"/>
              </a:buClr>
              <a:buNone/>
            </a:pPr>
            <a:r>
              <a:rPr lang="en-US" dirty="0"/>
              <a:t>A view function, or “view” for short, is simply a Python function that takes a web request and returns a web response. This response can be the HTML contents of a Web page, or a redirect, or a 404 error, or an XML document, or an image, etc. Example: You use view to create web pages, note that you need to associate a view to a URL to see it as a web page</a:t>
            </a:r>
            <a:r>
              <a:rPr lang="en-US" sz="2400" dirty="0"/>
              <a:t>.</a:t>
            </a:r>
          </a:p>
          <a:p>
            <a:pPr marL="571500" lvl="1" indent="0">
              <a:spcBef>
                <a:spcPts val="363"/>
              </a:spcBef>
              <a:buClr>
                <a:srgbClr val="000000"/>
              </a:buClr>
              <a:buNone/>
            </a:pPr>
            <a:r>
              <a:rPr lang="en-US" dirty="0"/>
              <a:t>In Django, views have to be created in the app views.py file.</a:t>
            </a:r>
          </a:p>
          <a:p>
            <a:pPr marL="571500" lvl="1" indent="0">
              <a:spcBef>
                <a:spcPts val="363"/>
              </a:spcBef>
              <a:buClr>
                <a:srgbClr val="000000"/>
              </a:buClr>
              <a:buNone/>
            </a:pPr>
            <a:r>
              <a:rPr lang="en-US" b="1" dirty="0"/>
              <a:t>Simple View</a:t>
            </a:r>
          </a:p>
          <a:p>
            <a:r>
              <a:rPr lang="en-US" dirty="0"/>
              <a:t>We will create a simple view in </a:t>
            </a:r>
            <a:r>
              <a:rPr lang="en-US" dirty="0" err="1"/>
              <a:t>myapp</a:t>
            </a:r>
            <a:r>
              <a:rPr lang="en-US" dirty="0"/>
              <a:t> to say "welcome to my app!"</a:t>
            </a:r>
          </a:p>
          <a:p>
            <a:r>
              <a:rPr lang="en-US" dirty="0"/>
              <a:t>See the following view −</a:t>
            </a:r>
          </a:p>
          <a:p>
            <a:r>
              <a:rPr lang="en-US" dirty="0"/>
              <a:t>from </a:t>
            </a:r>
            <a:r>
              <a:rPr lang="en-US" dirty="0" err="1"/>
              <a:t>django.http</a:t>
            </a:r>
            <a:r>
              <a:rPr lang="en-US" dirty="0"/>
              <a:t> import </a:t>
            </a:r>
            <a:r>
              <a:rPr lang="en-US" dirty="0" err="1"/>
              <a:t>HttpResponse</a:t>
            </a:r>
            <a:r>
              <a:rPr lang="en-US" dirty="0"/>
              <a:t> </a:t>
            </a:r>
          </a:p>
          <a:p>
            <a:r>
              <a:rPr lang="en-US" dirty="0"/>
              <a:t>def hello(request): </a:t>
            </a:r>
          </a:p>
          <a:p>
            <a:r>
              <a:rPr lang="en-US" dirty="0"/>
              <a:t>text = """&lt;h1&gt;welcome to my app !&lt;/h1&gt;""" </a:t>
            </a:r>
          </a:p>
          <a:p>
            <a:r>
              <a:rPr lang="en-US" dirty="0"/>
              <a:t>return </a:t>
            </a:r>
            <a:r>
              <a:rPr lang="en-US" dirty="0" err="1"/>
              <a:t>HttpResponse</a:t>
            </a:r>
            <a:r>
              <a:rPr lang="en-US" dirty="0"/>
              <a:t>(text)</a:t>
            </a:r>
            <a:endParaRPr lang="en-US" altLang="en-US"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Tree>
    <p:extLst>
      <p:ext uri="{BB962C8B-B14F-4D97-AF65-F5344CB8AC3E}">
        <p14:creationId xmlns:p14="http://schemas.microsoft.com/office/powerpoint/2010/main" val="3682904167"/>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A921220-F75F-439F-944D-C0F41081302E}"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584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9433E0-5C00-4205-8B0F-A2EAB7FEA952}" type="slidenum">
              <a:rPr lang="en-US" altLang="en-US">
                <a:solidFill>
                  <a:srgbClr val="898989"/>
                </a:solidFill>
                <a:latin typeface="Calibri" panose="020F0502020204030204" pitchFamily="34" charset="0"/>
              </a:rPr>
              <a:pPr/>
              <a:t>24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 Creating Views</a:t>
            </a:r>
          </a:p>
        </p:txBody>
      </p:sp>
      <p:sp>
        <p:nvSpPr>
          <p:cNvPr id="3584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47113" name="TextBox 9"/>
          <p:cNvSpPr txBox="1">
            <a:spLocks noChangeArrowheads="1"/>
          </p:cNvSpPr>
          <p:nvPr/>
        </p:nvSpPr>
        <p:spPr bwMode="auto">
          <a:xfrm>
            <a:off x="3581400" y="1676400"/>
            <a:ext cx="541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10" name="Rectangle 9"/>
          <p:cNvSpPr/>
          <p:nvPr/>
        </p:nvSpPr>
        <p:spPr>
          <a:xfrm>
            <a:off x="457200" y="1066800"/>
            <a:ext cx="11430000" cy="3139321"/>
          </a:xfrm>
          <a:prstGeom prst="rect">
            <a:avLst/>
          </a:prstGeom>
          <a:solidFill>
            <a:schemeClr val="tx2">
              <a:lumMod val="40000"/>
              <a:lumOff val="60000"/>
            </a:schemeClr>
          </a:solidFill>
          <a:ln w="6350">
            <a:solidFill>
              <a:schemeClr val="tx1"/>
            </a:solidFill>
          </a:ln>
        </p:spPr>
        <p:txBody>
          <a:bodyPr wrap="square">
            <a:spAutoFit/>
          </a:bodyPr>
          <a:lstStyle/>
          <a:p>
            <a:pPr>
              <a:buNone/>
            </a:pPr>
            <a:r>
              <a:rPr lang="en-US" dirty="0"/>
              <a:t>In this view, we use Http Response to render the HTML </a:t>
            </a:r>
          </a:p>
          <a:p>
            <a:r>
              <a:rPr lang="en-US" dirty="0"/>
              <a:t>Django supports the MVT pattern so to make the precedent view, Django - MVT like, we will need −</a:t>
            </a:r>
          </a:p>
          <a:p>
            <a:r>
              <a:rPr lang="en-US" dirty="0"/>
              <a:t>A template: </a:t>
            </a:r>
            <a:r>
              <a:rPr lang="en-US" dirty="0" err="1"/>
              <a:t>myapp</a:t>
            </a:r>
            <a:r>
              <a:rPr lang="en-US" dirty="0"/>
              <a:t>/templates/hello.html</a:t>
            </a:r>
          </a:p>
          <a:p>
            <a:r>
              <a:rPr lang="en-US" dirty="0"/>
              <a:t>And now our view will look like −</a:t>
            </a:r>
          </a:p>
          <a:p>
            <a:r>
              <a:rPr lang="en-US" dirty="0"/>
              <a:t>from </a:t>
            </a:r>
            <a:r>
              <a:rPr lang="en-US" dirty="0" err="1"/>
              <a:t>django.shortcuts</a:t>
            </a:r>
            <a:r>
              <a:rPr lang="en-US" dirty="0"/>
              <a:t> import render def hello(request): return render(request, "</a:t>
            </a:r>
            <a:r>
              <a:rPr lang="en-US" dirty="0" err="1"/>
              <a:t>myapp</a:t>
            </a:r>
            <a:r>
              <a:rPr lang="en-US" dirty="0"/>
              <a:t>/template/hello.html", {})</a:t>
            </a:r>
          </a:p>
          <a:p>
            <a:r>
              <a:rPr lang="en-US" dirty="0"/>
              <a:t>Views can also accept parameters −</a:t>
            </a:r>
          </a:p>
          <a:p>
            <a:r>
              <a:rPr lang="en-US" dirty="0"/>
              <a:t>from </a:t>
            </a:r>
            <a:r>
              <a:rPr lang="en-US" dirty="0" err="1"/>
              <a:t>django.http</a:t>
            </a:r>
            <a:r>
              <a:rPr lang="en-US" dirty="0"/>
              <a:t> import </a:t>
            </a:r>
            <a:r>
              <a:rPr lang="en-US" dirty="0" err="1"/>
              <a:t>HttpResponse</a:t>
            </a:r>
            <a:r>
              <a:rPr lang="en-US" dirty="0"/>
              <a:t> </a:t>
            </a:r>
          </a:p>
          <a:p>
            <a:r>
              <a:rPr lang="en-US" dirty="0"/>
              <a:t>def hello(request, number):</a:t>
            </a:r>
          </a:p>
          <a:p>
            <a:r>
              <a:rPr lang="en-US" dirty="0"/>
              <a:t> text = "&lt;h1&gt;welcome to my app number %s!&lt;/h1&gt;"% number </a:t>
            </a:r>
          </a:p>
          <a:p>
            <a:r>
              <a:rPr lang="en-US" dirty="0"/>
              <a:t>return </a:t>
            </a:r>
            <a:r>
              <a:rPr lang="en-US" dirty="0" err="1"/>
              <a:t>HttpResponse</a:t>
            </a:r>
            <a:r>
              <a:rPr lang="en-US" dirty="0"/>
              <a:t>(text)</a:t>
            </a:r>
          </a:p>
          <a:p>
            <a:r>
              <a:rPr lang="en-US" dirty="0"/>
              <a:t>When linked to a URL, the page will display the number passed as a parameter.</a:t>
            </a:r>
            <a:endParaRPr lang="en-US" altLang="en-US"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Tree>
    <p:extLst>
      <p:ext uri="{BB962C8B-B14F-4D97-AF65-F5344CB8AC3E}">
        <p14:creationId xmlns:p14="http://schemas.microsoft.com/office/powerpoint/2010/main" val="352132189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47113"/>
                                        </p:tgtEl>
                                        <p:attrNameLst>
                                          <p:attrName>style.visibility</p:attrName>
                                        </p:attrNameLst>
                                      </p:cBhvr>
                                      <p:to>
                                        <p:strVal val="visible"/>
                                      </p:to>
                                    </p:set>
                                    <p:animEffect transition="in" filter="circle(in)">
                                      <p:cBhvr>
                                        <p:cTn id="7"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0B39DA8-583E-4488-991E-1B8DBCC93EDB}"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686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F280F8-4D8B-49C9-A50B-F0E8971E98DE}" type="slidenum">
              <a:rPr lang="en-US" altLang="en-US">
                <a:solidFill>
                  <a:srgbClr val="898989"/>
                </a:solidFill>
                <a:latin typeface="Calibri" panose="020F0502020204030204" pitchFamily="34" charset="0"/>
              </a:rPr>
              <a:pPr/>
              <a:t>25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 URL Mapping</a:t>
            </a:r>
          </a:p>
        </p:txBody>
      </p:sp>
      <p:sp>
        <p:nvSpPr>
          <p:cNvPr id="3687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49161" name="TextBox 10"/>
          <p:cNvSpPr txBox="1">
            <a:spLocks noChangeArrowheads="1"/>
          </p:cNvSpPr>
          <p:nvPr/>
        </p:nvSpPr>
        <p:spPr bwMode="auto">
          <a:xfrm>
            <a:off x="2438400" y="1554164"/>
            <a:ext cx="4114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dirty="0"/>
            </a:br>
            <a:endParaRPr lang="en-US" altLang="en-US" dirty="0"/>
          </a:p>
        </p:txBody>
      </p:sp>
      <p:sp>
        <p:nvSpPr>
          <p:cNvPr id="49162" name="TextBox 11"/>
          <p:cNvSpPr txBox="1">
            <a:spLocks noChangeArrowheads="1"/>
          </p:cNvSpPr>
          <p:nvPr/>
        </p:nvSpPr>
        <p:spPr bwMode="auto">
          <a:xfrm>
            <a:off x="6781800" y="1295400"/>
            <a:ext cx="3581400"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sz="2200" dirty="0">
                <a:latin typeface="Times New Roman" panose="02020603050405020304" pitchFamily="18" charset="0"/>
                <a:cs typeface="Times New Roman" panose="02020603050405020304" pitchFamily="18" charset="0"/>
              </a:rPr>
            </a:br>
            <a:endParaRPr lang="en-GB"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66564" name="Rectangle 4"/>
          <p:cNvSpPr>
            <a:spLocks noChangeArrowheads="1"/>
          </p:cNvSpPr>
          <p:nvPr/>
        </p:nvSpPr>
        <p:spPr bwMode="auto">
          <a:xfrm rot="10800000" flipV="1">
            <a:off x="990600" y="1275938"/>
            <a:ext cx="10591800" cy="4524315"/>
          </a:xfrm>
          <a:prstGeom prst="rect">
            <a:avLst/>
          </a:prstGeom>
          <a:solidFill>
            <a:schemeClr val="tx2">
              <a:lumMod val="40000"/>
              <a:lumOff val="60000"/>
            </a:schemeClr>
          </a:solidFill>
          <a:ln w="1905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dirty="0">
                <a:cs typeface="Arial" pitchFamily="34" charset="0"/>
              </a:rPr>
              <a:t>Django has his own way for URL mapping and it's done by editing your project url.py file </a:t>
            </a:r>
            <a:r>
              <a:rPr lang="en-US" b="1" dirty="0">
                <a:cs typeface="Arial" pitchFamily="34" charset="0"/>
              </a:rPr>
              <a:t>(</a:t>
            </a:r>
            <a:r>
              <a:rPr lang="en-US" b="1" dirty="0" err="1">
                <a:cs typeface="Arial" pitchFamily="34" charset="0"/>
              </a:rPr>
              <a:t>myproject</a:t>
            </a:r>
            <a:r>
              <a:rPr lang="en-US" b="1" dirty="0">
                <a:cs typeface="Arial" pitchFamily="34" charset="0"/>
              </a:rPr>
              <a:t>/url.py)</a:t>
            </a:r>
            <a:r>
              <a:rPr lang="en-US" dirty="0">
                <a:cs typeface="Arial" pitchFamily="34" charset="0"/>
              </a:rPr>
              <a:t>. The url.py file looks like −</a:t>
            </a:r>
          </a:p>
          <a:p>
            <a:pPr lvl="0" eaLnBrk="0" fontAlgn="base" hangingPunct="0">
              <a:spcBef>
                <a:spcPct val="0"/>
              </a:spcBef>
              <a:spcAft>
                <a:spcPct val="0"/>
              </a:spcAft>
            </a:pPr>
            <a:r>
              <a:rPr lang="en-US" dirty="0">
                <a:cs typeface="Arial" pitchFamily="34" charset="0"/>
              </a:rPr>
              <a:t>from </a:t>
            </a:r>
            <a:r>
              <a:rPr lang="en-US" dirty="0" err="1">
                <a:cs typeface="Arial" pitchFamily="34" charset="0"/>
              </a:rPr>
              <a:t>django.conf.urls</a:t>
            </a:r>
            <a:r>
              <a:rPr lang="en-US" dirty="0">
                <a:cs typeface="Arial" pitchFamily="34" charset="0"/>
              </a:rPr>
              <a:t> import patterns, include, </a:t>
            </a:r>
            <a:r>
              <a:rPr lang="en-US" dirty="0" err="1">
                <a:cs typeface="Arial" pitchFamily="34" charset="0"/>
              </a:rPr>
              <a:t>url</a:t>
            </a:r>
            <a:endParaRPr lang="en-US" dirty="0">
              <a:cs typeface="Arial" pitchFamily="34" charset="0"/>
            </a:endParaRPr>
          </a:p>
          <a:p>
            <a:pPr lvl="0" eaLnBrk="0" fontAlgn="base" hangingPunct="0">
              <a:spcBef>
                <a:spcPct val="0"/>
              </a:spcBef>
              <a:spcAft>
                <a:spcPct val="0"/>
              </a:spcAft>
            </a:pPr>
            <a:r>
              <a:rPr lang="en-US" dirty="0">
                <a:cs typeface="Arial" pitchFamily="34" charset="0"/>
              </a:rPr>
              <a:t> from django.contrib import</a:t>
            </a:r>
          </a:p>
          <a:p>
            <a:pPr lvl="0" eaLnBrk="0" fontAlgn="base" hangingPunct="0">
              <a:spcBef>
                <a:spcPct val="0"/>
              </a:spcBef>
              <a:spcAft>
                <a:spcPct val="0"/>
              </a:spcAft>
            </a:pPr>
            <a:r>
              <a:rPr lang="en-US" dirty="0">
                <a:cs typeface="Arial" pitchFamily="34" charset="0"/>
              </a:rPr>
              <a:t>admin  admin.autodiscover()</a:t>
            </a:r>
          </a:p>
          <a:p>
            <a:pPr lvl="0" eaLnBrk="0" fontAlgn="base" hangingPunct="0">
              <a:spcBef>
                <a:spcPct val="0"/>
              </a:spcBef>
              <a:spcAft>
                <a:spcPct val="0"/>
              </a:spcAft>
            </a:pPr>
            <a:r>
              <a:rPr lang="en-US" dirty="0"/>
              <a:t>urlpatterns = patterns('', #Examples</a:t>
            </a:r>
          </a:p>
          <a:p>
            <a:pPr lvl="0" eaLnBrk="0" fontAlgn="base" hangingPunct="0">
              <a:spcBef>
                <a:spcPct val="0"/>
              </a:spcBef>
              <a:spcAft>
                <a:spcPct val="0"/>
              </a:spcAft>
            </a:pPr>
            <a:r>
              <a:rPr lang="en-US" dirty="0"/>
              <a:t> #</a:t>
            </a:r>
            <a:r>
              <a:rPr lang="en-US" dirty="0" err="1"/>
              <a:t>url</a:t>
            </a:r>
            <a:r>
              <a:rPr lang="en-US" dirty="0"/>
              <a:t>(r'^$', '</a:t>
            </a:r>
            <a:r>
              <a:rPr lang="en-US" dirty="0" err="1"/>
              <a:t>myproject.view.home</a:t>
            </a:r>
            <a:r>
              <a:rPr lang="en-US" dirty="0"/>
              <a:t>', name = 'home'), </a:t>
            </a:r>
          </a:p>
          <a:p>
            <a:pPr lvl="0" eaLnBrk="0" fontAlgn="base" hangingPunct="0">
              <a:spcBef>
                <a:spcPct val="0"/>
              </a:spcBef>
              <a:spcAft>
                <a:spcPct val="0"/>
              </a:spcAft>
            </a:pPr>
            <a:r>
              <a:rPr lang="en-US" dirty="0"/>
              <a:t>#</a:t>
            </a:r>
            <a:r>
              <a:rPr lang="en-US" dirty="0" err="1"/>
              <a:t>url</a:t>
            </a:r>
            <a:r>
              <a:rPr lang="en-US" dirty="0"/>
              <a:t>(</a:t>
            </a:r>
            <a:r>
              <a:rPr lang="en-US" dirty="0" err="1"/>
              <a:t>r'^blog</a:t>
            </a:r>
            <a:r>
              <a:rPr lang="en-US" dirty="0"/>
              <a:t>/', include('</a:t>
            </a:r>
            <a:r>
              <a:rPr lang="en-US" dirty="0" err="1"/>
              <a:t>blog.urls</a:t>
            </a:r>
            <a:r>
              <a:rPr lang="en-US" dirty="0"/>
              <a:t>')), </a:t>
            </a:r>
          </a:p>
          <a:p>
            <a:pPr lvl="0" eaLnBrk="0" fontAlgn="base" hangingPunct="0">
              <a:spcBef>
                <a:spcPct val="0"/>
              </a:spcBef>
              <a:spcAft>
                <a:spcPct val="0"/>
              </a:spcAft>
            </a:pPr>
            <a:r>
              <a:rPr lang="en-US" dirty="0" err="1"/>
              <a:t>url</a:t>
            </a:r>
            <a:r>
              <a:rPr lang="en-US" dirty="0"/>
              <a:t>(</a:t>
            </a:r>
            <a:r>
              <a:rPr lang="en-US" dirty="0" err="1"/>
              <a:t>r'^admin</a:t>
            </a:r>
            <a:r>
              <a:rPr lang="en-US" dirty="0"/>
              <a:t>', include(</a:t>
            </a:r>
            <a:r>
              <a:rPr lang="en-US" dirty="0" err="1"/>
              <a:t>admin.site.urls</a:t>
            </a:r>
            <a:r>
              <a:rPr lang="en-US" dirty="0"/>
              <a:t>)), )</a:t>
            </a:r>
            <a:r>
              <a:rPr lang="en-US" dirty="0">
                <a:cs typeface="Arial" pitchFamily="34" charset="0"/>
              </a:rPr>
              <a:t> </a:t>
            </a:r>
          </a:p>
          <a:p>
            <a:r>
              <a:rPr lang="en-US" dirty="0"/>
              <a:t>When a user makes a request for a page on your web app, Django controller takes over to look for the corresponding view via the url.py file, and then return the HTML response or a 404 not found error, if not found. In url.py, the most important thing is the </a:t>
            </a:r>
            <a:r>
              <a:rPr lang="en-US" b="1" dirty="0"/>
              <a:t>"urlpatterns"</a:t>
            </a:r>
            <a:r>
              <a:rPr lang="en-US" dirty="0"/>
              <a:t> </a:t>
            </a:r>
            <a:r>
              <a:rPr lang="en-US" dirty="0" err="1"/>
              <a:t>tuple</a:t>
            </a:r>
            <a:r>
              <a:rPr lang="en-US" dirty="0"/>
              <a:t>. It’s where you define the mapping between URLs and views. A mapping is a </a:t>
            </a:r>
            <a:r>
              <a:rPr lang="en-US" dirty="0" err="1"/>
              <a:t>tuple</a:t>
            </a:r>
            <a:r>
              <a:rPr lang="en-US" dirty="0"/>
              <a:t> in URL patterns like −</a:t>
            </a:r>
          </a:p>
          <a:p>
            <a:r>
              <a:rPr lang="en-US" dirty="0"/>
              <a:t>from </a:t>
            </a:r>
            <a:r>
              <a:rPr lang="en-US" dirty="0" err="1"/>
              <a:t>django.conf.urls</a:t>
            </a:r>
            <a:r>
              <a:rPr lang="en-US" dirty="0"/>
              <a:t> import patterns, include, </a:t>
            </a:r>
            <a:r>
              <a:rPr lang="en-US" dirty="0" err="1"/>
              <a:t>url</a:t>
            </a:r>
            <a:r>
              <a:rPr lang="en-US" dirty="0"/>
              <a:t> from django.contrib import admin admin.autodiscover() urlpatterns = patterns('', #Examples #</a:t>
            </a:r>
            <a:r>
              <a:rPr lang="en-US" dirty="0" err="1"/>
              <a:t>url</a:t>
            </a:r>
            <a:r>
              <a:rPr lang="en-US" dirty="0"/>
              <a:t>(r'^$', '</a:t>
            </a:r>
            <a:r>
              <a:rPr lang="en-US" dirty="0" err="1"/>
              <a:t>myproject.view.home</a:t>
            </a:r>
            <a:r>
              <a:rPr lang="en-US" dirty="0"/>
              <a:t>', name = 'home'), #</a:t>
            </a:r>
            <a:r>
              <a:rPr lang="en-US" dirty="0" err="1"/>
              <a:t>url</a:t>
            </a:r>
            <a:r>
              <a:rPr lang="en-US" dirty="0"/>
              <a:t>(</a:t>
            </a:r>
            <a:r>
              <a:rPr lang="en-US" dirty="0" err="1"/>
              <a:t>r'^blog</a:t>
            </a:r>
            <a:r>
              <a:rPr lang="en-US" dirty="0"/>
              <a:t>/', include('</a:t>
            </a:r>
            <a:r>
              <a:rPr lang="en-US" dirty="0" err="1"/>
              <a:t>blog.urls</a:t>
            </a:r>
            <a:r>
              <a:rPr lang="en-US" dirty="0"/>
              <a:t>')), </a:t>
            </a:r>
            <a:r>
              <a:rPr lang="en-US" dirty="0" err="1"/>
              <a:t>url</a:t>
            </a:r>
            <a:r>
              <a:rPr lang="en-US" dirty="0"/>
              <a:t>(</a:t>
            </a:r>
            <a:r>
              <a:rPr lang="en-US" dirty="0" err="1"/>
              <a:t>r'^admin</a:t>
            </a:r>
            <a:r>
              <a:rPr lang="en-US" dirty="0"/>
              <a:t>', include(</a:t>
            </a:r>
            <a:r>
              <a:rPr lang="en-US" dirty="0" err="1"/>
              <a:t>admin.site.urls</a:t>
            </a:r>
            <a:r>
              <a:rPr lang="en-US" dirty="0"/>
              <a:t>)), </a:t>
            </a:r>
            <a:r>
              <a:rPr lang="en-US" dirty="0" err="1"/>
              <a:t>url</a:t>
            </a:r>
            <a:r>
              <a:rPr lang="en-US" dirty="0"/>
              <a:t>(</a:t>
            </a:r>
            <a:r>
              <a:rPr lang="en-US" dirty="0" err="1"/>
              <a:t>r'^hello</a:t>
            </a:r>
            <a:r>
              <a:rPr lang="en-US" dirty="0"/>
              <a:t>/', '</a:t>
            </a:r>
            <a:r>
              <a:rPr lang="en-US" dirty="0" err="1"/>
              <a:t>myapp.views.hello</a:t>
            </a:r>
            <a:r>
              <a:rPr lang="en-US" dirty="0"/>
              <a:t>', name = 'hello'), )</a:t>
            </a:r>
            <a:endParaRPr lang="en-US" dirty="0">
              <a:cs typeface="Arial" pitchFamily="34" charset="0"/>
            </a:endParaRPr>
          </a:p>
        </p:txBody>
      </p:sp>
    </p:spTree>
    <p:extLst>
      <p:ext uri="{BB962C8B-B14F-4D97-AF65-F5344CB8AC3E}">
        <p14:creationId xmlns:p14="http://schemas.microsoft.com/office/powerpoint/2010/main" val="309895849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161"/>
                                        </p:tgtEl>
                                        <p:attrNameLst>
                                          <p:attrName>style.visibility</p:attrName>
                                        </p:attrNameLst>
                                      </p:cBhvr>
                                      <p:to>
                                        <p:strVal val="visible"/>
                                      </p:to>
                                    </p:set>
                                    <p:animEffect transition="in" filter="circle(in)">
                                      <p:cBhvr>
                                        <p:cTn id="7" dur="2000"/>
                                        <p:tgtEl>
                                          <p:spTgt spid="491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9162"/>
                                        </p:tgtEl>
                                        <p:attrNameLst>
                                          <p:attrName>style.visibility</p:attrName>
                                        </p:attrNameLst>
                                      </p:cBhvr>
                                      <p:to>
                                        <p:strVal val="visible"/>
                                      </p:to>
                                    </p:set>
                                    <p:animEffect transition="in" filter="circle(in)">
                                      <p:cBhvr>
                                        <p:cTn id="12" dur="2000"/>
                                        <p:tgtEl>
                                          <p:spTgt spid="49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1" grpId="0"/>
      <p:bldP spid="4916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p:cNvSpPr>
            <a:spLocks noGrp="1"/>
          </p:cNvSpPr>
          <p:nvPr>
            <p:ph idx="1"/>
          </p:nvPr>
        </p:nvSpPr>
        <p:spPr>
          <a:xfrm>
            <a:off x="1500051" y="1204913"/>
            <a:ext cx="10058400" cy="4800600"/>
          </a:xfrm>
          <a:solidFill>
            <a:schemeClr val="tx2">
              <a:lumMod val="40000"/>
              <a:lumOff val="60000"/>
            </a:schemeClr>
          </a:solidFill>
          <a:ln w="9525">
            <a:solidFill>
              <a:schemeClr val="tx1"/>
            </a:solidFill>
          </a:ln>
        </p:spPr>
        <p:txBody>
          <a:bodyPr>
            <a:normAutofit fontScale="47500" lnSpcReduction="20000"/>
          </a:bodyPr>
          <a:lstStyle/>
          <a:p>
            <a:pPr marL="571500" lvl="1" indent="0" algn="just">
              <a:spcBef>
                <a:spcPts val="363"/>
              </a:spcBef>
              <a:buClr>
                <a:srgbClr val="000000"/>
              </a:buClr>
              <a:buNone/>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r>
              <a:rPr lang="en-US" sz="3800" dirty="0"/>
              <a:t>When a user makes a request for a page on your web app, Django controller takes over to look for the corresponding view via the url.py file, and then return the HTML response or a 404 not found error, if not found. In url.py, the most important thing is the </a:t>
            </a:r>
            <a:r>
              <a:rPr lang="en-US" sz="3800" b="1" dirty="0"/>
              <a:t>"urlpatterns"</a:t>
            </a:r>
            <a:r>
              <a:rPr lang="en-US" sz="3800" dirty="0"/>
              <a:t> </a:t>
            </a:r>
            <a:r>
              <a:rPr lang="en-US" sz="3800" dirty="0" err="1"/>
              <a:t>tuple</a:t>
            </a:r>
            <a:r>
              <a:rPr lang="en-US" sz="3800" dirty="0"/>
              <a:t>. It’s where you define the mapping between URLs and views. A mapping is a </a:t>
            </a:r>
            <a:r>
              <a:rPr lang="en-US" sz="3800" dirty="0" err="1"/>
              <a:t>tuple</a:t>
            </a:r>
            <a:r>
              <a:rPr lang="en-US" sz="3800" dirty="0"/>
              <a:t> in URL patterns like −</a:t>
            </a:r>
          </a:p>
          <a:p>
            <a:r>
              <a:rPr lang="en-US" sz="3800" dirty="0"/>
              <a:t>from </a:t>
            </a:r>
            <a:r>
              <a:rPr lang="en-US" sz="3800" dirty="0" err="1"/>
              <a:t>django.conf.urls</a:t>
            </a:r>
            <a:r>
              <a:rPr lang="en-US" sz="3800" dirty="0"/>
              <a:t> import patterns, include, </a:t>
            </a:r>
            <a:r>
              <a:rPr lang="en-US" sz="3800" dirty="0" err="1"/>
              <a:t>url</a:t>
            </a:r>
            <a:r>
              <a:rPr lang="en-US" sz="3800" dirty="0"/>
              <a:t> from django.contrib import admin admin.autodiscover() urlpatterns = patterns('', #Examples #</a:t>
            </a:r>
            <a:r>
              <a:rPr lang="en-US" sz="3800" dirty="0" err="1"/>
              <a:t>url</a:t>
            </a:r>
            <a:r>
              <a:rPr lang="en-US" sz="3800" dirty="0"/>
              <a:t>(r'^$', '</a:t>
            </a:r>
            <a:r>
              <a:rPr lang="en-US" sz="3800" dirty="0" err="1"/>
              <a:t>myproject.view.home</a:t>
            </a:r>
            <a:r>
              <a:rPr lang="en-US" sz="3800" dirty="0"/>
              <a:t>', name = 'home'), #</a:t>
            </a:r>
            <a:r>
              <a:rPr lang="en-US" sz="3800" dirty="0" err="1"/>
              <a:t>url</a:t>
            </a:r>
            <a:r>
              <a:rPr lang="en-US" sz="3800" dirty="0"/>
              <a:t>(</a:t>
            </a:r>
            <a:r>
              <a:rPr lang="en-US" sz="3800" dirty="0" err="1"/>
              <a:t>r'^blog</a:t>
            </a:r>
            <a:r>
              <a:rPr lang="en-US" sz="3800" dirty="0"/>
              <a:t>/', include('</a:t>
            </a:r>
            <a:r>
              <a:rPr lang="en-US" sz="3800" dirty="0" err="1"/>
              <a:t>blog.urls</a:t>
            </a:r>
            <a:r>
              <a:rPr lang="en-US" sz="3800" dirty="0"/>
              <a:t>')), </a:t>
            </a:r>
            <a:r>
              <a:rPr lang="en-US" sz="3800" dirty="0" err="1"/>
              <a:t>url</a:t>
            </a:r>
            <a:r>
              <a:rPr lang="en-US" sz="3800" dirty="0"/>
              <a:t>(</a:t>
            </a:r>
            <a:r>
              <a:rPr lang="en-US" sz="3800" dirty="0" err="1"/>
              <a:t>r'^admin</a:t>
            </a:r>
            <a:r>
              <a:rPr lang="en-US" sz="3800" dirty="0"/>
              <a:t>', include(</a:t>
            </a:r>
            <a:r>
              <a:rPr lang="en-US" sz="3800" dirty="0" err="1"/>
              <a:t>admin.site.urls</a:t>
            </a:r>
            <a:r>
              <a:rPr lang="en-US" sz="3800" dirty="0"/>
              <a:t>)), </a:t>
            </a:r>
            <a:r>
              <a:rPr lang="en-US" sz="3800" dirty="0" err="1"/>
              <a:t>url</a:t>
            </a:r>
            <a:r>
              <a:rPr lang="en-US" sz="3800" dirty="0"/>
              <a:t>(</a:t>
            </a:r>
            <a:r>
              <a:rPr lang="en-US" sz="3800" dirty="0" err="1"/>
              <a:t>r'^hello</a:t>
            </a:r>
            <a:r>
              <a:rPr lang="en-US" sz="3800" dirty="0"/>
              <a:t>/', '</a:t>
            </a:r>
            <a:r>
              <a:rPr lang="en-US" sz="3800" dirty="0" err="1"/>
              <a:t>myapp.views.hello</a:t>
            </a:r>
            <a:r>
              <a:rPr lang="en-US" sz="3800" dirty="0"/>
              <a:t>', name = 'hello'), )</a:t>
            </a:r>
          </a:p>
          <a:p>
            <a:r>
              <a:rPr lang="en-US" sz="3800" dirty="0"/>
              <a:t>The marked line maps the URL "/home" to the hello view created in </a:t>
            </a:r>
            <a:r>
              <a:rPr lang="en-US" sz="3800" dirty="0" err="1"/>
              <a:t>myapp</a:t>
            </a:r>
            <a:r>
              <a:rPr lang="en-US" sz="3800" dirty="0"/>
              <a:t>/view.py file. As you can see above a mapping is composed of three elements −</a:t>
            </a:r>
          </a:p>
          <a:p>
            <a:r>
              <a:rPr lang="en-US" sz="3800" b="1" dirty="0"/>
              <a:t>The pattern</a:t>
            </a:r>
            <a:r>
              <a:rPr lang="en-US" sz="3800" dirty="0"/>
              <a:t> − A </a:t>
            </a:r>
            <a:r>
              <a:rPr lang="en-US" sz="3800" dirty="0" err="1"/>
              <a:t>regexp</a:t>
            </a:r>
            <a:r>
              <a:rPr lang="en-US" sz="3800" dirty="0"/>
              <a:t> matching the URL you want to be resolved and map. Everything that can work with the python 're' module is eligible for the pattern (useful when you want to pass parameters via </a:t>
            </a:r>
            <a:r>
              <a:rPr lang="en-US" sz="3800" dirty="0" err="1"/>
              <a:t>url</a:t>
            </a:r>
            <a:r>
              <a:rPr lang="en-US" sz="3800" dirty="0"/>
              <a:t>).</a:t>
            </a:r>
          </a:p>
          <a:p>
            <a:r>
              <a:rPr lang="en-US" sz="3800" b="1" dirty="0"/>
              <a:t>The python path to the view</a:t>
            </a:r>
            <a:r>
              <a:rPr lang="en-US" sz="3800" dirty="0"/>
              <a:t> − Same as when you are importing a module.</a:t>
            </a:r>
          </a:p>
          <a:p>
            <a:r>
              <a:rPr lang="en-US" sz="3800" b="1" dirty="0"/>
              <a:t>The name</a:t>
            </a:r>
            <a:r>
              <a:rPr lang="en-US" sz="3800" dirty="0"/>
              <a:t> − In order to perform URL reversing, you’ll need to use named URL patterns as done in the examples above. Once done, just start the server to access your view via :http://127.0.0.1/hello</a:t>
            </a:r>
          </a:p>
          <a:p>
            <a:pPr>
              <a:buNone/>
            </a:pPr>
            <a:endParaRPr lang="en-US" altLang="en-US" sz="3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447800" y="0"/>
            <a:ext cx="10744200" cy="9144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 URL Mapping(continue…)</a:t>
            </a:r>
          </a:p>
        </p:txBody>
      </p:sp>
      <p:sp>
        <p:nvSpPr>
          <p:cNvPr id="11269" name="Google Shape;150;p18"/>
          <p:cNvSpPr>
            <a:spLocks noGrp="1"/>
          </p:cNvSpPr>
          <p:nvPr>
            <p:ph type="dt" sz="quarter" idx="10"/>
          </p:nvPr>
        </p:nvSpPr>
        <p:spPr>
          <a:xfrm>
            <a:off x="1524000" y="6356351"/>
            <a:ext cx="2895600" cy="365125"/>
          </a:xfrm>
        </p:spPr>
        <p:txBody>
          <a:bodyPr/>
          <a:lstStyle/>
          <a:p>
            <a:pPr algn="ctr">
              <a:buFont typeface="Arial" pitchFamily="34" charset="0"/>
              <a:buNone/>
              <a:defRPr/>
            </a:pPr>
            <a:fld id="{669436B7-04A1-4C15-9E09-30A42D52299A}" type="datetime1">
              <a:rPr lang="en-US" smtClean="0"/>
              <a:t>9/30/2024</a:t>
            </a:fld>
            <a:endParaRPr lang="en-US" dirty="0"/>
          </a:p>
        </p:txBody>
      </p:sp>
      <p:sp>
        <p:nvSpPr>
          <p:cNvPr id="37894" name="Google Shape;151;p18"/>
          <p:cNvSpPr>
            <a:spLocks noGrp="1" noChangeArrowheads="1"/>
          </p:cNvSpPr>
          <p:nvPr>
            <p:ph type="sldNum" sz="quarter" idx="12"/>
          </p:nvPr>
        </p:nvSpPr>
        <p:spPr bwMode="auto">
          <a:xfrm>
            <a:off x="8416925" y="64039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037F6484-EB85-4A40-9977-7CB73A871C5A}" type="slidenum">
              <a:rPr lang="en-US" altLang="en-US">
                <a:solidFill>
                  <a:srgbClr val="898989"/>
                </a:solidFill>
                <a:latin typeface="Calibri" panose="020F0502020204030204" pitchFamily="34" charset="0"/>
              </a:rPr>
              <a:pPr algn="ctr">
                <a:buSzPts val="1400"/>
                <a:buFont typeface="Arial" panose="020B0604020202020204" pitchFamily="34" charset="0"/>
                <a:buNone/>
              </a:pPr>
              <a:t>26</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10000" y="6416676"/>
            <a:ext cx="5029200" cy="365125"/>
          </a:xfrm>
        </p:spPr>
        <p:txBody>
          <a:bodyPr/>
          <a:lstStyle/>
          <a:p>
            <a:pPr algn="r">
              <a:buFont typeface="Arial" pitchFamily="34" charset="0"/>
              <a:buNone/>
              <a:defRPr/>
            </a:pPr>
            <a:r>
              <a:rPr lang="en-US"/>
              <a:t>Ritesh Kumar Singh          Python web development with Django     Unit II</a:t>
            </a:r>
            <a:endParaRPr lang="en-US" dirty="0"/>
          </a:p>
        </p:txBody>
      </p:sp>
    </p:spTree>
    <p:extLst>
      <p:ext uri="{BB962C8B-B14F-4D97-AF65-F5344CB8AC3E}">
        <p14:creationId xmlns:p14="http://schemas.microsoft.com/office/powerpoint/2010/main" val="12860247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p:cNvSpPr>
            <a:spLocks noGrp="1"/>
          </p:cNvSpPr>
          <p:nvPr>
            <p:ph idx="1"/>
          </p:nvPr>
        </p:nvSpPr>
        <p:spPr>
          <a:xfrm>
            <a:off x="1524000" y="1219201"/>
            <a:ext cx="9144000" cy="4648201"/>
          </a:xfrm>
        </p:spPr>
        <p:txBody>
          <a:bodyPr/>
          <a:lstStyle/>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3"/>
              </a:spcBef>
              <a:buClr>
                <a:srgbClr val="000000"/>
              </a:buClr>
              <a:buNone/>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114300" indent="0" algn="just">
              <a:spcBef>
                <a:spcPts val="363"/>
              </a:spcBef>
              <a:buClr>
                <a:srgbClr val="000000"/>
              </a:buClr>
              <a:buNone/>
            </a:pPr>
            <a:r>
              <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	</a:t>
            </a:r>
          </a:p>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524000" y="0"/>
            <a:ext cx="106680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Templates</a:t>
            </a: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209E0C84-3C81-4905-94BE-4EC5D3FD4E50}" type="datetime1">
              <a:rPr lang="en-US" smtClean="0"/>
              <a:t>9/30/2024</a:t>
            </a:fld>
            <a:endParaRPr lang="en-US" dirty="0"/>
          </a:p>
        </p:txBody>
      </p:sp>
      <p:sp>
        <p:nvSpPr>
          <p:cNvPr id="38918" name="Google Shape;151;p18"/>
          <p:cNvSpPr>
            <a:spLocks noGrp="1" noChangeArrowheads="1"/>
          </p:cNvSpPr>
          <p:nvPr>
            <p:ph type="sldNum" sz="quarter" idx="12"/>
          </p:nvPr>
        </p:nvSpPr>
        <p:spPr bwMode="auto">
          <a:xfrm>
            <a:off x="8416925" y="64039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C389F71A-DF51-4754-8E91-5D8E77B9BA8F}" type="slidenum">
              <a:rPr lang="en-US" altLang="en-US">
                <a:solidFill>
                  <a:srgbClr val="898989"/>
                </a:solidFill>
                <a:latin typeface="Calibri" panose="020F0502020204030204" pitchFamily="34" charset="0"/>
              </a:rPr>
              <a:pPr algn="ctr">
                <a:buSzPts val="1400"/>
                <a:buFont typeface="Arial" panose="020B0604020202020204" pitchFamily="34" charset="0"/>
                <a:buNone/>
              </a:pPr>
              <a:t>27</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86200" y="6416676"/>
            <a:ext cx="5029200" cy="365125"/>
          </a:xfrm>
        </p:spPr>
        <p:txBody>
          <a:bodyPr/>
          <a:lstStyle/>
          <a:p>
            <a:pPr algn="r">
              <a:buFont typeface="Arial" pitchFamily="34" charset="0"/>
              <a:buNone/>
              <a:defRPr/>
            </a:pPr>
            <a:r>
              <a:rPr lang="en-US"/>
              <a:t>Ritesh Kumar Singh          Python web development with Django     Unit II</a:t>
            </a:r>
            <a:endParaRPr lang="en-US" dirty="0"/>
          </a:p>
        </p:txBody>
      </p:sp>
      <p:sp>
        <p:nvSpPr>
          <p:cNvPr id="63489" name="Rectangle 1"/>
          <p:cNvSpPr>
            <a:spLocks noChangeArrowheads="1"/>
          </p:cNvSpPr>
          <p:nvPr/>
        </p:nvSpPr>
        <p:spPr bwMode="auto">
          <a:xfrm>
            <a:off x="381000" y="1033047"/>
            <a:ext cx="11641183" cy="5262979"/>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r>
              <a:rPr lang="en-US" sz="2400" dirty="0"/>
              <a:t>Django provides a convenient way to generate dynamic HTML pages by using its template </a:t>
            </a:r>
            <a:r>
              <a:rPr lang="en-US" sz="2400" dirty="0" err="1"/>
              <a:t>system.A</a:t>
            </a:r>
            <a:r>
              <a:rPr lang="en-US" sz="2400" dirty="0"/>
              <a:t> template consists of static parts of the desired HTML output as well as some special syntax describing how dynamic content will be inserted.</a:t>
            </a:r>
          </a:p>
          <a:p>
            <a:r>
              <a:rPr lang="en-US" sz="2400" b="1" dirty="0"/>
              <a:t>Why Django Template</a:t>
            </a:r>
          </a:p>
          <a:p>
            <a:r>
              <a:rPr lang="en-US" sz="2400" dirty="0"/>
              <a:t>In HTML file, we can't write python code because the code is only interpreted by python interpreter not the browser. We know that HTML is a static markup language, while Python is a dynamic programming language.</a:t>
            </a:r>
          </a:p>
          <a:p>
            <a:r>
              <a:rPr lang="en-US" sz="2400" dirty="0"/>
              <a:t>Django template engine is used to separate the design from the python code and allows us to build dynamic web pages.</a:t>
            </a:r>
          </a:p>
          <a:p>
            <a:r>
              <a:rPr lang="en-US" sz="2400" b="1" dirty="0"/>
              <a:t>Django Template Configuration</a:t>
            </a:r>
          </a:p>
          <a:p>
            <a:r>
              <a:rPr lang="en-US" sz="2400" dirty="0"/>
              <a:t>To configure the template system, we have to provide some entries in </a:t>
            </a:r>
            <a:r>
              <a:rPr lang="en-US" sz="2400" b="1" dirty="0"/>
              <a:t>settings.py</a:t>
            </a:r>
            <a:r>
              <a:rPr lang="en-US" sz="2400" dirty="0"/>
              <a:t> file.</a:t>
            </a:r>
          </a:p>
          <a:p>
            <a:endParaRPr lang="en-US" sz="2400" dirty="0"/>
          </a:p>
          <a:p>
            <a:endParaRPr lang="en-US" sz="2400" dirty="0"/>
          </a:p>
          <a:p>
            <a:endParaRPr lang="en-US" sz="2400" dirty="0"/>
          </a:p>
        </p:txBody>
      </p:sp>
    </p:spTree>
    <p:extLst>
      <p:ext uri="{BB962C8B-B14F-4D97-AF65-F5344CB8AC3E}">
        <p14:creationId xmlns:p14="http://schemas.microsoft.com/office/powerpoint/2010/main" val="40854941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226">
                                            <p:txEl>
                                              <p:pRg st="2" end="2"/>
                                            </p:txEl>
                                          </p:spTgt>
                                        </p:tgtEl>
                                        <p:attrNameLst>
                                          <p:attrName>style.visibility</p:attrName>
                                        </p:attrNameLst>
                                      </p:cBhvr>
                                      <p:to>
                                        <p:strVal val="visible"/>
                                      </p:to>
                                    </p:set>
                                    <p:anim calcmode="lin" valueType="num">
                                      <p:cBhvr additive="base">
                                        <p:cTn id="12" dur="5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222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3FE0468-12C5-4FB3-81D6-1A7A030F000A}"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3994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133CD90-DBD5-4B38-A654-AEC75AB3D450}" type="slidenum">
              <a:rPr lang="en-US" altLang="en-US">
                <a:solidFill>
                  <a:srgbClr val="898989"/>
                </a:solidFill>
                <a:latin typeface="Calibri" panose="020F0502020204030204" pitchFamily="34" charset="0"/>
              </a:rPr>
              <a:pPr/>
              <a:t>28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9214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b="1" dirty="0"/>
              <a:t>Django Templates(continue…)</a:t>
            </a:r>
          </a:p>
          <a:p>
            <a:pPr algn="ctr">
              <a:defRPr/>
            </a:pPr>
            <a:endParaRPr lang="en-US" sz="3200" dirty="0">
              <a:latin typeface="Times New Roman" pitchFamily="18" charset="0"/>
              <a:cs typeface="Times New Roman" pitchFamily="18" charset="0"/>
            </a:endParaRPr>
          </a:p>
        </p:txBody>
      </p:sp>
      <p:sp>
        <p:nvSpPr>
          <p:cNvPr id="3994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8" name="Picture 1"/>
          <p:cNvPicPr>
            <a:picLocks noChangeAspect="1" noChangeArrowheads="1"/>
          </p:cNvPicPr>
          <p:nvPr/>
        </p:nvPicPr>
        <p:blipFill>
          <a:blip r:embed="rId3"/>
          <a:srcRect/>
          <a:stretch>
            <a:fillRect/>
          </a:stretch>
        </p:blipFill>
        <p:spPr bwMode="auto">
          <a:xfrm>
            <a:off x="152400" y="914401"/>
            <a:ext cx="9296400" cy="4419599"/>
          </a:xfrm>
          <a:prstGeom prst="rect">
            <a:avLst/>
          </a:prstGeom>
          <a:noFill/>
          <a:ln w="9525">
            <a:noFill/>
            <a:miter lim="800000"/>
            <a:headEnd/>
            <a:tailEnd/>
          </a:ln>
          <a:effectLst/>
        </p:spPr>
      </p:pic>
    </p:spTree>
    <p:extLst>
      <p:ext uri="{BB962C8B-B14F-4D97-AF65-F5344CB8AC3E}">
        <p14:creationId xmlns:p14="http://schemas.microsoft.com/office/powerpoint/2010/main" val="4376017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4D7732F-02FD-49AB-BD93-594655BD5E0B}" type="datetime1">
              <a:rPr lang="en-US" smtClean="0"/>
              <a:t>9/30/2024</a:t>
            </a:fld>
            <a:endParaRPr lang="en-US" dirty="0"/>
          </a:p>
        </p:txBody>
      </p:sp>
      <p:sp>
        <p:nvSpPr>
          <p:cNvPr id="5" name="Footer Placeholder 4"/>
          <p:cNvSpPr>
            <a:spLocks noGrp="1"/>
          </p:cNvSpPr>
          <p:nvPr>
            <p:ph type="ftr" sz="quarter" idx="11"/>
          </p:nvPr>
        </p:nvSpPr>
        <p:spPr>
          <a:xfrm>
            <a:off x="4724400" y="6356345"/>
            <a:ext cx="5029200" cy="365125"/>
          </a:xfrm>
        </p:spPr>
        <p:txBody>
          <a:bodyPr/>
          <a:lstStyle/>
          <a:p>
            <a:pPr>
              <a:defRPr/>
            </a:pPr>
            <a:r>
              <a:rPr lang="en-US"/>
              <a:t>Ritesh Kumar Singh          Python web development with Django     Unit II</a:t>
            </a:r>
            <a:endParaRPr lang="en-US" dirty="0"/>
          </a:p>
        </p:txBody>
      </p:sp>
      <p:sp>
        <p:nvSpPr>
          <p:cNvPr id="4096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F57FD3-8265-44C4-A84C-2B710E804F31}" type="slidenum">
              <a:rPr lang="en-US" altLang="en-US">
                <a:solidFill>
                  <a:srgbClr val="898989"/>
                </a:solidFill>
                <a:latin typeface="Calibri" panose="020F0502020204030204" pitchFamily="34" charset="0"/>
              </a:rPr>
              <a:pPr/>
              <a:t>29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Templates(continue…)</a:t>
            </a:r>
          </a:p>
        </p:txBody>
      </p:sp>
      <p:sp>
        <p:nvSpPr>
          <p:cNvPr id="4096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9" name="Picture 2" descr="django templates"/>
          <p:cNvPicPr>
            <a:picLocks noChangeAspect="1" noChangeArrowheads="1"/>
          </p:cNvPicPr>
          <p:nvPr/>
        </p:nvPicPr>
        <p:blipFill>
          <a:blip r:embed="rId3"/>
          <a:srcRect/>
          <a:stretch>
            <a:fillRect/>
          </a:stretch>
        </p:blipFill>
        <p:spPr bwMode="auto">
          <a:xfrm>
            <a:off x="155575" y="1524000"/>
            <a:ext cx="9674225" cy="3657600"/>
          </a:xfrm>
          <a:prstGeom prst="rect">
            <a:avLst/>
          </a:prstGeom>
          <a:noFill/>
        </p:spPr>
      </p:pic>
    </p:spTree>
    <p:extLst>
      <p:ext uri="{BB962C8B-B14F-4D97-AF65-F5344CB8AC3E}">
        <p14:creationId xmlns:p14="http://schemas.microsoft.com/office/powerpoint/2010/main" val="2718938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B0F99DB-2542-4303-96BC-1EADAE975DB6}"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198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2A8EFE-9B03-44A4-B830-A269C783EF82}" type="slidenum">
              <a:rPr lang="en-US" altLang="en-US">
                <a:solidFill>
                  <a:srgbClr val="898989"/>
                </a:solidFill>
                <a:latin typeface="Calibri" panose="020F0502020204030204" pitchFamily="34" charset="0"/>
              </a:rPr>
              <a:pPr/>
              <a:t>30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Templates(continue…)</a:t>
            </a:r>
          </a:p>
        </p:txBody>
      </p:sp>
      <p:sp>
        <p:nvSpPr>
          <p:cNvPr id="4199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7353" name="TextBox 9"/>
          <p:cNvSpPr txBox="1">
            <a:spLocks noChangeArrowheads="1"/>
          </p:cNvSpPr>
          <p:nvPr/>
        </p:nvSpPr>
        <p:spPr bwMode="auto">
          <a:xfrm>
            <a:off x="3429000" y="1673225"/>
            <a:ext cx="6629400"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10" name="Rectangle 9"/>
          <p:cNvSpPr/>
          <p:nvPr/>
        </p:nvSpPr>
        <p:spPr>
          <a:xfrm>
            <a:off x="381000" y="1523999"/>
            <a:ext cx="11469189" cy="3416320"/>
          </a:xfrm>
          <a:prstGeom prst="rect">
            <a:avLst/>
          </a:prstGeom>
          <a:solidFill>
            <a:schemeClr val="tx2">
              <a:lumMod val="40000"/>
              <a:lumOff val="60000"/>
            </a:schemeClr>
          </a:solidFill>
          <a:ln w="9525">
            <a:solidFill>
              <a:schemeClr val="tx1"/>
            </a:solidFill>
          </a:ln>
        </p:spPr>
        <p:txBody>
          <a:bodyPr wrap="square">
            <a:spAutoFit/>
          </a:bodyPr>
          <a:lstStyle/>
          <a:p>
            <a:r>
              <a:rPr lang="en-US" b="1" dirty="0"/>
              <a:t>Loading Template</a:t>
            </a:r>
          </a:p>
          <a:p>
            <a:r>
              <a:rPr lang="en-US" dirty="0"/>
              <a:t>To load the template, call </a:t>
            </a:r>
            <a:r>
              <a:rPr lang="en-US" dirty="0" err="1"/>
              <a:t>get_template</a:t>
            </a:r>
            <a:r>
              <a:rPr lang="en-US" dirty="0"/>
              <a:t>() method as we did below and pass template name</a:t>
            </a:r>
          </a:p>
          <a:p>
            <a:r>
              <a:rPr lang="en-US" dirty="0" err="1"/>
              <a:t>rom</a:t>
            </a:r>
            <a:r>
              <a:rPr lang="en-US" dirty="0"/>
              <a:t> </a:t>
            </a:r>
            <a:r>
              <a:rPr lang="en-US" dirty="0" err="1"/>
              <a:t>django.shortcuts</a:t>
            </a:r>
            <a:endParaRPr lang="en-US" dirty="0"/>
          </a:p>
          <a:p>
            <a:r>
              <a:rPr lang="en-US" dirty="0"/>
              <a:t> import render  </a:t>
            </a:r>
          </a:p>
          <a:p>
            <a:r>
              <a:rPr lang="en-US" dirty="0"/>
              <a:t>#importing loading from </a:t>
            </a:r>
            <a:r>
              <a:rPr lang="en-US" dirty="0" err="1"/>
              <a:t>django</a:t>
            </a:r>
            <a:r>
              <a:rPr lang="en-US" dirty="0"/>
              <a:t> template  from </a:t>
            </a:r>
            <a:r>
              <a:rPr lang="en-US" dirty="0" err="1"/>
              <a:t>django.template</a:t>
            </a:r>
            <a:r>
              <a:rPr lang="en-US" dirty="0"/>
              <a:t> import loader </a:t>
            </a:r>
          </a:p>
          <a:p>
            <a:r>
              <a:rPr lang="en-US" dirty="0"/>
              <a:t> # Create your views here.  </a:t>
            </a:r>
          </a:p>
          <a:p>
            <a:r>
              <a:rPr lang="en-US" dirty="0"/>
              <a:t>from </a:t>
            </a:r>
            <a:r>
              <a:rPr lang="en-US" dirty="0" err="1"/>
              <a:t>django.http</a:t>
            </a:r>
            <a:r>
              <a:rPr lang="en-US" dirty="0"/>
              <a:t> import </a:t>
            </a:r>
            <a:r>
              <a:rPr lang="en-US" dirty="0" err="1"/>
              <a:t>HttpResponse</a:t>
            </a:r>
            <a:r>
              <a:rPr lang="en-US" dirty="0"/>
              <a:t>  </a:t>
            </a:r>
          </a:p>
          <a:p>
            <a:r>
              <a:rPr lang="en-US" dirty="0"/>
              <a:t>def index(request):     template = </a:t>
            </a:r>
            <a:r>
              <a:rPr lang="en-US" dirty="0" err="1"/>
              <a:t>loader.get_template</a:t>
            </a:r>
            <a:r>
              <a:rPr lang="en-US" dirty="0"/>
              <a:t>('index.html') </a:t>
            </a:r>
          </a:p>
          <a:p>
            <a:r>
              <a:rPr lang="en-US" dirty="0"/>
              <a:t># getting our template     return </a:t>
            </a:r>
            <a:r>
              <a:rPr lang="en-US" dirty="0" err="1"/>
              <a:t>HttpResponse</a:t>
            </a:r>
            <a:r>
              <a:rPr lang="en-US" dirty="0"/>
              <a:t>(</a:t>
            </a:r>
            <a:r>
              <a:rPr lang="en-US" dirty="0" err="1"/>
              <a:t>template.render</a:t>
            </a:r>
            <a:r>
              <a:rPr lang="en-US" dirty="0"/>
              <a:t>())     </a:t>
            </a:r>
          </a:p>
          <a:p>
            <a:r>
              <a:rPr lang="en-US" dirty="0"/>
              <a:t> # rendering the template in </a:t>
            </a:r>
            <a:r>
              <a:rPr lang="en-US" dirty="0" err="1"/>
              <a:t>HttpResponse</a:t>
            </a:r>
            <a:r>
              <a:rPr lang="en-US" dirty="0"/>
              <a:t>  </a:t>
            </a:r>
          </a:p>
          <a:p>
            <a:endParaRPr lang="en-US" dirty="0"/>
          </a:p>
          <a:p>
            <a:endParaRPr lang="en-US" dirty="0"/>
          </a:p>
        </p:txBody>
      </p:sp>
    </p:spTree>
    <p:extLst>
      <p:ext uri="{BB962C8B-B14F-4D97-AF65-F5344CB8AC3E}">
        <p14:creationId xmlns:p14="http://schemas.microsoft.com/office/powerpoint/2010/main" val="1821953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57353"/>
                                        </p:tgtEl>
                                        <p:attrNameLst>
                                          <p:attrName>style.visibility</p:attrName>
                                        </p:attrNameLst>
                                      </p:cBhvr>
                                      <p:to>
                                        <p:strVal val="visible"/>
                                      </p:to>
                                    </p:set>
                                    <p:anim calcmode="lin" valueType="num">
                                      <p:cBhvr additive="base">
                                        <p:cTn id="12" dur="500" fill="hold"/>
                                        <p:tgtEl>
                                          <p:spTgt spid="57353"/>
                                        </p:tgtEl>
                                        <p:attrNameLst>
                                          <p:attrName>ppt_x</p:attrName>
                                        </p:attrNameLst>
                                      </p:cBhvr>
                                      <p:tavLst>
                                        <p:tav tm="0">
                                          <p:val>
                                            <p:strVal val="#ppt_x"/>
                                          </p:val>
                                        </p:tav>
                                        <p:tav tm="100000">
                                          <p:val>
                                            <p:strVal val="#ppt_x"/>
                                          </p:val>
                                        </p:tav>
                                      </p:tavLst>
                                    </p:anim>
                                    <p:anim calcmode="lin" valueType="num">
                                      <p:cBhvr additive="base">
                                        <p:cTn id="13" dur="500" fill="hold"/>
                                        <p:tgtEl>
                                          <p:spTgt spid="573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735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EE9D010-5CA6-4524-9F86-A9549F9CA04B}"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301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23EF2D-7FB0-40F4-ADE8-ACD574C8065A}" type="slidenum">
              <a:rPr lang="en-US" altLang="en-US">
                <a:solidFill>
                  <a:srgbClr val="898989"/>
                </a:solidFill>
                <a:latin typeface="Calibri" panose="020F0502020204030204" pitchFamily="34" charset="0"/>
              </a:rPr>
              <a:pPr/>
              <a:t>31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Template Inheritance in Django</a:t>
            </a:r>
          </a:p>
        </p:txBody>
      </p:sp>
      <p:sp>
        <p:nvSpPr>
          <p:cNvPr id="4301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6321" name="Rectangle 1"/>
          <p:cNvSpPr>
            <a:spLocks noChangeArrowheads="1"/>
          </p:cNvSpPr>
          <p:nvPr/>
        </p:nvSpPr>
        <p:spPr bwMode="auto">
          <a:xfrm>
            <a:off x="381000" y="990600"/>
            <a:ext cx="11372850" cy="5201424"/>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r>
              <a:rPr lang="en-US" sz="2000" b="1" dirty="0"/>
              <a:t>Including templates using include tag </a:t>
            </a:r>
            <a:r>
              <a:rPr lang="en-US" sz="2000" b="1" dirty="0">
                <a:hlinkClick r:id="rId3"/>
              </a:rPr>
              <a:t>#</a:t>
            </a:r>
            <a:endParaRPr lang="en-US" sz="2000" b="1" dirty="0"/>
          </a:p>
          <a:p>
            <a:r>
              <a:rPr lang="en-US" sz="2000" dirty="0"/>
              <a:t>The include tag allows us to include the contents of a template inside another template. Here is the syntax of the include tag:</a:t>
            </a:r>
          </a:p>
          <a:p>
            <a:r>
              <a:rPr lang="en-US" sz="2000" dirty="0"/>
              <a:t>{% include </a:t>
            </a:r>
            <a:r>
              <a:rPr lang="en-US" sz="2000" dirty="0" err="1"/>
              <a:t>template_name</a:t>
            </a:r>
            <a:r>
              <a:rPr lang="en-US" sz="2000" dirty="0"/>
              <a:t> %}</a:t>
            </a:r>
          </a:p>
          <a:p>
            <a:r>
              <a:rPr lang="en-US" sz="2000" dirty="0"/>
              <a:t>The </a:t>
            </a:r>
            <a:r>
              <a:rPr lang="en-US" sz="2000" dirty="0" err="1"/>
              <a:t>template_name</a:t>
            </a:r>
            <a:r>
              <a:rPr lang="en-US" sz="2000" dirty="0"/>
              <a:t> could be a string or a variable.</a:t>
            </a:r>
          </a:p>
          <a:p>
            <a:r>
              <a:rPr lang="en-US" sz="2000" dirty="0"/>
              <a:t>Let's take an example:</a:t>
            </a:r>
          </a:p>
          <a:p>
            <a:r>
              <a:rPr lang="en-US" sz="2000" dirty="0"/>
              <a:t>Create a new file named nav.html for the blog app in the directory blog/templates/blog and add the following code to it:</a:t>
            </a:r>
          </a:p>
          <a:p>
            <a:r>
              <a:rPr lang="en-US" sz="2000" b="1" dirty="0"/>
              <a:t>TGDB/</a:t>
            </a:r>
            <a:r>
              <a:rPr lang="en-US" sz="2000" b="1" dirty="0" err="1"/>
              <a:t>django_project</a:t>
            </a:r>
            <a:r>
              <a:rPr lang="en-US" sz="2000" b="1" dirty="0"/>
              <a:t>/blog/templates/blog/nav.html</a:t>
            </a:r>
            <a:endParaRPr lang="en-US" sz="2000" dirty="0"/>
          </a:p>
          <a:p>
            <a:r>
              <a:rPr lang="en-US" sz="2000" dirty="0"/>
              <a:t>&lt;</a:t>
            </a:r>
            <a:r>
              <a:rPr lang="en-US" sz="2000" dirty="0" err="1"/>
              <a:t>nav</a:t>
            </a:r>
            <a:r>
              <a:rPr lang="en-US" sz="2000" dirty="0"/>
              <a:t>&gt; </a:t>
            </a:r>
          </a:p>
          <a:p>
            <a:r>
              <a:rPr lang="en-US" sz="2000" dirty="0"/>
              <a:t>&lt;a </a:t>
            </a:r>
            <a:r>
              <a:rPr lang="en-US" sz="2000" dirty="0" err="1"/>
              <a:t>href</a:t>
            </a:r>
            <a:r>
              <a:rPr lang="en-US" sz="2000" dirty="0"/>
              <a:t>="#"&gt;Home</a:t>
            </a:r>
          </a:p>
          <a:p>
            <a:r>
              <a:rPr lang="en-US" sz="2000" dirty="0"/>
              <a:t>&lt;/a&gt; &lt;a </a:t>
            </a:r>
            <a:r>
              <a:rPr lang="en-US" sz="2000" dirty="0" err="1"/>
              <a:t>href</a:t>
            </a:r>
            <a:r>
              <a:rPr lang="en-US" sz="2000" dirty="0"/>
              <a:t>="#"&gt;blog&lt;/a&gt; </a:t>
            </a:r>
          </a:p>
          <a:p>
            <a:r>
              <a:rPr lang="en-US" sz="2000" dirty="0"/>
              <a:t>&lt;a </a:t>
            </a:r>
            <a:r>
              <a:rPr lang="en-US" sz="2000" dirty="0" err="1"/>
              <a:t>href</a:t>
            </a:r>
            <a:r>
              <a:rPr lang="en-US" sz="2000" dirty="0"/>
              <a:t>="#"&gt;Contact&lt;/a&gt;</a:t>
            </a:r>
          </a:p>
          <a:p>
            <a:r>
              <a:rPr lang="en-US" sz="2000" dirty="0"/>
              <a:t> &lt;a </a:t>
            </a:r>
            <a:r>
              <a:rPr lang="en-US" sz="2000" dirty="0" err="1"/>
              <a:t>href</a:t>
            </a:r>
            <a:r>
              <a:rPr lang="en-US" sz="2000" dirty="0"/>
              <a:t>="#"&gt;Career&lt;/a&gt;</a:t>
            </a:r>
          </a:p>
          <a:p>
            <a:r>
              <a:rPr lang="en-US" sz="2000" dirty="0"/>
              <a:t> &lt;/</a:t>
            </a:r>
            <a:r>
              <a:rPr lang="en-US" sz="2000" dirty="0" err="1"/>
              <a:t>nav</a:t>
            </a:r>
            <a:r>
              <a:rPr lang="en-US" sz="2000" dirty="0"/>
              <a:t>&gt;</a:t>
            </a:r>
            <a:endParaRPr lang="en-US" sz="2000" b="1" dirty="0"/>
          </a:p>
          <a:p>
            <a:endParaRPr lang="en-US" sz="2000" b="1" dirty="0"/>
          </a:p>
          <a:p>
            <a:endParaRPr lang="en-US" sz="2000" b="1" dirty="0"/>
          </a:p>
        </p:txBody>
      </p:sp>
    </p:spTree>
    <p:extLst>
      <p:ext uri="{BB962C8B-B14F-4D97-AF65-F5344CB8AC3E}">
        <p14:creationId xmlns:p14="http://schemas.microsoft.com/office/powerpoint/2010/main" val="1538502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98E177A-9F28-4F63-97DC-B73775B79657}"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403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C97866-AA4D-424E-B787-7144EB803BD8}" type="slidenum">
              <a:rPr lang="en-US" altLang="en-US">
                <a:solidFill>
                  <a:srgbClr val="898989"/>
                </a:solidFill>
                <a:latin typeface="Calibri" panose="020F0502020204030204" pitchFamily="34" charset="0"/>
              </a:rPr>
              <a:pPr/>
              <a:t>32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Template Inheritance in Django(continue….)</a:t>
            </a:r>
          </a:p>
        </p:txBody>
      </p:sp>
      <p:sp>
        <p:nvSpPr>
          <p:cNvPr id="4403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10" name="Rectangle 9"/>
          <p:cNvSpPr/>
          <p:nvPr/>
        </p:nvSpPr>
        <p:spPr>
          <a:xfrm>
            <a:off x="304800" y="1066800"/>
            <a:ext cx="11658600" cy="4399717"/>
          </a:xfrm>
          <a:prstGeom prst="rect">
            <a:avLst/>
          </a:prstGeom>
          <a:solidFill>
            <a:schemeClr val="tx2">
              <a:lumMod val="40000"/>
              <a:lumOff val="60000"/>
            </a:schemeClr>
          </a:solidFill>
          <a:ln w="12700">
            <a:solidFill>
              <a:schemeClr val="tx1"/>
            </a:solidFill>
          </a:ln>
        </p:spPr>
        <p:txBody>
          <a:bodyPr wrap="square">
            <a:spAutoFit/>
          </a:bodyPr>
          <a:lstStyle/>
          <a:p>
            <a:r>
              <a:rPr lang="en-US" dirty="0"/>
              <a:t>So far we have been creating very simple templates but in the real world, this is rarely the case. To give a common look and feel across all the pages of a website some HTML code is repeated. Typically header, navigation, footer, and sidebar remains the same throughout the site. The problem arises when we want to modify some part of the page. To better understand the issue, let's take an example.</a:t>
            </a:r>
          </a:p>
          <a:p>
            <a:r>
              <a:rPr lang="en-US" dirty="0"/>
              <a:t>Suppose we have two pages namely home.html and contact.html</a:t>
            </a:r>
          </a:p>
          <a:p>
            <a:r>
              <a:rPr lang="en-US" b="1" dirty="0"/>
              <a:t>extends – Django template Tags Explanation</a:t>
            </a:r>
          </a:p>
          <a:p>
            <a:r>
              <a:rPr lang="en-US" dirty="0"/>
              <a:t>Illustration of How to use extends tag in Django templates using an Example</a:t>
            </a:r>
          </a:p>
          <a:p>
            <a:r>
              <a:rPr lang="en-US" dirty="0"/>
              <a:t># import Http Response from </a:t>
            </a:r>
            <a:r>
              <a:rPr lang="en-US" dirty="0" err="1"/>
              <a:t>django</a:t>
            </a:r>
            <a:endParaRPr lang="en-US" dirty="0"/>
          </a:p>
          <a:p>
            <a:r>
              <a:rPr lang="en-US" dirty="0"/>
              <a:t>from </a:t>
            </a:r>
            <a:r>
              <a:rPr lang="en-US" dirty="0" err="1"/>
              <a:t>django.shortcuts</a:t>
            </a:r>
            <a:r>
              <a:rPr lang="en-US" dirty="0"/>
              <a:t> import render</a:t>
            </a:r>
          </a:p>
          <a:p>
            <a:r>
              <a:rPr lang="en-US" dirty="0"/>
              <a:t> </a:t>
            </a:r>
          </a:p>
          <a:p>
            <a:r>
              <a:rPr lang="en-US" dirty="0"/>
              <a:t># create a function</a:t>
            </a:r>
          </a:p>
          <a:p>
            <a:r>
              <a:rPr lang="en-US" dirty="0"/>
              <a:t>def </a:t>
            </a:r>
            <a:r>
              <a:rPr lang="en-US" dirty="0" err="1"/>
              <a:t>geeks_view</a:t>
            </a:r>
            <a:r>
              <a:rPr lang="en-US" dirty="0"/>
              <a:t>(request):</a:t>
            </a:r>
          </a:p>
          <a:p>
            <a:r>
              <a:rPr lang="en-US" dirty="0"/>
              <a:t> </a:t>
            </a:r>
          </a:p>
          <a:p>
            <a:r>
              <a:rPr lang="en-US" dirty="0"/>
              <a:t>    # return response</a:t>
            </a:r>
          </a:p>
          <a:p>
            <a:r>
              <a:rPr lang="en-US" dirty="0"/>
              <a:t>    return render(request, "extendedgeeks.html“)</a:t>
            </a:r>
          </a:p>
        </p:txBody>
      </p:sp>
    </p:spTree>
    <p:extLst>
      <p:ext uri="{BB962C8B-B14F-4D97-AF65-F5344CB8AC3E}">
        <p14:creationId xmlns:p14="http://schemas.microsoft.com/office/powerpoint/2010/main" val="42134268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839DE81-4465-410B-9BAB-8E74B46843FA}"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506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88BF16-5BCD-4125-861B-E91975B42FBC}" type="slidenum">
              <a:rPr lang="en-US" altLang="en-US">
                <a:solidFill>
                  <a:srgbClr val="898989"/>
                </a:solidFill>
                <a:latin typeface="Calibri" panose="020F0502020204030204" pitchFamily="34" charset="0"/>
              </a:rPr>
              <a:pPr/>
              <a:t>33</a:t>
            </a:fld>
            <a:endParaRPr lang="en-US" altLang="en-US" dirty="0">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a:t>
            </a:r>
          </a:p>
        </p:txBody>
      </p:sp>
      <p:sp>
        <p:nvSpPr>
          <p:cNvPr id="4506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2225" name="Rectangle 1"/>
          <p:cNvSpPr>
            <a:spLocks noChangeArrowheads="1"/>
          </p:cNvSpPr>
          <p:nvPr/>
        </p:nvSpPr>
        <p:spPr bwMode="auto">
          <a:xfrm>
            <a:off x="609600" y="958335"/>
            <a:ext cx="11049000" cy="3323987"/>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a:buFont typeface="Wingdings" pitchFamily="2" charset="2"/>
              <a:buChar char="§"/>
            </a:pPr>
            <a:r>
              <a:rPr lang="en-US" dirty="0"/>
              <a:t>A </a:t>
            </a:r>
            <a:r>
              <a:rPr lang="en-US" b="1" dirty="0"/>
              <a:t>Django model</a:t>
            </a:r>
            <a:r>
              <a:rPr lang="en-US" dirty="0"/>
              <a:t> is the built-in feature that Django uses to create tables, their fields, and various constraints. In short, Django Models is the SQL of Database one uses with Django. SQL (Structured Query Language) is complex and involves a lot of different queries for creating, deleting, updating or any other stuff related to database. Django models simplify the tasks and organize tables into models. Generally, each model maps to a single database table.</a:t>
            </a:r>
          </a:p>
          <a:p>
            <a:pPr>
              <a:buFont typeface="Wingdings" pitchFamily="2" charset="2"/>
              <a:buChar char="§"/>
            </a:pPr>
            <a:r>
              <a:rPr lang="en-US" dirty="0"/>
              <a:t>Django models provide simplicity, consistency, version control and advanced metadata handling. Basics of a model include – </a:t>
            </a:r>
          </a:p>
          <a:p>
            <a:pPr>
              <a:buFont typeface="Wingdings" pitchFamily="2" charset="2"/>
              <a:buChar char="§"/>
            </a:pPr>
            <a:r>
              <a:rPr lang="en-US" dirty="0"/>
              <a:t>Each model is a Python class that subclasses </a:t>
            </a:r>
            <a:r>
              <a:rPr lang="en-US" dirty="0" err="1"/>
              <a:t>django.db.models.Model</a:t>
            </a:r>
            <a:r>
              <a:rPr lang="en-US" dirty="0"/>
              <a:t>.</a:t>
            </a:r>
          </a:p>
          <a:p>
            <a:pPr>
              <a:buFont typeface="Wingdings" pitchFamily="2" charset="2"/>
              <a:buChar char="§"/>
            </a:pPr>
            <a:r>
              <a:rPr lang="en-US" dirty="0"/>
              <a:t> </a:t>
            </a:r>
          </a:p>
          <a:p>
            <a:pPr>
              <a:buFont typeface="Wingdings" pitchFamily="2" charset="2"/>
              <a:buChar char="§"/>
            </a:pPr>
            <a:r>
              <a:rPr lang="en-US" dirty="0"/>
              <a:t>Each attribute of the model represents a database field.</a:t>
            </a:r>
          </a:p>
          <a:p>
            <a:pPr>
              <a:buFont typeface="Wingdings" pitchFamily="2" charset="2"/>
              <a:buChar char="§"/>
            </a:pPr>
            <a:r>
              <a:rPr lang="en-US" dirty="0"/>
              <a:t> </a:t>
            </a:r>
          </a:p>
          <a:p>
            <a:pPr>
              <a:buFont typeface="Wingdings" pitchFamily="2" charset="2"/>
              <a:buChar char="§"/>
            </a:pPr>
            <a:r>
              <a:rPr lang="en-US" dirty="0"/>
              <a:t>With all of this, Django gives you an automatically-generated database-access API; see </a:t>
            </a:r>
            <a:r>
              <a:rPr lang="en-US" dirty="0">
                <a:hlinkClick r:id="rId3"/>
              </a:rPr>
              <a:t>Making queries</a:t>
            </a:r>
            <a:r>
              <a:rPr lang="en-US" dirty="0"/>
              <a:t>.</a:t>
            </a:r>
          </a:p>
          <a:p>
            <a:endParaRPr lang="en-US" dirty="0"/>
          </a:p>
        </p:txBody>
      </p:sp>
    </p:spTree>
    <p:extLst>
      <p:ext uri="{BB962C8B-B14F-4D97-AF65-F5344CB8AC3E}">
        <p14:creationId xmlns:p14="http://schemas.microsoft.com/office/powerpoint/2010/main" val="309024139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80AB6A3-0432-4068-B077-CC02B51D558B}" type="datetime1">
              <a:rPr lang="en-US" smtClean="0"/>
              <a:t>9/30/2024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608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54B495-0C19-45A4-96F7-F68FDEBE8FA2}" type="slidenum">
              <a:rPr lang="en-US" altLang="en-US">
                <a:solidFill>
                  <a:srgbClr val="898989"/>
                </a:solidFill>
                <a:latin typeface="Calibri" panose="020F0502020204030204" pitchFamily="34" charset="0"/>
              </a:rPr>
              <a:pPr/>
              <a:t>34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Models(continue….)</a:t>
            </a:r>
          </a:p>
        </p:txBody>
      </p:sp>
      <p:sp>
        <p:nvSpPr>
          <p:cNvPr id="4608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 name="Rectangle 7"/>
          <p:cNvSpPr/>
          <p:nvPr/>
        </p:nvSpPr>
        <p:spPr>
          <a:xfrm>
            <a:off x="152400" y="914401"/>
            <a:ext cx="8991600" cy="2585323"/>
          </a:xfrm>
          <a:prstGeom prst="rect">
            <a:avLst/>
          </a:prstGeom>
        </p:spPr>
        <p:txBody>
          <a:bodyPr wrap="square">
            <a:spAutoFit/>
          </a:bodyPr>
          <a:lstStyle/>
          <a:p>
            <a:r>
              <a:rPr lang="en-US" b="1" dirty="0"/>
              <a:t>Example –</a:t>
            </a:r>
          </a:p>
          <a:p>
            <a:r>
              <a:rPr lang="en-US" dirty="0"/>
              <a:t>from </a:t>
            </a:r>
            <a:r>
              <a:rPr lang="en-US" dirty="0" err="1"/>
              <a:t>django.db</a:t>
            </a:r>
            <a:r>
              <a:rPr lang="en-US" dirty="0"/>
              <a:t> import models</a:t>
            </a:r>
          </a:p>
          <a:p>
            <a:endParaRPr lang="en-US" dirty="0"/>
          </a:p>
          <a:p>
            <a:r>
              <a:rPr lang="en-US" dirty="0"/>
              <a:t># Create your models here.</a:t>
            </a:r>
          </a:p>
          <a:p>
            <a:r>
              <a:rPr lang="en-US" dirty="0"/>
              <a:t>class </a:t>
            </a:r>
            <a:r>
              <a:rPr lang="en-US" dirty="0" err="1"/>
              <a:t>GeeksModel</a:t>
            </a:r>
            <a:r>
              <a:rPr lang="en-US" dirty="0"/>
              <a:t>(</a:t>
            </a:r>
            <a:r>
              <a:rPr lang="en-US" dirty="0" err="1"/>
              <a:t>models.Model</a:t>
            </a:r>
            <a:r>
              <a:rPr lang="en-US" dirty="0"/>
              <a:t>):</a:t>
            </a:r>
          </a:p>
          <a:p>
            <a:r>
              <a:rPr lang="en-US" dirty="0"/>
              <a:t>	title = </a:t>
            </a:r>
            <a:r>
              <a:rPr lang="en-US" dirty="0" err="1"/>
              <a:t>models.CharField</a:t>
            </a:r>
            <a:r>
              <a:rPr lang="en-US" dirty="0"/>
              <a:t>(</a:t>
            </a:r>
            <a:r>
              <a:rPr lang="en-US" dirty="0" err="1"/>
              <a:t>max_length</a:t>
            </a:r>
            <a:r>
              <a:rPr lang="en-US" dirty="0"/>
              <a:t> = 200)</a:t>
            </a:r>
          </a:p>
          <a:p>
            <a:r>
              <a:rPr lang="en-US" dirty="0"/>
              <a:t>	description = </a:t>
            </a:r>
            <a:r>
              <a:rPr lang="en-US" dirty="0" err="1"/>
              <a:t>models.TextField</a:t>
            </a:r>
            <a:r>
              <a:rPr lang="en-US" dirty="0"/>
              <a:t>()</a:t>
            </a:r>
          </a:p>
          <a:p>
            <a:r>
              <a:rPr lang="en-US" dirty="0"/>
              <a:t>Django maps the fields defined in Django models into table fields of the database as shown below. </a:t>
            </a:r>
          </a:p>
        </p:txBody>
      </p:sp>
      <p:pic>
        <p:nvPicPr>
          <p:cNvPr id="9" name="Picture 1" descr="C:\Users\mam\Desktop\django-models.png"/>
          <p:cNvPicPr>
            <a:picLocks noChangeAspect="1" noChangeArrowheads="1"/>
          </p:cNvPicPr>
          <p:nvPr/>
        </p:nvPicPr>
        <p:blipFill>
          <a:blip r:embed="rId3"/>
          <a:srcRect/>
          <a:stretch>
            <a:fillRect/>
          </a:stretch>
        </p:blipFill>
        <p:spPr bwMode="auto">
          <a:xfrm>
            <a:off x="990600" y="3505200"/>
            <a:ext cx="6934200" cy="2362200"/>
          </a:xfrm>
          <a:prstGeom prst="rect">
            <a:avLst/>
          </a:prstGeom>
          <a:noFill/>
        </p:spPr>
      </p:pic>
    </p:spTree>
    <p:extLst>
      <p:ext uri="{BB962C8B-B14F-4D97-AF65-F5344CB8AC3E}">
        <p14:creationId xmlns:p14="http://schemas.microsoft.com/office/powerpoint/2010/main" val="24041121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77800" y="6247658"/>
            <a:ext cx="2844800" cy="365125"/>
          </a:xfrm>
        </p:spPr>
        <p:txBody>
          <a:bodyPr/>
          <a:lstStyle/>
          <a:p>
            <a:fld id="{4450A506-CBDC-4967-8635-385E37822A1F}" type="datetime1">
              <a:rPr lang="en-US" smtClean="0"/>
              <a:t>9/30/2024</a:t>
            </a:fld>
            <a:endParaRPr lang="en-US" dirty="0"/>
          </a:p>
        </p:txBody>
      </p:sp>
      <p:sp>
        <p:nvSpPr>
          <p:cNvPr id="5" name="Footer Placeholder 4"/>
          <p:cNvSpPr>
            <a:spLocks noGrp="1"/>
          </p:cNvSpPr>
          <p:nvPr>
            <p:ph type="ftr" sz="quarter" idx="11"/>
          </p:nvPr>
        </p:nvSpPr>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noGrp="1"/>
          </p:cNvSpPr>
          <p:nvPr>
            <p:ph type="title"/>
          </p:nvPr>
        </p:nvSpPr>
        <p:spPr>
          <a:xfrm>
            <a:off x="1524000" y="17417"/>
            <a:ext cx="106680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fontScale="90000"/>
          </a:bodyPr>
          <a:lstStyle/>
          <a:p>
            <a:pPr algn="l"/>
            <a:r>
              <a:rPr lang="en-US" sz="3200" b="1" dirty="0"/>
              <a:t>Django Models(continue….)</a:t>
            </a:r>
            <a:br>
              <a:rPr lang="en-US" sz="3200" b="1" dirty="0"/>
            </a:br>
            <a:endParaRPr lang="en-US" sz="3200" dirty="0"/>
          </a:p>
        </p:txBody>
      </p:sp>
      <p:sp>
        <p:nvSpPr>
          <p:cNvPr id="9" name="Content Placeholder 8"/>
          <p:cNvSpPr>
            <a:spLocks noGrp="1"/>
          </p:cNvSpPr>
          <p:nvPr>
            <p:ph idx="1"/>
          </p:nvPr>
        </p:nvSpPr>
        <p:spPr>
          <a:xfrm>
            <a:off x="1676400" y="990600"/>
            <a:ext cx="10210800" cy="4697314"/>
          </a:xfrm>
          <a:solidFill>
            <a:schemeClr val="tx2">
              <a:lumMod val="40000"/>
              <a:lumOff val="60000"/>
            </a:schemeClr>
          </a:solidFill>
          <a:ln w="19050">
            <a:solidFill>
              <a:schemeClr val="tx1"/>
            </a:solidFill>
          </a:ln>
        </p:spPr>
        <p:txBody>
          <a:bodyPr>
            <a:noAutofit/>
          </a:bodyPr>
          <a:lstStyle/>
          <a:p>
            <a:r>
              <a:rPr lang="en-US" sz="1800" b="1" dirty="0"/>
              <a:t>Using Django Models</a:t>
            </a:r>
          </a:p>
          <a:p>
            <a:r>
              <a:rPr lang="en-US" sz="1800" dirty="0"/>
              <a:t>To use Django Models, one needs to have a project and an app working in it. After you start an app you can create models in app/models.py.</a:t>
            </a:r>
          </a:p>
          <a:p>
            <a:r>
              <a:rPr lang="en-US" sz="1800" b="1" dirty="0"/>
              <a:t>Creating a Model</a:t>
            </a:r>
          </a:p>
          <a:p>
            <a:r>
              <a:rPr lang="en-US" sz="1800" b="1" dirty="0"/>
              <a:t>Syntax</a:t>
            </a:r>
            <a:r>
              <a:rPr lang="en-US" sz="1800" dirty="0"/>
              <a:t> </a:t>
            </a:r>
            <a:br>
              <a:rPr lang="en-US" sz="1800" dirty="0"/>
            </a:br>
            <a:r>
              <a:rPr lang="en-US" sz="1800" dirty="0"/>
              <a:t> </a:t>
            </a:r>
          </a:p>
          <a:p>
            <a:r>
              <a:rPr lang="en-US" sz="1800" dirty="0"/>
              <a:t>from </a:t>
            </a:r>
            <a:r>
              <a:rPr lang="en-US" sz="1800" dirty="0" err="1"/>
              <a:t>django.db</a:t>
            </a:r>
            <a:endParaRPr lang="en-US" sz="1800" dirty="0"/>
          </a:p>
          <a:p>
            <a:r>
              <a:rPr lang="en-US" sz="1800" dirty="0"/>
              <a:t> import models </a:t>
            </a:r>
          </a:p>
          <a:p>
            <a:r>
              <a:rPr lang="en-US" sz="1800" dirty="0"/>
              <a:t>class </a:t>
            </a:r>
            <a:r>
              <a:rPr lang="en-US" sz="1800" dirty="0" err="1"/>
              <a:t>ModelName</a:t>
            </a:r>
            <a:r>
              <a:rPr lang="en-US" sz="1800" dirty="0"/>
              <a:t>(</a:t>
            </a:r>
            <a:r>
              <a:rPr lang="en-US" sz="1800" dirty="0" err="1"/>
              <a:t>models.Model</a:t>
            </a:r>
            <a:r>
              <a:rPr lang="en-US" sz="1800" dirty="0"/>
              <a:t>):</a:t>
            </a:r>
          </a:p>
          <a:p>
            <a:r>
              <a:rPr lang="en-US" sz="1800" dirty="0"/>
              <a:t> </a:t>
            </a:r>
            <a:r>
              <a:rPr lang="en-US" sz="1800" dirty="0" err="1"/>
              <a:t>field_name</a:t>
            </a:r>
            <a:r>
              <a:rPr lang="en-US" sz="1800" dirty="0"/>
              <a:t> = </a:t>
            </a:r>
            <a:r>
              <a:rPr lang="en-US" sz="1800" dirty="0" err="1"/>
              <a:t>models.Field</a:t>
            </a:r>
            <a:r>
              <a:rPr lang="en-US" sz="1800" dirty="0"/>
              <a:t>(**options)</a:t>
            </a:r>
          </a:p>
          <a:p>
            <a:r>
              <a:rPr lang="en-US" sz="1800" dirty="0"/>
              <a:t>To create a model, in geeks/models.py Enter the code</a:t>
            </a:r>
            <a:br>
              <a:rPr lang="en-US" sz="2400" dirty="0"/>
            </a:br>
            <a:r>
              <a:rPr lang="en-US" sz="2400" dirty="0"/>
              <a:t> </a:t>
            </a:r>
            <a:endParaRPr lang="en-US" sz="2400" b="1" dirty="0"/>
          </a:p>
          <a:p>
            <a:endParaRPr lang="en-US" sz="2400" b="1" dirty="0"/>
          </a:p>
          <a:p>
            <a:endParaRPr lang="en-US" sz="2400" b="1" dirty="0"/>
          </a:p>
          <a:p>
            <a:endParaRPr lang="en-US" sz="2400" b="1" dirty="0"/>
          </a:p>
          <a:p>
            <a:endParaRPr lang="en-US" sz="2400" dirty="0"/>
          </a:p>
        </p:txBody>
      </p:sp>
    </p:spTree>
    <p:extLst>
      <p:ext uri="{BB962C8B-B14F-4D97-AF65-F5344CB8AC3E}">
        <p14:creationId xmlns:p14="http://schemas.microsoft.com/office/powerpoint/2010/main" val="1647038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CD90D1C-A87C-488B-9D37-5905998B3091}"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4915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CC852A-FC70-4700-8BA2-9DF617CC0245}" type="slidenum">
              <a:rPr lang="en-US" altLang="en-US">
                <a:solidFill>
                  <a:srgbClr val="898989"/>
                </a:solidFill>
                <a:latin typeface="Calibri" panose="020F0502020204030204" pitchFamily="34" charset="0"/>
              </a:rPr>
              <a:pPr/>
              <a:t>36</a:t>
            </a:fld>
            <a:endParaRPr lang="en-US" altLang="en-US" dirty="0">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Models(continue….)</a:t>
            </a:r>
          </a:p>
        </p:txBody>
      </p:sp>
      <p:sp>
        <p:nvSpPr>
          <p:cNvPr id="4915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1688" name="TextBox 9"/>
          <p:cNvSpPr txBox="1">
            <a:spLocks noChangeArrowheads="1"/>
          </p:cNvSpPr>
          <p:nvPr/>
        </p:nvSpPr>
        <p:spPr bwMode="auto">
          <a:xfrm>
            <a:off x="2286000" y="1066801"/>
            <a:ext cx="594360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000"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algn="just" eaLnBrk="1" hangingPunct="1"/>
            <a:endParaRPr lang="en-US" altLang="en-US" sz="2400" b="1" dirty="0">
              <a:latin typeface="Times New Roman" panose="02020603050405020304" pitchFamily="18" charset="0"/>
              <a:cs typeface="Times New Roman" panose="02020603050405020304" pitchFamily="18" charset="0"/>
            </a:endParaRPr>
          </a:p>
          <a:p>
            <a:pPr lvl="3"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457200" y="838200"/>
            <a:ext cx="11506200" cy="5909310"/>
          </a:xfrm>
          <a:prstGeom prst="rect">
            <a:avLst/>
          </a:prstGeom>
          <a:solidFill>
            <a:schemeClr val="tx2">
              <a:lumMod val="40000"/>
              <a:lumOff val="60000"/>
            </a:schemeClr>
          </a:solidFill>
          <a:ln w="6350">
            <a:solidFill>
              <a:schemeClr val="tx1"/>
            </a:solidFill>
          </a:ln>
        </p:spPr>
        <p:txBody>
          <a:bodyPr wrap="square">
            <a:spAutoFit/>
          </a:bodyPr>
          <a:lstStyle/>
          <a:p>
            <a:r>
              <a:rPr lang="en-US" dirty="0"/>
              <a:t>To create a model, in geeks/models.py Enter the code</a:t>
            </a:r>
          </a:p>
          <a:p>
            <a:r>
              <a:rPr lang="en-US" dirty="0"/>
              <a:t># import the standard Django Model</a:t>
            </a:r>
          </a:p>
          <a:p>
            <a:r>
              <a:rPr lang="en-US" dirty="0"/>
              <a:t># from built-in library</a:t>
            </a:r>
          </a:p>
          <a:p>
            <a:r>
              <a:rPr lang="en-US" dirty="0"/>
              <a:t>from </a:t>
            </a:r>
            <a:r>
              <a:rPr lang="en-US" dirty="0" err="1"/>
              <a:t>django.db</a:t>
            </a:r>
            <a:r>
              <a:rPr lang="en-US" dirty="0"/>
              <a:t> import models</a:t>
            </a:r>
          </a:p>
          <a:p>
            <a:endParaRPr lang="en-US" dirty="0"/>
          </a:p>
          <a:p>
            <a:r>
              <a:rPr lang="en-US" dirty="0"/>
              <a:t># declare a new model with a name "</a:t>
            </a:r>
            <a:r>
              <a:rPr lang="en-US" dirty="0" err="1"/>
              <a:t>GeeksModel</a:t>
            </a:r>
            <a:r>
              <a:rPr lang="en-US" dirty="0"/>
              <a:t>"</a:t>
            </a:r>
          </a:p>
          <a:p>
            <a:r>
              <a:rPr lang="en-US" dirty="0"/>
              <a:t>class </a:t>
            </a:r>
            <a:r>
              <a:rPr lang="en-US" dirty="0" err="1"/>
              <a:t>GeeksModel</a:t>
            </a:r>
            <a:r>
              <a:rPr lang="en-US" dirty="0"/>
              <a:t>(</a:t>
            </a:r>
            <a:r>
              <a:rPr lang="en-US" dirty="0" err="1"/>
              <a:t>models.Model</a:t>
            </a:r>
            <a:r>
              <a:rPr lang="en-US" dirty="0"/>
              <a:t>):</a:t>
            </a:r>
          </a:p>
          <a:p>
            <a:r>
              <a:rPr lang="en-US" dirty="0"/>
              <a:t>		# fields of the model</a:t>
            </a:r>
          </a:p>
          <a:p>
            <a:r>
              <a:rPr lang="en-US" dirty="0"/>
              <a:t>	title = </a:t>
            </a:r>
            <a:r>
              <a:rPr lang="en-US" dirty="0" err="1"/>
              <a:t>models.CharField</a:t>
            </a:r>
            <a:r>
              <a:rPr lang="en-US" dirty="0"/>
              <a:t>(</a:t>
            </a:r>
            <a:r>
              <a:rPr lang="en-US" dirty="0" err="1"/>
              <a:t>max_length</a:t>
            </a:r>
            <a:r>
              <a:rPr lang="en-US" dirty="0"/>
              <a:t> = 200)</a:t>
            </a:r>
          </a:p>
          <a:p>
            <a:r>
              <a:rPr lang="en-US" dirty="0"/>
              <a:t>	description = </a:t>
            </a:r>
            <a:r>
              <a:rPr lang="en-US" dirty="0" err="1"/>
              <a:t>models.TextField</a:t>
            </a:r>
            <a:r>
              <a:rPr lang="en-US" dirty="0"/>
              <a:t>()</a:t>
            </a:r>
          </a:p>
          <a:p>
            <a:r>
              <a:rPr lang="en-US" dirty="0"/>
              <a:t>	</a:t>
            </a:r>
            <a:r>
              <a:rPr lang="en-US" dirty="0" err="1"/>
              <a:t>last_modified</a:t>
            </a:r>
            <a:r>
              <a:rPr lang="en-US" dirty="0"/>
              <a:t> = </a:t>
            </a:r>
            <a:r>
              <a:rPr lang="en-US" dirty="0" err="1"/>
              <a:t>models.DateTimeField</a:t>
            </a:r>
            <a:r>
              <a:rPr lang="en-US" dirty="0"/>
              <a:t>(</a:t>
            </a:r>
            <a:r>
              <a:rPr lang="en-US" dirty="0" err="1"/>
              <a:t>auto_now_add</a:t>
            </a:r>
            <a:r>
              <a:rPr lang="en-US" dirty="0"/>
              <a:t> = True)</a:t>
            </a:r>
          </a:p>
          <a:p>
            <a:r>
              <a:rPr lang="en-US" dirty="0"/>
              <a:t>	</a:t>
            </a:r>
            <a:r>
              <a:rPr lang="en-US" dirty="0" err="1"/>
              <a:t>img</a:t>
            </a:r>
            <a:r>
              <a:rPr lang="en-US" dirty="0"/>
              <a:t> = </a:t>
            </a:r>
            <a:r>
              <a:rPr lang="en-US" dirty="0" err="1"/>
              <a:t>models.ImageField</a:t>
            </a:r>
            <a:r>
              <a:rPr lang="en-US" dirty="0"/>
              <a:t>(</a:t>
            </a:r>
            <a:r>
              <a:rPr lang="en-US" dirty="0" err="1"/>
              <a:t>upload_to</a:t>
            </a:r>
            <a:r>
              <a:rPr lang="en-US" dirty="0"/>
              <a:t> = "images/")</a:t>
            </a:r>
          </a:p>
          <a:p>
            <a:endParaRPr lang="en-US" dirty="0"/>
          </a:p>
          <a:p>
            <a:r>
              <a:rPr lang="en-US" dirty="0"/>
              <a:t>		# renames the instances of the model</a:t>
            </a:r>
          </a:p>
          <a:p>
            <a:r>
              <a:rPr lang="en-US" dirty="0"/>
              <a:t>		# with their title name</a:t>
            </a:r>
          </a:p>
          <a:p>
            <a:r>
              <a:rPr lang="en-US" dirty="0"/>
              <a:t>	def __</a:t>
            </a:r>
            <a:r>
              <a:rPr lang="en-US" dirty="0" err="1"/>
              <a:t>str</a:t>
            </a:r>
            <a:r>
              <a:rPr lang="en-US" dirty="0"/>
              <a:t>__(self):</a:t>
            </a:r>
          </a:p>
          <a:p>
            <a:r>
              <a:rPr lang="en-US" dirty="0"/>
              <a:t>		return </a:t>
            </a:r>
            <a:r>
              <a:rPr lang="en-US" dirty="0" err="1"/>
              <a:t>self.title</a:t>
            </a:r>
            <a:endParaRPr lang="en-US" dirty="0"/>
          </a:p>
          <a:p>
            <a:endParaRPr lang="en-US" dirty="0"/>
          </a:p>
          <a:p>
            <a:endParaRPr lang="en-US" dirty="0"/>
          </a:p>
          <a:p>
            <a:endParaRPr lang="en-US" dirty="0"/>
          </a:p>
          <a:p>
            <a:r>
              <a:rPr lang="en-US" dirty="0"/>
              <a:t> </a:t>
            </a:r>
          </a:p>
        </p:txBody>
      </p:sp>
    </p:spTree>
    <p:extLst>
      <p:ext uri="{BB962C8B-B14F-4D97-AF65-F5344CB8AC3E}">
        <p14:creationId xmlns:p14="http://schemas.microsoft.com/office/powerpoint/2010/main" val="17003671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71688"/>
                                        </p:tgtEl>
                                        <p:attrNameLst>
                                          <p:attrName>style.visibility</p:attrName>
                                        </p:attrNameLst>
                                      </p:cBhvr>
                                      <p:to>
                                        <p:strVal val="visible"/>
                                      </p:to>
                                    </p:set>
                                    <p:anim calcmode="lin" valueType="num">
                                      <p:cBhvr additive="base">
                                        <p:cTn id="12" dur="500" fill="hold"/>
                                        <p:tgtEl>
                                          <p:spTgt spid="71688"/>
                                        </p:tgtEl>
                                        <p:attrNameLst>
                                          <p:attrName>ppt_x</p:attrName>
                                        </p:attrNameLst>
                                      </p:cBhvr>
                                      <p:tavLst>
                                        <p:tav tm="0">
                                          <p:val>
                                            <p:strVal val="#ppt_x"/>
                                          </p:val>
                                        </p:tav>
                                        <p:tav tm="100000">
                                          <p:val>
                                            <p:strVal val="#ppt_x"/>
                                          </p:val>
                                        </p:tav>
                                      </p:tavLst>
                                    </p:anim>
                                    <p:anim calcmode="lin" valueType="num">
                                      <p:cBhvr additive="base">
                                        <p:cTn id="13" dur="500" fill="hold"/>
                                        <p:tgtEl>
                                          <p:spTgt spid="716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168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CB3CB6A-F7C0-4C4A-A8DE-49301C459646}"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5120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121B47C-45D3-43C9-82D1-CF1F65D2BD66}" type="slidenum">
              <a:rPr lang="en-US" altLang="en-US">
                <a:solidFill>
                  <a:srgbClr val="898989"/>
                </a:solidFill>
                <a:latin typeface="Calibri" panose="020F0502020204030204" pitchFamily="34" charset="0"/>
              </a:rPr>
              <a:pPr/>
              <a:t>37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Models(continue….)</a:t>
            </a:r>
          </a:p>
        </p:txBody>
      </p:sp>
      <p:sp>
        <p:nvSpPr>
          <p:cNvPr id="5120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5784" name="TextBox 9"/>
          <p:cNvSpPr txBox="1">
            <a:spLocks noChangeArrowheads="1"/>
          </p:cNvSpPr>
          <p:nvPr/>
        </p:nvSpPr>
        <p:spPr bwMode="auto">
          <a:xfrm>
            <a:off x="2286000" y="1066801"/>
            <a:ext cx="594360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000"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algn="just" eaLnBrk="1" hangingPunct="1"/>
            <a:endParaRPr lang="en-US" altLang="en-US" sz="2400" b="1" dirty="0">
              <a:latin typeface="Times New Roman" panose="02020603050405020304" pitchFamily="18" charset="0"/>
              <a:cs typeface="Times New Roman" panose="02020603050405020304" pitchFamily="18" charset="0"/>
            </a:endParaRPr>
          </a:p>
          <a:p>
            <a:pPr lvl="3"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sp>
        <p:nvSpPr>
          <p:cNvPr id="75785" name="TextBox 11"/>
          <p:cNvSpPr txBox="1">
            <a:spLocks noChangeArrowheads="1"/>
          </p:cNvSpPr>
          <p:nvPr/>
        </p:nvSpPr>
        <p:spPr bwMode="auto">
          <a:xfrm>
            <a:off x="3276600" y="2063751"/>
            <a:ext cx="67056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sz="2200" dirty="0">
                <a:latin typeface="Times New Roman" panose="02020603050405020304" pitchFamily="18" charset="0"/>
                <a:cs typeface="Times New Roman" panose="02020603050405020304" pitchFamily="18" charset="0"/>
              </a:rPr>
            </a:br>
            <a:br>
              <a:rPr lang="en-US" altLang="en-US" dirty="0"/>
            </a:br>
            <a:endParaRPr lang="en-US" altLang="en-US" dirty="0"/>
          </a:p>
        </p:txBody>
      </p:sp>
      <p:sp>
        <p:nvSpPr>
          <p:cNvPr id="39937" name="Rectangle 1"/>
          <p:cNvSpPr>
            <a:spLocks noChangeArrowheads="1"/>
          </p:cNvSpPr>
          <p:nvPr/>
        </p:nvSpPr>
        <p:spPr bwMode="auto">
          <a:xfrm>
            <a:off x="346166" y="840872"/>
            <a:ext cx="11811000" cy="3175188"/>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pPr marL="571500" lvl="1" indent="0" algn="just">
              <a:spcBef>
                <a:spcPts val="363"/>
              </a:spcBef>
              <a:buClr>
                <a:srgbClr val="000000"/>
              </a:buClr>
              <a:buNone/>
            </a:pPr>
            <a:r>
              <a:rPr lang="en-US" dirty="0"/>
              <a:t>whenever we create a Model, Delete a Model, or update anything in any of models.py of our project. We need to run two commands </a:t>
            </a:r>
            <a:r>
              <a:rPr lang="en-US" dirty="0" err="1"/>
              <a:t>makemigrations</a:t>
            </a:r>
            <a:r>
              <a:rPr lang="en-US" dirty="0"/>
              <a:t> and migrate. </a:t>
            </a:r>
            <a:r>
              <a:rPr lang="en-US" dirty="0" err="1"/>
              <a:t>makemigrations</a:t>
            </a:r>
            <a:r>
              <a:rPr lang="en-US" dirty="0"/>
              <a:t> basically generates the SQL commands for preinstalled apps (which can be viewed in installed apps in settings.py) and your newly created app’s model which you add in installed apps whereas migrate executes those SQL commands in the database file. </a:t>
            </a:r>
          </a:p>
          <a:p>
            <a:r>
              <a:rPr lang="en-US" dirty="0"/>
              <a:t>So when we run </a:t>
            </a:r>
          </a:p>
          <a:p>
            <a:r>
              <a:rPr lang="en-US" dirty="0"/>
              <a:t>Python manage.py </a:t>
            </a:r>
            <a:r>
              <a:rPr lang="en-US" dirty="0" err="1"/>
              <a:t>makemigrations</a:t>
            </a:r>
            <a:endParaRPr lang="en-US" dirty="0"/>
          </a:p>
          <a:p>
            <a:r>
              <a:rPr lang="en-US" dirty="0"/>
              <a:t>SQL Query to create above Model as a Table is created and </a:t>
            </a:r>
            <a:br>
              <a:rPr lang="en-US" dirty="0"/>
            </a:br>
            <a:r>
              <a:rPr lang="en-US" dirty="0"/>
              <a:t> Python manage.py migrate</a:t>
            </a:r>
          </a:p>
          <a:p>
            <a:r>
              <a:rPr lang="en-US" dirty="0"/>
              <a:t>creates the table in the database.</a:t>
            </a:r>
            <a:br>
              <a:rPr lang="en-US" dirty="0"/>
            </a:br>
            <a:r>
              <a:rPr lang="en-US" dirty="0"/>
              <a:t>Now we have created a model we can perform various operations such as creating a Row for the table or in terms of Django Creating an instance of Model.</a:t>
            </a:r>
            <a:endParaRPr lang="en-US" altLang="en-US"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Tree>
    <p:extLst>
      <p:ext uri="{BB962C8B-B14F-4D97-AF65-F5344CB8AC3E}">
        <p14:creationId xmlns:p14="http://schemas.microsoft.com/office/powerpoint/2010/main" val="15346021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75784"/>
                                        </p:tgtEl>
                                        <p:attrNameLst>
                                          <p:attrName>style.visibility</p:attrName>
                                        </p:attrNameLst>
                                      </p:cBhvr>
                                      <p:to>
                                        <p:strVal val="visible"/>
                                      </p:to>
                                    </p:set>
                                    <p:anim calcmode="lin" valueType="num">
                                      <p:cBhvr additive="base">
                                        <p:cTn id="12" dur="500" fill="hold"/>
                                        <p:tgtEl>
                                          <p:spTgt spid="75784"/>
                                        </p:tgtEl>
                                        <p:attrNameLst>
                                          <p:attrName>ppt_x</p:attrName>
                                        </p:attrNameLst>
                                      </p:cBhvr>
                                      <p:tavLst>
                                        <p:tav tm="0">
                                          <p:val>
                                            <p:strVal val="#ppt_x"/>
                                          </p:val>
                                        </p:tav>
                                        <p:tav tm="100000">
                                          <p:val>
                                            <p:strVal val="#ppt_x"/>
                                          </p:val>
                                        </p:tav>
                                      </p:tavLst>
                                    </p:anim>
                                    <p:anim calcmode="lin" valueType="num">
                                      <p:cBhvr additive="base">
                                        <p:cTn id="13" dur="500" fill="hold"/>
                                        <p:tgtEl>
                                          <p:spTgt spid="7578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75785"/>
                                        </p:tgtEl>
                                        <p:attrNameLst>
                                          <p:attrName>style.visibility</p:attrName>
                                        </p:attrNameLst>
                                      </p:cBhvr>
                                      <p:to>
                                        <p:strVal val="visible"/>
                                      </p:to>
                                    </p:set>
                                    <p:animEffect transition="in" filter="circle(in)">
                                      <p:cBhvr>
                                        <p:cTn id="18" dur="2000"/>
                                        <p:tgtEl>
                                          <p:spTgt spid="75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5784" grpId="0"/>
      <p:bldP spid="7578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p:cNvSpPr>
            <a:spLocks noGrp="1"/>
          </p:cNvSpPr>
          <p:nvPr>
            <p:ph idx="1"/>
          </p:nvPr>
        </p:nvSpPr>
        <p:spPr>
          <a:xfrm>
            <a:off x="1905000" y="838200"/>
            <a:ext cx="8382000" cy="4052888"/>
          </a:xfrm>
        </p:spPr>
        <p:txBody>
          <a:bodyPr/>
          <a:lstStyle/>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3"/>
              </a:spcBef>
              <a:buClr>
                <a:srgbClr val="000000"/>
              </a:buClr>
              <a:buNone/>
            </a:pPr>
            <a:endPar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524000" y="0"/>
            <a:ext cx="105918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Models(continue….)</a:t>
            </a: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26331A00-E1C3-49AF-9A6F-934F205E021E}" type="datetime1">
              <a:rPr lang="en-US" smtClean="0"/>
              <a:t>9/30/2024</a:t>
            </a:fld>
            <a:endParaRPr lang="en-US" dirty="0"/>
          </a:p>
        </p:txBody>
      </p:sp>
      <p:sp>
        <p:nvSpPr>
          <p:cNvPr id="52230" name="Google Shape;151;p18"/>
          <p:cNvSpPr>
            <a:spLocks noGrp="1" noChangeArrowheads="1"/>
          </p:cNvSpPr>
          <p:nvPr>
            <p:ph type="sldNum" sz="quarter" idx="12"/>
          </p:nvPr>
        </p:nvSpPr>
        <p:spPr bwMode="auto">
          <a:xfrm>
            <a:off x="8416925" y="64039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E8F9DFC7-36A3-453A-8D5A-69BEEBA9D176}" type="slidenum">
              <a:rPr lang="en-US" altLang="en-US">
                <a:solidFill>
                  <a:srgbClr val="898989"/>
                </a:solidFill>
                <a:latin typeface="Calibri" panose="020F0502020204030204" pitchFamily="34" charset="0"/>
              </a:rPr>
              <a:pPr algn="ctr">
                <a:buSzPts val="1400"/>
                <a:buFont typeface="Arial" panose="020B0604020202020204" pitchFamily="34" charset="0"/>
                <a:buNone/>
              </a:pPr>
              <a:t>38</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962400" y="6492876"/>
            <a:ext cx="5029200" cy="365125"/>
          </a:xfrm>
        </p:spPr>
        <p:txBody>
          <a:bodyPr/>
          <a:lstStyle/>
          <a:p>
            <a:pPr algn="r">
              <a:buFont typeface="Arial" pitchFamily="34" charset="0"/>
              <a:buNone/>
              <a:defRPr/>
            </a:pPr>
            <a:r>
              <a:rPr lang="en-US"/>
              <a:t>Ritesh Kumar Singh          Python web development with Django     Unit II</a:t>
            </a:r>
            <a:endParaRPr lang="en-US" dirty="0"/>
          </a:p>
        </p:txBody>
      </p:sp>
      <p:sp>
        <p:nvSpPr>
          <p:cNvPr id="37889" name="Rectangle 1"/>
          <p:cNvSpPr>
            <a:spLocks noChangeArrowheads="1"/>
          </p:cNvSpPr>
          <p:nvPr/>
        </p:nvSpPr>
        <p:spPr bwMode="auto">
          <a:xfrm>
            <a:off x="1447800" y="932107"/>
            <a:ext cx="10591800" cy="1513194"/>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pPr marL="114300" indent="0" algn="just">
              <a:spcBef>
                <a:spcPts val="363"/>
              </a:spcBef>
              <a:buClr>
                <a:srgbClr val="000000"/>
              </a:buClr>
              <a:buNone/>
            </a:pPr>
            <a:r>
              <a:rPr lang="en-US" b="1" dirty="0"/>
              <a:t>Django Model Fields</a:t>
            </a:r>
          </a:p>
          <a:p>
            <a:r>
              <a:rPr lang="en-US" dirty="0"/>
              <a:t>The fields defined inside the Model class are the columns name of the mapped table. The fields name should not be python reserve words like clean, save or delete etc.</a:t>
            </a:r>
          </a:p>
          <a:p>
            <a:r>
              <a:rPr lang="en-US" dirty="0"/>
              <a:t>Django provides various built-in fields types.</a:t>
            </a:r>
          </a:p>
          <a:p>
            <a:endParaRPr lang="en-US" dirty="0"/>
          </a:p>
        </p:txBody>
      </p:sp>
      <p:pic>
        <p:nvPicPr>
          <p:cNvPr id="8" name="Picture 2" descr="C:\Users\mam\Desktop\Capture.PNG"/>
          <p:cNvPicPr>
            <a:picLocks noChangeAspect="1" noChangeArrowheads="1"/>
          </p:cNvPicPr>
          <p:nvPr/>
        </p:nvPicPr>
        <p:blipFill>
          <a:blip r:embed="rId2"/>
          <a:srcRect/>
          <a:stretch>
            <a:fillRect/>
          </a:stretch>
        </p:blipFill>
        <p:spPr bwMode="auto">
          <a:xfrm>
            <a:off x="1905000" y="2590800"/>
            <a:ext cx="7924800" cy="3200400"/>
          </a:xfrm>
          <a:prstGeom prst="rect">
            <a:avLst/>
          </a:prstGeom>
          <a:noFill/>
        </p:spPr>
      </p:pic>
    </p:spTree>
    <p:extLst>
      <p:ext uri="{BB962C8B-B14F-4D97-AF65-F5344CB8AC3E}">
        <p14:creationId xmlns:p14="http://schemas.microsoft.com/office/powerpoint/2010/main" val="3517452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5632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279F3A-713B-4D95-9B78-02BBC4B3EE4A}" type="slidenum">
              <a:rPr lang="en-US" altLang="en-US">
                <a:solidFill>
                  <a:srgbClr val="898989"/>
                </a:solidFill>
                <a:latin typeface="Calibri" panose="020F0502020204030204" pitchFamily="34" charset="0"/>
              </a:rPr>
              <a:pPr/>
              <a:t>39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a:t>
            </a:r>
            <a:r>
              <a:rPr lang="en-US" sz="2400" b="1" dirty="0"/>
              <a:t>Django Models(continue….)</a:t>
            </a:r>
          </a:p>
          <a:p>
            <a:pPr>
              <a:defRPr/>
            </a:pPr>
            <a:endParaRPr lang="en-US" sz="3200" dirty="0"/>
          </a:p>
        </p:txBody>
      </p:sp>
      <p:sp>
        <p:nvSpPr>
          <p:cNvPr id="81927" name="TextBox 9"/>
          <p:cNvSpPr txBox="1">
            <a:spLocks noChangeArrowheads="1"/>
          </p:cNvSpPr>
          <p:nvPr/>
        </p:nvSpPr>
        <p:spPr bwMode="auto">
          <a:xfrm>
            <a:off x="2286000" y="908051"/>
            <a:ext cx="7772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Times New Roman" panose="02020603050405020304" pitchFamily="18" charset="0"/>
                <a:cs typeface="Times New Roman" panose="02020603050405020304" pitchFamily="18" charset="0"/>
              </a:rPr>
              <a:t> </a:t>
            </a:r>
          </a:p>
        </p:txBody>
      </p:sp>
      <p:sp>
        <p:nvSpPr>
          <p:cNvPr id="2" name="Date Placeholder 1"/>
          <p:cNvSpPr>
            <a:spLocks noGrp="1"/>
          </p:cNvSpPr>
          <p:nvPr>
            <p:ph type="dt" sz="half" idx="10"/>
          </p:nvPr>
        </p:nvSpPr>
        <p:spPr/>
        <p:txBody>
          <a:bodyPr/>
          <a:lstStyle/>
          <a:p>
            <a:fld id="{DCAAAA4E-4D41-4879-83D1-9805AF39336C}" type="datetime1">
              <a:rPr lang="en-US" smtClean="0"/>
              <a:t>9/30/2024</a:t>
            </a:fld>
            <a:endParaRPr lang="en-US"/>
          </a:p>
        </p:txBody>
      </p:sp>
      <p:pic>
        <p:nvPicPr>
          <p:cNvPr id="9" name="Picture 2" descr="C:\Users\mam\Desktop\Capture 1.PNG"/>
          <p:cNvPicPr>
            <a:picLocks noChangeAspect="1" noChangeArrowheads="1"/>
          </p:cNvPicPr>
          <p:nvPr/>
        </p:nvPicPr>
        <p:blipFill>
          <a:blip r:embed="rId3"/>
          <a:srcRect/>
          <a:stretch>
            <a:fillRect/>
          </a:stretch>
        </p:blipFill>
        <p:spPr bwMode="auto">
          <a:xfrm>
            <a:off x="609600" y="923575"/>
            <a:ext cx="9220200" cy="5010850"/>
          </a:xfrm>
          <a:prstGeom prst="rect">
            <a:avLst/>
          </a:prstGeom>
          <a:noFill/>
        </p:spPr>
      </p:pic>
    </p:spTree>
    <p:extLst>
      <p:ext uri="{BB962C8B-B14F-4D97-AF65-F5344CB8AC3E}">
        <p14:creationId xmlns:p14="http://schemas.microsoft.com/office/powerpoint/2010/main" val="2417333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1927"/>
                                        </p:tgtEl>
                                        <p:attrNameLst>
                                          <p:attrName>style.visibility</p:attrName>
                                        </p:attrNameLst>
                                      </p:cBhvr>
                                      <p:to>
                                        <p:strVal val="visible"/>
                                      </p:to>
                                    </p:set>
                                    <p:anim calcmode="lin" valueType="num">
                                      <p:cBhvr additive="base">
                                        <p:cTn id="12" dur="500" fill="hold"/>
                                        <p:tgtEl>
                                          <p:spTgt spid="81927"/>
                                        </p:tgtEl>
                                        <p:attrNameLst>
                                          <p:attrName>ppt_x</p:attrName>
                                        </p:attrNameLst>
                                      </p:cBhvr>
                                      <p:tavLst>
                                        <p:tav tm="0">
                                          <p:val>
                                            <p:strVal val="#ppt_x"/>
                                          </p:val>
                                        </p:tav>
                                        <p:tav tm="100000">
                                          <p:val>
                                            <p:strVal val="#ppt_x"/>
                                          </p:val>
                                        </p:tav>
                                      </p:tavLst>
                                    </p:anim>
                                    <p:anim calcmode="lin" valueType="num">
                                      <p:cBhvr additive="base">
                                        <p:cTn id="13" dur="500" fill="hold"/>
                                        <p:tgtEl>
                                          <p:spTgt spid="819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19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3ECB228-E630-44EC-8707-8F9DD813C010}"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6144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668FD6-A3EE-4562-97EF-2DB22AB9A5C3}" type="slidenum">
              <a:rPr lang="en-US" altLang="en-US">
                <a:solidFill>
                  <a:srgbClr val="898989"/>
                </a:solidFill>
                <a:latin typeface="Calibri" panose="020F0502020204030204" pitchFamily="34" charset="0"/>
              </a:rPr>
              <a:pPr/>
              <a:t>40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Models(continue….)</a:t>
            </a:r>
          </a:p>
        </p:txBody>
      </p:sp>
      <p:sp>
        <p:nvSpPr>
          <p:cNvPr id="61447"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pic>
        <p:nvPicPr>
          <p:cNvPr id="9" name="Picture 2" descr="C:\Users\mam\Desktop\Capture 2.PNG"/>
          <p:cNvPicPr>
            <a:picLocks noChangeAspect="1" noChangeArrowheads="1"/>
          </p:cNvPicPr>
          <p:nvPr/>
        </p:nvPicPr>
        <p:blipFill>
          <a:blip r:embed="rId3"/>
          <a:srcRect/>
          <a:stretch>
            <a:fillRect/>
          </a:stretch>
        </p:blipFill>
        <p:spPr bwMode="auto">
          <a:xfrm>
            <a:off x="1143000" y="914400"/>
            <a:ext cx="9753600" cy="5329630"/>
          </a:xfrm>
          <a:prstGeom prst="rect">
            <a:avLst/>
          </a:prstGeom>
          <a:noFill/>
        </p:spPr>
      </p:pic>
    </p:spTree>
    <p:extLst>
      <p:ext uri="{BB962C8B-B14F-4D97-AF65-F5344CB8AC3E}">
        <p14:creationId xmlns:p14="http://schemas.microsoft.com/office/powerpoint/2010/main" val="16236987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71AD370-7FE0-4A87-B3C5-379EC55CBD6F}"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6246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2D0707B-0610-4D2D-AB1F-98DA99E9C9C6}" type="slidenum">
              <a:rPr lang="en-US" altLang="en-US">
                <a:solidFill>
                  <a:srgbClr val="898989"/>
                </a:solidFill>
                <a:latin typeface="Calibri" panose="020F0502020204030204" pitchFamily="34" charset="0"/>
              </a:rPr>
              <a:pPr/>
              <a:t>41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b="1" dirty="0"/>
              <a:t>                                              Django Models(continue….)</a:t>
            </a:r>
          </a:p>
          <a:p>
            <a:pPr>
              <a:defRPr/>
            </a:pPr>
            <a:endParaRPr lang="en-US" sz="3200" dirty="0"/>
          </a:p>
        </p:txBody>
      </p:sp>
      <p:sp>
        <p:nvSpPr>
          <p:cNvPr id="62471"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457" name="Rectangle 1"/>
          <p:cNvSpPr>
            <a:spLocks noChangeArrowheads="1"/>
          </p:cNvSpPr>
          <p:nvPr/>
        </p:nvSpPr>
        <p:spPr bwMode="auto">
          <a:xfrm rot="10800000" flipV="1">
            <a:off x="2743200" y="2105813"/>
            <a:ext cx="79248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b="1" dirty="0">
                <a:latin typeface="Calibri" pitchFamily="34" charset="0"/>
                <a:ea typeface="Times New Roman" pitchFamily="18" charset="0"/>
                <a:cs typeface="Times New Roman" pitchFamily="18" charset="0"/>
              </a:rPr>
              <a:t> </a:t>
            </a:r>
            <a:endParaRPr lang="en-US" dirty="0">
              <a:latin typeface="Arial" pitchFamily="34" charset="0"/>
              <a:cs typeface="Arial" pitchFamily="34" charset="0"/>
            </a:endParaRPr>
          </a:p>
        </p:txBody>
      </p:sp>
      <p:pic>
        <p:nvPicPr>
          <p:cNvPr id="9" name="Picture 2" descr="C:\Users\mam\Desktop\Capture.PNG"/>
          <p:cNvPicPr>
            <a:picLocks noChangeAspect="1" noChangeArrowheads="1"/>
          </p:cNvPicPr>
          <p:nvPr/>
        </p:nvPicPr>
        <p:blipFill>
          <a:blip r:embed="rId3"/>
          <a:srcRect/>
          <a:stretch>
            <a:fillRect/>
          </a:stretch>
        </p:blipFill>
        <p:spPr bwMode="auto">
          <a:xfrm>
            <a:off x="457200" y="1295400"/>
            <a:ext cx="9525000" cy="4648200"/>
          </a:xfrm>
          <a:prstGeom prst="rect">
            <a:avLst/>
          </a:prstGeom>
          <a:noFill/>
        </p:spPr>
      </p:pic>
    </p:spTree>
    <p:extLst>
      <p:ext uri="{BB962C8B-B14F-4D97-AF65-F5344CB8AC3E}">
        <p14:creationId xmlns:p14="http://schemas.microsoft.com/office/powerpoint/2010/main" val="22430958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4E43CFD-6708-4FD8-96B9-4F2C1AEA98D2}"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6349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B7435E-7134-4494-8BD5-E45363701B98}" type="slidenum">
              <a:rPr lang="en-US" altLang="en-US">
                <a:solidFill>
                  <a:srgbClr val="898989"/>
                </a:solidFill>
                <a:latin typeface="Calibri" panose="020F0502020204030204" pitchFamily="34" charset="0"/>
              </a:rPr>
              <a:pPr/>
              <a:t>42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with Bootstrap</a:t>
            </a:r>
          </a:p>
        </p:txBody>
      </p:sp>
      <p:sp>
        <p:nvSpPr>
          <p:cNvPr id="63495"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3497"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409" name="Rectangle 1"/>
          <p:cNvSpPr>
            <a:spLocks noChangeArrowheads="1"/>
          </p:cNvSpPr>
          <p:nvPr/>
        </p:nvSpPr>
        <p:spPr bwMode="auto">
          <a:xfrm>
            <a:off x="304800" y="914400"/>
            <a:ext cx="11696700" cy="1938992"/>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r>
              <a:rPr lang="en-US" dirty="0"/>
              <a:t>Bootstrap is a framework which is used to create user interface in web applications. It provides </a:t>
            </a:r>
            <a:r>
              <a:rPr lang="en-US" dirty="0" err="1"/>
              <a:t>css</a:t>
            </a:r>
            <a:r>
              <a:rPr lang="en-US" dirty="0"/>
              <a:t>, </a:t>
            </a:r>
            <a:r>
              <a:rPr lang="en-US" dirty="0" err="1"/>
              <a:t>js</a:t>
            </a:r>
            <a:r>
              <a:rPr lang="en-US" dirty="0"/>
              <a:t> and other tools that help to create required interface.</a:t>
            </a:r>
          </a:p>
          <a:p>
            <a:r>
              <a:rPr lang="en-US" dirty="0"/>
              <a:t>In Django, we can use bootstrap to create more user friendly applications.</a:t>
            </a:r>
          </a:p>
          <a:p>
            <a:r>
              <a:rPr lang="en-US" dirty="0"/>
              <a:t>To implement bootstrap, we need to follow the following steps.</a:t>
            </a:r>
          </a:p>
          <a:p>
            <a:r>
              <a:rPr lang="en-US" b="1" dirty="0"/>
              <a:t>Download the Bootstrap</a:t>
            </a:r>
          </a:p>
          <a:p>
            <a:r>
              <a:rPr lang="en-US" dirty="0"/>
              <a:t>Visit the official site https://getbootstrap.com to download the bootstrap at local machine. It is a zip file, extract it and see it contains the two folder.</a:t>
            </a:r>
          </a:p>
        </p:txBody>
      </p:sp>
      <p:pic>
        <p:nvPicPr>
          <p:cNvPr id="9" name="Picture 2" descr="C:\Users\mam\Desktop\django-with-bootstrap.png"/>
          <p:cNvPicPr>
            <a:picLocks noChangeAspect="1" noChangeArrowheads="1"/>
          </p:cNvPicPr>
          <p:nvPr/>
        </p:nvPicPr>
        <p:blipFill>
          <a:blip r:embed="rId3"/>
          <a:srcRect/>
          <a:stretch>
            <a:fillRect/>
          </a:stretch>
        </p:blipFill>
        <p:spPr bwMode="auto">
          <a:xfrm>
            <a:off x="914400" y="2971800"/>
            <a:ext cx="6715552" cy="3048000"/>
          </a:xfrm>
          <a:prstGeom prst="rect">
            <a:avLst/>
          </a:prstGeom>
          <a:noFill/>
        </p:spPr>
      </p:pic>
    </p:spTree>
    <p:extLst>
      <p:ext uri="{BB962C8B-B14F-4D97-AF65-F5344CB8AC3E}">
        <p14:creationId xmlns:p14="http://schemas.microsoft.com/office/powerpoint/2010/main" val="7496215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3EB5125-001D-412B-B635-FB4B10AFAA25}"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6451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7AC8DB-0C25-4DF7-ADCB-52E8AD56B26C}" type="slidenum">
              <a:rPr lang="en-US" altLang="en-US">
                <a:solidFill>
                  <a:srgbClr val="898989"/>
                </a:solidFill>
                <a:latin typeface="Calibri" panose="020F0502020204030204" pitchFamily="34" charset="0"/>
              </a:rPr>
              <a:pPr/>
              <a:t>43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a:t>
            </a:r>
            <a:r>
              <a:rPr lang="en-US" sz="3200" b="1" dirty="0"/>
              <a:t>Django with Bootstrap</a:t>
            </a:r>
          </a:p>
          <a:p>
            <a:pPr>
              <a:defRPr/>
            </a:pPr>
            <a:endParaRPr lang="en-US" sz="3200" dirty="0">
              <a:latin typeface="Times New Roman" pitchFamily="18" charset="0"/>
              <a:cs typeface="Times New Roman" pitchFamily="18" charset="0"/>
            </a:endParaRPr>
          </a:p>
        </p:txBody>
      </p:sp>
      <p:sp>
        <p:nvSpPr>
          <p:cNvPr id="64519"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21"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361" name="Rectangle 1"/>
          <p:cNvSpPr>
            <a:spLocks noChangeArrowheads="1"/>
          </p:cNvSpPr>
          <p:nvPr/>
        </p:nvSpPr>
        <p:spPr bwMode="auto">
          <a:xfrm>
            <a:off x="152400" y="990600"/>
            <a:ext cx="11458303" cy="2215991"/>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r>
              <a:rPr lang="en-US" b="1" dirty="0"/>
              <a:t>Create a Directory</a:t>
            </a:r>
          </a:p>
          <a:p>
            <a:r>
              <a:rPr lang="en-US" dirty="0"/>
              <a:t>Create a directory with the name </a:t>
            </a:r>
            <a:r>
              <a:rPr lang="en-US" b="1" dirty="0"/>
              <a:t>static</a:t>
            </a:r>
            <a:r>
              <a:rPr lang="en-US" dirty="0"/>
              <a:t> inside the created app and place the </a:t>
            </a:r>
            <a:r>
              <a:rPr lang="en-US" dirty="0" err="1"/>
              <a:t>css</a:t>
            </a:r>
            <a:r>
              <a:rPr lang="en-US" dirty="0"/>
              <a:t> and </a:t>
            </a:r>
            <a:r>
              <a:rPr lang="en-US" dirty="0" err="1"/>
              <a:t>jss</a:t>
            </a:r>
            <a:r>
              <a:rPr lang="en-US" dirty="0"/>
              <a:t> folders inside it. </a:t>
            </a:r>
          </a:p>
          <a:p>
            <a:r>
              <a:rPr lang="en-US" b="1" dirty="0"/>
              <a:t>Create a Template</a:t>
            </a:r>
            <a:endParaRPr lang="en-US" dirty="0"/>
          </a:p>
          <a:p>
            <a:r>
              <a:rPr lang="en-US" dirty="0"/>
              <a:t>First create a templates folder inside the app then create a index.htm file to implement (link) the bootstrap </a:t>
            </a:r>
            <a:r>
              <a:rPr lang="en-US" dirty="0" err="1"/>
              <a:t>css</a:t>
            </a:r>
            <a:r>
              <a:rPr lang="en-US" dirty="0"/>
              <a:t> and </a:t>
            </a:r>
            <a:r>
              <a:rPr lang="en-US" dirty="0" err="1"/>
              <a:t>js</a:t>
            </a:r>
            <a:r>
              <a:rPr lang="en-US" dirty="0"/>
              <a:t> files.</a:t>
            </a:r>
          </a:p>
          <a:p>
            <a:r>
              <a:rPr lang="en-US" b="1" dirty="0"/>
              <a:t>Load the </a:t>
            </a:r>
            <a:r>
              <a:rPr lang="en-US" b="1" dirty="0" err="1"/>
              <a:t>Boostrap</a:t>
            </a:r>
            <a:endParaRPr lang="en-US" dirty="0"/>
          </a:p>
          <a:p>
            <a:r>
              <a:rPr lang="en-US" dirty="0"/>
              <a:t>load the bootstrap files resides into the static folder. Use the following code.</a:t>
            </a:r>
          </a:p>
          <a:p>
            <a:r>
              <a:rPr lang="en-US" dirty="0"/>
              <a:t>{% load </a:t>
            </a:r>
            <a:r>
              <a:rPr lang="en-US" dirty="0" err="1"/>
              <a:t>staticfiles</a:t>
            </a:r>
            <a:r>
              <a:rPr lang="en-US" dirty="0"/>
              <a:t> %}  </a:t>
            </a:r>
          </a:p>
          <a:p>
            <a:r>
              <a:rPr lang="en-US" dirty="0"/>
              <a:t>And link the files by providing the file location (source). See the index.html file.</a:t>
            </a:r>
          </a:p>
        </p:txBody>
      </p:sp>
      <p:pic>
        <p:nvPicPr>
          <p:cNvPr id="9" name="Picture 2" descr="C:\Users\mam\Desktop\Capture.PNG"/>
          <p:cNvPicPr>
            <a:picLocks noChangeAspect="1" noChangeArrowheads="1"/>
          </p:cNvPicPr>
          <p:nvPr/>
        </p:nvPicPr>
        <p:blipFill>
          <a:blip r:embed="rId3"/>
          <a:srcRect/>
          <a:stretch>
            <a:fillRect/>
          </a:stretch>
        </p:blipFill>
        <p:spPr bwMode="auto">
          <a:xfrm>
            <a:off x="838200" y="3810000"/>
            <a:ext cx="4876800" cy="2133600"/>
          </a:xfrm>
          <a:prstGeom prst="rect">
            <a:avLst/>
          </a:prstGeom>
          <a:noFill/>
        </p:spPr>
      </p:pic>
    </p:spTree>
    <p:extLst>
      <p:ext uri="{BB962C8B-B14F-4D97-AF65-F5344CB8AC3E}">
        <p14:creationId xmlns:p14="http://schemas.microsoft.com/office/powerpoint/2010/main" val="25410320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F06B1C2-C3AC-4C5D-866C-C2264A2C1129}" type="datetime1">
              <a:rPr lang="en-US" smtClean="0"/>
              <a:t>9/30/2024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II</a:t>
            </a:r>
            <a:endParaRPr lang="en-US" dirty="0"/>
          </a:p>
        </p:txBody>
      </p:sp>
      <p:sp>
        <p:nvSpPr>
          <p:cNvPr id="6554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03CEEC-26AA-4DC7-A8F6-9286431C6E74}" type="slidenum">
              <a:rPr lang="en-US" altLang="en-US">
                <a:solidFill>
                  <a:srgbClr val="898989"/>
                </a:solidFill>
                <a:latin typeface="Calibri" panose="020F0502020204030204" pitchFamily="34" charset="0"/>
              </a:rPr>
              <a:pPr/>
              <a:t>44</a:t>
            </a:fld>
            <a:endParaRPr lang="en-US" altLang="en-US" dirty="0">
              <a:solidFill>
                <a:srgbClr val="898989"/>
              </a:solidFill>
              <a:latin typeface="Calibri" panose="020F0502020204030204" pitchFamily="34" charset="0"/>
            </a:endParaRPr>
          </a:p>
        </p:txBody>
      </p:sp>
      <p:sp>
        <p:nvSpPr>
          <p:cNvPr id="7" name="Title 1"/>
          <p:cNvSpPr txBox="1">
            <a:spLocks/>
          </p:cNvSpPr>
          <p:nvPr/>
        </p:nvSpPr>
        <p:spPr>
          <a:xfrm>
            <a:off x="1447800" y="0"/>
            <a:ext cx="10744199"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with Bootstrap</a:t>
            </a:r>
          </a:p>
        </p:txBody>
      </p:sp>
      <p:sp>
        <p:nvSpPr>
          <p:cNvPr id="65543"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5545"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313" name="Rectangle 1"/>
          <p:cNvSpPr>
            <a:spLocks noChangeArrowheads="1"/>
          </p:cNvSpPr>
          <p:nvPr/>
        </p:nvSpPr>
        <p:spPr bwMode="auto">
          <a:xfrm>
            <a:off x="304800" y="914400"/>
            <a:ext cx="11117580" cy="830997"/>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r>
              <a:rPr lang="en-US" dirty="0"/>
              <a:t>In this template, we have link two files one is </a:t>
            </a:r>
            <a:r>
              <a:rPr lang="en-US" dirty="0" err="1"/>
              <a:t>bootstrap.min.css</a:t>
            </a:r>
            <a:r>
              <a:rPr lang="en-US" dirty="0"/>
              <a:t> and second is </a:t>
            </a:r>
            <a:r>
              <a:rPr lang="en-US" dirty="0" err="1"/>
              <a:t>bootstrap.min.js</a:t>
            </a:r>
            <a:r>
              <a:rPr lang="en-US" dirty="0"/>
              <a:t>. Lets see how to use them in application.</a:t>
            </a:r>
          </a:p>
          <a:p>
            <a:r>
              <a:rPr lang="en-US" dirty="0"/>
              <a:t>Suppose, if we don't use bootstrap, our html login for looks like this:</a:t>
            </a:r>
          </a:p>
        </p:txBody>
      </p:sp>
      <p:pic>
        <p:nvPicPr>
          <p:cNvPr id="9" name="Picture 2"/>
          <p:cNvPicPr>
            <a:picLocks noChangeAspect="1" noChangeArrowheads="1"/>
          </p:cNvPicPr>
          <p:nvPr/>
        </p:nvPicPr>
        <p:blipFill>
          <a:blip r:embed="rId3"/>
          <a:srcRect/>
          <a:stretch>
            <a:fillRect/>
          </a:stretch>
        </p:blipFill>
        <p:spPr bwMode="auto">
          <a:xfrm>
            <a:off x="685800" y="1905001"/>
            <a:ext cx="7362825" cy="3962400"/>
          </a:xfrm>
          <a:prstGeom prst="rect">
            <a:avLst/>
          </a:prstGeom>
          <a:noFill/>
          <a:ln w="9525">
            <a:noFill/>
            <a:miter lim="800000"/>
            <a:headEnd/>
            <a:tailEnd/>
          </a:ln>
          <a:effectLst/>
        </p:spPr>
      </p:pic>
    </p:spTree>
    <p:extLst>
      <p:ext uri="{BB962C8B-B14F-4D97-AF65-F5344CB8AC3E}">
        <p14:creationId xmlns:p14="http://schemas.microsoft.com/office/powerpoint/2010/main" val="386894556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Django with Bootstrap</a:t>
            </a: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AA3C01EB-0854-4E7E-875F-54706E84B425}" type="datetime1">
              <a:rPr lang="en-US" smtClean="0"/>
              <a:t>9/30/2024</a:t>
            </a:fld>
            <a:endParaRPr lang="en-US" dirty="0"/>
          </a:p>
        </p:txBody>
      </p:sp>
      <p:sp>
        <p:nvSpPr>
          <p:cNvPr id="66566" name="Google Shape;151;p18"/>
          <p:cNvSpPr>
            <a:spLocks noGrp="1" noChangeArrowheads="1"/>
          </p:cNvSpPr>
          <p:nvPr>
            <p:ph type="sldNum" sz="quarter" idx="12"/>
          </p:nvPr>
        </p:nvSpPr>
        <p:spPr bwMode="auto">
          <a:xfrm>
            <a:off x="8416925" y="64039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C3A22C13-E77B-43BC-B584-842674831B33}" type="slidenum">
              <a:rPr lang="en-US" altLang="en-US">
                <a:solidFill>
                  <a:srgbClr val="898989"/>
                </a:solidFill>
                <a:latin typeface="Calibri" panose="020F0502020204030204" pitchFamily="34" charset="0"/>
              </a:rPr>
              <a:pPr algn="ctr">
                <a:buSzPts val="1400"/>
                <a:buFont typeface="Arial" panose="020B0604020202020204" pitchFamily="34" charset="0"/>
                <a:buNone/>
              </a:pPr>
              <a:t>45</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86200" y="6416676"/>
            <a:ext cx="5029200" cy="365125"/>
          </a:xfrm>
        </p:spPr>
        <p:txBody>
          <a:bodyPr/>
          <a:lstStyle/>
          <a:p>
            <a:pPr algn="r">
              <a:buFont typeface="Arial" pitchFamily="34" charset="0"/>
              <a:buNone/>
              <a:defRPr/>
            </a:pPr>
            <a:r>
              <a:rPr lang="en-US"/>
              <a:t>Ritesh Kumar Singh          Python web development with Django     Unit II</a:t>
            </a:r>
            <a:endParaRPr lang="en-US" dirty="0"/>
          </a:p>
        </p:txBody>
      </p:sp>
      <p:pic>
        <p:nvPicPr>
          <p:cNvPr id="8" name="Picture 2" descr="C:\Users\mam\Desktop\Capture.PNG"/>
          <p:cNvPicPr>
            <a:picLocks noGrp="1" noChangeAspect="1" noChangeArrowheads="1"/>
          </p:cNvPicPr>
          <p:nvPr>
            <p:ph idx="1"/>
          </p:nvPr>
        </p:nvPicPr>
        <p:blipFill>
          <a:blip r:embed="rId2"/>
          <a:srcRect/>
          <a:stretch>
            <a:fillRect/>
          </a:stretch>
        </p:blipFill>
        <p:spPr bwMode="auto">
          <a:xfrm>
            <a:off x="1219200" y="1752601"/>
            <a:ext cx="8768226" cy="3045008"/>
          </a:xfrm>
          <a:prstGeom prst="rect">
            <a:avLst/>
          </a:prstGeom>
          <a:noFill/>
        </p:spPr>
      </p:pic>
    </p:spTree>
    <p:extLst>
      <p:ext uri="{BB962C8B-B14F-4D97-AF65-F5344CB8AC3E}">
        <p14:creationId xmlns:p14="http://schemas.microsoft.com/office/powerpoint/2010/main" val="35524001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74638"/>
            <a:ext cx="7315200" cy="1143000"/>
          </a:xfrm>
        </p:spPr>
        <p:txBody>
          <a:bodyPr/>
          <a:lstStyle/>
          <a:p>
            <a:pPr lvl="0"/>
            <a:br>
              <a:rPr lang="en-US" sz="2400" dirty="0">
                <a:latin typeface="Arial" pitchFamily="34" charset="0"/>
                <a:cs typeface="Arial" pitchFamily="34" charset="0"/>
              </a:rPr>
            </a:br>
            <a:endParaRPr lang="en-US" dirty="0"/>
          </a:p>
        </p:txBody>
      </p:sp>
      <p:sp>
        <p:nvSpPr>
          <p:cNvPr id="4" name="Date Placeholder 3"/>
          <p:cNvSpPr>
            <a:spLocks noGrp="1"/>
          </p:cNvSpPr>
          <p:nvPr>
            <p:ph type="dt" sz="half" idx="10"/>
          </p:nvPr>
        </p:nvSpPr>
        <p:spPr/>
        <p:txBody>
          <a:bodyPr/>
          <a:lstStyle/>
          <a:p>
            <a:fld id="{7A6BDA9B-DAA7-49E6-BBA7-C32A275726CA}" type="datetime1">
              <a:rPr lang="en-US" smtClean="0"/>
              <a:t>9/30/2024</a:t>
            </a:fld>
            <a:endParaRPr lang="en-US" dirty="0"/>
          </a:p>
        </p:txBody>
      </p:sp>
      <p:sp>
        <p:nvSpPr>
          <p:cNvPr id="5" name="Footer Placeholder 4"/>
          <p:cNvSpPr>
            <a:spLocks noGrp="1"/>
          </p:cNvSpPr>
          <p:nvPr>
            <p:ph type="ftr" sz="quarter" idx="11"/>
          </p:nvPr>
        </p:nvSpPr>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1524001" y="0"/>
            <a:ext cx="10667999" cy="802784"/>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lvl="0" fontAlgn="base">
              <a:spcBef>
                <a:spcPct val="0"/>
              </a:spcBef>
              <a:spcAft>
                <a:spcPct val="0"/>
              </a:spcAft>
            </a:pPr>
            <a:r>
              <a:rPr lang="en-US" sz="2400" b="1" dirty="0"/>
              <a:t>Django with Bootstrap</a:t>
            </a:r>
            <a:br>
              <a:rPr lang="en-US" sz="2400" b="1" dirty="0"/>
            </a:br>
            <a:endParaRPr lang="en-US" sz="3200" dirty="0">
              <a:solidFill>
                <a:schemeClr val="tx1"/>
              </a:solidFill>
              <a:latin typeface="Arial" pitchFamily="34" charset="0"/>
              <a:cs typeface="Arial" pitchFamily="34" charset="0"/>
            </a:endParaRPr>
          </a:p>
        </p:txBody>
      </p:sp>
      <p:sp>
        <p:nvSpPr>
          <p:cNvPr id="10" name="Rectangle 9"/>
          <p:cNvSpPr/>
          <p:nvPr/>
        </p:nvSpPr>
        <p:spPr>
          <a:xfrm>
            <a:off x="1561012" y="1189038"/>
            <a:ext cx="9296400" cy="646331"/>
          </a:xfrm>
          <a:prstGeom prst="rect">
            <a:avLst/>
          </a:prstGeom>
          <a:solidFill>
            <a:schemeClr val="tx2">
              <a:lumMod val="40000"/>
              <a:lumOff val="60000"/>
            </a:schemeClr>
          </a:solidFill>
          <a:ln w="6350">
            <a:solidFill>
              <a:schemeClr val="tx1"/>
            </a:solidFill>
          </a:ln>
        </p:spPr>
        <p:txBody>
          <a:bodyPr wrap="square">
            <a:spAutoFit/>
          </a:bodyPr>
          <a:lstStyle/>
          <a:p>
            <a:r>
              <a:rPr lang="en-US" dirty="0"/>
              <a:t>After loading bootstrap files. Our code look like this:</a:t>
            </a:r>
          </a:p>
          <a:p>
            <a:r>
              <a:rPr lang="en-US" b="1" dirty="0"/>
              <a:t>// index.html</a:t>
            </a:r>
            <a:endParaRPr lang="en-US" dirty="0"/>
          </a:p>
        </p:txBody>
      </p:sp>
      <p:pic>
        <p:nvPicPr>
          <p:cNvPr id="12" name="Picture 2" descr="C:\Users\mam\Desktop\Capture.PNG"/>
          <p:cNvPicPr>
            <a:picLocks noChangeAspect="1" noChangeArrowheads="1"/>
          </p:cNvPicPr>
          <p:nvPr/>
        </p:nvPicPr>
        <p:blipFill>
          <a:blip r:embed="rId2"/>
          <a:srcRect/>
          <a:stretch>
            <a:fillRect/>
          </a:stretch>
        </p:blipFill>
        <p:spPr bwMode="auto">
          <a:xfrm>
            <a:off x="762000" y="2286000"/>
            <a:ext cx="7086600" cy="3643661"/>
          </a:xfrm>
          <a:prstGeom prst="rect">
            <a:avLst/>
          </a:prstGeom>
          <a:noFill/>
        </p:spPr>
      </p:pic>
    </p:spTree>
    <p:extLst>
      <p:ext uri="{BB962C8B-B14F-4D97-AF65-F5344CB8AC3E}">
        <p14:creationId xmlns:p14="http://schemas.microsoft.com/office/powerpoint/2010/main" val="238416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10744200" cy="762000"/>
          </a:xfrm>
          <a:solidFill>
            <a:schemeClr val="accent5">
              <a:lumMod val="40000"/>
              <a:lumOff val="60000"/>
            </a:schemeClr>
          </a:solidFill>
        </p:spPr>
        <p:txBody>
          <a:bodyPr>
            <a:noAutofit/>
          </a:bodyPr>
          <a:lstStyle/>
          <a:p>
            <a:pPr algn="l"/>
            <a:r>
              <a:rPr lang="en-US" sz="2400" b="1" dirty="0"/>
              <a:t>Django with Bootstrap</a:t>
            </a:r>
            <a:br>
              <a:rPr lang="en-US" sz="2400" b="1" dirty="0"/>
            </a:br>
            <a:endParaRPr lang="en-US" sz="2400" dirty="0"/>
          </a:p>
        </p:txBody>
      </p:sp>
      <p:sp>
        <p:nvSpPr>
          <p:cNvPr id="4" name="Date Placeholder 3"/>
          <p:cNvSpPr>
            <a:spLocks noGrp="1"/>
          </p:cNvSpPr>
          <p:nvPr>
            <p:ph type="dt" sz="half" idx="10"/>
          </p:nvPr>
        </p:nvSpPr>
        <p:spPr/>
        <p:txBody>
          <a:bodyPr/>
          <a:lstStyle/>
          <a:p>
            <a:fld id="{B4F3EFEF-6251-44DD-A734-09CF98AD15A7}" type="datetime1">
              <a:rPr lang="en-US" smtClean="0"/>
              <a:t>9/30/2024</a:t>
            </a:fld>
            <a:endParaRPr lang="en-US" dirty="0"/>
          </a:p>
        </p:txBody>
      </p:sp>
      <p:sp>
        <p:nvSpPr>
          <p:cNvPr id="5" name="Footer Placeholder 4"/>
          <p:cNvSpPr>
            <a:spLocks noGrp="1"/>
          </p:cNvSpPr>
          <p:nvPr>
            <p:ph type="ftr" sz="quarter" idx="11"/>
          </p:nvPr>
        </p:nvSpPr>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pic>
        <p:nvPicPr>
          <p:cNvPr id="7" name="Picture 2" descr="C:\Users\mam\Desktop\Capture.PNG"/>
          <p:cNvPicPr>
            <a:picLocks noGrp="1" noChangeAspect="1" noChangeArrowheads="1"/>
          </p:cNvPicPr>
          <p:nvPr>
            <p:ph idx="1"/>
          </p:nvPr>
        </p:nvPicPr>
        <p:blipFill>
          <a:blip r:embed="rId2"/>
          <a:srcRect/>
          <a:stretch>
            <a:fillRect/>
          </a:stretch>
        </p:blipFill>
        <p:spPr bwMode="auto">
          <a:xfrm>
            <a:off x="609600" y="914401"/>
            <a:ext cx="6172200" cy="2285999"/>
          </a:xfrm>
          <a:prstGeom prst="rect">
            <a:avLst/>
          </a:prstGeom>
          <a:noFill/>
        </p:spPr>
      </p:pic>
      <p:pic>
        <p:nvPicPr>
          <p:cNvPr id="8" name="Picture 3" descr="C:\Users\mam\Desktop\Capture.PNG"/>
          <p:cNvPicPr>
            <a:picLocks noChangeAspect="1" noChangeArrowheads="1"/>
          </p:cNvPicPr>
          <p:nvPr/>
        </p:nvPicPr>
        <p:blipFill>
          <a:blip r:embed="rId3"/>
          <a:srcRect/>
          <a:stretch>
            <a:fillRect/>
          </a:stretch>
        </p:blipFill>
        <p:spPr bwMode="auto">
          <a:xfrm>
            <a:off x="1066801" y="3962400"/>
            <a:ext cx="6019799" cy="1981200"/>
          </a:xfrm>
          <a:prstGeom prst="rect">
            <a:avLst/>
          </a:prstGeom>
          <a:noFill/>
        </p:spPr>
      </p:pic>
    </p:spTree>
    <p:extLst>
      <p:ext uri="{BB962C8B-B14F-4D97-AF65-F5344CB8AC3E}">
        <p14:creationId xmlns:p14="http://schemas.microsoft.com/office/powerpoint/2010/main" val="5396156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5EC557-3865-4BDE-BF90-26306AD850CB}"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447800" y="1"/>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Daily Quiz</a:t>
            </a:r>
          </a:p>
        </p:txBody>
      </p:sp>
      <p:sp>
        <p:nvSpPr>
          <p:cNvPr id="11" name="Content Placeholder 10"/>
          <p:cNvSpPr>
            <a:spLocks noGrp="1"/>
          </p:cNvSpPr>
          <p:nvPr>
            <p:ph idx="1"/>
          </p:nvPr>
        </p:nvSpPr>
        <p:spPr>
          <a:xfrm>
            <a:off x="1524000" y="976636"/>
            <a:ext cx="10058400" cy="4450449"/>
          </a:xfrm>
          <a:prstGeom prst="rect">
            <a:avLst/>
          </a:prstGeom>
          <a:solidFill>
            <a:schemeClr val="tx2">
              <a:lumMod val="40000"/>
              <a:lumOff val="60000"/>
            </a:schemeClr>
          </a:solidFill>
          <a:ln w="9525">
            <a:solidFill>
              <a:schemeClr val="tx1"/>
            </a:solidFill>
          </a:ln>
        </p:spPr>
        <p:txBody>
          <a:bodyPr wrap="square">
            <a:spAutoFit/>
          </a:bodyPr>
          <a:lstStyle/>
          <a:p>
            <a:pPr marL="457200" indent="-457200">
              <a:buFont typeface="+mj-lt"/>
              <a:buAutoNum type="arabicPeriod"/>
            </a:pPr>
            <a:endParaRPr lang="en-US" sz="2400" dirty="0"/>
          </a:p>
          <a:p>
            <a:pPr marL="457200" indent="-457200">
              <a:buFont typeface="+mj-lt"/>
              <a:buAutoNum type="arabicPeriod"/>
            </a:pPr>
            <a:r>
              <a:rPr lang="en-US" sz="2400" dirty="0"/>
              <a:t>What is the role of frameworks in python.</a:t>
            </a:r>
          </a:p>
          <a:p>
            <a:pPr marL="457200" indent="-457200">
              <a:buFont typeface="+mj-lt"/>
              <a:buAutoNum type="arabicPeriod"/>
            </a:pPr>
            <a:r>
              <a:rPr lang="en-US" sz="2400" dirty="0"/>
              <a:t>Discuss any three frameworks.</a:t>
            </a:r>
          </a:p>
          <a:p>
            <a:pPr marL="457200" indent="-457200">
              <a:buFont typeface="+mj-lt"/>
              <a:buAutoNum type="arabicPeriod"/>
            </a:pPr>
            <a:r>
              <a:rPr lang="en-US" sz="2400" dirty="0"/>
              <a:t>Discuss about </a:t>
            </a:r>
            <a:r>
              <a:rPr lang="en-US" sz="2400" dirty="0" err="1"/>
              <a:t>Turbogear</a:t>
            </a:r>
            <a:r>
              <a:rPr lang="en-US" sz="2400" dirty="0"/>
              <a:t>.</a:t>
            </a:r>
          </a:p>
          <a:p>
            <a:pPr marL="457200" indent="-457200">
              <a:buFont typeface="+mj-lt"/>
              <a:buAutoNum type="arabicPeriod"/>
            </a:pPr>
            <a:r>
              <a:rPr lang="en-US" sz="2400" dirty="0"/>
              <a:t>Discuss implementation rule of Falcon.</a:t>
            </a:r>
          </a:p>
          <a:p>
            <a:pPr marL="457200" indent="-457200">
              <a:buFont typeface="+mj-lt"/>
              <a:buAutoNum type="arabicPeriod"/>
            </a:pPr>
            <a:r>
              <a:rPr lang="en-US" sz="2400" dirty="0"/>
              <a:t>Discuss the Zappa framework.</a:t>
            </a:r>
          </a:p>
          <a:p>
            <a:pPr marL="457200" indent="-457200">
              <a:buFont typeface="+mj-lt"/>
              <a:buAutoNum type="arabicPeriod"/>
            </a:pPr>
            <a:r>
              <a:rPr lang="en-US" sz="2400" dirty="0"/>
              <a:t>Discuss the role of Dash.</a:t>
            </a:r>
          </a:p>
          <a:p>
            <a:pPr marL="457200" indent="-457200">
              <a:buFont typeface="+mj-lt"/>
              <a:buAutoNum type="arabicPeriod"/>
            </a:pPr>
            <a:r>
              <a:rPr lang="en-US" sz="2400" dirty="0"/>
              <a:t>Discuss the application area of </a:t>
            </a:r>
            <a:r>
              <a:rPr lang="en-US" sz="2400" dirty="0" err="1"/>
              <a:t>cherryPy</a:t>
            </a:r>
            <a:r>
              <a:rPr lang="en-US" sz="2400" dirty="0"/>
              <a:t>.</a:t>
            </a:r>
          </a:p>
          <a:p>
            <a:pPr marL="457200" indent="-457200">
              <a:buFont typeface="+mj-lt"/>
              <a:buAutoNum type="arabicPeriod"/>
            </a:pPr>
            <a:r>
              <a:rPr lang="en-US" sz="2400" dirty="0"/>
              <a:t>Discuss about the Request Http methods in Python.</a:t>
            </a:r>
          </a:p>
          <a:p>
            <a:pPr marL="457200" indent="-457200">
              <a:buFont typeface="+mj-lt"/>
              <a:buAutoNum type="arabicPeriod"/>
            </a:pPr>
            <a:r>
              <a:rPr lang="en-US" sz="2400" dirty="0"/>
              <a:t>Discuss about Flask application.</a:t>
            </a:r>
            <a:endParaRPr lang="en-US" dirty="0"/>
          </a:p>
        </p:txBody>
      </p:sp>
      <p:sp>
        <p:nvSpPr>
          <p:cNvPr id="9" name="Footer Placeholder 12"/>
          <p:cNvSpPr>
            <a:spLocks noGrp="1"/>
          </p:cNvSpPr>
          <p:nvPr>
            <p:ph type="ftr" sz="quarter" idx="11"/>
          </p:nvPr>
        </p:nvSpPr>
        <p:spPr>
          <a:xfrm>
            <a:off x="3810000" y="6019801"/>
            <a:ext cx="5029200" cy="623910"/>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3358064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CFC1C9-9B95-403F-A868-22EDD5F4ECBF}"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300" dirty="0"/>
              <a:t>Weekly Assignment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2554545"/>
          </a:xfrm>
          <a:prstGeom prst="rect">
            <a:avLst/>
          </a:prstGeom>
          <a:solidFill>
            <a:schemeClr val="tx2">
              <a:lumMod val="40000"/>
              <a:lumOff val="60000"/>
            </a:schemeClr>
          </a:solidFill>
          <a:ln w="28575">
            <a:solidFill>
              <a:schemeClr val="tx1"/>
            </a:solidFill>
          </a:ln>
        </p:spPr>
        <p:txBody>
          <a:bodyPr wrap="square">
            <a:spAutoFit/>
          </a:bodyPr>
          <a:lstStyle/>
          <a:p>
            <a:pPr marL="457200" indent="-457200" algn="just">
              <a:buFont typeface="+mj-lt"/>
              <a:buAutoNum type="arabicPeriod"/>
            </a:pPr>
            <a:r>
              <a:rPr lang="en-US" sz="3200" dirty="0">
                <a:latin typeface="+mj-lt"/>
              </a:rPr>
              <a:t>What are the most important uses of Django.</a:t>
            </a:r>
          </a:p>
          <a:p>
            <a:pPr marL="457200" indent="-457200" algn="just">
              <a:buFont typeface="+mj-lt"/>
              <a:buAutoNum type="arabicPeriod"/>
            </a:pPr>
            <a:r>
              <a:rPr lang="en-US" sz="3200" dirty="0">
                <a:latin typeface="+mj-lt"/>
              </a:rPr>
              <a:t>What are the disadvantages of Django?</a:t>
            </a:r>
          </a:p>
          <a:p>
            <a:pPr marL="457200" indent="-457200" algn="just">
              <a:buFont typeface="+mj-lt"/>
              <a:buAutoNum type="arabicPeriod"/>
            </a:pPr>
            <a:r>
              <a:rPr lang="en-US" sz="3200" dirty="0"/>
              <a:t>What are the different data types used in Django.</a:t>
            </a:r>
          </a:p>
          <a:p>
            <a:pPr marL="457200" indent="-457200" algn="just">
              <a:buFont typeface="+mj-lt"/>
              <a:buAutoNum type="arabicPeriod"/>
            </a:pPr>
            <a:r>
              <a:rPr lang="en-US" sz="3200" dirty="0"/>
              <a:t>What are the salient features of Django.</a:t>
            </a:r>
          </a:p>
          <a:p>
            <a:pPr marL="457200" indent="-457200" algn="just">
              <a:buFont typeface="+mj-lt"/>
              <a:buAutoNum type="arabicPeriod"/>
            </a:pPr>
            <a:r>
              <a:rPr lang="en-US" sz="3200" dirty="0"/>
              <a:t>What are some of the technical features that Django includes</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870848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659A56-254C-4C03-9B92-2DD3CBC61F7B}" type="datetime1">
              <a:rPr lang="en-US" smtClean="0"/>
              <a:t>9/30/2024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Topic Link ( YouTube &amp; NPTEL Video Links)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rgbClr val="C00000"/>
          </a:solidFill>
          <a:ln w="19050">
            <a:solidFill>
              <a:schemeClr val="tx1"/>
            </a:solidFill>
          </a:ln>
        </p:spPr>
        <p:txBody>
          <a:bodyPr vert="horz" lIns="91440" tIns="45720" rIns="91440" bIns="45720" rtlCol="0">
            <a:normAutofit fontScale="775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spTree>
    <p:extLst>
      <p:ext uri="{BB962C8B-B14F-4D97-AF65-F5344CB8AC3E}">
        <p14:creationId xmlns:p14="http://schemas.microsoft.com/office/powerpoint/2010/main" val="2774092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57579F-E56E-4FB8-B276-7319B996075D}" type="datetime1">
              <a:rPr lang="en-US" smtClean="0"/>
              <a:t>9/30/2024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nvGraphicFramePr>
        <p:xfrm>
          <a:off x="76200" y="762000"/>
          <a:ext cx="12115800" cy="6106312"/>
        </p:xfrm>
        <a:graphic>
          <a:graphicData uri="http://schemas.openxmlformats.org/drawingml/2006/table">
            <a:tbl>
              <a:tblPr firstRow="1" bandRow="1">
                <a:tableStyleId>{3B4B98B0-60AC-42C2-AFA5-B58CD77FA1E5}</a:tableStyleId>
              </a:tblPr>
              <a:tblGrid>
                <a:gridCol w="6057900">
                  <a:extLst>
                    <a:ext uri="{9D8B030D-6E8A-4147-A177-3AD203B41FA5}">
                      <a16:colId xmlns:a16="http://schemas.microsoft.com/office/drawing/2014/main" val="3349441241"/>
                    </a:ext>
                  </a:extLst>
                </a:gridCol>
                <a:gridCol w="6057900">
                  <a:extLst>
                    <a:ext uri="{9D8B030D-6E8A-4147-A177-3AD203B41FA5}">
                      <a16:colId xmlns:a16="http://schemas.microsoft.com/office/drawing/2014/main" val="4272054345"/>
                    </a:ext>
                  </a:extLst>
                </a:gridCol>
              </a:tblGrid>
              <a:tr h="20230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1. What is a Django App?</a:t>
                      </a:r>
                    </a:p>
                    <a:p>
                      <a:pPr algn="just"/>
                      <a:r>
                        <a:rPr lang="en-US" sz="2000" b="0" dirty="0"/>
                        <a:t> </a:t>
                      </a:r>
                      <a:r>
                        <a:rPr lang="en-US" sz="2000" b="0" dirty="0" err="1"/>
                        <a:t>ADjango</a:t>
                      </a:r>
                      <a:r>
                        <a:rPr lang="en-US" sz="2000" b="0" dirty="0"/>
                        <a:t> app is an extended package with base package is Django </a:t>
                      </a:r>
                    </a:p>
                    <a:p>
                      <a:pPr algn="just"/>
                      <a:r>
                        <a:rPr lang="en-US" sz="2000" b="0" dirty="0"/>
                        <a:t> B. Django app is a python package with its own components. </a:t>
                      </a:r>
                    </a:p>
                    <a:p>
                      <a:pPr algn="just"/>
                      <a:r>
                        <a:rPr lang="en-US" sz="2000" b="0" dirty="0"/>
                        <a:t> C. Both 1 &amp; 2 Option </a:t>
                      </a:r>
                    </a:p>
                    <a:p>
                      <a:pPr algn="just"/>
                      <a:r>
                        <a:rPr lang="en-US" sz="2000" b="0" dirty="0"/>
                        <a:t> D. All of the above </a:t>
                      </a:r>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2. Django was introduced by </a:t>
                      </a:r>
                    </a:p>
                    <a:p>
                      <a:pPr algn="just"/>
                      <a:endParaRPr lang="en-US" sz="2000" b="0" dirty="0"/>
                    </a:p>
                    <a:p>
                      <a:pPr algn="just"/>
                      <a:r>
                        <a:rPr lang="en-US" sz="2000" b="0" dirty="0"/>
                        <a:t> A. Adrian </a:t>
                      </a:r>
                      <a:r>
                        <a:rPr lang="en-US" sz="2000" b="0" dirty="0" err="1"/>
                        <a:t>Holovaty</a:t>
                      </a:r>
                      <a:endParaRPr lang="en-US" sz="2000" b="0" dirty="0"/>
                    </a:p>
                    <a:p>
                      <a:pPr algn="just"/>
                      <a:r>
                        <a:rPr lang="en-US" sz="2000" b="0" dirty="0"/>
                        <a:t> B. Bill Gates </a:t>
                      </a:r>
                    </a:p>
                    <a:p>
                      <a:pPr algn="just"/>
                      <a:r>
                        <a:rPr lang="en-US" sz="2000" b="0" dirty="0"/>
                        <a:t> C. </a:t>
                      </a:r>
                      <a:r>
                        <a:rPr lang="en-US" sz="2000" b="0" dirty="0" err="1"/>
                        <a:t>Rasmus</a:t>
                      </a:r>
                      <a:r>
                        <a:rPr lang="en-US" sz="2000" b="0" dirty="0"/>
                        <a:t> </a:t>
                      </a:r>
                      <a:r>
                        <a:rPr lang="en-US" sz="2000" b="0" dirty="0" err="1"/>
                        <a:t>Lerdorf</a:t>
                      </a:r>
                      <a:r>
                        <a:rPr lang="en-US" sz="2000" b="0" dirty="0"/>
                        <a:t> </a:t>
                      </a:r>
                    </a:p>
                    <a:p>
                      <a:pPr algn="just"/>
                      <a:r>
                        <a:rPr lang="en-US" sz="2000" b="0" dirty="0"/>
                        <a:t> D. Tim Berners-Lee </a:t>
                      </a:r>
                    </a:p>
                  </a:txBody>
                  <a:tcPr>
                    <a:solidFill>
                      <a:schemeClr val="tx2">
                        <a:lumMod val="40000"/>
                        <a:lumOff val="60000"/>
                      </a:schemeClr>
                    </a:solidFill>
                  </a:tcPr>
                </a:tc>
                <a:extLst>
                  <a:ext uri="{0D108BD9-81ED-4DB2-BD59-A6C34878D82A}">
                    <a16:rowId xmlns:a16="http://schemas.microsoft.com/office/drawing/2014/main" val="2536190218"/>
                  </a:ext>
                </a:extLst>
              </a:tr>
              <a:tr h="226583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3. What are Migrations in Django</a:t>
                      </a:r>
                    </a:p>
                    <a:p>
                      <a:pPr algn="just"/>
                      <a:r>
                        <a:rPr lang="en-US" sz="2000" b="0" dirty="0"/>
                        <a:t> A.</a:t>
                      </a:r>
                      <a:r>
                        <a:rPr lang="en-US" sz="2000" dirty="0"/>
                        <a:t> They are files saved in migrations directory. </a:t>
                      </a:r>
                      <a:r>
                        <a:rPr lang="en-US" sz="2000" b="0" dirty="0"/>
                        <a:t> </a:t>
                      </a:r>
                      <a:endParaRPr lang="en-US" sz="2000" b="1" dirty="0"/>
                    </a:p>
                    <a:p>
                      <a:pPr algn="just"/>
                      <a:r>
                        <a:rPr lang="en-US" sz="2000" b="0" dirty="0"/>
                        <a:t> B. </a:t>
                      </a:r>
                      <a:r>
                        <a:rPr lang="en-US" sz="2000" dirty="0"/>
                        <a:t>They are created when you run make migrations command. </a:t>
                      </a:r>
                      <a:endParaRPr lang="en-US" sz="2000" b="0" dirty="0"/>
                    </a:p>
                    <a:p>
                      <a:pPr algn="just"/>
                      <a:r>
                        <a:rPr lang="en-US" sz="2000" b="0" dirty="0"/>
                        <a:t> C. </a:t>
                      </a:r>
                      <a:r>
                        <a:rPr lang="en-US" sz="2000" dirty="0"/>
                        <a:t>Migrations are files where Django stores changes to your models. </a:t>
                      </a:r>
                      <a:endParaRPr lang="en-US" sz="2000" b="0" dirty="0"/>
                    </a:p>
                    <a:p>
                      <a:pPr algn="just"/>
                      <a:r>
                        <a:rPr lang="en-US" sz="2000" b="0" dirty="0"/>
                        <a:t> D. </a:t>
                      </a:r>
                      <a:r>
                        <a:rPr lang="en-US" sz="2000" dirty="0"/>
                        <a:t>All of the above </a:t>
                      </a:r>
                      <a:endParaRPr lang="en-US" sz="2000" b="0" dirty="0"/>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dirty="0"/>
                    </a:p>
                  </a:txBody>
                  <a:tcPr>
                    <a:solidFill>
                      <a:schemeClr val="tx2">
                        <a:lumMod val="40000"/>
                        <a:lumOff val="60000"/>
                      </a:schemeClr>
                    </a:solidFill>
                  </a:tcPr>
                </a:tc>
                <a:extLst>
                  <a:ext uri="{0D108BD9-81ED-4DB2-BD59-A6C34878D82A}">
                    <a16:rowId xmlns:a16="http://schemas.microsoft.com/office/drawing/2014/main" val="2601322747"/>
                  </a:ext>
                </a:extLst>
              </a:tr>
              <a:tr h="1537529">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4. Which architectural pattern does </a:t>
                      </a:r>
                      <a:r>
                        <a:rPr lang="en-US" sz="2000" b="0" dirty="0" err="1"/>
                        <a:t>django</a:t>
                      </a:r>
                      <a:r>
                        <a:rPr lang="en-US" sz="2000" b="0" dirty="0"/>
                        <a:t> follow</a:t>
                      </a:r>
                    </a:p>
                    <a:p>
                      <a:pPr algn="just"/>
                      <a:r>
                        <a:rPr lang="en-US" sz="2000" b="0" dirty="0"/>
                        <a:t> A</a:t>
                      </a:r>
                      <a:r>
                        <a:rPr lang="en-US" sz="2000" dirty="0"/>
                        <a:t>PHP</a:t>
                      </a:r>
                      <a:endParaRPr lang="en-US" sz="2000" b="0" dirty="0"/>
                    </a:p>
                    <a:p>
                      <a:pPr algn="just"/>
                      <a:r>
                        <a:rPr lang="en-US" sz="2000" b="0" dirty="0"/>
                        <a:t> B. </a:t>
                      </a:r>
                      <a:r>
                        <a:rPr lang="en-US" sz="2000" dirty="0"/>
                        <a:t>MVT</a:t>
                      </a:r>
                      <a:endParaRPr lang="en-US" sz="2000" b="0" dirty="0"/>
                    </a:p>
                    <a:p>
                      <a:pPr algn="just"/>
                      <a:r>
                        <a:rPr lang="en-US" sz="2000" b="0" dirty="0"/>
                        <a:t> C. </a:t>
                      </a:r>
                      <a:r>
                        <a:rPr lang="en-US" sz="2000" dirty="0"/>
                        <a:t>HTML</a:t>
                      </a:r>
                      <a:endParaRPr lang="en-US" sz="2000" b="1" dirty="0"/>
                    </a:p>
                    <a:p>
                      <a:pPr algn="just"/>
                      <a:r>
                        <a:rPr lang="en-US" sz="2000" b="0" dirty="0"/>
                        <a:t> D. </a:t>
                      </a:r>
                      <a:r>
                        <a:rPr lang="en-US" sz="2000" dirty="0"/>
                        <a:t>None of the above </a:t>
                      </a:r>
                      <a:endParaRPr lang="en-US" sz="2000" b="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1221089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1"/>
            <a:ext cx="11353800" cy="4495799"/>
          </a:xfrm>
          <a:solidFill>
            <a:schemeClr val="tx2">
              <a:lumMod val="40000"/>
              <a:lumOff val="60000"/>
            </a:schemeClr>
          </a:solidFill>
          <a:ln w="6350">
            <a:solidFill>
              <a:schemeClr val="tx1"/>
            </a:solidFill>
          </a:ln>
        </p:spPr>
        <p:txBody>
          <a:bodyPr>
            <a:normAutofit fontScale="92500" lnSpcReduction="20000"/>
          </a:bodyPr>
          <a:lstStyle/>
          <a:p>
            <a:pPr marL="0" indent="0" algn="just">
              <a:spcBef>
                <a:spcPts val="0"/>
              </a:spcBef>
              <a:buNone/>
              <a:defRPr/>
            </a:pPr>
            <a:r>
              <a:rPr lang="en-US" sz="4300" dirty="0"/>
              <a:t> </a:t>
            </a:r>
            <a:r>
              <a:rPr lang="en-US" sz="2600" dirty="0"/>
              <a:t>which of these is not a valid backend for caching in </a:t>
            </a:r>
            <a:r>
              <a:rPr lang="en-US" sz="2600" dirty="0" err="1"/>
              <a:t>django</a:t>
            </a:r>
            <a:endParaRPr lang="en-US" sz="2600" dirty="0"/>
          </a:p>
          <a:p>
            <a:pPr algn="just">
              <a:buNone/>
            </a:pPr>
            <a:r>
              <a:rPr lang="en-US" sz="2600" dirty="0"/>
              <a:t> A. </a:t>
            </a:r>
            <a:r>
              <a:rPr lang="en-US" sz="2600" dirty="0" err="1"/>
              <a:t>Django.core.cache.backends.sys.memory</a:t>
            </a:r>
            <a:r>
              <a:rPr lang="en-US" sz="2600" dirty="0"/>
              <a:t> </a:t>
            </a:r>
          </a:p>
          <a:p>
            <a:pPr algn="just">
              <a:buNone/>
            </a:pPr>
            <a:r>
              <a:rPr lang="en-US" sz="2600" dirty="0"/>
              <a:t> B. </a:t>
            </a:r>
            <a:r>
              <a:rPr lang="en-US" sz="2600" dirty="0" err="1"/>
              <a:t>django.core.cache.backends.db.DatabaseCache</a:t>
            </a:r>
            <a:r>
              <a:rPr lang="en-US" sz="2600" dirty="0"/>
              <a:t> </a:t>
            </a:r>
          </a:p>
          <a:p>
            <a:pPr algn="just">
              <a:buNone/>
            </a:pPr>
            <a:r>
              <a:rPr lang="en-US" sz="2600" dirty="0"/>
              <a:t>C</a:t>
            </a:r>
            <a:r>
              <a:rPr lang="en-US" sz="2600" b="1" dirty="0"/>
              <a:t>.</a:t>
            </a:r>
            <a:r>
              <a:rPr lang="en-US" sz="2600" dirty="0"/>
              <a:t> </a:t>
            </a:r>
            <a:r>
              <a:rPr lang="en-US" sz="2600" dirty="0" err="1"/>
              <a:t>django.core.cache.backends.locmem.LocMemCache</a:t>
            </a:r>
            <a:r>
              <a:rPr lang="en-US" sz="2600" dirty="0"/>
              <a:t> </a:t>
            </a:r>
          </a:p>
          <a:p>
            <a:pPr algn="just">
              <a:buNone/>
            </a:pPr>
            <a:r>
              <a:rPr lang="en-US" sz="2600" dirty="0"/>
              <a:t>D</a:t>
            </a:r>
            <a:r>
              <a:rPr lang="en-US" sz="2600" b="1" dirty="0"/>
              <a:t>.</a:t>
            </a:r>
            <a:r>
              <a:rPr lang="en-US" sz="2600" dirty="0"/>
              <a:t> None of the above </a:t>
            </a:r>
            <a:endParaRPr lang="en-US" sz="2600" b="1" dirty="0"/>
          </a:p>
          <a:p>
            <a:pPr marL="0" indent="0" algn="just">
              <a:spcBef>
                <a:spcPts val="0"/>
              </a:spcBef>
              <a:buNone/>
              <a:defRPr/>
            </a:pPr>
            <a:endParaRPr lang="en-US" sz="2600" dirty="0"/>
          </a:p>
          <a:p>
            <a:pPr marL="0" indent="0" algn="just">
              <a:spcBef>
                <a:spcPts val="0"/>
              </a:spcBef>
              <a:buNone/>
              <a:defRPr/>
            </a:pPr>
            <a:r>
              <a:rPr lang="en-US" sz="2600" dirty="0"/>
              <a:t>5. Which architectural pattern does </a:t>
            </a:r>
            <a:r>
              <a:rPr lang="en-US" sz="2600" dirty="0" err="1"/>
              <a:t>django</a:t>
            </a:r>
            <a:r>
              <a:rPr lang="en-US" sz="2600" dirty="0"/>
              <a:t> follow</a:t>
            </a:r>
          </a:p>
          <a:p>
            <a:pPr algn="just">
              <a:buNone/>
            </a:pPr>
            <a:r>
              <a:rPr lang="en-US" sz="2600" dirty="0"/>
              <a:t> A.PHP</a:t>
            </a:r>
          </a:p>
          <a:p>
            <a:pPr algn="just">
              <a:buNone/>
            </a:pPr>
            <a:r>
              <a:rPr lang="en-US" sz="2600" dirty="0"/>
              <a:t> B. MVT</a:t>
            </a:r>
          </a:p>
          <a:p>
            <a:pPr algn="just">
              <a:buNone/>
            </a:pPr>
            <a:r>
              <a:rPr lang="en-US" sz="2600" dirty="0"/>
              <a:t> C. HTML</a:t>
            </a:r>
            <a:endParaRPr lang="en-US" sz="2600" b="1" dirty="0"/>
          </a:p>
          <a:p>
            <a:pPr algn="just">
              <a:buNone/>
            </a:pPr>
            <a:r>
              <a:rPr lang="en-US" sz="2600" dirty="0"/>
              <a:t> D. None of the above </a:t>
            </a:r>
          </a:p>
          <a:p>
            <a:pPr>
              <a:buNone/>
            </a:pPr>
            <a:endParaRPr lang="en-US" sz="1800" dirty="0"/>
          </a:p>
        </p:txBody>
      </p:sp>
      <p:sp>
        <p:nvSpPr>
          <p:cNvPr id="4" name="Date Placeholder 3"/>
          <p:cNvSpPr>
            <a:spLocks noGrp="1"/>
          </p:cNvSpPr>
          <p:nvPr>
            <p:ph type="dt" sz="half" idx="10"/>
          </p:nvPr>
        </p:nvSpPr>
        <p:spPr/>
        <p:txBody>
          <a:bodyPr/>
          <a:lstStyle/>
          <a:p>
            <a:fld id="{CEB8B21F-530E-421A-B4FC-043D5BE09A3A}" type="datetime1">
              <a:rPr lang="en-US" smtClean="0"/>
              <a:t>9/30/2024</a:t>
            </a:fld>
            <a:endParaRPr lang="en-US" dirty="0"/>
          </a:p>
        </p:txBody>
      </p:sp>
      <p:sp>
        <p:nvSpPr>
          <p:cNvPr id="5" name="Footer Placeholder 4"/>
          <p:cNvSpPr>
            <a:spLocks noGrp="1"/>
          </p:cNvSpPr>
          <p:nvPr>
            <p:ph type="ftr" sz="quarter" idx="11"/>
          </p:nvPr>
        </p:nvSpPr>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noGrp="1"/>
          </p:cNvSpPr>
          <p:nvPr>
            <p:ph type="title"/>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defTabSz="914400">
              <a:defRPr/>
            </a:pPr>
            <a:r>
              <a:rPr lang="en-US" sz="3200" dirty="0"/>
              <a:t>MCQ s</a:t>
            </a:r>
          </a:p>
        </p:txBody>
      </p:sp>
    </p:spTree>
    <p:extLst>
      <p:ext uri="{BB962C8B-B14F-4D97-AF65-F5344CB8AC3E}">
        <p14:creationId xmlns:p14="http://schemas.microsoft.com/office/powerpoint/2010/main" val="2494943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CFCC88-82A9-438E-8720-7D9DBD6B1E08}" type="datetime1">
              <a:rPr lang="en-US" smtClean="0"/>
              <a:t>9/30/2024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nvGraphicFramePr>
        <p:xfrm>
          <a:off x="304800" y="792480"/>
          <a:ext cx="11582400" cy="6065520"/>
        </p:xfrm>
        <a:graphic>
          <a:graphicData uri="http://schemas.openxmlformats.org/drawingml/2006/table">
            <a:tbl>
              <a:tblPr firstRow="1" bandRow="1">
                <a:tableStyleId>{3B4B98B0-60AC-42C2-AFA5-B58CD77FA1E5}</a:tableStyleId>
              </a:tblPr>
              <a:tblGrid>
                <a:gridCol w="5791200">
                  <a:extLst>
                    <a:ext uri="{9D8B030D-6E8A-4147-A177-3AD203B41FA5}">
                      <a16:colId xmlns:a16="http://schemas.microsoft.com/office/drawing/2014/main" val="3349441241"/>
                    </a:ext>
                  </a:extLst>
                </a:gridCol>
                <a:gridCol w="5791200">
                  <a:extLst>
                    <a:ext uri="{9D8B030D-6E8A-4147-A177-3AD203B41FA5}">
                      <a16:colId xmlns:a16="http://schemas.microsoft.com/office/drawing/2014/main" val="4272054345"/>
                    </a:ext>
                  </a:extLst>
                </a:gridCol>
              </a:tblGrid>
              <a:tr h="1908651">
                <a:tc>
                  <a:txBody>
                    <a:bodyPr/>
                    <a:lstStyle/>
                    <a:p>
                      <a:pPr marL="342900" indent="-342900" algn="just">
                        <a:buFont typeface="+mj-lt"/>
                        <a:buNone/>
                      </a:pPr>
                      <a:r>
                        <a:rPr lang="en-US" sz="2000" b="0" dirty="0"/>
                        <a:t>6.</a:t>
                      </a:r>
                      <a:r>
                        <a:rPr lang="en-US" sz="2000" b="1" dirty="0"/>
                        <a:t> </a:t>
                      </a:r>
                      <a:r>
                        <a:rPr lang="en-US" sz="2000" b="0" dirty="0"/>
                        <a:t>Python is a :</a:t>
                      </a:r>
                    </a:p>
                    <a:p>
                      <a:pPr>
                        <a:buFont typeface="Wingdings" pitchFamily="2" charset="2"/>
                        <a:buChar char="§"/>
                      </a:pPr>
                      <a:r>
                        <a:rPr lang="en-US" sz="2000" b="0" dirty="0"/>
                        <a:t>Development environment</a:t>
                      </a:r>
                    </a:p>
                    <a:p>
                      <a:pPr>
                        <a:buFont typeface="Wingdings" pitchFamily="2" charset="2"/>
                        <a:buChar char="§"/>
                      </a:pPr>
                      <a:r>
                        <a:rPr lang="en-US" sz="2000" b="0" dirty="0"/>
                        <a:t>Set of editing tools</a:t>
                      </a:r>
                    </a:p>
                    <a:p>
                      <a:pPr>
                        <a:buFont typeface="Wingdings" pitchFamily="2" charset="2"/>
                        <a:buChar char="§"/>
                      </a:pPr>
                      <a:r>
                        <a:rPr lang="en-US" sz="2000" b="0" u="none" dirty="0"/>
                        <a:t>Programming Language</a:t>
                      </a:r>
                    </a:p>
                  </a:txBody>
                  <a:tcPr>
                    <a:solidFill>
                      <a:schemeClr val="tx2">
                        <a:lumMod val="40000"/>
                        <a:lumOff val="60000"/>
                      </a:schemeClr>
                    </a:solidFill>
                  </a:tcPr>
                </a:tc>
                <a:tc>
                  <a:txBody>
                    <a:bodyPr/>
                    <a:lstStyle/>
                    <a:p>
                      <a:pPr marL="342900" indent="-342900" algn="just">
                        <a:buFont typeface="+mj-lt"/>
                        <a:buAutoNum type="arabicPeriod" startAt="7"/>
                      </a:pPr>
                      <a:r>
                        <a:rPr lang="en-US" sz="2000" b="0" dirty="0"/>
                        <a:t>Python is Case Sensitive when dealing with Identifiers?</a:t>
                      </a:r>
                    </a:p>
                    <a:p>
                      <a:pPr>
                        <a:buFont typeface="Wingdings" pitchFamily="2" charset="2"/>
                        <a:buChar char="§"/>
                      </a:pPr>
                      <a:r>
                        <a:rPr lang="en-US" sz="2000" b="0" u="none" dirty="0"/>
                        <a:t>Yes</a:t>
                      </a:r>
                    </a:p>
                    <a:p>
                      <a:pPr>
                        <a:buFont typeface="Wingdings" pitchFamily="2" charset="2"/>
                        <a:buChar char="§"/>
                      </a:pPr>
                      <a:r>
                        <a:rPr lang="en-US" sz="2000" b="0" dirty="0"/>
                        <a:t>No</a:t>
                      </a:r>
                    </a:p>
                    <a:p>
                      <a:pPr>
                        <a:buFont typeface="Wingdings" pitchFamily="2" charset="2"/>
                        <a:buChar char="§"/>
                      </a:pPr>
                      <a:r>
                        <a:rPr lang="en-US" sz="2000" b="0" dirty="0"/>
                        <a:t>Sometimes Only</a:t>
                      </a:r>
                    </a:p>
                    <a:p>
                      <a:pPr>
                        <a:buFont typeface="Wingdings" pitchFamily="2" charset="2"/>
                        <a:buChar char="§"/>
                      </a:pPr>
                      <a:r>
                        <a:rPr lang="en-US" sz="2000" b="0" dirty="0"/>
                        <a:t>None Of the Above</a:t>
                      </a:r>
                    </a:p>
                    <a:p>
                      <a:pPr marL="342900" indent="-342900" algn="just">
                        <a:buFont typeface="+mj-lt"/>
                        <a:buNone/>
                      </a:pPr>
                      <a:endParaRPr lang="en-US" sz="2000" b="0" dirty="0"/>
                    </a:p>
                  </a:txBody>
                  <a:tcPr>
                    <a:solidFill>
                      <a:schemeClr val="tx2">
                        <a:lumMod val="40000"/>
                        <a:lumOff val="60000"/>
                      </a:schemeClr>
                    </a:solidFill>
                  </a:tcPr>
                </a:tc>
                <a:extLst>
                  <a:ext uri="{0D108BD9-81ED-4DB2-BD59-A6C34878D82A}">
                    <a16:rowId xmlns:a16="http://schemas.microsoft.com/office/drawing/2014/main" val="2536190218"/>
                  </a:ext>
                </a:extLst>
              </a:tr>
              <a:tr h="2170110">
                <a:tc>
                  <a:txBody>
                    <a:bodyPr/>
                    <a:lstStyle/>
                    <a:p>
                      <a:pPr marL="342900" indent="-342900" algn="just">
                        <a:buFont typeface="+mj-lt"/>
                        <a:buAutoNum type="arabicPeriod" startAt="8"/>
                      </a:pPr>
                      <a:r>
                        <a:rPr lang="en-US" sz="2000" b="0" dirty="0"/>
                        <a:t>What is the OUTPUT of the following Statement?</a:t>
                      </a:r>
                      <a:br>
                        <a:rPr lang="en-US" sz="2000" b="0" dirty="0"/>
                      </a:br>
                      <a:r>
                        <a:rPr lang="en-US" sz="2000" b="0" dirty="0"/>
                        <a:t>print 0xA + 0xB + 0xC :</a:t>
                      </a:r>
                    </a:p>
                    <a:p>
                      <a:pPr>
                        <a:buFont typeface="Wingdings" pitchFamily="2" charset="2"/>
                        <a:buChar char="§"/>
                      </a:pPr>
                      <a:r>
                        <a:rPr lang="en-US" sz="2000" dirty="0"/>
                        <a:t>0xA0xB0xC</a:t>
                      </a:r>
                    </a:p>
                    <a:p>
                      <a:pPr>
                        <a:buFont typeface="Wingdings" pitchFamily="2" charset="2"/>
                        <a:buChar char="§"/>
                      </a:pPr>
                      <a:r>
                        <a:rPr lang="en-US" sz="2000" b="0" u="none" dirty="0"/>
                        <a:t>33</a:t>
                      </a:r>
                    </a:p>
                    <a:p>
                      <a:pPr>
                        <a:buFont typeface="Wingdings" pitchFamily="2" charset="2"/>
                        <a:buChar char="§"/>
                      </a:pPr>
                      <a:r>
                        <a:rPr lang="en-US" sz="2000" dirty="0"/>
                        <a:t>ABC</a:t>
                      </a:r>
                    </a:p>
                    <a:p>
                      <a:pPr>
                        <a:buFont typeface="Wingdings" pitchFamily="2" charset="2"/>
                        <a:buChar char="§"/>
                      </a:pPr>
                      <a:r>
                        <a:rPr lang="en-US" sz="2000" dirty="0"/>
                        <a:t>000XXXABC</a:t>
                      </a:r>
                    </a:p>
                    <a:p>
                      <a:pPr marL="342900" indent="-342900" algn="just">
                        <a:buFont typeface="+mj-lt"/>
                        <a:buNone/>
                      </a:pPr>
                      <a:endParaRPr lang="en-US" sz="2000" b="0" dirty="0"/>
                    </a:p>
                  </a:txBody>
                  <a:tcPr>
                    <a:solidFill>
                      <a:schemeClr val="tx2">
                        <a:lumMod val="40000"/>
                        <a:lumOff val="60000"/>
                      </a:schemeClr>
                    </a:solidFill>
                  </a:tcPr>
                </a:tc>
                <a:tc>
                  <a:txBody>
                    <a:bodyPr/>
                    <a:lstStyle/>
                    <a:p>
                      <a:pPr marL="342900" indent="-342900" algn="just">
                        <a:buFont typeface="+mj-lt"/>
                        <a:buAutoNum type="arabicPeriod" startAt="9"/>
                      </a:pPr>
                      <a:r>
                        <a:rPr lang="en-US" sz="2000" b="0" dirty="0"/>
                        <a:t>What is the OUTPUT when the following Statement is executed?</a:t>
                      </a:r>
                      <a:br>
                        <a:rPr lang="en-US" sz="2000" b="0" dirty="0"/>
                      </a:br>
                      <a:r>
                        <a:rPr lang="en-US" sz="2000" b="0" dirty="0"/>
                        <a:t>“</a:t>
                      </a:r>
                      <a:r>
                        <a:rPr lang="en-US" sz="2000" b="0" dirty="0" err="1"/>
                        <a:t>abc</a:t>
                      </a:r>
                      <a:r>
                        <a:rPr lang="en-US" sz="2000" b="0" dirty="0"/>
                        <a:t>”+”xyz”</a:t>
                      </a:r>
                    </a:p>
                    <a:p>
                      <a:pPr>
                        <a:buFont typeface="Wingdings" pitchFamily="2" charset="2"/>
                        <a:buChar char="§"/>
                      </a:pPr>
                      <a:r>
                        <a:rPr lang="en-US" sz="2000" dirty="0" err="1"/>
                        <a:t>abc</a:t>
                      </a:r>
                      <a:endParaRPr lang="en-US" sz="2000" dirty="0"/>
                    </a:p>
                    <a:p>
                      <a:pPr>
                        <a:buFont typeface="Wingdings" pitchFamily="2" charset="2"/>
                        <a:buChar char="§"/>
                      </a:pPr>
                      <a:r>
                        <a:rPr lang="en-US" sz="2000" u="sng" dirty="0" err="1"/>
                        <a:t>abcxyz</a:t>
                      </a:r>
                      <a:endParaRPr lang="en-US" sz="2000" dirty="0"/>
                    </a:p>
                    <a:p>
                      <a:pPr>
                        <a:buFont typeface="Wingdings" pitchFamily="2" charset="2"/>
                        <a:buChar char="§"/>
                      </a:pPr>
                      <a:r>
                        <a:rPr lang="en-US" sz="2000" dirty="0" err="1"/>
                        <a:t>abcz</a:t>
                      </a:r>
                      <a:endParaRPr lang="en-US" sz="2000" dirty="0"/>
                    </a:p>
                    <a:p>
                      <a:pPr>
                        <a:buFont typeface="Wingdings" pitchFamily="2" charset="2"/>
                        <a:buChar char="§"/>
                      </a:pPr>
                      <a:r>
                        <a:rPr lang="en-US" sz="2000" dirty="0" err="1"/>
                        <a:t>abcxy</a:t>
                      </a:r>
                      <a:endParaRPr lang="en-US" sz="2000" dirty="0"/>
                    </a:p>
                    <a:p>
                      <a:pPr marL="342900" indent="-342900" algn="just">
                        <a:buFont typeface="+mj-lt"/>
                        <a:buNone/>
                      </a:pPr>
                      <a:endParaRPr lang="en-US" sz="2000" b="0" kern="1200" dirty="0">
                        <a:solidFill>
                          <a:schemeClr val="tx1"/>
                        </a:solidFill>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2601322747"/>
                  </a:ext>
                </a:extLst>
              </a:tr>
              <a:tr h="1124274">
                <a:tc gridSpan="2">
                  <a:txBody>
                    <a:bodyPr/>
                    <a:lstStyle/>
                    <a:p>
                      <a:pPr marL="342900" indent="-342900" algn="l">
                        <a:buFont typeface="+mj-lt"/>
                        <a:buAutoNum type="arabicPeriod" startAt="10"/>
                      </a:pPr>
                      <a:r>
                        <a:rPr lang="en-US" sz="2000" b="0" dirty="0"/>
                        <a:t>what is the type of a?</a:t>
                      </a:r>
                      <a:r>
                        <a:rPr lang="en-US" sz="2000" b="0" baseline="0" dirty="0"/>
                        <a:t> </a:t>
                      </a:r>
                      <a:r>
                        <a:rPr lang="en-US" sz="2000" b="0" dirty="0"/>
                        <a:t>a={1,2:3</a:t>
                      </a:r>
                      <a:r>
                        <a:rPr lang="en-US" sz="2000" b="1" dirty="0"/>
                        <a:t>}</a:t>
                      </a:r>
                      <a:r>
                        <a:rPr lang="en-US" sz="2000" b="1" baseline="0" dirty="0"/>
                        <a:t> </a:t>
                      </a:r>
                      <a:r>
                        <a:rPr lang="en-US" sz="2000" dirty="0"/>
                        <a:t>list</a:t>
                      </a:r>
                    </a:p>
                    <a:p>
                      <a:r>
                        <a:rPr lang="en-US" sz="2000" dirty="0"/>
                        <a:t>set</a:t>
                      </a:r>
                    </a:p>
                    <a:p>
                      <a:r>
                        <a:rPr lang="en-US" sz="2000" dirty="0" err="1"/>
                        <a:t>dict</a:t>
                      </a:r>
                      <a:endParaRPr lang="en-US" sz="2000" dirty="0"/>
                    </a:p>
                    <a:p>
                      <a:r>
                        <a:rPr lang="en-US" sz="2000" u="sng" dirty="0"/>
                        <a:t>syntax error</a:t>
                      </a:r>
                      <a:endParaRPr lang="en-US" sz="200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20496647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E345BE-F71C-4660-A069-5DABB8DFAE7D}"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Glossary Questions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9906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52832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150625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E59F69-3A65-401E-8B39-FE6331027803}"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Expected Questions for University Exam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49784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3716878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0D6AFB-C952-4073-A94F-6041391C6444}"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Summary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08461" y="889592"/>
            <a:ext cx="11775078" cy="5262979"/>
          </a:xfrm>
          <a:prstGeom prst="rect">
            <a:avLst/>
          </a:prstGeom>
          <a:solidFill>
            <a:schemeClr val="tx2">
              <a:lumMod val="40000"/>
              <a:lumOff val="60000"/>
            </a:schemeClr>
          </a:solidFill>
          <a:ln w="28575">
            <a:solidFill>
              <a:schemeClr val="tx1"/>
            </a:solidFill>
          </a:ln>
        </p:spPr>
        <p:txBody>
          <a:bodyPr wrap="square">
            <a:spAutoFit/>
          </a:bodyPr>
          <a:lstStyle/>
          <a:p>
            <a:r>
              <a:rPr lang="en-US" sz="2800" b="1" dirty="0">
                <a:latin typeface="+mj-lt"/>
              </a:rPr>
              <a:t>Till Now we understand </a:t>
            </a:r>
            <a:r>
              <a:rPr lang="en-US" sz="2800" dirty="0"/>
              <a:t>The idea of this module implements specialized container datatypes providing alternatives to Python’s general purpose built-in containers,</a:t>
            </a:r>
            <a:r>
              <a:rPr lang="en-US" sz="2800" dirty="0">
                <a:ea typeface="Times New Roman" pitchFamily="18" charset="0"/>
                <a:cs typeface="Arial" pitchFamily="34" charset="0"/>
              </a:rPr>
              <a:t> </a:t>
            </a:r>
            <a:r>
              <a:rPr lang="en-US" sz="2800" dirty="0" err="1">
                <a:ea typeface="Times New Roman" pitchFamily="18" charset="0"/>
                <a:cs typeface="Arial" pitchFamily="34" charset="0"/>
              </a:rPr>
              <a:t>Tkinter</a:t>
            </a:r>
            <a:r>
              <a:rPr lang="en-US" sz="2800" dirty="0">
                <a:ea typeface="Times New Roman" pitchFamily="18" charset="0"/>
                <a:cs typeface="Arial" pitchFamily="34" charset="0"/>
              </a:rPr>
              <a:t> is the Python interface to the </a:t>
            </a:r>
            <a:r>
              <a:rPr lang="en-US" sz="2800" dirty="0" err="1">
                <a:ea typeface="Times New Roman" pitchFamily="18" charset="0"/>
                <a:cs typeface="Arial" pitchFamily="34" charset="0"/>
              </a:rPr>
              <a:t>Tk</a:t>
            </a:r>
            <a:r>
              <a:rPr lang="en-US" sz="2800" dirty="0">
                <a:ea typeface="Times New Roman" pitchFamily="18" charset="0"/>
                <a:cs typeface="Arial" pitchFamily="34" charset="0"/>
              </a:rPr>
              <a:t> GUI toolkit shipped with Python. GET and POST requests using Python,</a:t>
            </a:r>
            <a:r>
              <a:rPr lang="en-US" sz="2800" dirty="0"/>
              <a:t> </a:t>
            </a:r>
            <a:r>
              <a:rPr lang="en-US" sz="2800" dirty="0" err="1"/>
              <a:t>Scrapy</a:t>
            </a:r>
            <a:r>
              <a:rPr lang="en-US" sz="2800" dirty="0"/>
              <a:t> is a </a:t>
            </a:r>
            <a:r>
              <a:rPr lang="en-US" sz="2800" u="sng" dirty="0">
                <a:hlinkClick r:id="rId2"/>
              </a:rPr>
              <a:t>Python</a:t>
            </a:r>
            <a:r>
              <a:rPr lang="en-US" sz="2800" dirty="0"/>
              <a:t> framework for large scale web scraping. It gives you all the tools you need to efficiently </a:t>
            </a:r>
            <a:r>
              <a:rPr lang="en-US" sz="2800" b="1" i="1" dirty="0"/>
              <a:t>extract</a:t>
            </a:r>
            <a:r>
              <a:rPr lang="en-US" sz="2800" dirty="0"/>
              <a:t> data from websites, </a:t>
            </a:r>
            <a:r>
              <a:rPr lang="en-US" sz="2800" b="1" i="1" dirty="0"/>
              <a:t>process</a:t>
            </a:r>
            <a:r>
              <a:rPr lang="en-US" sz="2800" dirty="0"/>
              <a:t> them as you want, and store them in your preferred </a:t>
            </a:r>
            <a:r>
              <a:rPr lang="en-US" sz="2800" b="1" i="1" dirty="0"/>
              <a:t>structure </a:t>
            </a:r>
            <a:r>
              <a:rPr lang="en-US" sz="2800" dirty="0"/>
              <a:t>and format. Quixote is a framework for writing Web-based applications using Python. Its goals are flexibility and high-performance, in that order. Pyramid makes it easy to write web applications. You can </a:t>
            </a:r>
            <a:r>
              <a:rPr lang="en-US" sz="2800" b="1" dirty="0"/>
              <a:t>start small</a:t>
            </a:r>
            <a:r>
              <a:rPr lang="en-US" sz="2800" dirty="0"/>
              <a:t> with this "hello world" minimal request/response web app. </a:t>
            </a:r>
          </a:p>
          <a:p>
            <a:r>
              <a:rPr lang="en-US" sz="2800" dirty="0"/>
              <a:t>Pyramid offers many features that make writing complex software take less effort. </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II</a:t>
            </a:r>
            <a:endParaRPr lang="en-US" dirty="0"/>
          </a:p>
        </p:txBody>
      </p:sp>
    </p:spTree>
    <p:extLst>
      <p:ext uri="{BB962C8B-B14F-4D97-AF65-F5344CB8AC3E}">
        <p14:creationId xmlns:p14="http://schemas.microsoft.com/office/powerpoint/2010/main" val="2565206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1FE30F8-A91C-48F7-A646-DBFFF0412EB0}" type="datetime1">
              <a:rPr lang="en-US" smtClean="0"/>
              <a:t>9/30/2024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References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Footer Placeholder 2"/>
          <p:cNvSpPr>
            <a:spLocks noGrp="1"/>
          </p:cNvSpPr>
          <p:nvPr>
            <p:ph type="ftr" sz="quarter" idx="11"/>
          </p:nvPr>
        </p:nvSpPr>
        <p:spPr>
          <a:xfrm>
            <a:off x="3911600" y="6356356"/>
            <a:ext cx="5816600" cy="365125"/>
          </a:xfrm>
        </p:spPr>
        <p:txBody>
          <a:bodyPr/>
          <a:lstStyle/>
          <a:p>
            <a:r>
              <a:rPr lang="en-US"/>
              <a:t>Ritesh Kumar Singh          Python web development with Django     Unit II</a:t>
            </a:r>
            <a:endParaRPr lang="en-US" dirty="0"/>
          </a:p>
        </p:txBody>
      </p:sp>
      <p:graphicFrame>
        <p:nvGraphicFramePr>
          <p:cNvPr id="12" name="Table 11"/>
          <p:cNvGraphicFramePr>
            <a:graphicFrameLocks noGrp="1"/>
          </p:cNvGraphicFramePr>
          <p:nvPr/>
        </p:nvGraphicFramePr>
        <p:xfrm>
          <a:off x="533400" y="991662"/>
          <a:ext cx="11353800" cy="5058839"/>
        </p:xfrm>
        <a:graphic>
          <a:graphicData uri="http://schemas.openxmlformats.org/drawingml/2006/table">
            <a:tbl>
              <a:tblPr firstRow="1" firstCol="1" lastRow="1" lastCol="1" bandRow="1" bandCol="1">
                <a:tableStyleId>{5C22544A-7EE6-4342-B048-85BDC9FD1C3A}</a:tableStyleId>
              </a:tblPr>
              <a:tblGrid>
                <a:gridCol w="11353800">
                  <a:extLst>
                    <a:ext uri="{9D8B030D-6E8A-4147-A177-3AD203B41FA5}">
                      <a16:colId xmlns:a16="http://schemas.microsoft.com/office/drawing/2014/main" val="3372635850"/>
                    </a:ext>
                  </a:extLst>
                </a:gridCol>
              </a:tblGrid>
              <a:tr h="1273635">
                <a:tc>
                  <a:txBody>
                    <a:bodyPr/>
                    <a:lstStyle/>
                    <a:p>
                      <a:pPr marL="0" marR="0" algn="just">
                        <a:lnSpc>
                          <a:spcPct val="115000"/>
                        </a:lnSpc>
                        <a:spcBef>
                          <a:spcPts val="0"/>
                        </a:spcBef>
                        <a:spcAft>
                          <a:spcPts val="0"/>
                        </a:spcAft>
                      </a:pPr>
                      <a:r>
                        <a:rPr lang="en-US" sz="2400" dirty="0">
                          <a:effectLst/>
                        </a:rPr>
                        <a:t>(1)</a:t>
                      </a:r>
                      <a:r>
                        <a:rPr lang="en-US" sz="1800" dirty="0">
                          <a:effectLst/>
                        </a:rPr>
                        <a:t> </a:t>
                      </a:r>
                      <a:r>
                        <a:rPr lang="en-US" sz="2400" dirty="0">
                          <a:effectLst/>
                        </a:rPr>
                        <a:t>Tom </a:t>
                      </a:r>
                      <a:r>
                        <a:rPr lang="en-US" sz="2400" dirty="0" err="1">
                          <a:effectLst/>
                        </a:rPr>
                        <a:t>Aratyn</a:t>
                      </a:r>
                      <a:r>
                        <a:rPr lang="en-US" sz="2400" dirty="0">
                          <a:effectLst/>
                        </a:rPr>
                        <a:t>,</a:t>
                      </a:r>
                      <a:r>
                        <a:rPr lang="en-US" sz="1800" dirty="0">
                          <a:effectLst/>
                        </a:rPr>
                        <a:t> “</a:t>
                      </a:r>
                      <a:r>
                        <a:rPr lang="en-US" sz="2400" dirty="0">
                          <a:effectLst/>
                        </a:rPr>
                        <a:t>Building Django 2.0 Web Applications: Create enterprise-grade, scalable Python web applications easily with Django 2.0”, 2</a:t>
                      </a:r>
                      <a:r>
                        <a:rPr lang="en-US" sz="2400" baseline="30000" dirty="0">
                          <a:effectLst/>
                        </a:rPr>
                        <a:t>nd</a:t>
                      </a:r>
                      <a:r>
                        <a:rPr lang="en-US" sz="2400" dirty="0">
                          <a:effectLst/>
                        </a:rPr>
                        <a:t> Edition 2018, </a:t>
                      </a:r>
                      <a:r>
                        <a:rPr lang="en-US" sz="2400" dirty="0" err="1">
                          <a:effectLst/>
                        </a:rPr>
                        <a:t>Packt</a:t>
                      </a:r>
                      <a:r>
                        <a:rPr lang="en-US" sz="2400" dirty="0">
                          <a:effectLst/>
                        </a:rPr>
                        <a:t> Publishing.</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2810108072"/>
                  </a:ext>
                </a:extLst>
              </a:tr>
              <a:tr h="1243074">
                <a:tc>
                  <a:txBody>
                    <a:bodyPr/>
                    <a:lstStyle/>
                    <a:p>
                      <a:pPr marL="0" marR="0" algn="just">
                        <a:lnSpc>
                          <a:spcPct val="115000"/>
                        </a:lnSpc>
                        <a:spcBef>
                          <a:spcPts val="0"/>
                        </a:spcBef>
                        <a:spcAft>
                          <a:spcPts val="0"/>
                        </a:spcAft>
                      </a:pPr>
                      <a:r>
                        <a:rPr lang="en-US" sz="2400" dirty="0">
                          <a:effectLst/>
                        </a:rPr>
                        <a:t>(2) Nigel George, “Build a website with Django”, 1</a:t>
                      </a:r>
                      <a:r>
                        <a:rPr lang="en-US" sz="2400" baseline="30000" dirty="0">
                          <a:effectLst/>
                        </a:rPr>
                        <a:t>st</a:t>
                      </a:r>
                      <a:r>
                        <a:rPr lang="en-US" sz="2400" dirty="0">
                          <a:effectLst/>
                        </a:rPr>
                        <a:t>  Edition 2019, GNW Independent Publishing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490192612"/>
                  </a:ext>
                </a:extLst>
              </a:tr>
              <a:tr h="1243074">
                <a:tc>
                  <a:txBody>
                    <a:bodyPr/>
                    <a:lstStyle/>
                    <a:p>
                      <a:pPr marL="0" marR="0" algn="just">
                        <a:lnSpc>
                          <a:spcPct val="115000"/>
                        </a:lnSpc>
                        <a:spcBef>
                          <a:spcPts val="205"/>
                        </a:spcBef>
                        <a:spcAft>
                          <a:spcPts val="0"/>
                        </a:spcAft>
                      </a:pPr>
                      <a:r>
                        <a:rPr lang="en-US" sz="2400" dirty="0">
                          <a:effectLst/>
                        </a:rPr>
                        <a:t>(3) Ray Yao,”</a:t>
                      </a:r>
                      <a:r>
                        <a:rPr lang="en-US" sz="1800" dirty="0">
                          <a:effectLst/>
                        </a:rPr>
                        <a:t> </a:t>
                      </a:r>
                      <a:r>
                        <a:rPr lang="en-US" sz="2400" dirty="0">
                          <a:effectLst/>
                        </a:rPr>
                        <a:t>Django in 8 Hours: For Beginners, Learn Coding Fast!, 2</a:t>
                      </a:r>
                      <a:r>
                        <a:rPr lang="en-US" sz="2400" baseline="30000" dirty="0">
                          <a:effectLst/>
                        </a:rPr>
                        <a:t>nd</a:t>
                      </a:r>
                      <a:r>
                        <a:rPr lang="en-US" sz="2400" dirty="0">
                          <a:effectLst/>
                        </a:rPr>
                        <a:t> Edition 2020,</a:t>
                      </a:r>
                      <a:r>
                        <a:rPr lang="en-US" sz="1800" dirty="0">
                          <a:effectLst/>
                        </a:rPr>
                        <a:t> </a:t>
                      </a:r>
                      <a:r>
                        <a:rPr lang="en-US" sz="2400" dirty="0">
                          <a:effectLst/>
                        </a:rPr>
                        <a:t>Independently published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617959602"/>
                  </a:ext>
                </a:extLst>
              </a:tr>
              <a:tr h="1299056">
                <a:tc>
                  <a:txBody>
                    <a:bodyPr/>
                    <a:lstStyle/>
                    <a:p>
                      <a:pPr marL="0" marR="0" algn="just">
                        <a:lnSpc>
                          <a:spcPct val="115000"/>
                        </a:lnSpc>
                        <a:spcBef>
                          <a:spcPts val="0"/>
                        </a:spcBef>
                        <a:spcAft>
                          <a:spcPts val="0"/>
                        </a:spcAft>
                      </a:pPr>
                      <a:r>
                        <a:rPr lang="en-US" sz="2400" dirty="0">
                          <a:effectLst/>
                        </a:rPr>
                        <a:t>(4) Harry Percival,</a:t>
                      </a:r>
                      <a:r>
                        <a:rPr lang="en-US" sz="1800" dirty="0">
                          <a:effectLst/>
                        </a:rPr>
                        <a:t> “</a:t>
                      </a:r>
                      <a:r>
                        <a:rPr lang="en-US" sz="2400" dirty="0">
                          <a:effectLst/>
                        </a:rPr>
                        <a:t>Test-Driven Development with Python: Obey the Testing Goat: Using Django, Selenium, and JavaScript”, 2nd Edition 2019, Kindle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1451876080"/>
                  </a:ext>
                </a:extLst>
              </a:tr>
            </a:tbl>
          </a:graphicData>
        </a:graphic>
      </p:graphicFrame>
    </p:spTree>
    <p:extLst>
      <p:ext uri="{BB962C8B-B14F-4D97-AF65-F5344CB8AC3E}">
        <p14:creationId xmlns:p14="http://schemas.microsoft.com/office/powerpoint/2010/main" val="4016567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F9FCDD-4441-47A2-85B1-4BF5584C916D}" type="datetime1">
              <a:rPr lang="en-US" smtClean="0"/>
              <a:t>9/30/2024</a:t>
            </a:fld>
            <a:endParaRPr lang="en-US"/>
          </a:p>
        </p:txBody>
      </p:sp>
      <p:sp>
        <p:nvSpPr>
          <p:cNvPr id="5"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600200" y="1"/>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dirty="0"/>
          </a:p>
        </p:txBody>
      </p:sp>
      <p:sp>
        <p:nvSpPr>
          <p:cNvPr id="10" name="Rectangle 9">
            <a:extLst>
              <a:ext uri="{FF2B5EF4-FFF2-40B4-BE49-F238E27FC236}">
                <a16:creationId xmlns:a16="http://schemas.microsoft.com/office/drawing/2014/main" id="{6C347AEB-0CE8-4933-B463-5582E57CBB68}"/>
              </a:ext>
            </a:extLst>
          </p:cNvPr>
          <p:cNvSpPr/>
          <p:nvPr/>
        </p:nvSpPr>
        <p:spPr>
          <a:xfrm>
            <a:off x="2819400" y="2286000"/>
            <a:ext cx="5918200"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217069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7174</Words>
  <Application>Microsoft Office PowerPoint</Application>
  <PresentationFormat>Widescreen</PresentationFormat>
  <Paragraphs>720</Paragraphs>
  <Slides>58</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Aptos</vt:lpstr>
      <vt:lpstr>Aptos Display</vt:lpstr>
      <vt:lpstr>Arial</vt:lpstr>
      <vt:lpstr>Calibri</vt:lpstr>
      <vt:lpstr>Times New Roman</vt:lpstr>
      <vt:lpstr>Wingdings</vt:lpstr>
      <vt:lpstr>Office Theme</vt:lpstr>
      <vt:lpstr>     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Django Models(continue….)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Django with Bootstrap </vt:lpstr>
      <vt:lpstr>PowerPoint Presentation</vt:lpstr>
      <vt:lpstr>PowerPoint Presentation</vt:lpstr>
      <vt:lpstr>PowerPoint Presentation</vt:lpstr>
      <vt:lpstr>PowerPoint Presentation</vt:lpstr>
      <vt:lpstr>MCQ 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Kumar Singh</dc:creator>
  <cp:lastModifiedBy>KESHAB KUMAR</cp:lastModifiedBy>
  <cp:revision>8</cp:revision>
  <dcterms:created xsi:type="dcterms:W3CDTF">2024-09-24T06:15:54Z</dcterms:created>
  <dcterms:modified xsi:type="dcterms:W3CDTF">2024-09-30T20:49:45Z</dcterms:modified>
</cp:coreProperties>
</file>