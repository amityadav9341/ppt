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0"/>
  </p:notesMasterIdLst>
  <p:handoutMasterIdLst>
    <p:handoutMasterId r:id="rId161"/>
  </p:handoutMasterIdLst>
  <p:sldIdLst>
    <p:sldId id="256" r:id="rId5"/>
    <p:sldId id="453" r:id="rId6"/>
    <p:sldId id="449" r:id="rId7"/>
    <p:sldId id="407" r:id="rId8"/>
    <p:sldId id="451" r:id="rId9"/>
    <p:sldId id="285" r:id="rId10"/>
    <p:sldId id="286" r:id="rId11"/>
    <p:sldId id="302" r:id="rId12"/>
    <p:sldId id="287" r:id="rId13"/>
    <p:sldId id="303" r:id="rId14"/>
    <p:sldId id="288" r:id="rId15"/>
    <p:sldId id="430" r:id="rId16"/>
    <p:sldId id="444" r:id="rId17"/>
    <p:sldId id="440" r:id="rId18"/>
    <p:sldId id="441" r:id="rId19"/>
    <p:sldId id="442" r:id="rId20"/>
    <p:sldId id="443" r:id="rId21"/>
    <p:sldId id="391" r:id="rId22"/>
    <p:sldId id="401" r:id="rId23"/>
    <p:sldId id="284" r:id="rId24"/>
    <p:sldId id="289" r:id="rId25"/>
    <p:sldId id="393" r:id="rId26"/>
    <p:sldId id="296" r:id="rId27"/>
    <p:sldId id="295" r:id="rId28"/>
    <p:sldId id="294" r:id="rId29"/>
    <p:sldId id="454" r:id="rId30"/>
    <p:sldId id="457" r:id="rId31"/>
    <p:sldId id="458" r:id="rId32"/>
    <p:sldId id="291" r:id="rId33"/>
    <p:sldId id="297" r:id="rId34"/>
    <p:sldId id="459" r:id="rId35"/>
    <p:sldId id="460" r:id="rId36"/>
    <p:sldId id="298" r:id="rId37"/>
    <p:sldId id="461" r:id="rId38"/>
    <p:sldId id="400" r:id="rId39"/>
    <p:sldId id="394" r:id="rId40"/>
    <p:sldId id="299" r:id="rId41"/>
    <p:sldId id="395" r:id="rId42"/>
    <p:sldId id="456" r:id="rId43"/>
    <p:sldId id="455" r:id="rId44"/>
    <p:sldId id="306" r:id="rId45"/>
    <p:sldId id="300" r:id="rId46"/>
    <p:sldId id="305" r:id="rId47"/>
    <p:sldId id="304" r:id="rId48"/>
    <p:sldId id="462" r:id="rId49"/>
    <p:sldId id="402" r:id="rId50"/>
    <p:sldId id="396" r:id="rId51"/>
    <p:sldId id="283" r:id="rId52"/>
    <p:sldId id="308" r:id="rId53"/>
    <p:sldId id="309" r:id="rId54"/>
    <p:sldId id="310" r:id="rId55"/>
    <p:sldId id="464" r:id="rId56"/>
    <p:sldId id="465" r:id="rId57"/>
    <p:sldId id="466" r:id="rId58"/>
    <p:sldId id="467" r:id="rId59"/>
    <p:sldId id="463" r:id="rId60"/>
    <p:sldId id="403" r:id="rId61"/>
    <p:sldId id="397" r:id="rId62"/>
    <p:sldId id="323" r:id="rId63"/>
    <p:sldId id="307" r:id="rId64"/>
    <p:sldId id="318" r:id="rId65"/>
    <p:sldId id="468" r:id="rId66"/>
    <p:sldId id="469" r:id="rId67"/>
    <p:sldId id="470" r:id="rId68"/>
    <p:sldId id="471" r:id="rId69"/>
    <p:sldId id="319" r:id="rId70"/>
    <p:sldId id="317" r:id="rId71"/>
    <p:sldId id="321" r:id="rId72"/>
    <p:sldId id="472" r:id="rId73"/>
    <p:sldId id="473" r:id="rId74"/>
    <p:sldId id="474" r:id="rId75"/>
    <p:sldId id="475" r:id="rId76"/>
    <p:sldId id="320" r:id="rId77"/>
    <p:sldId id="322" r:id="rId78"/>
    <p:sldId id="324" r:id="rId79"/>
    <p:sldId id="325" r:id="rId80"/>
    <p:sldId id="327" r:id="rId81"/>
    <p:sldId id="476" r:id="rId82"/>
    <p:sldId id="484" r:id="rId83"/>
    <p:sldId id="477" r:id="rId84"/>
    <p:sldId id="478" r:id="rId85"/>
    <p:sldId id="479" r:id="rId86"/>
    <p:sldId id="480" r:id="rId87"/>
    <p:sldId id="481" r:id="rId88"/>
    <p:sldId id="482" r:id="rId89"/>
    <p:sldId id="483" r:id="rId90"/>
    <p:sldId id="330" r:id="rId91"/>
    <p:sldId id="404" r:id="rId92"/>
    <p:sldId id="398" r:id="rId93"/>
    <p:sldId id="331" r:id="rId94"/>
    <p:sldId id="328" r:id="rId95"/>
    <p:sldId id="485" r:id="rId96"/>
    <p:sldId id="332" r:id="rId97"/>
    <p:sldId id="405" r:id="rId98"/>
    <p:sldId id="399" r:id="rId99"/>
    <p:sldId id="486" r:id="rId100"/>
    <p:sldId id="487" r:id="rId101"/>
    <p:sldId id="488" r:id="rId102"/>
    <p:sldId id="489" r:id="rId103"/>
    <p:sldId id="490" r:id="rId104"/>
    <p:sldId id="491" r:id="rId105"/>
    <p:sldId id="492" r:id="rId106"/>
    <p:sldId id="493" r:id="rId107"/>
    <p:sldId id="494" r:id="rId108"/>
    <p:sldId id="495" r:id="rId109"/>
    <p:sldId id="496" r:id="rId110"/>
    <p:sldId id="497" r:id="rId111"/>
    <p:sldId id="498" r:id="rId112"/>
    <p:sldId id="499" r:id="rId113"/>
    <p:sldId id="500" r:id="rId114"/>
    <p:sldId id="338" r:id="rId115"/>
    <p:sldId id="339" r:id="rId116"/>
    <p:sldId id="501" r:id="rId117"/>
    <p:sldId id="502" r:id="rId118"/>
    <p:sldId id="503" r:id="rId119"/>
    <p:sldId id="504" r:id="rId120"/>
    <p:sldId id="505" r:id="rId121"/>
    <p:sldId id="340" r:id="rId122"/>
    <p:sldId id="506" r:id="rId123"/>
    <p:sldId id="507" r:id="rId124"/>
    <p:sldId id="341" r:id="rId125"/>
    <p:sldId id="406" r:id="rId126"/>
    <p:sldId id="508" r:id="rId127"/>
    <p:sldId id="509" r:id="rId128"/>
    <p:sldId id="510" r:id="rId129"/>
    <p:sldId id="511" r:id="rId130"/>
    <p:sldId id="512" r:id="rId131"/>
    <p:sldId id="513" r:id="rId132"/>
    <p:sldId id="514" r:id="rId133"/>
    <p:sldId id="342" r:id="rId134"/>
    <p:sldId id="343" r:id="rId135"/>
    <p:sldId id="350" r:id="rId136"/>
    <p:sldId id="371" r:id="rId137"/>
    <p:sldId id="345" r:id="rId138"/>
    <p:sldId id="351" r:id="rId139"/>
    <p:sldId id="452" r:id="rId140"/>
    <p:sldId id="372" r:id="rId141"/>
    <p:sldId id="373" r:id="rId142"/>
    <p:sldId id="374" r:id="rId143"/>
    <p:sldId id="375" r:id="rId144"/>
    <p:sldId id="376" r:id="rId145"/>
    <p:sldId id="377" r:id="rId146"/>
    <p:sldId id="378" r:id="rId147"/>
    <p:sldId id="379" r:id="rId148"/>
    <p:sldId id="380" r:id="rId149"/>
    <p:sldId id="381" r:id="rId150"/>
    <p:sldId id="382" r:id="rId151"/>
    <p:sldId id="383" r:id="rId152"/>
    <p:sldId id="384" r:id="rId153"/>
    <p:sldId id="385" r:id="rId154"/>
    <p:sldId id="386" r:id="rId155"/>
    <p:sldId id="347" r:id="rId156"/>
    <p:sldId id="348" r:id="rId157"/>
    <p:sldId id="349" r:id="rId158"/>
    <p:sldId id="301" r:id="rId1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2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4660"/>
  </p:normalViewPr>
  <p:slideViewPr>
    <p:cSldViewPr>
      <p:cViewPr varScale="1">
        <p:scale>
          <a:sx n="115" d="100"/>
          <a:sy n="115" d="100"/>
        </p:scale>
        <p:origin x="157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 /><Relationship Id="rId117" Type="http://schemas.openxmlformats.org/officeDocument/2006/relationships/slide" Target="slides/slide113.xml" /><Relationship Id="rId21" Type="http://schemas.openxmlformats.org/officeDocument/2006/relationships/slide" Target="slides/slide17.xml" /><Relationship Id="rId42" Type="http://schemas.openxmlformats.org/officeDocument/2006/relationships/slide" Target="slides/slide38.xml" /><Relationship Id="rId47" Type="http://schemas.openxmlformats.org/officeDocument/2006/relationships/slide" Target="slides/slide43.xml" /><Relationship Id="rId63" Type="http://schemas.openxmlformats.org/officeDocument/2006/relationships/slide" Target="slides/slide59.xml" /><Relationship Id="rId68" Type="http://schemas.openxmlformats.org/officeDocument/2006/relationships/slide" Target="slides/slide64.xml" /><Relationship Id="rId84" Type="http://schemas.openxmlformats.org/officeDocument/2006/relationships/slide" Target="slides/slide80.xml" /><Relationship Id="rId89" Type="http://schemas.openxmlformats.org/officeDocument/2006/relationships/slide" Target="slides/slide85.xml" /><Relationship Id="rId112" Type="http://schemas.openxmlformats.org/officeDocument/2006/relationships/slide" Target="slides/slide108.xml" /><Relationship Id="rId133" Type="http://schemas.openxmlformats.org/officeDocument/2006/relationships/slide" Target="slides/slide129.xml" /><Relationship Id="rId138" Type="http://schemas.openxmlformats.org/officeDocument/2006/relationships/slide" Target="slides/slide134.xml" /><Relationship Id="rId154" Type="http://schemas.openxmlformats.org/officeDocument/2006/relationships/slide" Target="slides/slide150.xml" /><Relationship Id="rId159" Type="http://schemas.openxmlformats.org/officeDocument/2006/relationships/slide" Target="slides/slide155.xml" /><Relationship Id="rId16" Type="http://schemas.openxmlformats.org/officeDocument/2006/relationships/slide" Target="slides/slide12.xml" /><Relationship Id="rId107" Type="http://schemas.openxmlformats.org/officeDocument/2006/relationships/slide" Target="slides/slide103.xml" /><Relationship Id="rId11" Type="http://schemas.openxmlformats.org/officeDocument/2006/relationships/slide" Target="slides/slide7.xml" /><Relationship Id="rId32" Type="http://schemas.openxmlformats.org/officeDocument/2006/relationships/slide" Target="slides/slide28.xml" /><Relationship Id="rId37" Type="http://schemas.openxmlformats.org/officeDocument/2006/relationships/slide" Target="slides/slide33.xml" /><Relationship Id="rId53" Type="http://schemas.openxmlformats.org/officeDocument/2006/relationships/slide" Target="slides/slide49.xml" /><Relationship Id="rId58" Type="http://schemas.openxmlformats.org/officeDocument/2006/relationships/slide" Target="slides/slide54.xml" /><Relationship Id="rId74" Type="http://schemas.openxmlformats.org/officeDocument/2006/relationships/slide" Target="slides/slide70.xml" /><Relationship Id="rId79" Type="http://schemas.openxmlformats.org/officeDocument/2006/relationships/slide" Target="slides/slide75.xml" /><Relationship Id="rId102" Type="http://schemas.openxmlformats.org/officeDocument/2006/relationships/slide" Target="slides/slide98.xml" /><Relationship Id="rId123" Type="http://schemas.openxmlformats.org/officeDocument/2006/relationships/slide" Target="slides/slide119.xml" /><Relationship Id="rId128" Type="http://schemas.openxmlformats.org/officeDocument/2006/relationships/slide" Target="slides/slide124.xml" /><Relationship Id="rId144" Type="http://schemas.openxmlformats.org/officeDocument/2006/relationships/slide" Target="slides/slide140.xml" /><Relationship Id="rId149" Type="http://schemas.openxmlformats.org/officeDocument/2006/relationships/slide" Target="slides/slide145.xml" /><Relationship Id="rId5" Type="http://schemas.openxmlformats.org/officeDocument/2006/relationships/slide" Target="slides/slide1.xml" /><Relationship Id="rId90" Type="http://schemas.openxmlformats.org/officeDocument/2006/relationships/slide" Target="slides/slide86.xml" /><Relationship Id="rId95" Type="http://schemas.openxmlformats.org/officeDocument/2006/relationships/slide" Target="slides/slide91.xml" /><Relationship Id="rId160" Type="http://schemas.openxmlformats.org/officeDocument/2006/relationships/notesMaster" Target="notesMasters/notesMaster1.xml" /><Relationship Id="rId165" Type="http://schemas.openxmlformats.org/officeDocument/2006/relationships/tableStyles" Target="tableStyles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43" Type="http://schemas.openxmlformats.org/officeDocument/2006/relationships/slide" Target="slides/slide39.xml" /><Relationship Id="rId48" Type="http://schemas.openxmlformats.org/officeDocument/2006/relationships/slide" Target="slides/slide44.xml" /><Relationship Id="rId64" Type="http://schemas.openxmlformats.org/officeDocument/2006/relationships/slide" Target="slides/slide60.xml" /><Relationship Id="rId69" Type="http://schemas.openxmlformats.org/officeDocument/2006/relationships/slide" Target="slides/slide65.xml" /><Relationship Id="rId113" Type="http://schemas.openxmlformats.org/officeDocument/2006/relationships/slide" Target="slides/slide109.xml" /><Relationship Id="rId118" Type="http://schemas.openxmlformats.org/officeDocument/2006/relationships/slide" Target="slides/slide114.xml" /><Relationship Id="rId134" Type="http://schemas.openxmlformats.org/officeDocument/2006/relationships/slide" Target="slides/slide130.xml" /><Relationship Id="rId139" Type="http://schemas.openxmlformats.org/officeDocument/2006/relationships/slide" Target="slides/slide135.xml" /><Relationship Id="rId80" Type="http://schemas.openxmlformats.org/officeDocument/2006/relationships/slide" Target="slides/slide76.xml" /><Relationship Id="rId85" Type="http://schemas.openxmlformats.org/officeDocument/2006/relationships/slide" Target="slides/slide81.xml" /><Relationship Id="rId150" Type="http://schemas.openxmlformats.org/officeDocument/2006/relationships/slide" Target="slides/slide146.xml" /><Relationship Id="rId155" Type="http://schemas.openxmlformats.org/officeDocument/2006/relationships/slide" Target="slides/slide151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33" Type="http://schemas.openxmlformats.org/officeDocument/2006/relationships/slide" Target="slides/slide29.xml" /><Relationship Id="rId38" Type="http://schemas.openxmlformats.org/officeDocument/2006/relationships/slide" Target="slides/slide34.xml" /><Relationship Id="rId59" Type="http://schemas.openxmlformats.org/officeDocument/2006/relationships/slide" Target="slides/slide55.xml" /><Relationship Id="rId103" Type="http://schemas.openxmlformats.org/officeDocument/2006/relationships/slide" Target="slides/slide99.xml" /><Relationship Id="rId108" Type="http://schemas.openxmlformats.org/officeDocument/2006/relationships/slide" Target="slides/slide104.xml" /><Relationship Id="rId124" Type="http://schemas.openxmlformats.org/officeDocument/2006/relationships/slide" Target="slides/slide120.xml" /><Relationship Id="rId129" Type="http://schemas.openxmlformats.org/officeDocument/2006/relationships/slide" Target="slides/slide125.xml" /><Relationship Id="rId54" Type="http://schemas.openxmlformats.org/officeDocument/2006/relationships/slide" Target="slides/slide50.xml" /><Relationship Id="rId70" Type="http://schemas.openxmlformats.org/officeDocument/2006/relationships/slide" Target="slides/slide66.xml" /><Relationship Id="rId75" Type="http://schemas.openxmlformats.org/officeDocument/2006/relationships/slide" Target="slides/slide71.xml" /><Relationship Id="rId91" Type="http://schemas.openxmlformats.org/officeDocument/2006/relationships/slide" Target="slides/slide87.xml" /><Relationship Id="rId96" Type="http://schemas.openxmlformats.org/officeDocument/2006/relationships/slide" Target="slides/slide92.xml" /><Relationship Id="rId140" Type="http://schemas.openxmlformats.org/officeDocument/2006/relationships/slide" Target="slides/slide136.xml" /><Relationship Id="rId145" Type="http://schemas.openxmlformats.org/officeDocument/2006/relationships/slide" Target="slides/slide141.xml" /><Relationship Id="rId161" Type="http://schemas.openxmlformats.org/officeDocument/2006/relationships/handoutMaster" Target="handoutMasters/handoutMaster1.xml" /><Relationship Id="rId166" Type="http://schemas.microsoft.com/office/2016/11/relationships/changesInfo" Target="changesInfos/changesInfo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slide" Target="slides/slide32.xml" /><Relationship Id="rId49" Type="http://schemas.openxmlformats.org/officeDocument/2006/relationships/slide" Target="slides/slide45.xml" /><Relationship Id="rId57" Type="http://schemas.openxmlformats.org/officeDocument/2006/relationships/slide" Target="slides/slide53.xml" /><Relationship Id="rId106" Type="http://schemas.openxmlformats.org/officeDocument/2006/relationships/slide" Target="slides/slide102.xml" /><Relationship Id="rId114" Type="http://schemas.openxmlformats.org/officeDocument/2006/relationships/slide" Target="slides/slide110.xml" /><Relationship Id="rId119" Type="http://schemas.openxmlformats.org/officeDocument/2006/relationships/slide" Target="slides/slide115.xml" /><Relationship Id="rId127" Type="http://schemas.openxmlformats.org/officeDocument/2006/relationships/slide" Target="slides/slide123.xml" /><Relationship Id="rId10" Type="http://schemas.openxmlformats.org/officeDocument/2006/relationships/slide" Target="slides/slide6.xml" /><Relationship Id="rId31" Type="http://schemas.openxmlformats.org/officeDocument/2006/relationships/slide" Target="slides/slide27.xml" /><Relationship Id="rId44" Type="http://schemas.openxmlformats.org/officeDocument/2006/relationships/slide" Target="slides/slide40.xml" /><Relationship Id="rId52" Type="http://schemas.openxmlformats.org/officeDocument/2006/relationships/slide" Target="slides/slide48.xml" /><Relationship Id="rId60" Type="http://schemas.openxmlformats.org/officeDocument/2006/relationships/slide" Target="slides/slide56.xml" /><Relationship Id="rId65" Type="http://schemas.openxmlformats.org/officeDocument/2006/relationships/slide" Target="slides/slide61.xml" /><Relationship Id="rId73" Type="http://schemas.openxmlformats.org/officeDocument/2006/relationships/slide" Target="slides/slide69.xml" /><Relationship Id="rId78" Type="http://schemas.openxmlformats.org/officeDocument/2006/relationships/slide" Target="slides/slide74.xml" /><Relationship Id="rId81" Type="http://schemas.openxmlformats.org/officeDocument/2006/relationships/slide" Target="slides/slide77.xml" /><Relationship Id="rId86" Type="http://schemas.openxmlformats.org/officeDocument/2006/relationships/slide" Target="slides/slide82.xml" /><Relationship Id="rId94" Type="http://schemas.openxmlformats.org/officeDocument/2006/relationships/slide" Target="slides/slide90.xml" /><Relationship Id="rId99" Type="http://schemas.openxmlformats.org/officeDocument/2006/relationships/slide" Target="slides/slide95.xml" /><Relationship Id="rId101" Type="http://schemas.openxmlformats.org/officeDocument/2006/relationships/slide" Target="slides/slide97.xml" /><Relationship Id="rId122" Type="http://schemas.openxmlformats.org/officeDocument/2006/relationships/slide" Target="slides/slide118.xml" /><Relationship Id="rId130" Type="http://schemas.openxmlformats.org/officeDocument/2006/relationships/slide" Target="slides/slide126.xml" /><Relationship Id="rId135" Type="http://schemas.openxmlformats.org/officeDocument/2006/relationships/slide" Target="slides/slide131.xml" /><Relationship Id="rId143" Type="http://schemas.openxmlformats.org/officeDocument/2006/relationships/slide" Target="slides/slide139.xml" /><Relationship Id="rId148" Type="http://schemas.openxmlformats.org/officeDocument/2006/relationships/slide" Target="slides/slide144.xml" /><Relationship Id="rId151" Type="http://schemas.openxmlformats.org/officeDocument/2006/relationships/slide" Target="slides/slide147.xml" /><Relationship Id="rId156" Type="http://schemas.openxmlformats.org/officeDocument/2006/relationships/slide" Target="slides/slide152.xml" /><Relationship Id="rId164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9" Type="http://schemas.openxmlformats.org/officeDocument/2006/relationships/slide" Target="slides/slide35.xml" /><Relationship Id="rId109" Type="http://schemas.openxmlformats.org/officeDocument/2006/relationships/slide" Target="slides/slide105.xml" /><Relationship Id="rId34" Type="http://schemas.openxmlformats.org/officeDocument/2006/relationships/slide" Target="slides/slide30.xml" /><Relationship Id="rId50" Type="http://schemas.openxmlformats.org/officeDocument/2006/relationships/slide" Target="slides/slide46.xml" /><Relationship Id="rId55" Type="http://schemas.openxmlformats.org/officeDocument/2006/relationships/slide" Target="slides/slide51.xml" /><Relationship Id="rId76" Type="http://schemas.openxmlformats.org/officeDocument/2006/relationships/slide" Target="slides/slide72.xml" /><Relationship Id="rId97" Type="http://schemas.openxmlformats.org/officeDocument/2006/relationships/slide" Target="slides/slide93.xml" /><Relationship Id="rId104" Type="http://schemas.openxmlformats.org/officeDocument/2006/relationships/slide" Target="slides/slide100.xml" /><Relationship Id="rId120" Type="http://schemas.openxmlformats.org/officeDocument/2006/relationships/slide" Target="slides/slide116.xml" /><Relationship Id="rId125" Type="http://schemas.openxmlformats.org/officeDocument/2006/relationships/slide" Target="slides/slide121.xml" /><Relationship Id="rId141" Type="http://schemas.openxmlformats.org/officeDocument/2006/relationships/slide" Target="slides/slide137.xml" /><Relationship Id="rId146" Type="http://schemas.openxmlformats.org/officeDocument/2006/relationships/slide" Target="slides/slide142.xml" /><Relationship Id="rId7" Type="http://schemas.openxmlformats.org/officeDocument/2006/relationships/slide" Target="slides/slide3.xml" /><Relationship Id="rId71" Type="http://schemas.openxmlformats.org/officeDocument/2006/relationships/slide" Target="slides/slide67.xml" /><Relationship Id="rId92" Type="http://schemas.openxmlformats.org/officeDocument/2006/relationships/slide" Target="slides/slide88.xml" /><Relationship Id="rId162" Type="http://schemas.openxmlformats.org/officeDocument/2006/relationships/presProps" Target="presProps.xml" /><Relationship Id="rId2" Type="http://schemas.openxmlformats.org/officeDocument/2006/relationships/customXml" Target="../customXml/item2.xml" /><Relationship Id="rId29" Type="http://schemas.openxmlformats.org/officeDocument/2006/relationships/slide" Target="slides/slide25.xml" /><Relationship Id="rId24" Type="http://schemas.openxmlformats.org/officeDocument/2006/relationships/slide" Target="slides/slide20.xml" /><Relationship Id="rId40" Type="http://schemas.openxmlformats.org/officeDocument/2006/relationships/slide" Target="slides/slide36.xml" /><Relationship Id="rId45" Type="http://schemas.openxmlformats.org/officeDocument/2006/relationships/slide" Target="slides/slide41.xml" /><Relationship Id="rId66" Type="http://schemas.openxmlformats.org/officeDocument/2006/relationships/slide" Target="slides/slide62.xml" /><Relationship Id="rId87" Type="http://schemas.openxmlformats.org/officeDocument/2006/relationships/slide" Target="slides/slide83.xml" /><Relationship Id="rId110" Type="http://schemas.openxmlformats.org/officeDocument/2006/relationships/slide" Target="slides/slide106.xml" /><Relationship Id="rId115" Type="http://schemas.openxmlformats.org/officeDocument/2006/relationships/slide" Target="slides/slide111.xml" /><Relationship Id="rId131" Type="http://schemas.openxmlformats.org/officeDocument/2006/relationships/slide" Target="slides/slide127.xml" /><Relationship Id="rId136" Type="http://schemas.openxmlformats.org/officeDocument/2006/relationships/slide" Target="slides/slide132.xml" /><Relationship Id="rId157" Type="http://schemas.openxmlformats.org/officeDocument/2006/relationships/slide" Target="slides/slide153.xml" /><Relationship Id="rId61" Type="http://schemas.openxmlformats.org/officeDocument/2006/relationships/slide" Target="slides/slide57.xml" /><Relationship Id="rId82" Type="http://schemas.openxmlformats.org/officeDocument/2006/relationships/slide" Target="slides/slide78.xml" /><Relationship Id="rId152" Type="http://schemas.openxmlformats.org/officeDocument/2006/relationships/slide" Target="slides/slide148.xml" /><Relationship Id="rId19" Type="http://schemas.openxmlformats.org/officeDocument/2006/relationships/slide" Target="slides/slide15.xml" /><Relationship Id="rId14" Type="http://schemas.openxmlformats.org/officeDocument/2006/relationships/slide" Target="slides/slide10.xml" /><Relationship Id="rId30" Type="http://schemas.openxmlformats.org/officeDocument/2006/relationships/slide" Target="slides/slide26.xml" /><Relationship Id="rId35" Type="http://schemas.openxmlformats.org/officeDocument/2006/relationships/slide" Target="slides/slide31.xml" /><Relationship Id="rId56" Type="http://schemas.openxmlformats.org/officeDocument/2006/relationships/slide" Target="slides/slide52.xml" /><Relationship Id="rId77" Type="http://schemas.openxmlformats.org/officeDocument/2006/relationships/slide" Target="slides/slide73.xml" /><Relationship Id="rId100" Type="http://schemas.openxmlformats.org/officeDocument/2006/relationships/slide" Target="slides/slide96.xml" /><Relationship Id="rId105" Type="http://schemas.openxmlformats.org/officeDocument/2006/relationships/slide" Target="slides/slide101.xml" /><Relationship Id="rId126" Type="http://schemas.openxmlformats.org/officeDocument/2006/relationships/slide" Target="slides/slide122.xml" /><Relationship Id="rId147" Type="http://schemas.openxmlformats.org/officeDocument/2006/relationships/slide" Target="slides/slide143.xml" /><Relationship Id="rId8" Type="http://schemas.openxmlformats.org/officeDocument/2006/relationships/slide" Target="slides/slide4.xml" /><Relationship Id="rId51" Type="http://schemas.openxmlformats.org/officeDocument/2006/relationships/slide" Target="slides/slide47.xml" /><Relationship Id="rId72" Type="http://schemas.openxmlformats.org/officeDocument/2006/relationships/slide" Target="slides/slide68.xml" /><Relationship Id="rId93" Type="http://schemas.openxmlformats.org/officeDocument/2006/relationships/slide" Target="slides/slide89.xml" /><Relationship Id="rId98" Type="http://schemas.openxmlformats.org/officeDocument/2006/relationships/slide" Target="slides/slide94.xml" /><Relationship Id="rId121" Type="http://schemas.openxmlformats.org/officeDocument/2006/relationships/slide" Target="slides/slide117.xml" /><Relationship Id="rId142" Type="http://schemas.openxmlformats.org/officeDocument/2006/relationships/slide" Target="slides/slide138.xml" /><Relationship Id="rId163" Type="http://schemas.openxmlformats.org/officeDocument/2006/relationships/viewProps" Target="viewProps.xml" /><Relationship Id="rId3" Type="http://schemas.openxmlformats.org/officeDocument/2006/relationships/customXml" Target="../customXml/item3.xml" /><Relationship Id="rId25" Type="http://schemas.openxmlformats.org/officeDocument/2006/relationships/slide" Target="slides/slide21.xml" /><Relationship Id="rId46" Type="http://schemas.openxmlformats.org/officeDocument/2006/relationships/slide" Target="slides/slide42.xml" /><Relationship Id="rId67" Type="http://schemas.openxmlformats.org/officeDocument/2006/relationships/slide" Target="slides/slide63.xml" /><Relationship Id="rId116" Type="http://schemas.openxmlformats.org/officeDocument/2006/relationships/slide" Target="slides/slide112.xml" /><Relationship Id="rId137" Type="http://schemas.openxmlformats.org/officeDocument/2006/relationships/slide" Target="slides/slide133.xml" /><Relationship Id="rId158" Type="http://schemas.openxmlformats.org/officeDocument/2006/relationships/slide" Target="slides/slide154.xml" /><Relationship Id="rId20" Type="http://schemas.openxmlformats.org/officeDocument/2006/relationships/slide" Target="slides/slide16.xml" /><Relationship Id="rId41" Type="http://schemas.openxmlformats.org/officeDocument/2006/relationships/slide" Target="slides/slide37.xml" /><Relationship Id="rId62" Type="http://schemas.openxmlformats.org/officeDocument/2006/relationships/slide" Target="slides/slide58.xml" /><Relationship Id="rId83" Type="http://schemas.openxmlformats.org/officeDocument/2006/relationships/slide" Target="slides/slide79.xml" /><Relationship Id="rId88" Type="http://schemas.openxmlformats.org/officeDocument/2006/relationships/slide" Target="slides/slide84.xml" /><Relationship Id="rId111" Type="http://schemas.openxmlformats.org/officeDocument/2006/relationships/slide" Target="slides/slide107.xml" /><Relationship Id="rId132" Type="http://schemas.openxmlformats.org/officeDocument/2006/relationships/slide" Target="slides/slide128.xml" /><Relationship Id="rId153" Type="http://schemas.openxmlformats.org/officeDocument/2006/relationships/slide" Target="slides/slide149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KUMAR" userId="ae1a884a-9150-4a8f-b688-434e4476d526" providerId="ADAL" clId="{065878AC-8F10-C443-BB6C-7597ED3560BD}"/>
    <pc:docChg chg="modSld">
      <pc:chgData name="TARUN KUMAR" userId="ae1a884a-9150-4a8f-b688-434e4476d526" providerId="ADAL" clId="{065878AC-8F10-C443-BB6C-7597ED3560BD}" dt="2024-09-26T13:18:05.281" v="0" actId="688"/>
      <pc:docMkLst>
        <pc:docMk/>
      </pc:docMkLst>
      <pc:sldChg chg="modSp">
        <pc:chgData name="TARUN KUMAR" userId="ae1a884a-9150-4a8f-b688-434e4476d526" providerId="ADAL" clId="{065878AC-8F10-C443-BB6C-7597ED3560BD}" dt="2024-09-26T13:18:05.281" v="0" actId="688"/>
        <pc:sldMkLst>
          <pc:docMk/>
          <pc:sldMk cId="2555220207" sldId="322"/>
        </pc:sldMkLst>
        <pc:grpChg chg="mod">
          <ac:chgData name="TARUN KUMAR" userId="ae1a884a-9150-4a8f-b688-434e4476d526" providerId="ADAL" clId="{065878AC-8F10-C443-BB6C-7597ED3560BD}" dt="2024-09-26T13:18:05.281" v="0" actId="688"/>
          <ac:grpSpMkLst>
            <pc:docMk/>
            <pc:sldMk cId="2555220207" sldId="322"/>
            <ac:grpSpMk id="41" creationId="{00000000-0000-0000-0000-00000000000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6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86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93E1E5-54B8-4AC7-80E0-A8CB9D118F5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50C8-DA45-49A0-871C-C9261B65214F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C834F-128C-4D7E-841E-A71B0007350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A0A0B-ACD6-4784-9CD6-2DC3AC033E7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299CB-B5AF-440D-99B1-45E6D7EC3145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B4EC-BB1D-4534-91F0-A7238C1D08E0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6384-1200-4181-B2C9-23FA29E72EBF}" type="datetime1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181-E85E-482E-8579-8E2C122654D5}" type="datetime1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9825-C9D7-4028-89E5-7F25480FB63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2E58-AEB2-4D4B-8CD8-B64C345A79C9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7CD82-C0C5-48F4-B2FB-3D2DE673947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A1ED-416C-4E68-BDF5-2A07DBB8C385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8B878-8626-4277-B932-4FF26FF7BDCC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jpe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UMnllso8znw" TargetMode="External" /><Relationship Id="rId3" Type="http://schemas.openxmlformats.org/officeDocument/2006/relationships/hyperlink" Target="https://www.youtube.com/watch?v=e-WJJl1Wzc4" TargetMode="External" /><Relationship Id="rId7" Type="http://schemas.openxmlformats.org/officeDocument/2006/relationships/hyperlink" Target="https://youtu.be/-Ut1b1xEbCo" TargetMode="External" /><Relationship Id="rId2" Type="http://schemas.openxmlformats.org/officeDocument/2006/relationships/hyperlink" Target="https://www.youtube.com/watch?v=WccZQSERfCM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youtu.be/trocRZqxZFM" TargetMode="External" /><Relationship Id="rId5" Type="http://schemas.openxmlformats.org/officeDocument/2006/relationships/hyperlink" Target="https://www.youtube.com/watch?v=jN8zvENdjBg" TargetMode="External" /><Relationship Id="rId4" Type="http://schemas.openxmlformats.org/officeDocument/2006/relationships/hyperlink" Target="https://www.youtube.com/watch?v=ZMgiwh_Aimw" TargetMode="External" /><Relationship Id="rId9" Type="http://schemas.openxmlformats.org/officeDocument/2006/relationships/image" Target="../media/image3.jpeg" 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4.jfif" /><Relationship Id="rId1" Type="http://schemas.openxmlformats.org/officeDocument/2006/relationships/slideLayout" Target="../slideLayouts/slideLayout2.xml" 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5.jfif" /><Relationship Id="rId1" Type="http://schemas.openxmlformats.org/officeDocument/2006/relationships/slideLayout" Target="../slideLayouts/slideLayout2.xml" 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compiler-tutorial" TargetMode="External" /><Relationship Id="rId2" Type="http://schemas.openxmlformats.org/officeDocument/2006/relationships/hyperlink" Target="https://www.geeksforgeeks.org/compiler-design-tutorials/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.jpeg" /><Relationship Id="rId5" Type="http://schemas.openxmlformats.org/officeDocument/2006/relationships/hyperlink" Target="https://nptel.ac.in/courses/106105190/" TargetMode="External" /><Relationship Id="rId4" Type="http://schemas.openxmlformats.org/officeDocument/2006/relationships/hyperlink" Target="https://www.tutorialspoint.com/compiler_design/index.htm" TargetMode="External" 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"/>
            <a:ext cx="7772400" cy="685799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dirty="0" err="1"/>
              <a:t>Noida</a:t>
            </a:r>
            <a:r>
              <a:rPr lang="en-US" sz="2400" dirty="0"/>
              <a:t> Institute of Engineering and Technology, Greater </a:t>
            </a:r>
            <a:r>
              <a:rPr lang="en-US" sz="2400" dirty="0" err="1"/>
              <a:t>Noida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914400"/>
            <a:ext cx="6400800" cy="1524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500" dirty="0">
              <a:solidFill>
                <a:schemeClr val="tx1"/>
              </a:solidFill>
            </a:endParaRPr>
          </a:p>
          <a:p>
            <a:r>
              <a:rPr lang="en-US" sz="2500" dirty="0">
                <a:solidFill>
                  <a:schemeClr val="tx1"/>
                </a:solidFill>
              </a:rPr>
              <a:t>Notion and Concepts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791200" y="4267200"/>
            <a:ext cx="3048000" cy="1447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solidFill>
                  <a:schemeClr val="tx1"/>
                </a:solidFill>
              </a:rPr>
              <a:t>Vivek</a:t>
            </a:r>
            <a:r>
              <a:rPr lang="en-US" sz="2400" dirty="0">
                <a:solidFill>
                  <a:schemeClr val="tx1"/>
                </a:solidFill>
              </a:rPr>
              <a:t> Kumar Sharma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Assistant Professor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chemeClr val="tx1"/>
                </a:solidFill>
              </a:rPr>
              <a:t>CSE Department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81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381000" y="6492875"/>
            <a:ext cx="2133600" cy="365125"/>
          </a:xfrm>
        </p:spPr>
        <p:txBody>
          <a:bodyPr/>
          <a:lstStyle/>
          <a:p>
            <a:fld id="{A2FBC157-F19A-4891-98CE-0634C1A8399A}" type="datetime1">
              <a:rPr lang="en-US" smtClean="0"/>
              <a:t>9/26/2024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274320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152400" y="2971800"/>
            <a:ext cx="2057400" cy="533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Unit:</a:t>
            </a:r>
            <a:r>
              <a:rPr kumimoji="0" lang="en-US" sz="2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it-IT" dirty="0"/>
              <a:t>Vivek Kumar Sharma           CD Unit -1</a:t>
            </a:r>
            <a:endParaRPr lang="en-US" dirty="0"/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152400" y="3810000"/>
            <a:ext cx="4191000" cy="838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Subject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baseline="0" dirty="0">
                <a:solidFill>
                  <a:schemeClr val="tx1"/>
                </a:solidFill>
              </a:rPr>
              <a:t>Compiler Design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152400" y="4876800"/>
            <a:ext cx="4191000" cy="838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Course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Details</a:t>
            </a:r>
            <a:b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 Tech CSE 5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Picture 1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C169C-0DF1-427A-ABA3-4D7742363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Vivek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Sharma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 CSE Department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NIET Grater Noida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(CSE) in 2010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(CSE) in 2013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Experinces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 year +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Publications: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077E4-CAF8-4C05-B649-952420C6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7D94-8AAE-46FB-9E78-94DAC683D9A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049B0-EDD8-436F-AE71-7524DF27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E441-532C-4151-91B8-434C68F1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F397BA-B3AA-4FCA-8B23-53BF07946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21956"/>
            <a:ext cx="8229600" cy="8683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of Faculty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7BDED5B-6D93-4F4D-BD7D-D19069FCF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820371"/>
              </p:ext>
            </p:extLst>
          </p:nvPr>
        </p:nvGraphicFramePr>
        <p:xfrm>
          <a:off x="1524000" y="4546646"/>
          <a:ext cx="6096000" cy="111252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65995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290130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829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Particulars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Conference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89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International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66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626318"/>
                  </a:ext>
                </a:extLst>
              </a:tr>
            </a:tbl>
          </a:graphicData>
        </a:graphic>
      </p:graphicFrame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9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7CED2-608B-47DD-8C92-EC04B2FCADF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356350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600200" y="1"/>
            <a:ext cx="75438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Scheme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6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EA6FC4FE-8351-4C84-9702-E138EDF7DF8E}" type="datetime1">
              <a:rPr lang="en-US" smtClean="0"/>
              <a:t>9/26/2024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75" y="789843"/>
            <a:ext cx="7748825" cy="5566507"/>
          </a:xfrm>
          <a:prstGeom prst="rect">
            <a:avLst/>
          </a:prstGeom>
        </p:spPr>
      </p:pic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1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0F0D3-6E8D-43A7-B71A-75D13BCE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600" b="1" dirty="0"/>
              <a:t>Computer Science </a:t>
            </a:r>
            <a:r>
              <a:rPr lang="en-US" sz="32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Compiler technology can be </a:t>
            </a:r>
            <a:r>
              <a:rPr lang="en-US" sz="32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translate the binary code for one machine to that of another</a:t>
            </a:r>
            <a:r>
              <a:rPr lang="en-US" sz="32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a machine to run programs originally compiled for another instruction set. Binary translation technology has been used by various computer companies to increase the availability of software for their machines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 of High Level Programming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Computer Architecture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New Computer Architecture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Translation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Productive tools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9CE6-2BED-4E81-BBDC-AB8082E3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8900-42B4-4066-8A4D-4781A57339EA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61568-3B3F-4B25-9877-4F44DA1C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B5055-1FDA-4932-ABF7-8CF07DF4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0B5219-CE1D-42B2-A66D-BB65F77D1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600" y="274638"/>
            <a:ext cx="6934200" cy="8913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Branch wise Applications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7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876800"/>
          </a:xfrm>
        </p:spPr>
        <p:txBody>
          <a:bodyPr/>
          <a:lstStyle/>
          <a:p>
            <a:pPr mar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200" dirty="0">
                <a:ea typeface="Calibri"/>
                <a:cs typeface="Times New Roman"/>
              </a:rPr>
              <a:t>Introduce students to the concepts underlying the design and implementation of language processors. More specifically, by the end of the course, students will be able to answer these questions: 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US" sz="2200" dirty="0">
                <a:ea typeface="Calibri"/>
                <a:cs typeface="Times New Roman"/>
              </a:rPr>
              <a:t>What language processors are, and what functionality do they provide to their users? 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US" sz="2200" dirty="0">
                <a:ea typeface="Calibri"/>
                <a:cs typeface="Times New Roman"/>
              </a:rPr>
              <a:t>What core mechanisms are used for providing such functionality? 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US" sz="2200" dirty="0">
                <a:ea typeface="Calibri"/>
                <a:cs typeface="Times New Roman"/>
              </a:rPr>
              <a:t>How are these mechanisms implemented?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IN" sz="2200" dirty="0">
                <a:ea typeface="Calibri"/>
              </a:rPr>
              <a:t>Apart from providing a theoretical background, the course places a special emphasis in practical issues in designing language processors. </a:t>
            </a: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0D966ED-3F24-49EC-96E3-565BED72F4E6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4FB52C-7D5D-45C9-BB4C-DE24A64737F9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Course Objectives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533400" y="1265237"/>
            <a:ext cx="8229600" cy="4906963"/>
          </a:xfrm>
        </p:spPr>
        <p:txBody>
          <a:bodyPr/>
          <a:lstStyle/>
          <a:p>
            <a:pPr algn="just"/>
            <a:r>
              <a:rPr lang="en-US" sz="2200" b="1" dirty="0">
                <a:solidFill>
                  <a:srgbClr val="FF0000"/>
                </a:solidFill>
              </a:rPr>
              <a:t>CO1: </a:t>
            </a:r>
            <a:r>
              <a:rPr lang="en-US" sz="2200" dirty="0">
                <a:solidFill>
                  <a:srgbClr val="FF0000"/>
                </a:solidFill>
              </a:rPr>
              <a:t>To have the knowledge of patterns, tokens, regular expressions and finite automata to develop a scanner or lexical analyzer.</a:t>
            </a:r>
          </a:p>
          <a:p>
            <a:pPr algn="just"/>
            <a:r>
              <a:rPr lang="en-US" sz="2200" b="1" dirty="0"/>
              <a:t>CO2: </a:t>
            </a:r>
            <a:r>
              <a:rPr lang="en-US" sz="2200" dirty="0"/>
              <a:t>To design and develop various parser by parsing LL parser and LR parser</a:t>
            </a:r>
          </a:p>
          <a:p>
            <a:pPr algn="just"/>
            <a:r>
              <a:rPr lang="en-US" sz="2200" b="1" dirty="0"/>
              <a:t>CO3: </a:t>
            </a:r>
            <a:r>
              <a:rPr lang="en-US" sz="2200" dirty="0"/>
              <a:t>To apply various design &amp; conduct experiments for Intermediate Code Generation in compiler.</a:t>
            </a:r>
          </a:p>
          <a:p>
            <a:pPr algn="just"/>
            <a:r>
              <a:rPr lang="en-US" sz="2200" b="1" dirty="0"/>
              <a:t>CO4: </a:t>
            </a:r>
            <a:r>
              <a:rPr lang="en-US" sz="2200" dirty="0"/>
              <a:t>To design and develop various Data structure for symbols tables and Error Detection &amp; Recovery at every phases</a:t>
            </a:r>
          </a:p>
          <a:p>
            <a:pPr algn="just"/>
            <a:r>
              <a:rPr lang="en-US" sz="2200" b="1" dirty="0"/>
              <a:t>CO5: </a:t>
            </a:r>
            <a:r>
              <a:rPr lang="en-US" sz="2200" dirty="0"/>
              <a:t>To apply various new code optimization techniques to improve the performance of a program in terms of speed &amp; space.</a:t>
            </a:r>
          </a:p>
          <a:p>
            <a:pPr algn="just" eaLnBrk="1" hangingPunct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5B425D2-CA55-47F4-80F3-EA1E7876275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556D34-6B30-4C79-8893-6DB58EC2895D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Course Outcomes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199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PO1</a:t>
            </a:r>
            <a:r>
              <a:rPr lang="en-US" sz="2200" dirty="0"/>
              <a:t>: Engineering Knowledge </a:t>
            </a:r>
          </a:p>
          <a:p>
            <a:pPr algn="just"/>
            <a:r>
              <a:rPr lang="en-US" sz="2200" b="1" dirty="0"/>
              <a:t>PO2</a:t>
            </a:r>
            <a:r>
              <a:rPr lang="en-US" sz="2200" dirty="0"/>
              <a:t>: Problem Analysis </a:t>
            </a:r>
          </a:p>
          <a:p>
            <a:pPr algn="just"/>
            <a:r>
              <a:rPr lang="en-US" sz="2200" b="1" dirty="0"/>
              <a:t>PO3</a:t>
            </a:r>
            <a:r>
              <a:rPr lang="en-US" sz="2200" dirty="0"/>
              <a:t>: Design/Development of solutions </a:t>
            </a:r>
          </a:p>
          <a:p>
            <a:pPr algn="just"/>
            <a:r>
              <a:rPr lang="en-US" sz="2200" b="1" dirty="0"/>
              <a:t>PO4</a:t>
            </a:r>
            <a:r>
              <a:rPr lang="en-US" sz="2200" dirty="0"/>
              <a:t>: Conduct Investigations of complex problems </a:t>
            </a:r>
          </a:p>
          <a:p>
            <a:pPr algn="just"/>
            <a:r>
              <a:rPr lang="en-US" sz="2200" b="1" dirty="0"/>
              <a:t>PO5</a:t>
            </a:r>
            <a:r>
              <a:rPr lang="en-US" sz="2200" dirty="0"/>
              <a:t>: Modern tool usage </a:t>
            </a:r>
          </a:p>
          <a:p>
            <a:pPr algn="just"/>
            <a:r>
              <a:rPr lang="en-US" sz="2200" b="1" dirty="0"/>
              <a:t>PO6</a:t>
            </a:r>
            <a:r>
              <a:rPr lang="en-US" sz="2200" dirty="0"/>
              <a:t>: The engineer and society </a:t>
            </a:r>
          </a:p>
          <a:p>
            <a:pPr algn="just"/>
            <a:r>
              <a:rPr lang="en-US" sz="2200" b="1" dirty="0"/>
              <a:t>PO7</a:t>
            </a:r>
            <a:r>
              <a:rPr lang="en-US" sz="2200" dirty="0"/>
              <a:t>: Environment and sustainability </a:t>
            </a:r>
          </a:p>
          <a:p>
            <a:pPr algn="just"/>
            <a:r>
              <a:rPr lang="en-US" sz="2200" b="1" dirty="0"/>
              <a:t>PO8</a:t>
            </a:r>
            <a:r>
              <a:rPr lang="en-US" sz="2200" dirty="0"/>
              <a:t>: Ethics </a:t>
            </a:r>
          </a:p>
          <a:p>
            <a:pPr algn="just"/>
            <a:r>
              <a:rPr lang="en-US" sz="2200" b="1" dirty="0"/>
              <a:t>PO9</a:t>
            </a:r>
            <a:r>
              <a:rPr lang="en-US" sz="2200" dirty="0"/>
              <a:t>: Individual and team work</a:t>
            </a:r>
          </a:p>
          <a:p>
            <a:pPr algn="just"/>
            <a:r>
              <a:rPr lang="en-US" sz="2200" b="1" dirty="0"/>
              <a:t>PO10</a:t>
            </a:r>
            <a:r>
              <a:rPr lang="en-US" sz="2200" dirty="0"/>
              <a:t>: Communication </a:t>
            </a:r>
          </a:p>
          <a:p>
            <a:pPr algn="just"/>
            <a:r>
              <a:rPr lang="en-US" sz="2200" b="1" dirty="0"/>
              <a:t>PO11</a:t>
            </a:r>
            <a:r>
              <a:rPr lang="en-US" sz="2200" dirty="0"/>
              <a:t>: Project management and finance </a:t>
            </a:r>
          </a:p>
          <a:p>
            <a:pPr algn="just"/>
            <a:r>
              <a:rPr lang="en-US" sz="2200" b="1" dirty="0"/>
              <a:t>PO12</a:t>
            </a:r>
            <a:r>
              <a:rPr lang="en-US" sz="2200" dirty="0"/>
              <a:t>: Life-long learning</a:t>
            </a:r>
          </a:p>
          <a:p>
            <a:pPr algn="just" eaLnBrk="1" hangingPunct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74968F7-7E00-4A8E-9D34-D9C5CC49F846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556D34-6B30-4C79-8893-6DB58EC2895D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Program Outcomes (PO)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7748D1-4E20-42A6-BE0A-0178A22F04F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DD197B-EEE9-49DA-9F1A-939B05E14F1D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CO-PO Mapping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158808"/>
              </p:ext>
            </p:extLst>
          </p:nvPr>
        </p:nvGraphicFramePr>
        <p:xfrm>
          <a:off x="76200" y="1341120"/>
          <a:ext cx="8976361" cy="3840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5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u="none" strike="noStrike" dirty="0"/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PO1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PO2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PO3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PO4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PO5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PO6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PO7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PO8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PO9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PO10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PO11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PO12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.1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</a:t>
                      </a:r>
                      <a:endParaRPr lang="en-US" sz="22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.2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.3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.4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.5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/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AVG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2.6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u="none" strike="noStrike" dirty="0"/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199"/>
          </a:xfrm>
        </p:spPr>
        <p:txBody>
          <a:bodyPr>
            <a:normAutofit fontScale="92500"/>
          </a:bodyPr>
          <a:lstStyle/>
          <a:p>
            <a:pPr lvl="0"/>
            <a:r>
              <a:rPr lang="en-US" sz="2400" b="1" dirty="0"/>
              <a:t>PSO1: </a:t>
            </a:r>
            <a:r>
              <a:rPr lang="en-US" sz="2400" dirty="0"/>
              <a:t>Work as a software developer, database administrator, tester or networking engineer for providing solutions to the real world and industrial problems</a:t>
            </a:r>
          </a:p>
          <a:p>
            <a:pPr algn="just"/>
            <a:r>
              <a:rPr lang="en-US" sz="2400" b="1" dirty="0"/>
              <a:t> </a:t>
            </a:r>
            <a:endParaRPr lang="en-US" sz="2400" dirty="0"/>
          </a:p>
          <a:p>
            <a:pPr algn="just"/>
            <a:r>
              <a:rPr lang="en-US" sz="2400" b="1" dirty="0"/>
              <a:t>PSO2:</a:t>
            </a:r>
            <a:r>
              <a:rPr lang="en-US" sz="2400" dirty="0"/>
              <a:t>Apply core subjects of information technology related to data structure and algorithm, software engineering, web technology, operating system, database and networking to solve complex IT problems.</a:t>
            </a:r>
          </a:p>
          <a:p>
            <a:pPr algn="just"/>
            <a:endParaRPr lang="en-US" sz="2400" dirty="0"/>
          </a:p>
          <a:p>
            <a:pPr lvl="0"/>
            <a:r>
              <a:rPr lang="en-US" sz="2400" b="1" dirty="0"/>
              <a:t>PSO 3:</a:t>
            </a:r>
            <a:r>
              <a:rPr lang="en-US" sz="2400" dirty="0"/>
              <a:t>Practice multi-disciplinary and modern computing techniques by lifelong learning to establish innovative career.</a:t>
            </a:r>
          </a:p>
          <a:p>
            <a:pPr algn="just"/>
            <a:endParaRPr lang="en-US" sz="2400" b="1" dirty="0"/>
          </a:p>
          <a:p>
            <a:pPr lvl="0"/>
            <a:r>
              <a:rPr lang="en-US" sz="2400" b="1" dirty="0"/>
              <a:t>PSO 4:</a:t>
            </a:r>
            <a:r>
              <a:rPr lang="en-US" sz="2400" dirty="0"/>
              <a:t>Work in a team or individual to manage projects with ethical concern to be a successful employee or employer in IT industry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E5890AA-8894-4A7F-87C0-2CD69A45F7D0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556D34-6B30-4C79-8893-6DB58EC2895D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Program Specific Outcomes (PSO)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DAB2007-3A95-458F-A6E6-8442DB905EC4}" type="datetime1">
              <a:rPr lang="en-US" smtClean="0"/>
              <a:t>9/26/2024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DBC18E-805D-4B5F-8B5A-56FD1E791A6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CO-PSO Mapping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095976"/>
              </p:ext>
            </p:extLst>
          </p:nvPr>
        </p:nvGraphicFramePr>
        <p:xfrm>
          <a:off x="457200" y="1600200"/>
          <a:ext cx="8229600" cy="36774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PSO1</a:t>
                      </a:r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PSO2</a:t>
                      </a:r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PSO3</a:t>
                      </a:r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PSO4</a:t>
                      </a:r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.1</a:t>
                      </a:r>
                      <a:endParaRPr lang="en-US" sz="220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1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.2</a:t>
                      </a:r>
                      <a:endParaRPr lang="en-US" sz="220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3</a:t>
                      </a:r>
                      <a:endParaRPr lang="en-US" sz="2200" b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1</a:t>
                      </a:r>
                      <a:endParaRPr lang="en-US" sz="2200" b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.3</a:t>
                      </a:r>
                      <a:endParaRPr lang="en-US" sz="220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1</a:t>
                      </a:r>
                      <a:endParaRPr lang="en-US" sz="2200" b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.4</a:t>
                      </a:r>
                      <a:endParaRPr lang="en-US" sz="220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1</a:t>
                      </a:r>
                      <a:endParaRPr lang="en-US" sz="2200" b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.5</a:t>
                      </a:r>
                      <a:endParaRPr lang="en-US" sz="220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3</a:t>
                      </a:r>
                      <a:endParaRPr lang="en-US" sz="2200" b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1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AVG</a:t>
                      </a:r>
                      <a:endParaRPr lang="en-US" sz="220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3</a:t>
                      </a:r>
                      <a:endParaRPr lang="en-US" sz="2200" b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1</a:t>
                      </a:r>
                      <a:endParaRPr lang="en-US" sz="2200" b="0" dirty="0">
                        <a:latin typeface="+mn-lt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10D0E64F-BB5C-4A30-8895-5CCE8F366BE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33400" y="1214438"/>
            <a:ext cx="8001000" cy="4271962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PEO1: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have an excellent scientific and engineering breadth so as to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comprehend, analyze, design and provide sustainable solutions for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real-life problems using state-of-the-art technologies.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PEO2: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have a successful career in industries, to pursue higher studies or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to support entrepreneurial endeavors and to face global challenges.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PEO3: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have an effective communication skills, professional attitude,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ethical values and a desire to learn specific knowledge in emerging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trends, technologies for  research, innovation and product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development and contribution to society.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PEO4: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have life-long learning for up-skilling and re-skilling for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successful professional career as engineer, scientist,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and bureaucrat for betterment of society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19417F-C8A4-408C-ABE8-01153A602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0"/>
            <a:ext cx="7696200" cy="71437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/>
          <a:lstStyle/>
          <a:p>
            <a:pPr eaLnBrk="1" fontAlgn="auto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  <a:sym typeface="Arial" charset="0"/>
              </a:rPr>
              <a:t>Program Educational Objectives</a:t>
            </a:r>
            <a:endParaRPr lang="en-US" sz="2800" kern="1200" dirty="0">
              <a:latin typeface="Times New Roman" pitchFamily="18" charset="0"/>
              <a:cs typeface="Times New Roman" pitchFamily="18" charset="0"/>
              <a:sym typeface="Arial" charset="0"/>
            </a:endParaRPr>
          </a:p>
        </p:txBody>
      </p:sp>
      <p:sp>
        <p:nvSpPr>
          <p:cNvPr id="51205" name="Footer Placeholder 4">
            <a:extLst>
              <a:ext uri="{FF2B5EF4-FFF2-40B4-BE49-F238E27FC236}">
                <a16:creationId xmlns:a16="http://schemas.microsoft.com/office/drawing/2014/main" id="{E06A0733-3464-4B1A-8891-1F50800773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14600" y="6356350"/>
            <a:ext cx="41910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it-IT" altLang="en-US" sz="120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Vivek Kumar Sharma           CD Unit -1</a:t>
            </a:r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6" name="Slide Number Placeholder 8">
            <a:extLst>
              <a:ext uri="{FF2B5EF4-FFF2-40B4-BE49-F238E27FC236}">
                <a16:creationId xmlns:a16="http://schemas.microsoft.com/office/drawing/2014/main" id="{4F201249-2C63-4BA2-81F9-CAB8A91173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200" kern="1200">
                <a:solidFill>
                  <a:srgbClr val="888888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22F518A-4755-4E63-80FF-93C53BC9E5C8}" type="slidenum">
              <a:rPr lang="en-US" altLang="en-US" smtClean="0"/>
              <a:pPr eaLnBrk="1" hangingPunct="1"/>
              <a:t>12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7" name="Date Placeholder 7">
            <a:extLst>
              <a:ext uri="{FF2B5EF4-FFF2-40B4-BE49-F238E27FC236}">
                <a16:creationId xmlns:a16="http://schemas.microsoft.com/office/drawing/2014/main" id="{A41018FE-3E90-4314-9132-DA54949E7A2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-228600" y="6356350"/>
            <a:ext cx="3276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A808533-7A84-46C0-9EC9-9CA5B1844ED0}" type="datetime1">
              <a:rPr lang="en-US" altLang="en-US"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9/26/2024</a:t>
            </a:fld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AA8E83D7-607A-4080-925F-87D94BD4206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33400" y="1214438"/>
            <a:ext cx="8001000" cy="4729162"/>
          </a:xfrm>
        </p:spPr>
        <p:txBody>
          <a:bodyPr>
            <a:norm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269D1B-1C71-46D4-97DD-E9E98F1F98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5938" y="0"/>
            <a:ext cx="7358062" cy="71437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/>
          <a:lstStyle/>
          <a:p>
            <a:pPr eaLnBrk="1" fontAlgn="auto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3200" kern="1200" dirty="0">
                <a:latin typeface="Times New Roman" pitchFamily="18" charset="0"/>
                <a:cs typeface="Times New Roman" pitchFamily="18" charset="0"/>
                <a:sym typeface="Arial" charset="0"/>
              </a:rPr>
              <a:t>Result Analysis</a:t>
            </a:r>
          </a:p>
        </p:txBody>
      </p:sp>
      <p:sp>
        <p:nvSpPr>
          <p:cNvPr id="52229" name="Footer Placeholder 4">
            <a:extLst>
              <a:ext uri="{FF2B5EF4-FFF2-40B4-BE49-F238E27FC236}">
                <a16:creationId xmlns:a16="http://schemas.microsoft.com/office/drawing/2014/main" id="{D13FEE09-441B-4F95-96A6-91181D72A5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14600" y="6356350"/>
            <a:ext cx="41910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it-IT" altLang="en-US" sz="120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Vivek Kumar Sharma           CD Unit -1</a:t>
            </a:r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2230" name="Slide Number Placeholder 8">
            <a:extLst>
              <a:ext uri="{FF2B5EF4-FFF2-40B4-BE49-F238E27FC236}">
                <a16:creationId xmlns:a16="http://schemas.microsoft.com/office/drawing/2014/main" id="{D79C5C8A-AFC2-4C7D-99A7-FECD9C2BCD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auto">
          <a:xfrm>
            <a:off x="7239000" y="6320008"/>
            <a:ext cx="165178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200" kern="1200">
                <a:solidFill>
                  <a:srgbClr val="888888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22F518A-4755-4E63-80FF-93C53BC9E5C8}" type="slidenum">
              <a:rPr lang="en-US" altLang="en-US" smtClean="0"/>
              <a:pPr eaLnBrk="1" hangingPunct="1"/>
              <a:t>13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2231" name="Date Placeholder 7">
            <a:extLst>
              <a:ext uri="{FF2B5EF4-FFF2-40B4-BE49-F238E27FC236}">
                <a16:creationId xmlns:a16="http://schemas.microsoft.com/office/drawing/2014/main" id="{C9161480-6915-48B2-AA7C-B24B1C3239FE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838200" y="6356350"/>
            <a:ext cx="5181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3D74068-E1E6-45FE-B60C-1700244FDFFD}" type="datetime1">
              <a:rPr lang="en-US" altLang="en-US"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9/26/2024</a:t>
            </a:fld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3">
            <a:extLst>
              <a:ext uri="{FF2B5EF4-FFF2-40B4-BE49-F238E27FC236}">
                <a16:creationId xmlns:a16="http://schemas.microsoft.com/office/drawing/2014/main" id="{F07DA384-37D6-4169-B171-F551AFB58F2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 flipH="1">
            <a:off x="609600" y="6356350"/>
            <a:ext cx="1371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2230D03A-57E0-4B82-84C1-8C34E2C9C298}" type="datetime1">
              <a:rPr lang="en-US" altLang="en-US"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9/26/2024</a:t>
            </a:fld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647E03-879D-4188-B9F7-4A741850D4F7}"/>
              </a:ext>
            </a:extLst>
          </p:cNvPr>
          <p:cNvSpPr txBox="1">
            <a:spLocks/>
          </p:cNvSpPr>
          <p:nvPr/>
        </p:nvSpPr>
        <p:spPr>
          <a:xfrm>
            <a:off x="1371600" y="0"/>
            <a:ext cx="7543800" cy="9302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  <a:sym typeface="Arial" charset="0"/>
              </a:rPr>
              <a:t>End Semester Question Paper Template </a:t>
            </a:r>
            <a:endParaRPr lang="en-US" sz="3200" dirty="0">
              <a:latin typeface="Times New Roman" pitchFamily="18" charset="0"/>
              <a:cs typeface="Times New Roman" pitchFamily="18" charset="0"/>
              <a:sym typeface="Arial" charset="0"/>
            </a:endParaRPr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81D28AA1-B034-491D-9D7C-81CF11EE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br>
              <a:rPr lang="en-US" altLang="en-US"/>
            </a:b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22434C-AD44-4A72-A6D6-FCA4D7814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5550"/>
            <a:ext cx="8229600" cy="475456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IN" sz="2000" dirty="0">
                <a:sym typeface="Arial" charset="0"/>
              </a:rPr>
              <a:t>B TECH 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IN" sz="2000" dirty="0">
                <a:sym typeface="Arial" charset="0"/>
              </a:rPr>
              <a:t>(SEM-V) THEORY EXAMINATION 20__-20__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IN" sz="2000" dirty="0">
                <a:sym typeface="Arial" charset="0"/>
              </a:rPr>
              <a:t>COMPILER DESIGN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IN" sz="2000" b="1" dirty="0">
                <a:sym typeface="Arial" charset="0"/>
              </a:rPr>
              <a:t>Time: 3 Hours                                                                                    Total Marks: 100 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IN" sz="2000" b="1" i="1" dirty="0">
                <a:sym typeface="Arial" charset="0"/>
              </a:rPr>
              <a:t>Note: 1. Attempt all Sections. If require any missing data; then choose suitably.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IN" sz="2000" b="1" dirty="0">
                <a:sym typeface="Arial" charset="0"/>
              </a:rPr>
              <a:t>SECTION A </a:t>
            </a:r>
          </a:p>
          <a:p>
            <a:pPr indent="-457200">
              <a:buFont typeface="Arial" panose="020B0604020202020204" pitchFamily="34" charset="0"/>
              <a:buAutoNum type="arabicPeriod"/>
              <a:defRPr/>
            </a:pPr>
            <a:r>
              <a:rPr lang="en-IN" sz="2000" b="1" dirty="0">
                <a:sym typeface="Arial" charset="0"/>
              </a:rPr>
              <a:t>Attempt all questions in brief.                                                        2 x 10 = 20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IN" sz="2000" b="1" i="1" dirty="0">
              <a:sym typeface="Arial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E6E332-3563-4688-A211-4CE181CFE2C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114800"/>
          <a:ext cx="792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847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84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47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847">
                <a:tc>
                  <a:txBody>
                    <a:bodyPr/>
                    <a:lstStyle/>
                    <a:p>
                      <a:r>
                        <a:rPr lang="en-IN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847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287" name="Footer Placeholder 11">
            <a:extLst>
              <a:ext uri="{FF2B5EF4-FFF2-40B4-BE49-F238E27FC236}">
                <a16:creationId xmlns:a16="http://schemas.microsoft.com/office/drawing/2014/main" id="{60EB482F-3255-4322-ADE7-B556E8FD06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49500" y="6384925"/>
            <a:ext cx="4508500" cy="336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it-IT" altLang="en-US" sz="120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Vivek Kumar Sharma           CD Unit -1</a:t>
            </a:r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3288" name="Slide Number Placeholder 12">
            <a:extLst>
              <a:ext uri="{FF2B5EF4-FFF2-40B4-BE49-F238E27FC236}">
                <a16:creationId xmlns:a16="http://schemas.microsoft.com/office/drawing/2014/main" id="{286F4104-4FCD-4E25-A149-B64C3FFC358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200" kern="1200">
                <a:solidFill>
                  <a:srgbClr val="888888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22F518A-4755-4E63-80FF-93C53BC9E5C8}" type="slidenum">
              <a:rPr lang="en-US" altLang="en-US" smtClean="0"/>
              <a:pPr eaLnBrk="1" hangingPunct="1"/>
              <a:t>14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" name="Picture 1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>
            <a:extLst>
              <a:ext uri="{FF2B5EF4-FFF2-40B4-BE49-F238E27FC236}">
                <a16:creationId xmlns:a16="http://schemas.microsoft.com/office/drawing/2014/main" id="{1583C611-A80D-43ED-8102-CB220BA542E2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290467F-4E11-478F-922B-E84A41BE753B}" type="datetime1">
              <a:rPr lang="en-US" altLang="en-US"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9/26/2024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F84A163-333C-46E8-8954-FD528A9C5648}"/>
              </a:ext>
            </a:extLst>
          </p:cNvPr>
          <p:cNvSpPr txBox="1">
            <a:spLocks/>
          </p:cNvSpPr>
          <p:nvPr/>
        </p:nvSpPr>
        <p:spPr>
          <a:xfrm>
            <a:off x="1371600" y="1"/>
            <a:ext cx="7543800" cy="762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  <a:sym typeface="Arial" charset="0"/>
              </a:rPr>
              <a:t>End Semester Question Paper Templates </a:t>
            </a:r>
            <a:endParaRPr lang="en-US" sz="3200" dirty="0">
              <a:latin typeface="Times New Roman" pitchFamily="18" charset="0"/>
              <a:cs typeface="Times New Roman" pitchFamily="18" charset="0"/>
              <a:sym typeface="Arial" charset="0"/>
            </a:endParaRPr>
          </a:p>
        </p:txBody>
      </p:sp>
      <p:sp>
        <p:nvSpPr>
          <p:cNvPr id="54277" name="Rectangle 2">
            <a:extLst>
              <a:ext uri="{FF2B5EF4-FFF2-40B4-BE49-F238E27FC236}">
                <a16:creationId xmlns:a16="http://schemas.microsoft.com/office/drawing/2014/main" id="{3A045F03-F311-4777-895A-D2C18E4EA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br>
              <a:rPr lang="en-US" altLang="en-US"/>
            </a:b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54278" name="Content Placeholder 1">
            <a:extLst>
              <a:ext uri="{FF2B5EF4-FFF2-40B4-BE49-F238E27FC236}">
                <a16:creationId xmlns:a16="http://schemas.microsoft.com/office/drawing/2014/main" id="{597B8432-DFF0-4DDA-84BD-CD565D4BFC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225550"/>
            <a:ext cx="8229600" cy="4754563"/>
          </a:xfrm>
        </p:spPr>
        <p:txBody>
          <a:bodyPr/>
          <a:lstStyle/>
          <a:p>
            <a:pPr marL="0" indent="0" algn="ctr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SECTION B </a:t>
            </a: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2. Attempt any three of the following:                               3 x 10 = 30</a:t>
            </a: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SECTION C</a:t>
            </a: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3. Attempt any one part of the following:                          1 x 10 = 10    </a:t>
            </a:r>
            <a:endParaRPr lang="en-IN" altLang="en-US" sz="2000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D8A6D9-09A0-45D8-BC21-C175B99CE0F0}"/>
              </a:ext>
            </a:extLst>
          </p:cNvPr>
          <p:cNvGraphicFramePr>
            <a:graphicFrameLocks noGrp="1"/>
          </p:cNvGraphicFramePr>
          <p:nvPr/>
        </p:nvGraphicFramePr>
        <p:xfrm>
          <a:off x="835025" y="2365375"/>
          <a:ext cx="78390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794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94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794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794">
                <a:tc>
                  <a:txBody>
                    <a:bodyPr/>
                    <a:lstStyle/>
                    <a:p>
                      <a:r>
                        <a:rPr lang="en-IN" dirty="0"/>
                        <a:t>.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.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794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46" marR="914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72EFC8D-CA57-40F5-AD3E-D55950668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884659"/>
              </p:ext>
            </p:extLst>
          </p:nvPr>
        </p:nvGraphicFramePr>
        <p:xfrm>
          <a:off x="928688" y="4960669"/>
          <a:ext cx="7986712" cy="1387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21"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77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77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9" marR="91439" marT="45684" marB="456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333" name="Footer Placeholder 10">
            <a:extLst>
              <a:ext uri="{FF2B5EF4-FFF2-40B4-BE49-F238E27FC236}">
                <a16:creationId xmlns:a16="http://schemas.microsoft.com/office/drawing/2014/main" id="{9BF3E96D-C40D-48C4-B41D-E4E0DF60ED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4800" y="6356350"/>
            <a:ext cx="7026275" cy="501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it-IT" altLang="en-US" sz="120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Vivek Kumar Sharma           CD Unit -1</a:t>
            </a:r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334" name="Slide Number Placeholder 11">
            <a:extLst>
              <a:ext uri="{FF2B5EF4-FFF2-40B4-BE49-F238E27FC236}">
                <a16:creationId xmlns:a16="http://schemas.microsoft.com/office/drawing/2014/main" id="{1426CA00-1A1C-4FFA-92B2-E5EB35553F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200" kern="1200">
                <a:solidFill>
                  <a:srgbClr val="888888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22F518A-4755-4E63-80FF-93C53BC9E5C8}" type="slidenum">
              <a:rPr lang="en-US" altLang="en-US" smtClean="0"/>
              <a:pPr eaLnBrk="1" hangingPunct="1"/>
              <a:t>15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2" name="Picture 1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>
            <a:extLst>
              <a:ext uri="{FF2B5EF4-FFF2-40B4-BE49-F238E27FC236}">
                <a16:creationId xmlns:a16="http://schemas.microsoft.com/office/drawing/2014/main" id="{12272BC1-981B-462C-8FCD-ACAF5146F8A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86BD10A-FA19-4B1B-B2BD-E1B383691A9A}" type="datetime1">
              <a:rPr lang="en-US" altLang="en-US"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9/26/2024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8450A4-FBEE-4806-BD4D-F699B6D492FF}"/>
              </a:ext>
            </a:extLst>
          </p:cNvPr>
          <p:cNvSpPr txBox="1">
            <a:spLocks/>
          </p:cNvSpPr>
          <p:nvPr/>
        </p:nvSpPr>
        <p:spPr>
          <a:xfrm>
            <a:off x="1371600" y="0"/>
            <a:ext cx="7543800" cy="8350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  <a:sym typeface="Arial" charset="0"/>
              </a:rPr>
              <a:t>End Semester Question Paper Templates </a:t>
            </a:r>
            <a:endParaRPr lang="en-US" sz="3200" dirty="0">
              <a:latin typeface="Times New Roman" pitchFamily="18" charset="0"/>
              <a:cs typeface="Times New Roman" pitchFamily="18" charset="0"/>
              <a:sym typeface="Arial" charset="0"/>
            </a:endParaRPr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A612872F-F8D3-45AF-BE40-48AB30776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br>
              <a:rPr lang="en-US" altLang="en-US"/>
            </a:b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55302" name="Content Placeholder 1">
            <a:extLst>
              <a:ext uri="{FF2B5EF4-FFF2-40B4-BE49-F238E27FC236}">
                <a16:creationId xmlns:a16="http://schemas.microsoft.com/office/drawing/2014/main" id="{D0DC9025-1B33-491C-A346-19931EA741A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36575" y="914400"/>
            <a:ext cx="8150225" cy="4745038"/>
          </a:xfrm>
        </p:spPr>
        <p:txBody>
          <a:bodyPr/>
          <a:lstStyle/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4. Attempt any one part of the following:                          1 x 10 = 10</a:t>
            </a: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5. Attempt any one part of the following:                          1 x 10 = 10  </a:t>
            </a: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6. Attempt any one part of the following:                        1 x 10 = 10    </a:t>
            </a:r>
            <a:endParaRPr lang="en-IN" altLang="en-US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A1E7C7-2C1F-4962-9713-F429CA005D47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1466850"/>
          <a:ext cx="8042275" cy="1209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272"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1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01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9" marR="91449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F2D1EB-4D07-4C49-A9CB-87B0C4FF9707}"/>
              </a:ext>
            </a:extLst>
          </p:cNvPr>
          <p:cNvGraphicFramePr>
            <a:graphicFrameLocks noGrp="1"/>
          </p:cNvGraphicFramePr>
          <p:nvPr/>
        </p:nvGraphicFramePr>
        <p:xfrm>
          <a:off x="773113" y="3059113"/>
          <a:ext cx="7977188" cy="1097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F1EC372-AAF8-429E-B03B-B778AFB8E3E2}"/>
              </a:ext>
            </a:extLst>
          </p:cNvPr>
          <p:cNvGraphicFramePr>
            <a:graphicFrameLocks noGrp="1"/>
          </p:cNvGraphicFramePr>
          <p:nvPr/>
        </p:nvGraphicFramePr>
        <p:xfrm>
          <a:off x="803275" y="4603750"/>
          <a:ext cx="7740650" cy="1560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8276"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119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119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672" marB="456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369" name="Slide Number Placeholder 12">
            <a:extLst>
              <a:ext uri="{FF2B5EF4-FFF2-40B4-BE49-F238E27FC236}">
                <a16:creationId xmlns:a16="http://schemas.microsoft.com/office/drawing/2014/main" id="{264DA7A1-76AA-4330-98E5-BFF1B6CC4D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200" kern="1200">
                <a:solidFill>
                  <a:srgbClr val="888888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22F518A-4755-4E63-80FF-93C53BC9E5C8}" type="slidenum">
              <a:rPr lang="en-US" altLang="en-US" smtClean="0"/>
              <a:pPr eaLnBrk="1" hangingPunct="1"/>
              <a:t>16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5370" name="Footer Placeholder 13">
            <a:extLst>
              <a:ext uri="{FF2B5EF4-FFF2-40B4-BE49-F238E27FC236}">
                <a16:creationId xmlns:a16="http://schemas.microsoft.com/office/drawing/2014/main" id="{E036CA6C-5FDC-483C-8442-0121141EF8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24200" y="6369050"/>
            <a:ext cx="3829050" cy="352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it-IT" altLang="en-US" sz="120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Vivek Kumar Sharma           CD Unit -1</a:t>
            </a:r>
            <a:endParaRPr lang="en-US" altLang="en-US" sz="1200" dirty="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4" name="Picture 13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3">
            <a:extLst>
              <a:ext uri="{FF2B5EF4-FFF2-40B4-BE49-F238E27FC236}">
                <a16:creationId xmlns:a16="http://schemas.microsoft.com/office/drawing/2014/main" id="{D9CF9955-9DE6-4E3A-999C-16EE3FBDC17E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B2EFF8DB-38C5-4053-8657-6C93353EB41D}" type="datetime1">
              <a:rPr lang="en-US" altLang="en-US"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9/26/2024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838BA3-2FEE-41D2-9860-B0EA794D6130}"/>
              </a:ext>
            </a:extLst>
          </p:cNvPr>
          <p:cNvSpPr txBox="1">
            <a:spLocks/>
          </p:cNvSpPr>
          <p:nvPr/>
        </p:nvSpPr>
        <p:spPr>
          <a:xfrm>
            <a:off x="1371600" y="0"/>
            <a:ext cx="7543800" cy="9461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  <a:sym typeface="Arial" charset="0"/>
              </a:rPr>
              <a:t>End Semester Question Paper Templates </a:t>
            </a:r>
            <a:endParaRPr lang="en-US" sz="3200" dirty="0">
              <a:latin typeface="Times New Roman" pitchFamily="18" charset="0"/>
              <a:cs typeface="Times New Roman" pitchFamily="18" charset="0"/>
              <a:sym typeface="Arial" charset="0"/>
            </a:endParaRPr>
          </a:p>
        </p:txBody>
      </p:sp>
      <p:sp>
        <p:nvSpPr>
          <p:cNvPr id="56325" name="Rectangle 2">
            <a:extLst>
              <a:ext uri="{FF2B5EF4-FFF2-40B4-BE49-F238E27FC236}">
                <a16:creationId xmlns:a16="http://schemas.microsoft.com/office/drawing/2014/main" id="{11DD943F-E100-4221-AE1C-65C73F72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br>
              <a:rPr lang="en-US" altLang="en-US"/>
            </a:b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56326" name="Content Placeholder 1">
            <a:extLst>
              <a:ext uri="{FF2B5EF4-FFF2-40B4-BE49-F238E27FC236}">
                <a16:creationId xmlns:a16="http://schemas.microsoft.com/office/drawing/2014/main" id="{850CB3C4-0DF1-4372-9344-D7C63EF877C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225550"/>
            <a:ext cx="8229600" cy="4754563"/>
          </a:xfrm>
        </p:spPr>
        <p:txBody>
          <a:bodyPr/>
          <a:lstStyle/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7. Attempt any one part of the following:                           1 x 10 = 10</a:t>
            </a: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363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2000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F2DE29-FA94-4512-9656-1413A399A757}"/>
              </a:ext>
            </a:extLst>
          </p:cNvPr>
          <p:cNvGraphicFramePr>
            <a:graphicFrameLocks noGrp="1"/>
          </p:cNvGraphicFramePr>
          <p:nvPr/>
        </p:nvGraphicFramePr>
        <p:xfrm>
          <a:off x="850900" y="1985963"/>
          <a:ext cx="78295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9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112"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Q.No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Question 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Marks 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CO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44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44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5" marR="91445" marT="45688" marB="456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349" name="Slide Number Placeholder 10">
            <a:extLst>
              <a:ext uri="{FF2B5EF4-FFF2-40B4-BE49-F238E27FC236}">
                <a16:creationId xmlns:a16="http://schemas.microsoft.com/office/drawing/2014/main" id="{207B9BE5-933E-4ECF-8203-AD8A5290F1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200" kern="1200">
                <a:solidFill>
                  <a:srgbClr val="888888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22F518A-4755-4E63-80FF-93C53BC9E5C8}" type="slidenum">
              <a:rPr lang="en-US" altLang="en-US" smtClean="0"/>
              <a:pPr eaLnBrk="1" hangingPunct="1"/>
              <a:t>17</a:t>
            </a:fld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6350" name="Footer Placeholder 11">
            <a:extLst>
              <a:ext uri="{FF2B5EF4-FFF2-40B4-BE49-F238E27FC236}">
                <a16:creationId xmlns:a16="http://schemas.microsoft.com/office/drawing/2014/main" id="{919BA056-3C5B-4CE4-B7BC-AAD9715F95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24200" y="6337300"/>
            <a:ext cx="4302125" cy="38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it-IT" altLang="en-US" sz="120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Vivek Kumar Sharma           CD Unit -1</a:t>
            </a:r>
            <a:endParaRPr lang="en-US" altLang="en-US" sz="1200">
              <a:solidFill>
                <a:srgbClr val="888888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2" name="Picture 1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r>
              <a:rPr lang="en-US" sz="2200" dirty="0"/>
              <a:t>Theory of Automata</a:t>
            </a:r>
          </a:p>
          <a:p>
            <a:pPr eaLnBrk="1" hangingPunct="1"/>
            <a:r>
              <a:rPr lang="en-US" sz="2200" dirty="0"/>
              <a:t>Algorithms</a:t>
            </a:r>
          </a:p>
          <a:p>
            <a:pPr eaLnBrk="1" hangingPunct="1"/>
            <a:r>
              <a:rPr lang="en-US" sz="2200" dirty="0"/>
              <a:t>Languages and machines</a:t>
            </a:r>
          </a:p>
          <a:p>
            <a:pPr eaLnBrk="1" hangingPunct="1"/>
            <a:r>
              <a:rPr lang="en-US" sz="2200" dirty="0"/>
              <a:t>Operating systems</a:t>
            </a:r>
          </a:p>
          <a:p>
            <a:pPr eaLnBrk="1" hangingPunct="1"/>
            <a:r>
              <a:rPr lang="en-US" sz="2200" dirty="0"/>
              <a:t>Computer architectures</a:t>
            </a:r>
          </a:p>
          <a:p>
            <a:pPr eaLnBrk="1" hangingPunct="1">
              <a:buFont typeface="Arial" charset="0"/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B15CDD5-CA35-4F61-AE44-F836E3079008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Prerequisite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r>
              <a:rPr lang="en-US" sz="2200" dirty="0"/>
              <a:t>Language processing system</a:t>
            </a:r>
          </a:p>
          <a:p>
            <a:r>
              <a:rPr lang="en-US" sz="2200" dirty="0"/>
              <a:t>Finite Automata</a:t>
            </a:r>
          </a:p>
          <a:p>
            <a:r>
              <a:rPr lang="en-US" sz="2200" dirty="0"/>
              <a:t>Production rules</a:t>
            </a:r>
          </a:p>
          <a:p>
            <a:r>
              <a:rPr lang="en-US" sz="2200" dirty="0"/>
              <a:t>Chomsky hierarchy of grammar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1631AC1-721A-4518-9317-3F2312CE26F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4495800" cy="5181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200" dirty="0"/>
              <a:t>Introduction</a:t>
            </a:r>
          </a:p>
          <a:p>
            <a:pPr lvl="1"/>
            <a:r>
              <a:rPr lang="en-US" sz="2200" dirty="0"/>
              <a:t>Translator</a:t>
            </a:r>
          </a:p>
          <a:p>
            <a:pPr lvl="1"/>
            <a:r>
              <a:rPr lang="en-US" sz="2200" dirty="0"/>
              <a:t>Compiler</a:t>
            </a:r>
          </a:p>
          <a:p>
            <a:r>
              <a:rPr lang="en-US" sz="2200" dirty="0"/>
              <a:t>Simple structure of compiler</a:t>
            </a:r>
          </a:p>
          <a:p>
            <a:r>
              <a:rPr lang="en-US" sz="2200" dirty="0"/>
              <a:t>Phases of Compiler</a:t>
            </a:r>
          </a:p>
          <a:p>
            <a:pPr lvl="1"/>
            <a:r>
              <a:rPr lang="en-US" sz="2200" dirty="0"/>
              <a:t>The structure of compiler</a:t>
            </a:r>
          </a:p>
          <a:p>
            <a:pPr lvl="1"/>
            <a:r>
              <a:rPr lang="en-US" sz="2200" dirty="0"/>
              <a:t>Analogy</a:t>
            </a:r>
          </a:p>
          <a:p>
            <a:pPr lvl="1"/>
            <a:r>
              <a:rPr lang="en-US" sz="2200" dirty="0"/>
              <a:t>An example</a:t>
            </a:r>
          </a:p>
          <a:p>
            <a:pPr eaLnBrk="1" hangingPunct="1"/>
            <a:r>
              <a:rPr lang="en-US" sz="2200" dirty="0"/>
              <a:t>Language Processing System</a:t>
            </a:r>
          </a:p>
          <a:p>
            <a:r>
              <a:rPr lang="en-US" sz="2200" dirty="0"/>
              <a:t>Pass of Compiler</a:t>
            </a:r>
          </a:p>
          <a:p>
            <a:pPr eaLnBrk="1" hangingPunct="1"/>
            <a:r>
              <a:rPr lang="en-US" sz="2200" dirty="0"/>
              <a:t>Front end and back end of compiler</a:t>
            </a:r>
          </a:p>
          <a:p>
            <a:pPr eaLnBrk="1" hangingPunct="1"/>
            <a:r>
              <a:rPr lang="en-US" sz="2200" dirty="0"/>
              <a:t>Bootstrapping and Cross Compiler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ABF8F63-CCDA-4560-8EE2-B70EDB556B32}" type="datetime1">
              <a:rPr lang="en-US" smtClean="0"/>
              <a:t>9/26/2024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B21942-AB25-417A-BC4C-0289A74A2944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Unit Content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724400" y="914400"/>
            <a:ext cx="44958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Finite Automata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Regular Expression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Thompson’s Method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Subset Construction Method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Lexical Analysis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Context Free Grammar</a:t>
            </a:r>
          </a:p>
        </p:txBody>
      </p:sp>
      <p:pic>
        <p:nvPicPr>
          <p:cNvPr id="12" name="Picture 1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simple structure of Compiler 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Token through finite automata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scanner.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1A5799-A5CF-4372-B04F-5ABBF3C07C42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Unit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simple structure of Compiler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6239D7-E639-4AC8-BF2C-1A5C407F4E6A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200" dirty="0"/>
              <a:t>Target program is a running process on any computer which accepts some input and in response generates desired output.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FDDF5B-E7AA-45DD-B6FA-95E217FDC4D3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Introduction(CO1)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410200" y="2590800"/>
            <a:ext cx="2590800" cy="1143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/>
            <a:r>
              <a:rPr lang="en-US" sz="2400" dirty="0"/>
              <a:t>Target Program</a:t>
            </a: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5257800" y="1611868"/>
            <a:ext cx="28008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5257800" y="4267200"/>
            <a:ext cx="28008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4" name="Straight Arrow Connector 9"/>
          <p:cNvCxnSpPr>
            <a:cxnSpLocks noChangeShapeType="1"/>
          </p:cNvCxnSpPr>
          <p:nvPr/>
        </p:nvCxnSpPr>
        <p:spPr bwMode="auto">
          <a:xfrm rot="5400000">
            <a:off x="6357321" y="2318591"/>
            <a:ext cx="544288" cy="12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5" name="Straight Arrow Connector 11"/>
          <p:cNvCxnSpPr>
            <a:cxnSpLocks noChangeShapeType="1"/>
          </p:cNvCxnSpPr>
          <p:nvPr/>
        </p:nvCxnSpPr>
        <p:spPr bwMode="auto">
          <a:xfrm rot="5400000">
            <a:off x="6357321" y="4005880"/>
            <a:ext cx="544288" cy="12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pic>
        <p:nvPicPr>
          <p:cNvPr id="17" name="Picture 1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allAtOnce"/>
      <p:bldP spid="11" grpId="0" animBg="1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4648200" cy="518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Compiler:</a:t>
            </a:r>
          </a:p>
          <a:p>
            <a:pPr lvl="1" algn="just">
              <a:lnSpc>
                <a:spcPct val="80000"/>
              </a:lnSpc>
            </a:pPr>
            <a:r>
              <a:rPr lang="en-US" sz="2000" dirty="0"/>
              <a:t>A program that translates a source program written in high level language into  target/</a:t>
            </a:r>
            <a:r>
              <a:rPr lang="en-US" sz="2000" i="1" dirty="0"/>
              <a:t>executable </a:t>
            </a:r>
            <a:r>
              <a:rPr lang="en-US" sz="2000" dirty="0"/>
              <a:t>program written in low level language is called compiler.</a:t>
            </a:r>
          </a:p>
          <a:p>
            <a:pPr algn="just">
              <a:lnSpc>
                <a:spcPct val="80000"/>
              </a:lnSpc>
            </a:pPr>
            <a:r>
              <a:rPr lang="en-US" sz="2000" dirty="0"/>
              <a:t>High Level Language: </a:t>
            </a:r>
          </a:p>
          <a:p>
            <a:pPr lvl="1" algn="just">
              <a:lnSpc>
                <a:spcPct val="80000"/>
              </a:lnSpc>
            </a:pPr>
            <a:r>
              <a:rPr lang="en-US" sz="2000" dirty="0"/>
              <a:t>Which closer to human understanding. Ex- C, C++, Java, Pascal etc</a:t>
            </a:r>
          </a:p>
          <a:p>
            <a:pPr algn="just">
              <a:lnSpc>
                <a:spcPct val="80000"/>
              </a:lnSpc>
            </a:pPr>
            <a:r>
              <a:rPr lang="en-US" sz="2000" dirty="0"/>
              <a:t>Low Level Language:</a:t>
            </a:r>
          </a:p>
          <a:p>
            <a:pPr lvl="1" algn="just">
              <a:lnSpc>
                <a:spcPct val="80000"/>
              </a:lnSpc>
            </a:pPr>
            <a:r>
              <a:rPr lang="en-US" sz="2000" dirty="0"/>
              <a:t>Which is closer to computer understanding. Ex- Machine Language and assembly language.</a:t>
            </a:r>
          </a:p>
          <a:p>
            <a:pPr marL="457200" lvl="1" indent="0" algn="just">
              <a:lnSpc>
                <a:spcPct val="80000"/>
              </a:lnSpc>
              <a:buNone/>
            </a:pPr>
            <a:endParaRPr lang="en-US" sz="2000" dirty="0"/>
          </a:p>
          <a:p>
            <a:pPr marL="457200" lvl="1" indent="0" algn="just">
              <a:lnSpc>
                <a:spcPct val="8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“It also </a:t>
            </a:r>
            <a:r>
              <a:rPr lang="en-US" sz="2000" b="1" dirty="0">
                <a:solidFill>
                  <a:srgbClr val="FF0000"/>
                </a:solidFill>
              </a:rPr>
              <a:t>report</a:t>
            </a:r>
            <a:r>
              <a:rPr lang="en-US" sz="2000" dirty="0">
                <a:solidFill>
                  <a:srgbClr val="FF0000"/>
                </a:solidFill>
              </a:rPr>
              <a:t> errors present in source program.”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BA7126-EC57-431C-A696-94370093B38B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Introduction(CO1)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410200" y="2590800"/>
            <a:ext cx="2133600" cy="1143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/>
            <a:r>
              <a:rPr lang="en-US" sz="2400" dirty="0"/>
              <a:t>Compiler</a:t>
            </a: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5257800" y="1611868"/>
            <a:ext cx="28008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High level language</a:t>
            </a: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5257800" y="4267200"/>
            <a:ext cx="28008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Low level language </a:t>
            </a:r>
          </a:p>
        </p:txBody>
      </p:sp>
      <p:cxnSp>
        <p:nvCxnSpPr>
          <p:cNvPr id="14" name="Straight Arrow Connector 9"/>
          <p:cNvCxnSpPr>
            <a:cxnSpLocks noChangeShapeType="1"/>
          </p:cNvCxnSpPr>
          <p:nvPr/>
        </p:nvCxnSpPr>
        <p:spPr bwMode="auto">
          <a:xfrm rot="5400000">
            <a:off x="6357321" y="2318591"/>
            <a:ext cx="544288" cy="12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5" name="Straight Arrow Connector 11"/>
          <p:cNvCxnSpPr>
            <a:cxnSpLocks noChangeShapeType="1"/>
          </p:cNvCxnSpPr>
          <p:nvPr/>
        </p:nvCxnSpPr>
        <p:spPr bwMode="auto">
          <a:xfrm rot="5400000">
            <a:off x="6357321" y="4005880"/>
            <a:ext cx="544288" cy="12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" name="Straight Arrow Connector 2"/>
          <p:cNvCxnSpPr/>
          <p:nvPr/>
        </p:nvCxnSpPr>
        <p:spPr>
          <a:xfrm>
            <a:off x="7543800" y="2765222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83414" y="2514600"/>
            <a:ext cx="1008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warnings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543800" y="34290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83414" y="3259723"/>
            <a:ext cx="1008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errors</a:t>
            </a:r>
          </a:p>
        </p:txBody>
      </p:sp>
      <p:pic>
        <p:nvPicPr>
          <p:cNvPr id="17" name="Picture 1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uiExpand="1" build="p"/>
      <p:bldP spid="11" grpId="0" build="p" animBg="1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half" idx="1"/>
          </p:nvPr>
        </p:nvSpPr>
        <p:spPr>
          <a:xfrm>
            <a:off x="0" y="1600200"/>
            <a:ext cx="39624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000" dirty="0"/>
              <a:t>Process of compilation involves two major phases.</a:t>
            </a:r>
          </a:p>
          <a:p>
            <a:pPr lvl="1" algn="just"/>
            <a:r>
              <a:rPr lang="en-US" sz="2000" b="1" dirty="0"/>
              <a:t>Analysis Phase</a:t>
            </a:r>
            <a:r>
              <a:rPr lang="en-US" sz="2000" dirty="0"/>
              <a:t>:</a:t>
            </a:r>
          </a:p>
          <a:p>
            <a:pPr lvl="1" algn="just"/>
            <a:r>
              <a:rPr lang="en-US" sz="2000" dirty="0"/>
              <a:t>It </a:t>
            </a:r>
            <a:r>
              <a:rPr lang="en-US" sz="1800" b="1" dirty="0">
                <a:solidFill>
                  <a:srgbClr val="FF0000"/>
                </a:solidFill>
              </a:rPr>
              <a:t>breaks up the source code / program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into </a:t>
            </a:r>
            <a:r>
              <a:rPr lang="en-US" sz="2000" b="1" dirty="0"/>
              <a:t>small parts </a:t>
            </a:r>
            <a:r>
              <a:rPr lang="en-US" sz="2000" dirty="0"/>
              <a:t>and </a:t>
            </a:r>
            <a:r>
              <a:rPr lang="en-US" sz="1800" b="1" dirty="0">
                <a:solidFill>
                  <a:srgbClr val="FF0000"/>
                </a:solidFill>
              </a:rPr>
              <a:t>creates an Intermediate representation</a:t>
            </a:r>
            <a:r>
              <a:rPr lang="en-US" sz="2000" dirty="0"/>
              <a:t> of Source Code.</a:t>
            </a:r>
          </a:p>
          <a:p>
            <a:pPr lvl="1" algn="just">
              <a:buNone/>
            </a:pPr>
            <a:r>
              <a:rPr lang="en-US" sz="2000" dirty="0"/>
              <a:t>    Where Source program is analyzed for errors.</a:t>
            </a:r>
          </a:p>
          <a:p>
            <a:pPr lvl="1" algn="just"/>
            <a:r>
              <a:rPr lang="en-US" sz="2000" b="1" dirty="0"/>
              <a:t>Synthesis Phase</a:t>
            </a:r>
            <a:r>
              <a:rPr lang="en-US" sz="2000" dirty="0"/>
              <a:t>:</a:t>
            </a:r>
          </a:p>
          <a:p>
            <a:pPr lvl="1" algn="just"/>
            <a:r>
              <a:rPr lang="en-US" sz="2000" dirty="0"/>
              <a:t>It takes </a:t>
            </a:r>
            <a:r>
              <a:rPr lang="en-US" sz="2000" b="1" dirty="0">
                <a:solidFill>
                  <a:srgbClr val="FF0000"/>
                </a:solidFill>
              </a:rPr>
              <a:t>intermediate representation </a:t>
            </a:r>
            <a:r>
              <a:rPr lang="en-US" sz="1900" b="1" dirty="0">
                <a:solidFill>
                  <a:srgbClr val="FF0000"/>
                </a:solidFill>
              </a:rPr>
              <a:t>of source code </a:t>
            </a:r>
            <a:r>
              <a:rPr lang="en-US" sz="2000" dirty="0"/>
              <a:t>/ program as Input and </a:t>
            </a:r>
            <a:r>
              <a:rPr lang="en-US" sz="1900" b="1" dirty="0"/>
              <a:t>creates the desired target code</a:t>
            </a:r>
            <a:r>
              <a:rPr lang="en-US" sz="2000" dirty="0"/>
              <a:t>.</a:t>
            </a:r>
          </a:p>
          <a:p>
            <a:pPr lvl="1" algn="just">
              <a:buNone/>
            </a:pPr>
            <a:r>
              <a:rPr lang="en-US" sz="2000" dirty="0"/>
              <a:t>     Where source is converted into target program.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8E2B9-BAB2-4B39-B82F-A1D95837A054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657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TW" sz="3200" b="1" dirty="0"/>
              <a:t>Simple Structure of a Compiler</a:t>
            </a:r>
            <a:r>
              <a:rPr lang="en-US" sz="3200" b="1" dirty="0"/>
              <a:t>(CO1)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912741" y="3276600"/>
            <a:ext cx="1524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200" i="1" dirty="0"/>
              <a:t>Compiler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4684141" y="2590800"/>
            <a:ext cx="199605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200" dirty="0"/>
              <a:t>Source program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4684141" y="4176713"/>
            <a:ext cx="19248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200" dirty="0"/>
              <a:t>Target program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7376541" y="2847975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200" i="1" dirty="0"/>
              <a:t>Analysis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7224141" y="2162175"/>
            <a:ext cx="199605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200" dirty="0"/>
              <a:t>Source program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7224141" y="4586288"/>
            <a:ext cx="19248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200" dirty="0"/>
              <a:t>Target program</a:t>
            </a: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>
            <a:off x="8036941" y="25431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200"/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>
            <a:off x="8062341" y="43576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7427341" y="3748088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200" i="1"/>
              <a:t>Synthesis</a:t>
            </a: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>
            <a:off x="5674741" y="29575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>
            <a:off x="5674741" y="38719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22"/>
          <p:cNvSpPr>
            <a:spLocks noChangeShapeType="1"/>
          </p:cNvSpPr>
          <p:nvPr/>
        </p:nvSpPr>
        <p:spPr bwMode="auto">
          <a:xfrm>
            <a:off x="8036941" y="34432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4"/>
          <p:cNvSpPr>
            <a:spLocks/>
          </p:cNvSpPr>
          <p:nvPr/>
        </p:nvSpPr>
        <p:spPr bwMode="auto">
          <a:xfrm>
            <a:off x="6553200" y="2819400"/>
            <a:ext cx="609600" cy="1600200"/>
          </a:xfrm>
          <a:prstGeom prst="leftBrace">
            <a:avLst>
              <a:gd name="adj1" fmla="val 21875"/>
              <a:gd name="adj2" fmla="val 50000"/>
            </a:avLst>
          </a:prstGeom>
          <a:noFill/>
          <a:ln w="9525">
            <a:solidFill>
              <a:srgbClr val="0099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32" name="Picture 3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20" grpId="0" animBg="1"/>
      <p:bldP spid="21" grpId="0"/>
      <p:bldP spid="22" grpId="0" build="allAtOnce"/>
      <p:bldP spid="23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11AA62-2527-4D5D-A3C0-98C574961A03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657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TW" sz="3200" b="1" dirty="0"/>
              <a:t>Need of Compiler</a:t>
            </a:r>
            <a:r>
              <a:rPr lang="en-US" sz="3200" b="1" dirty="0"/>
              <a:t>(CO1)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Compiler is a special type of computer program that </a:t>
            </a:r>
            <a:r>
              <a:rPr lang="en-US" sz="2400" dirty="0">
                <a:solidFill>
                  <a:srgbClr val="FF0000"/>
                </a:solidFill>
              </a:rPr>
              <a:t>translates a human readable text file </a:t>
            </a:r>
            <a:r>
              <a:rPr lang="en-US" sz="2400" dirty="0"/>
              <a:t>into a </a:t>
            </a:r>
            <a:r>
              <a:rPr lang="en-US" sz="2400" dirty="0">
                <a:solidFill>
                  <a:srgbClr val="FF0000"/>
                </a:solidFill>
              </a:rPr>
              <a:t>form that the computer can more easily understand.</a:t>
            </a:r>
          </a:p>
          <a:p>
            <a:pPr algn="just"/>
            <a:r>
              <a:rPr lang="en-US" sz="2000" dirty="0"/>
              <a:t>Bridge the gap between </a:t>
            </a:r>
            <a:r>
              <a:rPr lang="en-US" sz="2000" dirty="0">
                <a:solidFill>
                  <a:srgbClr val="FF0000"/>
                </a:solidFill>
              </a:rPr>
              <a:t>human readable text and machine understandable language 0 &amp; 1.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48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D740F9-FE24-45D1-A3E6-BA10DC1CB6F4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657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TW" sz="3200" b="1" dirty="0"/>
              <a:t>Interpreter </a:t>
            </a:r>
            <a:r>
              <a:rPr lang="en-US" sz="3200" b="1" dirty="0"/>
              <a:t>(CO1)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It is also a program that scans the pure High Level Code</a:t>
            </a:r>
            <a:r>
              <a:rPr lang="en-US" sz="2000" dirty="0">
                <a:solidFill>
                  <a:srgbClr val="FF0000"/>
                </a:solidFill>
              </a:rPr>
              <a:t> line by line </a:t>
            </a:r>
            <a:r>
              <a:rPr lang="en-US" sz="2000" dirty="0"/>
              <a:t>and Convert it into executable code </a:t>
            </a:r>
            <a:r>
              <a:rPr lang="en-US" sz="2000" dirty="0">
                <a:solidFill>
                  <a:srgbClr val="FF0000"/>
                </a:solidFill>
              </a:rPr>
              <a:t>line by line.</a:t>
            </a:r>
          </a:p>
          <a:p>
            <a:pPr algn="just"/>
            <a:r>
              <a:rPr lang="en-US" sz="2000" dirty="0"/>
              <a:t>Interpreted Program are </a:t>
            </a:r>
            <a:r>
              <a:rPr lang="en-US" sz="2000" dirty="0">
                <a:solidFill>
                  <a:srgbClr val="FF0000"/>
                </a:solidFill>
              </a:rPr>
              <a:t>usually slower </a:t>
            </a:r>
            <a:r>
              <a:rPr lang="en-US" sz="2000" dirty="0"/>
              <a:t>with respect to compiled ones.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87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CAB351-A57F-47E2-A83F-1D5C86B608CE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657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TW" sz="3200" b="1" dirty="0"/>
              <a:t>Compiler vs Interpreter</a:t>
            </a:r>
            <a:r>
              <a:rPr lang="en-US" sz="3200" b="1" dirty="0"/>
              <a:t>(CO1)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53497"/>
              </p:ext>
            </p:extLst>
          </p:nvPr>
        </p:nvGraphicFramePr>
        <p:xfrm>
          <a:off x="762000" y="1397000"/>
          <a:ext cx="7772400" cy="3408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53401644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53661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Compiler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Interpreter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92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  <a:r>
                        <a:rPr lang="en-US" baseline="0" dirty="0"/>
                        <a:t> entire program at once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Takes single line of code at a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699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Speed :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 :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0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Generates intermediate object code.</a:t>
                      </a:r>
                      <a:r>
                        <a:rPr lang="en-US" baseline="0" dirty="0"/>
                        <a:t> So memory requirement is more.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requirement</a:t>
                      </a:r>
                      <a:r>
                        <a:rPr lang="en-US" baseline="0" dirty="0"/>
                        <a:t> is less because no intermediate code created.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74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Errors : </a:t>
                      </a:r>
                    </a:p>
                    <a:p>
                      <a:r>
                        <a:rPr lang="en-US" dirty="0"/>
                        <a:t>All errors are displayed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Errors : Continues translating the program until the first error is meet,</a:t>
                      </a:r>
                      <a:r>
                        <a:rPr lang="en-US" baseline="0" dirty="0"/>
                        <a:t> in which case it stops.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15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Compilers are larger in size.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Smaller in Size.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65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 detection is 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 detection is easy.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14712"/>
                  </a:ext>
                </a:extLst>
              </a:tr>
            </a:tbl>
          </a:graphicData>
        </a:graphic>
      </p:graphicFrame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27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DF6753-7923-47B0-8CE9-3B62672A8010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/>
              <a:t>Phases of Compiler:</a:t>
            </a:r>
            <a:r>
              <a:rPr lang="en-US" altLang="zh-TW" sz="2800" dirty="0"/>
              <a:t> Structure of a Compiler</a:t>
            </a:r>
            <a:r>
              <a:rPr lang="en-US" sz="2800" b="1" dirty="0"/>
              <a:t>(CO1)</a:t>
            </a:r>
            <a:r>
              <a:rPr lang="en-US" altLang="zh-TW" sz="2800" dirty="0"/>
              <a:t> </a:t>
            </a:r>
            <a:endParaRPr lang="en-US" sz="2800" b="1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19400" y="1676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Lexical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23622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Syntax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30480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Semantic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37338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Intermediate Code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4196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9400" y="5105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Code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3048000"/>
            <a:ext cx="1600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Symbol Table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0" y="3048000"/>
            <a:ext cx="1600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Error Handler</a:t>
            </a:r>
          </a:p>
        </p:txBody>
      </p:sp>
      <p:cxnSp>
        <p:nvCxnSpPr>
          <p:cNvPr id="19" name="Straight Connector 18"/>
          <p:cNvCxnSpPr>
            <a:stCxn id="16" idx="0"/>
            <a:endCxn id="10" idx="1"/>
          </p:cNvCxnSpPr>
          <p:nvPr/>
        </p:nvCxnSpPr>
        <p:spPr>
          <a:xfrm rot="5400000" flipH="1" flipV="1">
            <a:off x="1390650" y="1619250"/>
            <a:ext cx="1219200" cy="163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6" idx="0"/>
            <a:endCxn id="11" idx="1"/>
          </p:cNvCxnSpPr>
          <p:nvPr/>
        </p:nvCxnSpPr>
        <p:spPr>
          <a:xfrm rot="5400000" flipH="1" flipV="1">
            <a:off x="1733550" y="1962150"/>
            <a:ext cx="533400" cy="163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6" idx="3"/>
            <a:endCxn id="12" idx="1"/>
          </p:cNvCxnSpPr>
          <p:nvPr/>
        </p:nvCxnSpPr>
        <p:spPr>
          <a:xfrm flipV="1">
            <a:off x="1981200" y="3200400"/>
            <a:ext cx="8382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3"/>
            <a:endCxn id="13" idx="1"/>
          </p:cNvCxnSpPr>
          <p:nvPr/>
        </p:nvCxnSpPr>
        <p:spPr>
          <a:xfrm>
            <a:off x="1981200" y="3429000"/>
            <a:ext cx="8382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6" idx="2"/>
            <a:endCxn id="14" idx="1"/>
          </p:cNvCxnSpPr>
          <p:nvPr/>
        </p:nvCxnSpPr>
        <p:spPr>
          <a:xfrm rot="16200000" flipH="1">
            <a:off x="1619250" y="3371850"/>
            <a:ext cx="762000" cy="163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2"/>
            <a:endCxn id="15" idx="1"/>
          </p:cNvCxnSpPr>
          <p:nvPr/>
        </p:nvCxnSpPr>
        <p:spPr>
          <a:xfrm rot="16200000" flipH="1">
            <a:off x="1276350" y="3714750"/>
            <a:ext cx="1447800" cy="163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" idx="3"/>
            <a:endCxn id="17" idx="0"/>
          </p:cNvCxnSpPr>
          <p:nvPr/>
        </p:nvCxnSpPr>
        <p:spPr>
          <a:xfrm>
            <a:off x="6172200" y="1828800"/>
            <a:ext cx="1638300" cy="1219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" idx="3"/>
            <a:endCxn id="17" idx="0"/>
          </p:cNvCxnSpPr>
          <p:nvPr/>
        </p:nvCxnSpPr>
        <p:spPr>
          <a:xfrm>
            <a:off x="6172200" y="2514600"/>
            <a:ext cx="1638300" cy="533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2" idx="3"/>
            <a:endCxn id="17" idx="1"/>
          </p:cNvCxnSpPr>
          <p:nvPr/>
        </p:nvCxnSpPr>
        <p:spPr>
          <a:xfrm>
            <a:off x="6172200" y="3200400"/>
            <a:ext cx="8382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3" idx="3"/>
            <a:endCxn id="17" idx="1"/>
          </p:cNvCxnSpPr>
          <p:nvPr/>
        </p:nvCxnSpPr>
        <p:spPr>
          <a:xfrm flipV="1">
            <a:off x="6172200" y="3429000"/>
            <a:ext cx="8382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4" idx="3"/>
            <a:endCxn id="17" idx="2"/>
          </p:cNvCxnSpPr>
          <p:nvPr/>
        </p:nvCxnSpPr>
        <p:spPr>
          <a:xfrm flipV="1">
            <a:off x="6172200" y="3810000"/>
            <a:ext cx="16383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5" idx="3"/>
            <a:endCxn id="17" idx="2"/>
          </p:cNvCxnSpPr>
          <p:nvPr/>
        </p:nvCxnSpPr>
        <p:spPr>
          <a:xfrm flipV="1">
            <a:off x="6172200" y="3810000"/>
            <a:ext cx="1638300" cy="1447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505200" y="1011770"/>
            <a:ext cx="1905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Source Program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05200" y="5791200"/>
            <a:ext cx="1905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Program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4343400" y="12954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own Arrow 53"/>
          <p:cNvSpPr/>
          <p:nvPr/>
        </p:nvSpPr>
        <p:spPr>
          <a:xfrm>
            <a:off x="4343400" y="19812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4343400" y="26670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4343400" y="33528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4343400" y="40386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4343400" y="47244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/>
          <p:cNvSpPr/>
          <p:nvPr/>
        </p:nvSpPr>
        <p:spPr>
          <a:xfrm>
            <a:off x="4343400" y="54102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334000" y="914400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(Pure HLL)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4400" y="19812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2667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Parse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7100" y="230825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CFG</a:t>
            </a:r>
          </a:p>
        </p:txBody>
      </p:sp>
      <p:cxnSp>
        <p:nvCxnSpPr>
          <p:cNvPr id="20" name="Straight Arrow Connector 19"/>
          <p:cNvCxnSpPr>
            <a:stCxn id="8" idx="1"/>
          </p:cNvCxnSpPr>
          <p:nvPr/>
        </p:nvCxnSpPr>
        <p:spPr>
          <a:xfrm flipH="1" flipV="1">
            <a:off x="6400800" y="2482334"/>
            <a:ext cx="876300" cy="10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67100" y="3364468"/>
            <a:ext cx="327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Parse Tree     verified Semantically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0" y="407143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Address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800" y="4724400"/>
            <a:ext cx="1828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Optimized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3146" y="57912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(Assembly Code)</a:t>
            </a:r>
          </a:p>
        </p:txBody>
      </p:sp>
      <p:sp>
        <p:nvSpPr>
          <p:cNvPr id="29" name="Left Brace 28"/>
          <p:cNvSpPr/>
          <p:nvPr/>
        </p:nvSpPr>
        <p:spPr>
          <a:xfrm>
            <a:off x="2400298" y="1577975"/>
            <a:ext cx="342901" cy="2590800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371600" y="16764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Front End</a:t>
            </a:r>
          </a:p>
        </p:txBody>
      </p:sp>
      <p:sp>
        <p:nvSpPr>
          <p:cNvPr id="33" name="Left Brace 32"/>
          <p:cNvSpPr/>
          <p:nvPr/>
        </p:nvSpPr>
        <p:spPr>
          <a:xfrm>
            <a:off x="2209800" y="4343400"/>
            <a:ext cx="457200" cy="1219200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14400" y="4876800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Back End</a:t>
            </a:r>
          </a:p>
        </p:txBody>
      </p:sp>
      <p:pic>
        <p:nvPicPr>
          <p:cNvPr id="49" name="Picture 4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  <p:bldP spid="11" grpId="0" uiExpand="1" build="p" animBg="1"/>
      <p:bldP spid="12" grpId="0" uiExpand="1" build="p" animBg="1"/>
      <p:bldP spid="13" grpId="0" uiExpand="1" build="p" animBg="1"/>
      <p:bldP spid="14" grpId="0" uiExpand="1" build="p" animBg="1"/>
      <p:bldP spid="15" grpId="0" uiExpand="1" build="p" animBg="1"/>
      <p:bldP spid="16" grpId="0" uiExpand="1" build="p" animBg="1"/>
      <p:bldP spid="17" grpId="0" uiExpand="1" build="p" animBg="1"/>
      <p:bldP spid="43" grpId="0" uiExpand="1" build="allAtOnce" animBg="1"/>
      <p:bldP spid="44" grpId="0" uiExpand="1" build="p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3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0593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Lexical Analyzer: </a:t>
            </a:r>
          </a:p>
          <a:p>
            <a:r>
              <a:rPr lang="en-US" sz="2000" dirty="0"/>
              <a:t>Reads the program (Source Code) and convert it into </a:t>
            </a:r>
            <a:r>
              <a:rPr lang="en-US" sz="2000" b="1" dirty="0"/>
              <a:t>tokens</a:t>
            </a:r>
            <a:r>
              <a:rPr lang="en-US" sz="2000" dirty="0"/>
              <a:t>.</a:t>
            </a:r>
          </a:p>
          <a:p>
            <a:r>
              <a:rPr lang="en-US" sz="2000" dirty="0"/>
              <a:t>Tokens are defined by regular expression which are understood by the lexical analyzer.</a:t>
            </a:r>
          </a:p>
          <a:p>
            <a:r>
              <a:rPr lang="en-US" sz="2000" dirty="0"/>
              <a:t>Removes white spaces, comments, tabs etc.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Syntax Analysis (Parser):</a:t>
            </a:r>
          </a:p>
          <a:p>
            <a:r>
              <a:rPr lang="en-US" sz="2000" dirty="0"/>
              <a:t>Construct the parse Tree.</a:t>
            </a:r>
          </a:p>
          <a:p>
            <a:r>
              <a:rPr lang="en-US" sz="2000" dirty="0"/>
              <a:t>Takes the tokens one by one and uses CFG to construct the Parse Tree.</a:t>
            </a:r>
          </a:p>
          <a:p>
            <a:r>
              <a:rPr lang="en-US" sz="2000" dirty="0"/>
              <a:t>If it is not possible to construct the parse tree then input is syntactically incorrect &amp; error message shown / displayed.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077675-51C4-4958-8B20-AE174E1FB87D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581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9200" y="0"/>
            <a:ext cx="79248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Phases of Compiler (CO1</a:t>
            </a:r>
            <a:r>
              <a:rPr lang="en-US" sz="2800" b="1" dirty="0"/>
              <a:t>)</a:t>
            </a:r>
            <a:endParaRPr lang="en-US" sz="3000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3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0593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Semantic Analyzer:</a:t>
            </a:r>
          </a:p>
          <a:p>
            <a:r>
              <a:rPr lang="en-US" sz="2000" dirty="0"/>
              <a:t>Verify the parse tree, whether its meaningful or not?</a:t>
            </a:r>
          </a:p>
          <a:p>
            <a:r>
              <a:rPr lang="en-US" sz="2000" dirty="0"/>
              <a:t>It uses the parse tree &amp; information in the symbol table to check the source program for semantic consistency with the language definition.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Intermediate Code Generation:</a:t>
            </a:r>
          </a:p>
          <a:p>
            <a:r>
              <a:rPr lang="en-US" sz="1800" dirty="0"/>
              <a:t>Generates the intermediate code. (</a:t>
            </a:r>
            <a:r>
              <a:rPr lang="en-US" sz="1800" dirty="0" err="1"/>
              <a:t>Eg</a:t>
            </a:r>
            <a:r>
              <a:rPr lang="en-US" sz="1800" dirty="0"/>
              <a:t> Three Address Code)</a:t>
            </a:r>
          </a:p>
          <a:p>
            <a:r>
              <a:rPr lang="en-US" sz="1800" dirty="0"/>
              <a:t>Three Address Code (at most three operands , at most one operator in addition to the assignment)</a:t>
            </a:r>
          </a:p>
          <a:p>
            <a:r>
              <a:rPr lang="en-US" sz="1800" dirty="0"/>
              <a:t>E.g. X := Y op. Z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C03ED2-ED47-4ED4-932B-113E8836D5D8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581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9200" y="0"/>
            <a:ext cx="79248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Phases of Compiler (CO1</a:t>
            </a:r>
            <a:r>
              <a:rPr lang="en-US" sz="2800" b="1" dirty="0"/>
              <a:t>)</a:t>
            </a:r>
            <a:endParaRPr lang="en-US" sz="3000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124200" y="24384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>
            <a:off x="2133600" y="2438400"/>
            <a:ext cx="2286000" cy="12700"/>
          </a:xfrm>
          <a:prstGeom prst="curvedConnector3">
            <a:avLst>
              <a:gd name="adj1" fmla="val 4961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0480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(Type checking , definition of variable , Label Checking , Flow Control Checking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11" name="Picture 1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82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3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0593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Code Optimization:</a:t>
            </a:r>
          </a:p>
          <a:p>
            <a:pPr algn="just"/>
            <a:r>
              <a:rPr lang="en-US" sz="2000" dirty="0"/>
              <a:t>We get optimized code (our number of lines are reduced).</a:t>
            </a:r>
          </a:p>
          <a:p>
            <a:pPr algn="just"/>
            <a:r>
              <a:rPr lang="en-US" sz="2000" dirty="0"/>
              <a:t>Code optimization phase attempts to improve the intermediate code so that it runs faster &amp; consumes less resources.</a:t>
            </a:r>
          </a:p>
          <a:p>
            <a:pPr algn="just"/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Target Code Generator:</a:t>
            </a:r>
          </a:p>
          <a:p>
            <a:pPr algn="just"/>
            <a:r>
              <a:rPr lang="en-US" sz="2000" dirty="0"/>
              <a:t>Final Phase of compiler which generates the target code / assembly code.</a:t>
            </a:r>
          </a:p>
          <a:p>
            <a:pPr algn="just"/>
            <a:r>
              <a:rPr lang="en-US" sz="2000" dirty="0"/>
              <a:t>Code generator produces the target code by assigning registers and memory locations to store variables defined in the program.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5B0669-63B2-4718-B01A-B990B7AFB441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581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9200" y="0"/>
            <a:ext cx="79248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Phases of Compiler (CO1</a:t>
            </a:r>
            <a:r>
              <a:rPr lang="en-US" sz="2800" b="1" dirty="0"/>
              <a:t>)</a:t>
            </a:r>
            <a:endParaRPr lang="en-US" sz="3000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29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685800" y="6356350"/>
            <a:ext cx="2133600" cy="365125"/>
          </a:xfrm>
        </p:spPr>
        <p:txBody>
          <a:bodyPr/>
          <a:lstStyle/>
          <a:p>
            <a:pPr>
              <a:defRPr/>
            </a:pPr>
            <a:fld id="{56714189-269F-4B01-9427-9D9E5F0C9078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Phases of Compiler: An Example(CO1)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1295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Lexical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38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Syntax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196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Semantic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914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Intermediate Code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0" y="28956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0" y="42672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Code Generation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000" y="685800"/>
            <a:ext cx="3276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Statement:  P = I + R * 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38800" y="4800600"/>
            <a:ext cx="2819400" cy="144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LDF	R2, id3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MULF	R2, #40.0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LDF	R1, id2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ADDF	R1, R2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STF	id1, R1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1905000" y="10668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own Arrow 53"/>
          <p:cNvSpPr/>
          <p:nvPr/>
        </p:nvSpPr>
        <p:spPr>
          <a:xfrm>
            <a:off x="1905000" y="2209800"/>
            <a:ext cx="3810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1905000" y="41910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1905000" y="47244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6781800" y="26670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6781800" y="40386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/>
          <p:cNvSpPr/>
          <p:nvPr/>
        </p:nvSpPr>
        <p:spPr>
          <a:xfrm>
            <a:off x="6781800" y="4572000"/>
            <a:ext cx="3810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1905000" y="1600200"/>
            <a:ext cx="3810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57200" y="1828800"/>
            <a:ext cx="3352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Id1 = id2 + id3 * 40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990600" y="30480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5800" y="3352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47800" y="28194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3600" y="3276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47800" y="3733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09800" y="4114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3733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76600" y="4114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40</a:t>
            </a:r>
          </a:p>
        </p:txBody>
      </p:sp>
      <p:cxnSp>
        <p:nvCxnSpPr>
          <p:cNvPr id="61" name="Straight Connector 60"/>
          <p:cNvCxnSpPr/>
          <p:nvPr/>
        </p:nvCxnSpPr>
        <p:spPr>
          <a:xfrm flipV="1">
            <a:off x="1752600" y="35052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2362200" y="38862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905000" y="30480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438400" y="35052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124200" y="38862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own Arrow 67"/>
          <p:cNvSpPr/>
          <p:nvPr/>
        </p:nvSpPr>
        <p:spPr>
          <a:xfrm>
            <a:off x="1981200" y="27432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 flipV="1">
            <a:off x="685800" y="48768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143000" y="46482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0" y="51054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05000" y="5943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38400" y="5562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62200" y="5943600"/>
            <a:ext cx="16764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to float</a:t>
            </a: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1447800" y="53340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2057400" y="57150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1600200" y="48768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2133600" y="53340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819400" y="57150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04800" y="5181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6800" y="5562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id2</a:t>
            </a:r>
          </a:p>
        </p:txBody>
      </p:sp>
      <p:cxnSp>
        <p:nvCxnSpPr>
          <p:cNvPr id="83" name="Straight Connector 82"/>
          <p:cNvCxnSpPr>
            <a:stCxn id="74" idx="2"/>
          </p:cNvCxnSpPr>
          <p:nvPr/>
        </p:nvCxnSpPr>
        <p:spPr>
          <a:xfrm rot="5400000">
            <a:off x="3086100" y="6286500"/>
            <a:ext cx="2286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971800" y="6400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6705600" y="6858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257800" y="1524000"/>
            <a:ext cx="33528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t1 = </a:t>
            </a:r>
            <a:r>
              <a:rPr lang="en-US" sz="2000" dirty="0" err="1">
                <a:solidFill>
                  <a:schemeClr val="tx1"/>
                </a:solidFill>
              </a:rPr>
              <a:t>inttofloat</a:t>
            </a:r>
            <a:r>
              <a:rPr lang="en-US" sz="2000" dirty="0">
                <a:solidFill>
                  <a:schemeClr val="tx1"/>
                </a:solidFill>
              </a:rPr>
              <a:t> (40)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t2 = id3 * t1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t3 = id2+t2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id1 = t3</a:t>
            </a:r>
          </a:p>
        </p:txBody>
      </p:sp>
      <p:sp>
        <p:nvSpPr>
          <p:cNvPr id="87" name="Down Arrow 86"/>
          <p:cNvSpPr/>
          <p:nvPr/>
        </p:nvSpPr>
        <p:spPr>
          <a:xfrm>
            <a:off x="6705600" y="12192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Down Arrow 87"/>
          <p:cNvSpPr/>
          <p:nvPr/>
        </p:nvSpPr>
        <p:spPr>
          <a:xfrm>
            <a:off x="6781800" y="32004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410200" y="3429000"/>
            <a:ext cx="3352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t1 = id3 * 40.0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id1 = id2 + t1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600200" y="61722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allAtOnce" animBg="1"/>
      <p:bldP spid="11" grpId="0" uiExpand="1" build="p" animBg="1"/>
      <p:bldP spid="12" grpId="0" uiExpand="1" build="p" animBg="1"/>
      <p:bldP spid="13" grpId="0" uiExpand="1" build="p" animBg="1"/>
      <p:bldP spid="14" grpId="0" uiExpand="1" build="p" animBg="1"/>
      <p:bldP spid="15" grpId="0" uiExpand="1" build="p" animBg="1"/>
      <p:bldP spid="43" grpId="0" build="allAtOnce"/>
      <p:bldP spid="44" grpId="0" build="allAtOnce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37" grpId="0" animBg="1"/>
      <p:bldP spid="39" grpId="0" build="p"/>
      <p:bldP spid="46" grpId="0"/>
      <p:bldP spid="47" grpId="0"/>
      <p:bldP spid="48" grpId="0"/>
      <p:bldP spid="49" grpId="0"/>
      <p:bldP spid="50" grpId="0"/>
      <p:bldP spid="51" grpId="0"/>
      <p:bldP spid="52" grpId="0"/>
      <p:bldP spid="68" grpId="0" animBg="1"/>
      <p:bldP spid="70" grpId="0"/>
      <p:bldP spid="71" grpId="0"/>
      <p:bldP spid="72" grpId="0"/>
      <p:bldP spid="73" grpId="0"/>
      <p:bldP spid="74" grpId="0"/>
      <p:bldP spid="80" grpId="0"/>
      <p:bldP spid="81" grpId="0"/>
      <p:bldP spid="84" grpId="0"/>
      <p:bldP spid="85" grpId="0" animBg="1"/>
      <p:bldP spid="86" grpId="0" build="allAtOnce"/>
      <p:bldP spid="87" grpId="0" animBg="1"/>
      <p:bldP spid="88" grpId="0" animBg="1"/>
      <p:bldP spid="89" grpId="0" build="allAtOnce"/>
      <p:bldP spid="9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685800" y="6356350"/>
            <a:ext cx="2133600" cy="365125"/>
          </a:xfrm>
        </p:spPr>
        <p:txBody>
          <a:bodyPr/>
          <a:lstStyle/>
          <a:p>
            <a:pPr>
              <a:defRPr/>
            </a:pPr>
            <a:fld id="{5E1920B1-5EB8-42FE-B9F1-F4C5970BFA3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Phases of Compiler: An Example(CO1)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1295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Lexical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38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Syntax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196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Semantic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9144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Intermediate Code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0" y="28956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0" y="4267200"/>
            <a:ext cx="3352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Code Generation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000" y="685800"/>
            <a:ext cx="3276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Statement:  P = I + R * 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38800" y="4800600"/>
            <a:ext cx="2819400" cy="144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LDF	R2, id3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MULF	R2, #40.0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LDF	R1, id2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ADDF	R1, R2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STF	id1, R1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1905000" y="10668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own Arrow 53"/>
          <p:cNvSpPr/>
          <p:nvPr/>
        </p:nvSpPr>
        <p:spPr>
          <a:xfrm>
            <a:off x="1905000" y="2209800"/>
            <a:ext cx="3810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1905000" y="41910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1905000" y="47244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6781800" y="26670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6781800" y="40386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/>
          <p:cNvSpPr/>
          <p:nvPr/>
        </p:nvSpPr>
        <p:spPr>
          <a:xfrm>
            <a:off x="6781800" y="4572000"/>
            <a:ext cx="3810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1905000" y="1600200"/>
            <a:ext cx="3810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57200" y="1828800"/>
            <a:ext cx="3352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Id1 = id2 + id3 * 40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990600" y="30480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5800" y="3352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47800" y="28194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3600" y="3276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47800" y="3733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09800" y="4114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3733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76600" y="4114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40</a:t>
            </a:r>
          </a:p>
        </p:txBody>
      </p:sp>
      <p:cxnSp>
        <p:nvCxnSpPr>
          <p:cNvPr id="61" name="Straight Connector 60"/>
          <p:cNvCxnSpPr/>
          <p:nvPr/>
        </p:nvCxnSpPr>
        <p:spPr>
          <a:xfrm flipV="1">
            <a:off x="1752600" y="35052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2362200" y="38862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905000" y="30480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438400" y="35052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124200" y="38862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own Arrow 67"/>
          <p:cNvSpPr/>
          <p:nvPr/>
        </p:nvSpPr>
        <p:spPr>
          <a:xfrm>
            <a:off x="1981200" y="27432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 flipV="1">
            <a:off x="685800" y="48768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143000" y="46482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0" y="51054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05000" y="5943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38400" y="5562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62200" y="5943600"/>
            <a:ext cx="16764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to float</a:t>
            </a: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1447800" y="53340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2057400" y="5715000"/>
            <a:ext cx="5334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1600200" y="48768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2133600" y="53340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819400" y="5715000"/>
            <a:ext cx="41910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04800" y="5181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6800" y="5562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id2</a:t>
            </a:r>
          </a:p>
        </p:txBody>
      </p:sp>
      <p:cxnSp>
        <p:nvCxnSpPr>
          <p:cNvPr id="83" name="Straight Connector 82"/>
          <p:cNvCxnSpPr>
            <a:stCxn id="74" idx="2"/>
          </p:cNvCxnSpPr>
          <p:nvPr/>
        </p:nvCxnSpPr>
        <p:spPr>
          <a:xfrm rot="5400000">
            <a:off x="3086100" y="6286500"/>
            <a:ext cx="2286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971800" y="64008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6705600" y="6858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257800" y="1524000"/>
            <a:ext cx="33528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t1 = </a:t>
            </a:r>
            <a:r>
              <a:rPr lang="en-US" sz="2000" dirty="0" err="1">
                <a:solidFill>
                  <a:schemeClr val="tx1"/>
                </a:solidFill>
              </a:rPr>
              <a:t>inttofloat</a:t>
            </a:r>
            <a:r>
              <a:rPr lang="en-US" sz="2000" dirty="0">
                <a:solidFill>
                  <a:schemeClr val="tx1"/>
                </a:solidFill>
              </a:rPr>
              <a:t> (40)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t2 = id3 * t1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t3 = id2+t2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id1 = t3</a:t>
            </a:r>
          </a:p>
        </p:txBody>
      </p:sp>
      <p:sp>
        <p:nvSpPr>
          <p:cNvPr id="87" name="Down Arrow 86"/>
          <p:cNvSpPr/>
          <p:nvPr/>
        </p:nvSpPr>
        <p:spPr>
          <a:xfrm>
            <a:off x="6705600" y="12192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Down Arrow 87"/>
          <p:cNvSpPr/>
          <p:nvPr/>
        </p:nvSpPr>
        <p:spPr>
          <a:xfrm>
            <a:off x="6781800" y="32004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410200" y="3429000"/>
            <a:ext cx="3352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t1 = id3 * 40.0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id1 = id2 + t1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600200" y="6172200"/>
            <a:ext cx="304800" cy="228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7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allAtOnce" animBg="1"/>
      <p:bldP spid="11" grpId="0" uiExpand="1" build="p" animBg="1"/>
      <p:bldP spid="12" grpId="0" uiExpand="1" build="p" animBg="1"/>
      <p:bldP spid="13" grpId="0" uiExpand="1" build="p" animBg="1"/>
      <p:bldP spid="14" grpId="0" uiExpand="1" build="p" animBg="1"/>
      <p:bldP spid="15" grpId="0" uiExpand="1" build="p" animBg="1"/>
      <p:bldP spid="43" grpId="0" build="allAtOnce"/>
      <p:bldP spid="44" grpId="0" build="allAtOnce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37" grpId="0" animBg="1"/>
      <p:bldP spid="39" grpId="0" build="p"/>
      <p:bldP spid="46" grpId="0"/>
      <p:bldP spid="47" grpId="0"/>
      <p:bldP spid="48" grpId="0"/>
      <p:bldP spid="49" grpId="0"/>
      <p:bldP spid="50" grpId="0"/>
      <p:bldP spid="51" grpId="0"/>
      <p:bldP spid="52" grpId="0"/>
      <p:bldP spid="68" grpId="0" animBg="1"/>
      <p:bldP spid="70" grpId="0"/>
      <p:bldP spid="71" grpId="0"/>
      <p:bldP spid="72" grpId="0"/>
      <p:bldP spid="73" grpId="0"/>
      <p:bldP spid="74" grpId="0"/>
      <p:bldP spid="80" grpId="0"/>
      <p:bldP spid="81" grpId="0"/>
      <p:bldP spid="84" grpId="0"/>
      <p:bldP spid="85" grpId="0" animBg="1"/>
      <p:bldP spid="86" grpId="0" build="allAtOnce"/>
      <p:bldP spid="87" grpId="0" animBg="1"/>
      <p:bldP spid="88" grpId="0" animBg="1"/>
      <p:bldP spid="89" grpId="0" build="allAtOnce"/>
      <p:bldP spid="9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r>
              <a:rPr lang="en-US" sz="2200" dirty="0"/>
              <a:t>Compiler is a translator that converts the high level language to low level language</a:t>
            </a:r>
          </a:p>
          <a:p>
            <a:r>
              <a:rPr lang="en-US" sz="2200" dirty="0"/>
              <a:t>Simple Structure of Compiler</a:t>
            </a:r>
          </a:p>
          <a:p>
            <a:r>
              <a:rPr lang="en-US" sz="2200" dirty="0"/>
              <a:t>Phases of complier 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9D5D8A-A873-4A11-8E81-F040AD9D5AC9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language processing system how a program is going to interact with different program in a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839A40E-A3A9-47ED-B41A-F19EB76C77B3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B3E493-1DEF-4D26-B41C-4DF87F6DBFEA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Language Processing System(CO1)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19400" y="1676400"/>
            <a:ext cx="2362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Pre-Processor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2362200"/>
            <a:ext cx="2362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Compiler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3048000"/>
            <a:ext cx="2362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Assembler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3733800"/>
            <a:ext cx="2362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Linker / Loader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48000" y="914400"/>
            <a:ext cx="1905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Source Program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3886200" y="12954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own Arrow 53"/>
          <p:cNvSpPr/>
          <p:nvPr/>
        </p:nvSpPr>
        <p:spPr>
          <a:xfrm>
            <a:off x="3886200" y="19812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3886200" y="26670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3886200" y="33528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3886200" y="40386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4038600" y="1981200"/>
            <a:ext cx="457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Pre-Processed Code (Pure HLL)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667000"/>
            <a:ext cx="2362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Assembly Language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6200" y="3352800"/>
            <a:ext cx="5410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Re-locatable machine Code {Code  can be loaded anywhere in memory}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62400" y="3962400"/>
            <a:ext cx="5257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Executable Machine Code {Load to work at one specific position}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31777" y="9583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HLL )</a:t>
            </a:r>
          </a:p>
        </p:txBody>
      </p:sp>
      <p:pic>
        <p:nvPicPr>
          <p:cNvPr id="22" name="Picture 2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1" grpId="0" uiExpand="1" build="p" animBg="1"/>
      <p:bldP spid="12" grpId="0" build="p" animBg="1"/>
      <p:bldP spid="13" grpId="0" build="p" animBg="1"/>
      <p:bldP spid="43" grpId="0" build="allAtOnce" animBg="1"/>
      <p:bldP spid="53" grpId="0" animBg="1"/>
      <p:bldP spid="54" grpId="0" animBg="1"/>
      <p:bldP spid="55" grpId="0" animBg="1"/>
      <p:bldP spid="56" grpId="0" animBg="1"/>
      <p:bldP spid="57" grpId="0" animBg="1"/>
      <p:bldP spid="41" grpId="0" build="p"/>
      <p:bldP spid="45" grpId="0" build="p"/>
      <p:bldP spid="46" grpId="0" build="p"/>
      <p:bldP spid="4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876800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b="1" dirty="0">
                <a:solidFill>
                  <a:srgbClr val="FF0000"/>
                </a:solidFill>
                <a:ea typeface="Calibri"/>
                <a:cs typeface="Times New Roman"/>
              </a:rPr>
              <a:t>Pre-Processor: 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In Pre-Processing, HLL converted to pure HLL.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Preprocessor removes the preprocessor directives. 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                                       (#include&lt;</a:t>
            </a:r>
            <a:r>
              <a:rPr lang="en-US" sz="2400" dirty="0" err="1">
                <a:ea typeface="Calibri"/>
                <a:cs typeface="Times New Roman"/>
              </a:rPr>
              <a:t>stdio.h</a:t>
            </a:r>
            <a:r>
              <a:rPr lang="en-US" sz="2400" dirty="0">
                <a:ea typeface="Calibri"/>
                <a:cs typeface="Times New Roman"/>
              </a:rPr>
              <a:t>&gt;)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And will add the respective files. (i.e. File Inclusion)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It will do macro expansion, operator conversion. </a:t>
            </a:r>
          </a:p>
          <a:p>
            <a:pPr marL="0" indent="0" algn="just">
              <a:buNone/>
            </a:pPr>
            <a:r>
              <a:rPr lang="en-US" sz="2400" dirty="0">
                <a:ea typeface="Calibri"/>
                <a:cs typeface="Times New Roman"/>
              </a:rPr>
              <a:t>                     (e.g. a--                          a = a-1)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a typeface="Calibri"/>
                <a:cs typeface="Times New Roman"/>
              </a:rPr>
              <a:t>2. Compiler :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During compilation converts pure HLL into Assembly Language.</a:t>
            </a:r>
          </a:p>
          <a:p>
            <a:pPr algn="just"/>
            <a:r>
              <a:rPr lang="en-US" sz="2400" dirty="0">
                <a:ea typeface="Calibri"/>
                <a:cs typeface="Times New Roman"/>
              </a:rPr>
              <a:t>Also gives errors and warning.</a:t>
            </a:r>
          </a:p>
          <a:p>
            <a:pPr marL="0" indent="0" algn="just">
              <a:buNone/>
            </a:pPr>
            <a:endParaRPr lang="en-US" sz="2400" dirty="0">
              <a:ea typeface="Calibr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D53AB60-EE94-4241-BE4B-36F6D554751D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97977" y="29308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/>
              <a:t>Language Processing System(CO1)</a:t>
            </a:r>
            <a:endParaRPr lang="en-US" sz="3200" b="1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200400" y="4047331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876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a typeface="Calibri"/>
                <a:cs typeface="Times New Roman"/>
              </a:rPr>
              <a:t>Assembly Language : 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Is a low level programming language.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It is not in binary form.</a:t>
            </a:r>
          </a:p>
          <a:p>
            <a:pPr marL="0" indent="0" algn="just">
              <a:buNone/>
            </a:pPr>
            <a:endParaRPr lang="en-US" sz="2000" dirty="0">
              <a:ea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a typeface="Calibri"/>
                <a:cs typeface="Times New Roman"/>
              </a:rPr>
              <a:t>3. Assemblers: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For every platform (H/W+O.S.) , we have a assembler.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A assembler for one platform will not work for another platform.</a:t>
            </a:r>
          </a:p>
          <a:p>
            <a:pPr marL="0" indent="0" algn="just">
              <a:buNone/>
            </a:pPr>
            <a:endParaRPr lang="en-US" sz="2000" dirty="0">
              <a:ea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a typeface="Calibri"/>
                <a:cs typeface="Times New Roman"/>
              </a:rPr>
              <a:t>4. Loader and Linker: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Convert relocatable code into Absolute machine code.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A Linker links different files into a single file / executable file.</a:t>
            </a:r>
          </a:p>
          <a:p>
            <a:pPr algn="just"/>
            <a:r>
              <a:rPr lang="en-US" sz="2000" dirty="0">
                <a:ea typeface="Calibri"/>
                <a:cs typeface="Times New Roman"/>
              </a:rPr>
              <a:t>Loader loads that executable file in the memory and executes it</a:t>
            </a:r>
          </a:p>
          <a:p>
            <a:pPr marL="0" indent="0" algn="just">
              <a:buNone/>
            </a:pPr>
            <a:endParaRPr lang="en-US" sz="2400" dirty="0">
              <a:ea typeface="Calibr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121B55-0AD5-4450-B845-E089B780DCD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97977" y="29308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/>
              <a:t>Language Processing System(CO1)</a:t>
            </a:r>
            <a:endParaRPr lang="en-US" sz="3200" b="1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4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the different pass and categories of compiler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D7904E-B613-4FA4-A5C7-57818371F242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37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3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287963"/>
          </a:xfrm>
        </p:spPr>
        <p:txBody>
          <a:bodyPr>
            <a:normAutofit/>
          </a:bodyPr>
          <a:lstStyle/>
          <a:p>
            <a:r>
              <a:rPr lang="en-US" sz="2400" dirty="0"/>
              <a:t>Pass: </a:t>
            </a:r>
            <a:r>
              <a:rPr lang="en-US" sz="2200" dirty="0"/>
              <a:t>A Compiler Pass refers to the traversal of a compiler through the entire program. </a:t>
            </a:r>
          </a:p>
          <a:p>
            <a:r>
              <a:rPr lang="en-US" sz="2200" dirty="0"/>
              <a:t>Pass also refers to the </a:t>
            </a:r>
            <a:r>
              <a:rPr lang="en-US" sz="2200" b="1" dirty="0">
                <a:solidFill>
                  <a:srgbClr val="FF0000"/>
                </a:solidFill>
              </a:rPr>
              <a:t>grouping of phases </a:t>
            </a:r>
            <a:r>
              <a:rPr lang="en-US" sz="2200" dirty="0"/>
              <a:t>in different module.</a:t>
            </a:r>
          </a:p>
          <a:p>
            <a:r>
              <a:rPr lang="en-US" sz="2200" dirty="0"/>
              <a:t>Compiler pass are of two types: </a:t>
            </a:r>
          </a:p>
          <a:p>
            <a:pPr lvl="1"/>
            <a:r>
              <a:rPr lang="en-US" sz="2200" dirty="0"/>
              <a:t>Single Pass Compiler </a:t>
            </a:r>
          </a:p>
          <a:p>
            <a:pPr lvl="1"/>
            <a:r>
              <a:rPr lang="en-US" sz="2200" dirty="0"/>
              <a:t>Two Pass Compiler </a:t>
            </a:r>
            <a:r>
              <a:rPr lang="en-US" sz="2200" i="1" dirty="0"/>
              <a:t>or</a:t>
            </a:r>
            <a:r>
              <a:rPr lang="en-US" sz="2200" dirty="0"/>
              <a:t> Multi Pass Compiler</a:t>
            </a:r>
          </a:p>
          <a:p>
            <a:r>
              <a:rPr lang="en-US" sz="2200" b="1" dirty="0"/>
              <a:t>Single Pass: </a:t>
            </a:r>
            <a:r>
              <a:rPr lang="en-US" sz="2200" dirty="0"/>
              <a:t>If we combine or group </a:t>
            </a:r>
            <a:r>
              <a:rPr lang="en-US" sz="2200" b="1" dirty="0"/>
              <a:t>all the phases of compiler design in a single module</a:t>
            </a:r>
            <a:r>
              <a:rPr lang="en-US" sz="2200" dirty="0"/>
              <a:t> known as single pass compiler.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b="1" dirty="0"/>
              <a:t>Multi Pass: </a:t>
            </a:r>
            <a:r>
              <a:rPr lang="en-US" sz="2200" dirty="0"/>
              <a:t>A Two pass/multi-pass Compiler is a type of compiler that processes the </a:t>
            </a:r>
            <a:r>
              <a:rPr lang="en-US" sz="2200" i="1" dirty="0"/>
              <a:t>source code</a:t>
            </a:r>
            <a:r>
              <a:rPr lang="en-US" sz="2200" dirty="0"/>
              <a:t> or abstract syntax tree of a program multiple times. In multi pass Compiler we </a:t>
            </a:r>
            <a:r>
              <a:rPr lang="en-US" sz="2200" b="1" dirty="0"/>
              <a:t>divide phases in two or more Module.</a:t>
            </a:r>
          </a:p>
          <a:p>
            <a:pPr lvl="1"/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F19B83-E030-4B58-BF91-7139F515E1DB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3528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86039-F5E3-4A31-9EAF-85A03B705566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24000" y="0"/>
            <a:ext cx="76200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Pass of Compiler</a:t>
            </a:r>
            <a:r>
              <a:rPr lang="en-US" sz="2800" b="1" dirty="0"/>
              <a:t>(CO1)</a:t>
            </a:r>
            <a:endParaRPr lang="en-US" sz="3000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A696AD6-3351-4E33-84B6-BFFBA6183F50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Single Pass Compiler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19400" y="16764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Lexical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23622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Syntax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30480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Semantic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37338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Intermediate Code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4196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9400" y="51054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Code Generation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4343400" y="19812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4343400" y="26670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4343400" y="33528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4343400" y="40386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4343400" y="47244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/>
          <p:cNvSpPr/>
          <p:nvPr/>
        </p:nvSpPr>
        <p:spPr>
          <a:xfrm>
            <a:off x="6629400" y="1219200"/>
            <a:ext cx="381000" cy="4800600"/>
          </a:xfrm>
          <a:prstGeom prst="rightBrace">
            <a:avLst>
              <a:gd name="adj1" fmla="val 8333"/>
              <a:gd name="adj2" fmla="val 5029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858000" y="2362200"/>
            <a:ext cx="2286000" cy="266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Single Pass: All the units are in one 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38400" y="1295400"/>
            <a:ext cx="4114800" cy="472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D61B45-A58D-494F-8FED-3E7530391835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Two Pass or Multi-Pass Compiler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19400" y="16764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Lexical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23622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Syntax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30480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Semantic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37338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Intermediate Code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4196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9400" y="51054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Code Generation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4343400" y="19812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4343400" y="26670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4343400" y="33528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4343400" y="40386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4343400" y="47244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/>
          <p:cNvSpPr/>
          <p:nvPr/>
        </p:nvSpPr>
        <p:spPr>
          <a:xfrm>
            <a:off x="6477000" y="1524000"/>
            <a:ext cx="381000" cy="2514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858000" y="2362200"/>
            <a:ext cx="2286000" cy="1447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First Pass: Front End</a:t>
            </a:r>
          </a:p>
        </p:txBody>
      </p:sp>
      <p:sp>
        <p:nvSpPr>
          <p:cNvPr id="41" name="Right Brace 40"/>
          <p:cNvSpPr/>
          <p:nvPr/>
        </p:nvSpPr>
        <p:spPr>
          <a:xfrm>
            <a:off x="6477000" y="4267200"/>
            <a:ext cx="381000" cy="1371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858000" y="4495800"/>
            <a:ext cx="2286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Second Pass: Back 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62200" y="1295400"/>
            <a:ext cx="3962400" cy="281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362200" y="4267200"/>
            <a:ext cx="39624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build="p" animBg="1"/>
      <p:bldP spid="41" grpId="0" animBg="1"/>
      <p:bldP spid="45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5B9B4D-9D0C-4608-BE2A-6BD9ACE31599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95400" y="20372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Front-End &amp; Back- End of Compiler(CO1)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19400" y="16764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Lexical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23622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Syntax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30480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Semantic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37338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Intermediate Code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4196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9400" y="5105400"/>
            <a:ext cx="3352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Target Code Generation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4343400" y="19812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4343400" y="26670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4343400" y="33528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4343400" y="40386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4343400" y="47244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/>
          <p:cNvSpPr/>
          <p:nvPr/>
        </p:nvSpPr>
        <p:spPr>
          <a:xfrm>
            <a:off x="6477000" y="1524000"/>
            <a:ext cx="381000" cy="2514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858000" y="2362200"/>
            <a:ext cx="2286000" cy="1447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Front End ,Related to Source Language (Machine Independent)</a:t>
            </a:r>
          </a:p>
        </p:txBody>
      </p:sp>
      <p:sp>
        <p:nvSpPr>
          <p:cNvPr id="41" name="Right Brace 40"/>
          <p:cNvSpPr/>
          <p:nvPr/>
        </p:nvSpPr>
        <p:spPr>
          <a:xfrm>
            <a:off x="6477000" y="4267200"/>
            <a:ext cx="381000" cy="1371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858000" y="4495800"/>
            <a:ext cx="2286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Back End, Related to Target Language             ( Machine Dependent)</a:t>
            </a:r>
          </a:p>
        </p:txBody>
      </p:sp>
      <p:pic>
        <p:nvPicPr>
          <p:cNvPr id="23" name="Picture 2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build="p" animBg="1"/>
      <p:bldP spid="41" grpId="0" animBg="1"/>
      <p:bldP spid="45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BC55CE-2907-49B3-8638-F31E56E1878B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2B7C2-9E1A-4A12-BC2F-D92FEE42F0E6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9200" y="11601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Two basic problems </a:t>
            </a:r>
            <a:r>
              <a:rPr lang="en-US" b="1" dirty="0">
                <a:solidFill>
                  <a:srgbClr val="FF0000"/>
                </a:solidFill>
              </a:rPr>
              <a:t>(Solvable by Two Pass Compilers) </a:t>
            </a:r>
            <a:r>
              <a:rPr lang="en-US" sz="3200" b="1" dirty="0"/>
              <a:t>(CO1)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33400" y="1219200"/>
            <a:ext cx="8153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If you want to design compiler for </a:t>
            </a:r>
            <a:r>
              <a:rPr lang="en-US" dirty="0">
                <a:solidFill>
                  <a:srgbClr val="FF0000"/>
                </a:solidFill>
              </a:rPr>
              <a:t>different programming languages </a:t>
            </a:r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same machine.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If you want to design compiler of </a:t>
            </a:r>
            <a:r>
              <a:rPr lang="en-US" dirty="0">
                <a:solidFill>
                  <a:srgbClr val="FF0000"/>
                </a:solidFill>
              </a:rPr>
              <a:t>same programming language </a:t>
            </a:r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different machines.</a:t>
            </a:r>
          </a:p>
        </p:txBody>
      </p:sp>
      <p:sp>
        <p:nvSpPr>
          <p:cNvPr id="3" name="Oval 2"/>
          <p:cNvSpPr/>
          <p:nvPr/>
        </p:nvSpPr>
        <p:spPr>
          <a:xfrm>
            <a:off x="2362200" y="1752600"/>
            <a:ext cx="838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PL1</a:t>
            </a:r>
          </a:p>
        </p:txBody>
      </p:sp>
      <p:sp>
        <p:nvSpPr>
          <p:cNvPr id="24" name="Oval 23"/>
          <p:cNvSpPr/>
          <p:nvPr/>
        </p:nvSpPr>
        <p:spPr>
          <a:xfrm>
            <a:off x="3771900" y="1751655"/>
            <a:ext cx="838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PL2</a:t>
            </a:r>
          </a:p>
        </p:txBody>
      </p:sp>
      <p:sp>
        <p:nvSpPr>
          <p:cNvPr id="25" name="Oval 24"/>
          <p:cNvSpPr/>
          <p:nvPr/>
        </p:nvSpPr>
        <p:spPr>
          <a:xfrm>
            <a:off x="5207977" y="1759502"/>
            <a:ext cx="838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PL3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2209800"/>
            <a:ext cx="609600" cy="264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2209800"/>
            <a:ext cx="609600" cy="264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2277" y="2216702"/>
            <a:ext cx="609600" cy="264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FE3</a:t>
            </a:r>
          </a:p>
        </p:txBody>
      </p:sp>
      <p:cxnSp>
        <p:nvCxnSpPr>
          <p:cNvPr id="16" name="Straight Arrow Connector 15"/>
          <p:cNvCxnSpPr>
            <a:stCxn id="3" idx="4"/>
          </p:cNvCxnSpPr>
          <p:nvPr/>
        </p:nvCxnSpPr>
        <p:spPr>
          <a:xfrm>
            <a:off x="2781300" y="2057400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191000" y="2057400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627077" y="2064302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771900" y="2971800"/>
            <a:ext cx="11049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M1</a:t>
            </a:r>
          </a:p>
        </p:txBody>
      </p:sp>
      <p:sp>
        <p:nvSpPr>
          <p:cNvPr id="18" name="Oval 17"/>
          <p:cNvSpPr/>
          <p:nvPr/>
        </p:nvSpPr>
        <p:spPr>
          <a:xfrm>
            <a:off x="3771900" y="3390135"/>
            <a:ext cx="1257300" cy="3038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895600" y="2481692"/>
            <a:ext cx="876300" cy="64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191000" y="2481692"/>
            <a:ext cx="0" cy="490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4876800" y="2481692"/>
            <a:ext cx="750277" cy="64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7" idx="2"/>
            <a:endCxn id="18" idx="0"/>
          </p:cNvCxnSpPr>
          <p:nvPr/>
        </p:nvCxnSpPr>
        <p:spPr>
          <a:xfrm>
            <a:off x="4324350" y="3276600"/>
            <a:ext cx="76200" cy="113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503485" y="5836595"/>
            <a:ext cx="1257300" cy="3038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M1</a:t>
            </a:r>
          </a:p>
        </p:txBody>
      </p:sp>
      <p:sp>
        <p:nvSpPr>
          <p:cNvPr id="48" name="Oval 47"/>
          <p:cNvSpPr/>
          <p:nvPr/>
        </p:nvSpPr>
        <p:spPr>
          <a:xfrm>
            <a:off x="3886200" y="5827033"/>
            <a:ext cx="1257300" cy="3038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M2</a:t>
            </a:r>
          </a:p>
        </p:txBody>
      </p:sp>
      <p:sp>
        <p:nvSpPr>
          <p:cNvPr id="49" name="Oval 48"/>
          <p:cNvSpPr/>
          <p:nvPr/>
        </p:nvSpPr>
        <p:spPr>
          <a:xfrm>
            <a:off x="6553200" y="5827032"/>
            <a:ext cx="1257300" cy="3038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20715" y="5416608"/>
            <a:ext cx="11049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M1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5404721"/>
            <a:ext cx="11049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M2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53200" y="5329043"/>
            <a:ext cx="11049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M3</a:t>
            </a:r>
          </a:p>
        </p:txBody>
      </p:sp>
      <p:sp>
        <p:nvSpPr>
          <p:cNvPr id="53" name="Oval 52"/>
          <p:cNvSpPr/>
          <p:nvPr/>
        </p:nvSpPr>
        <p:spPr>
          <a:xfrm>
            <a:off x="3771900" y="4132670"/>
            <a:ext cx="1257300" cy="3038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3850" y="4623511"/>
            <a:ext cx="609600" cy="233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</a:t>
            </a:r>
          </a:p>
        </p:txBody>
      </p:sp>
      <p:cxnSp>
        <p:nvCxnSpPr>
          <p:cNvPr id="42" name="Straight Arrow Connector 41"/>
          <p:cNvCxnSpPr>
            <a:stCxn id="53" idx="4"/>
            <a:endCxn id="59" idx="0"/>
          </p:cNvCxnSpPr>
          <p:nvPr/>
        </p:nvCxnSpPr>
        <p:spPr>
          <a:xfrm>
            <a:off x="4400550" y="4436525"/>
            <a:ext cx="38100" cy="18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0" idx="2"/>
            <a:endCxn id="47" idx="0"/>
          </p:cNvCxnSpPr>
          <p:nvPr/>
        </p:nvCxnSpPr>
        <p:spPr>
          <a:xfrm flipH="1">
            <a:off x="2132135" y="5721408"/>
            <a:ext cx="41030" cy="115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48" idx="0"/>
            <a:endCxn id="51" idx="2"/>
          </p:cNvCxnSpPr>
          <p:nvPr/>
        </p:nvCxnSpPr>
        <p:spPr>
          <a:xfrm flipH="1" flipV="1">
            <a:off x="4438650" y="5709521"/>
            <a:ext cx="76200" cy="117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49" idx="0"/>
            <a:endCxn id="52" idx="2"/>
          </p:cNvCxnSpPr>
          <p:nvPr/>
        </p:nvCxnSpPr>
        <p:spPr>
          <a:xfrm flipH="1" flipV="1">
            <a:off x="7105650" y="5633843"/>
            <a:ext cx="76200" cy="193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362200" y="4856895"/>
            <a:ext cx="1828800" cy="547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1" idx="0"/>
            <a:endCxn id="59" idx="2"/>
          </p:cNvCxnSpPr>
          <p:nvPr/>
        </p:nvCxnSpPr>
        <p:spPr>
          <a:xfrm flipV="1">
            <a:off x="4438650" y="4856895"/>
            <a:ext cx="0" cy="547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52" idx="0"/>
          </p:cNvCxnSpPr>
          <p:nvPr/>
        </p:nvCxnSpPr>
        <p:spPr>
          <a:xfrm flipH="1" flipV="1">
            <a:off x="4743450" y="4856895"/>
            <a:ext cx="2362200" cy="472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88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r>
              <a:rPr lang="en-US" sz="2200" dirty="0"/>
              <a:t>Passes of Compiler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/>
              <a:t>One Pass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/>
              <a:t>Two Pass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/>
              <a:t>Three Pass</a:t>
            </a:r>
          </a:p>
          <a:p>
            <a:r>
              <a:rPr lang="en-US" sz="2200" dirty="0"/>
              <a:t>Front and Back end Compiler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96E114E-6E32-4434-A667-11BB89C70E4E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handling the complicated language to understand the more complicated language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7747CD9-954D-4B0E-8911-D3D248FB6351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1356-B0D4-4E9F-9159-CED0F290C79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Bootstrapping(CO1)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200" dirty="0"/>
          </a:p>
          <a:p>
            <a:pPr algn="just"/>
            <a:r>
              <a:rPr lang="en-US" sz="2200" b="1" dirty="0">
                <a:solidFill>
                  <a:srgbClr val="FF0000"/>
                </a:solidFill>
              </a:rPr>
              <a:t>Bootstrapping</a:t>
            </a:r>
            <a:r>
              <a:rPr lang="en-US" sz="2200" dirty="0"/>
              <a:t> is a process of </a:t>
            </a:r>
            <a:r>
              <a:rPr lang="en-US" sz="2200" b="1" dirty="0"/>
              <a:t>writing compiler </a:t>
            </a:r>
            <a:r>
              <a:rPr lang="en-US" sz="2200" dirty="0"/>
              <a:t>in the </a:t>
            </a:r>
            <a:r>
              <a:rPr lang="en-US" sz="2200" b="1" dirty="0"/>
              <a:t>source programming language</a:t>
            </a:r>
            <a:r>
              <a:rPr lang="en-US" sz="2200" dirty="0"/>
              <a:t> that it intends to compile. This technique leads to hosting compiler.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Bootstrapping</a:t>
            </a:r>
            <a:r>
              <a:rPr lang="en-US" sz="2200" dirty="0"/>
              <a:t> is a process to create new compiler.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dirty="0"/>
              <a:t>It is used to create cross compiler.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24A0-D67C-4E41-B6F6-F9CCC7F2A28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Bootstrapping…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Language Associated with a Compiler:</a:t>
            </a:r>
          </a:p>
          <a:p>
            <a:pPr algn="just">
              <a:buNone/>
            </a:pPr>
            <a:endParaRPr lang="en-US" sz="2400" b="1" dirty="0"/>
          </a:p>
          <a:p>
            <a:pPr lvl="1" algn="just"/>
            <a:r>
              <a:rPr lang="en-US" sz="2200" b="1" dirty="0"/>
              <a:t>Source Language(S): </a:t>
            </a:r>
            <a:r>
              <a:rPr lang="en-US" sz="2200" dirty="0"/>
              <a:t>Language for which compiler is designed.</a:t>
            </a:r>
          </a:p>
          <a:p>
            <a:pPr lvl="1" algn="just"/>
            <a:r>
              <a:rPr lang="en-US" sz="2200" b="1" dirty="0"/>
              <a:t>Target Language(T): </a:t>
            </a:r>
            <a:r>
              <a:rPr lang="en-US" sz="2200" dirty="0"/>
              <a:t>Language in which compiler generates final code.</a:t>
            </a:r>
          </a:p>
          <a:p>
            <a:pPr lvl="1" algn="just"/>
            <a:r>
              <a:rPr lang="en-US" sz="2200" b="1" dirty="0"/>
              <a:t>Implementation Language(I): </a:t>
            </a:r>
            <a:r>
              <a:rPr lang="en-US" sz="2200" dirty="0"/>
              <a:t>Language in which compiler itself is written.</a:t>
            </a:r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9259-8961-46E4-A0C2-F9ACC2914645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Bootstrapping…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T Diagram Representation of Compiler:</a:t>
            </a:r>
          </a:p>
          <a:p>
            <a:pPr lvl="1" algn="just"/>
            <a:r>
              <a:rPr lang="en-US" sz="2200" dirty="0"/>
              <a:t>Source Language: </a:t>
            </a:r>
            <a:r>
              <a:rPr lang="en-US" sz="2200" b="1" dirty="0"/>
              <a:t>S</a:t>
            </a:r>
          </a:p>
          <a:p>
            <a:pPr lvl="1" algn="just"/>
            <a:r>
              <a:rPr lang="en-US" sz="2200" dirty="0"/>
              <a:t>Target Language: </a:t>
            </a:r>
            <a:r>
              <a:rPr lang="en-US" sz="2200" b="1" dirty="0"/>
              <a:t>T</a:t>
            </a:r>
          </a:p>
          <a:p>
            <a:pPr lvl="1" algn="just"/>
            <a:r>
              <a:rPr lang="en-US" sz="2200" dirty="0"/>
              <a:t>Implementation Language: </a:t>
            </a:r>
            <a:r>
              <a:rPr lang="en-US" sz="2200" b="1" dirty="0"/>
              <a:t>I</a:t>
            </a:r>
          </a:p>
          <a:p>
            <a:pPr algn="just"/>
            <a:endParaRPr lang="en-US" sz="2200" b="1" dirty="0"/>
          </a:p>
          <a:p>
            <a:pPr algn="just"/>
            <a:endParaRPr lang="en-US" sz="2200" b="1" dirty="0"/>
          </a:p>
        </p:txBody>
      </p:sp>
      <p:sp>
        <p:nvSpPr>
          <p:cNvPr id="19" name="Rectangle 18"/>
          <p:cNvSpPr/>
          <p:nvPr/>
        </p:nvSpPr>
        <p:spPr>
          <a:xfrm>
            <a:off x="3505200" y="3124200"/>
            <a:ext cx="838200" cy="304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124200"/>
            <a:ext cx="838200" cy="304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200" b="1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1000" y="3429000"/>
            <a:ext cx="381000" cy="4572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0" y="4495800"/>
            <a:ext cx="19050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590800" y="49530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15000" y="4918364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33600" y="47683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182" y="47683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(T)</a:t>
            </a:r>
          </a:p>
        </p:txBody>
      </p:sp>
      <p:pic>
        <p:nvPicPr>
          <p:cNvPr id="17" name="Picture 1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9" grpId="0" build="allAtOnce" animBg="1"/>
      <p:bldP spid="20" grpId="0" build="allAtOnce" animBg="1"/>
      <p:bldP spid="21" grpId="0" build="allAtOnce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5408-AB0D-4EC0-8F04-90D703A0FF6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Cross Compiler(CO1)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A Compiler which </a:t>
            </a:r>
            <a:r>
              <a:rPr lang="en-US" sz="2200" b="1" dirty="0">
                <a:solidFill>
                  <a:srgbClr val="FF0000"/>
                </a:solidFill>
              </a:rPr>
              <a:t>runs on one machine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rgbClr val="FF0000"/>
                </a:solidFill>
              </a:rPr>
              <a:t>generates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FF0000"/>
                </a:solidFill>
              </a:rPr>
              <a:t>target code for Another machine </a:t>
            </a:r>
            <a:r>
              <a:rPr lang="en-US" sz="2200" dirty="0"/>
              <a:t>is called </a:t>
            </a:r>
            <a:r>
              <a:rPr lang="en-US" sz="2200" b="1" dirty="0"/>
              <a:t>Cross Compiler</a:t>
            </a:r>
            <a:r>
              <a:rPr lang="en-US" sz="2200" dirty="0"/>
              <a:t>.</a:t>
            </a:r>
          </a:p>
          <a:p>
            <a:pPr algn="just"/>
            <a:r>
              <a:rPr lang="en-US" sz="2200" dirty="0"/>
              <a:t>Ex: A Compiler that run on windows and produce code that run on Android.</a:t>
            </a:r>
          </a:p>
          <a:p>
            <a:pPr marL="0" indent="0" algn="just">
              <a:buNone/>
            </a:pPr>
            <a:endParaRPr lang="en-US" sz="2200" dirty="0"/>
          </a:p>
          <a:p>
            <a:pPr algn="just"/>
            <a:endParaRPr lang="en-US" sz="2200" b="1" dirty="0"/>
          </a:p>
          <a:p>
            <a:pPr marL="0" indent="0" algn="just">
              <a:buNone/>
            </a:pPr>
            <a:endParaRPr lang="en-US" sz="2200" b="1" dirty="0"/>
          </a:p>
          <a:p>
            <a:pPr algn="just"/>
            <a:r>
              <a:rPr lang="en-US" sz="2200" dirty="0"/>
              <a:t>Note : Each System (In Starting, Computer will understand the Assembly Language.) has their own Assembler which understand Assembly Language as input.</a:t>
            </a:r>
          </a:p>
          <a:p>
            <a:pPr algn="just"/>
            <a:r>
              <a:rPr lang="en-US" sz="2200" dirty="0"/>
              <a:t>Each System understand </a:t>
            </a:r>
            <a:r>
              <a:rPr lang="en-US" sz="2200" b="1" dirty="0"/>
              <a:t>Assembly Language </a:t>
            </a:r>
            <a:r>
              <a:rPr lang="en-US" sz="2200" dirty="0"/>
              <a:t>and convert it into </a:t>
            </a:r>
            <a:r>
              <a:rPr lang="en-US" sz="2200" b="1" dirty="0"/>
              <a:t>machine language.</a:t>
            </a:r>
          </a:p>
          <a:p>
            <a:pPr marL="0" indent="0" algn="just">
              <a:buNone/>
            </a:pPr>
            <a:endParaRPr lang="en-US" sz="2200" b="1" dirty="0"/>
          </a:p>
        </p:txBody>
      </p:sp>
      <p:sp>
        <p:nvSpPr>
          <p:cNvPr id="20" name="Rectangle 19"/>
          <p:cNvSpPr/>
          <p:nvPr/>
        </p:nvSpPr>
        <p:spPr>
          <a:xfrm>
            <a:off x="2348345" y="2781300"/>
            <a:ext cx="8382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200" b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57845" y="3099955"/>
            <a:ext cx="3810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6990" y="3276600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Cross Compiler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72045" y="2781300"/>
            <a:ext cx="1676400" cy="685800"/>
            <a:chOff x="1472045" y="2781300"/>
            <a:chExt cx="1676400" cy="685800"/>
          </a:xfrm>
        </p:grpSpPr>
        <p:sp>
          <p:nvSpPr>
            <p:cNvPr id="19" name="Rectangle 18"/>
            <p:cNvSpPr/>
            <p:nvPr/>
          </p:nvSpPr>
          <p:spPr>
            <a:xfrm>
              <a:off x="1472045" y="2781300"/>
              <a:ext cx="838200" cy="304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2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57845" y="3086100"/>
              <a:ext cx="381000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  <a:alpha val="1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6200000" scaled="1"/>
              <a:tileRect/>
            </a:gra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10245" y="2781300"/>
              <a:ext cx="838200" cy="304800"/>
            </a:xfrm>
            <a:prstGeom prst="rect">
              <a:avLst/>
            </a:prstGeom>
            <a:gradFill>
              <a:gsLst>
                <a:gs pos="0">
                  <a:srgbClr val="DDEBCF">
                    <a:alpha val="0"/>
                  </a:srgbClr>
                </a:gs>
                <a:gs pos="50000">
                  <a:srgbClr val="9CB86E"/>
                </a:gs>
                <a:gs pos="100000">
                  <a:srgbClr val="156B13">
                    <a:alpha val="0"/>
                  </a:srgbClr>
                </a:gs>
              </a:gsLst>
              <a:lin ang="5400000" scaled="0"/>
            </a:gra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0" grpId="0" build="allAtOnce" animBg="1"/>
      <p:bldP spid="21" grpId="0" uiExpand="1" build="allAtOnce" animBg="1"/>
      <p:bldP spid="11" grpId="0" build="allAtOnce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A724-5C40-4624-80C7-B13A1173AD5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Cross Compiler(CO1)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>
                <a:solidFill>
                  <a:srgbClr val="FF0000"/>
                </a:solidFill>
              </a:rPr>
              <a:t>Compiler for First Language </a:t>
            </a:r>
            <a:r>
              <a:rPr lang="en-US" sz="2200" b="1" dirty="0"/>
              <a:t>is made up in machine Code (Machine Language).</a:t>
            </a:r>
          </a:p>
          <a:p>
            <a:pPr algn="just"/>
            <a:endParaRPr lang="en-US" sz="2200" b="1" dirty="0"/>
          </a:p>
        </p:txBody>
      </p:sp>
      <p:sp>
        <p:nvSpPr>
          <p:cNvPr id="2" name="Rectangle 1"/>
          <p:cNvSpPr/>
          <p:nvPr/>
        </p:nvSpPr>
        <p:spPr>
          <a:xfrm>
            <a:off x="3733800" y="2362200"/>
            <a:ext cx="17526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 (Machine Code)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62200" y="2743200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486400" y="2715491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09700" y="226765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Language    ( C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154" y="2320745"/>
            <a:ext cx="200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 Target Language  ) for Machine M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Ex :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0874" y="3091934"/>
            <a:ext cx="1098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819400" y="3805484"/>
            <a:ext cx="2933700" cy="1985716"/>
            <a:chOff x="2819400" y="3805484"/>
            <a:chExt cx="2933700" cy="1985716"/>
          </a:xfrm>
        </p:grpSpPr>
        <p:sp>
          <p:nvSpPr>
            <p:cNvPr id="17" name="Rectangle 16"/>
            <p:cNvSpPr/>
            <p:nvPr/>
          </p:nvSpPr>
          <p:spPr>
            <a:xfrm>
              <a:off x="2819400" y="3810000"/>
              <a:ext cx="1524000" cy="6096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29100" y="3805484"/>
              <a:ext cx="1524000" cy="6096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24300" y="4406860"/>
              <a:ext cx="876299" cy="138434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</a:t>
              </a:r>
            </a:p>
          </p:txBody>
        </p:sp>
      </p:grpSp>
      <p:pic>
        <p:nvPicPr>
          <p:cNvPr id="19" name="Picture 1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3ACC-D151-4E2A-8811-323739E6DFF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Cross Compiler(CO1)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Now, for </a:t>
            </a:r>
            <a:r>
              <a:rPr lang="en-US" sz="2200" b="1" dirty="0">
                <a:solidFill>
                  <a:srgbClr val="FF0000"/>
                </a:solidFill>
              </a:rPr>
              <a:t>Source Language C++, </a:t>
            </a:r>
            <a:r>
              <a:rPr lang="en-US" sz="2200" b="1" dirty="0"/>
              <a:t>we already have </a:t>
            </a:r>
            <a:r>
              <a:rPr lang="en-US" sz="2200" b="1" dirty="0">
                <a:solidFill>
                  <a:srgbClr val="FF0000"/>
                </a:solidFill>
              </a:rPr>
              <a:t>a C Language </a:t>
            </a:r>
            <a:r>
              <a:rPr lang="en-US" sz="2200" b="1" dirty="0"/>
              <a:t>as a Machine Code for developing compiler. </a:t>
            </a:r>
          </a:p>
        </p:txBody>
      </p:sp>
      <p:sp>
        <p:nvSpPr>
          <p:cNvPr id="2" name="Rectangle 1"/>
          <p:cNvSpPr/>
          <p:nvPr/>
        </p:nvSpPr>
        <p:spPr>
          <a:xfrm>
            <a:off x="3733800" y="2362200"/>
            <a:ext cx="17526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 (Machine Code)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62200" y="2743200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486400" y="2715491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09700" y="226765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Language    ( C++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154" y="2320745"/>
            <a:ext cx="200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 Target Language ) for Machine N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Ex: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0874" y="3091934"/>
            <a:ext cx="1098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819400" y="3805484"/>
            <a:ext cx="2933700" cy="1985716"/>
            <a:chOff x="2819400" y="3805484"/>
            <a:chExt cx="2933700" cy="1985716"/>
          </a:xfrm>
        </p:grpSpPr>
        <p:sp>
          <p:nvSpPr>
            <p:cNvPr id="17" name="Rectangle 16"/>
            <p:cNvSpPr/>
            <p:nvPr/>
          </p:nvSpPr>
          <p:spPr>
            <a:xfrm>
              <a:off x="2819400" y="3810000"/>
              <a:ext cx="1524000" cy="6096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C++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29100" y="3805484"/>
              <a:ext cx="1524000" cy="6096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N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24300" y="4406860"/>
              <a:ext cx="876299" cy="138434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</a:t>
              </a:r>
            </a:p>
          </p:txBody>
        </p:sp>
      </p:grpSp>
      <p:pic>
        <p:nvPicPr>
          <p:cNvPr id="19" name="Picture 1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3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1A13A-D59D-4F94-B54D-A76CBA9784D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Cross Compiler(CO1)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Now to run C++ on Machine M and convert into Target Code N :</a:t>
            </a:r>
          </a:p>
          <a:p>
            <a:pPr algn="just"/>
            <a:r>
              <a:rPr lang="en-US" sz="2200" b="1" dirty="0">
                <a:solidFill>
                  <a:srgbClr val="FF0000"/>
                </a:solidFill>
              </a:rPr>
              <a:t>Compiling the Compiler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733800" y="2362200"/>
            <a:ext cx="1752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 (Machine Code)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62200" y="2743200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486400" y="2715491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09700" y="226765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Language    ( C++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154" y="2320745"/>
            <a:ext cx="200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 Target Language ) for Machine N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Ex: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0874" y="3091934"/>
            <a:ext cx="1098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123950" y="3691453"/>
            <a:ext cx="2933700" cy="1390473"/>
            <a:chOff x="2819400" y="3805484"/>
            <a:chExt cx="2933700" cy="1390473"/>
          </a:xfrm>
        </p:grpSpPr>
        <p:sp>
          <p:nvSpPr>
            <p:cNvPr id="17" name="Rectangle 16"/>
            <p:cNvSpPr/>
            <p:nvPr/>
          </p:nvSpPr>
          <p:spPr>
            <a:xfrm>
              <a:off x="2819400" y="3810000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C++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29100" y="3805484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N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24300" y="4406860"/>
              <a:ext cx="876299" cy="7890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12076" y="4285582"/>
            <a:ext cx="2933700" cy="1529004"/>
            <a:chOff x="2819400" y="3805484"/>
            <a:chExt cx="2933700" cy="1437024"/>
          </a:xfrm>
          <a:solidFill>
            <a:schemeClr val="accent2"/>
          </a:solidFill>
        </p:grpSpPr>
        <p:sp>
          <p:nvSpPr>
            <p:cNvPr id="20" name="Rectangle 19"/>
            <p:cNvSpPr/>
            <p:nvPr/>
          </p:nvSpPr>
          <p:spPr>
            <a:xfrm>
              <a:off x="2819400" y="3810000"/>
              <a:ext cx="1524000" cy="69644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29100" y="3805484"/>
              <a:ext cx="1524000" cy="70096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912177" y="4506446"/>
              <a:ext cx="876299" cy="73606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918363" y="3679317"/>
            <a:ext cx="2933700" cy="1390473"/>
            <a:chOff x="2819400" y="3805484"/>
            <a:chExt cx="2933700" cy="1390473"/>
          </a:xfrm>
        </p:grpSpPr>
        <p:sp>
          <p:nvSpPr>
            <p:cNvPr id="28" name="Rectangle 27"/>
            <p:cNvSpPr/>
            <p:nvPr/>
          </p:nvSpPr>
          <p:spPr>
            <a:xfrm>
              <a:off x="2819400" y="3810000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C++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229100" y="3805484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924300" y="4406860"/>
              <a:ext cx="876299" cy="7890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M</a:t>
              </a:r>
            </a:p>
          </p:txBody>
        </p:sp>
      </p:grpSp>
      <p:pic>
        <p:nvPicPr>
          <p:cNvPr id="31" name="Picture 3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7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58CD-5AC8-4502-B1CA-AE298EFB1F8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Cross Compiler(CO1)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Not Possible Cross Compilation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123950" y="3691453"/>
            <a:ext cx="2933700" cy="1390473"/>
            <a:chOff x="2819400" y="3805484"/>
            <a:chExt cx="2933700" cy="1390473"/>
          </a:xfrm>
        </p:grpSpPr>
        <p:sp>
          <p:nvSpPr>
            <p:cNvPr id="17" name="Rectangle 16"/>
            <p:cNvSpPr/>
            <p:nvPr/>
          </p:nvSpPr>
          <p:spPr>
            <a:xfrm>
              <a:off x="2819400" y="3810000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C++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29100" y="3805484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N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24300" y="4406860"/>
              <a:ext cx="876299" cy="7890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X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12076" y="4285582"/>
            <a:ext cx="2933700" cy="1529004"/>
            <a:chOff x="2819400" y="3805484"/>
            <a:chExt cx="2933700" cy="1437024"/>
          </a:xfrm>
          <a:solidFill>
            <a:schemeClr val="accent2"/>
          </a:solidFill>
        </p:grpSpPr>
        <p:sp>
          <p:nvSpPr>
            <p:cNvPr id="20" name="Rectangle 19"/>
            <p:cNvSpPr/>
            <p:nvPr/>
          </p:nvSpPr>
          <p:spPr>
            <a:xfrm>
              <a:off x="2819400" y="3810000"/>
              <a:ext cx="1524000" cy="69644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29100" y="3805484"/>
              <a:ext cx="1524000" cy="70096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912177" y="4506446"/>
              <a:ext cx="876299" cy="73606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918363" y="3679317"/>
            <a:ext cx="2933700" cy="1390473"/>
            <a:chOff x="2819400" y="3805484"/>
            <a:chExt cx="2933700" cy="1390473"/>
          </a:xfrm>
        </p:grpSpPr>
        <p:sp>
          <p:nvSpPr>
            <p:cNvPr id="28" name="Rectangle 27"/>
            <p:cNvSpPr/>
            <p:nvPr/>
          </p:nvSpPr>
          <p:spPr>
            <a:xfrm>
              <a:off x="2819400" y="3810000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C++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229100" y="3805484"/>
              <a:ext cx="15240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924300" y="4406860"/>
              <a:ext cx="876299" cy="7890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M</a:t>
              </a:r>
            </a:p>
          </p:txBody>
        </p:sp>
      </p:grpSp>
      <p:pic>
        <p:nvPicPr>
          <p:cNvPr id="22" name="Picture 2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CC70-BB55-44F9-9CEB-3FAD73B2B9D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Cross Compiler(CO1)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762000" y="990600"/>
            <a:ext cx="7924800" cy="51355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To Create Compiler for Language L for Machine A.</a:t>
            </a:r>
          </a:p>
          <a:p>
            <a:pPr marL="0" indent="0" algn="just">
              <a:buNone/>
            </a:pPr>
            <a:endParaRPr lang="en-US" sz="2200" b="1" dirty="0"/>
          </a:p>
          <a:p>
            <a:pPr marL="0" indent="0" algn="just">
              <a:buNone/>
            </a:pPr>
            <a:r>
              <a:rPr lang="en-US" sz="2200" b="1" dirty="0"/>
              <a:t>1. Create     </a:t>
            </a:r>
            <a:r>
              <a:rPr lang="en-US" sz="3600" b="1" dirty="0"/>
              <a:t>C </a:t>
            </a:r>
            <a:r>
              <a:rPr lang="en-US" sz="2200" b="1" dirty="0"/>
              <a:t>        a compiler for subset of  L.</a:t>
            </a:r>
          </a:p>
          <a:p>
            <a:pPr marL="0" indent="0" algn="just">
              <a:buNone/>
            </a:pPr>
            <a:endParaRPr lang="en-US" sz="2200" b="1" dirty="0"/>
          </a:p>
          <a:p>
            <a:pPr marL="0" indent="0" algn="just">
              <a:buNone/>
            </a:pPr>
            <a:endParaRPr lang="en-US" sz="2200" b="1" dirty="0"/>
          </a:p>
          <a:p>
            <a:pPr marL="0" indent="0" algn="just">
              <a:buNone/>
            </a:pPr>
            <a:endParaRPr lang="en-US" sz="2200" b="1" dirty="0"/>
          </a:p>
          <a:p>
            <a:pPr marL="0" indent="0" algn="just">
              <a:buNone/>
            </a:pPr>
            <a:r>
              <a:rPr lang="en-US" sz="2200" b="1" dirty="0"/>
              <a:t>2. Create      </a:t>
            </a:r>
            <a:r>
              <a:rPr lang="en-US" sz="4000" b="1" dirty="0"/>
              <a:t>C  </a:t>
            </a:r>
            <a:r>
              <a:rPr lang="en-US" sz="2200" b="1" dirty="0"/>
              <a:t>     a compiler for L.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62200" y="2209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400" y="179494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691" y="17494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928754" y="3547262"/>
            <a:ext cx="1524000" cy="979426"/>
            <a:chOff x="2362200" y="2743200"/>
            <a:chExt cx="1524000" cy="979426"/>
          </a:xfrm>
        </p:grpSpPr>
        <p:sp>
          <p:nvSpPr>
            <p:cNvPr id="8" name="Rectangle 7"/>
            <p:cNvSpPr/>
            <p:nvPr/>
          </p:nvSpPr>
          <p:spPr>
            <a:xfrm>
              <a:off x="2362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24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88673" y="3117273"/>
              <a:ext cx="581892" cy="605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438400" y="4147066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9182" y="3703121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8127" y="3722626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895600" y="4517037"/>
            <a:ext cx="1524000" cy="979426"/>
            <a:chOff x="2362200" y="2743200"/>
            <a:chExt cx="1524000" cy="979426"/>
          </a:xfrm>
        </p:grpSpPr>
        <p:sp>
          <p:nvSpPr>
            <p:cNvPr id="27" name="Rectangle 26"/>
            <p:cNvSpPr/>
            <p:nvPr/>
          </p:nvSpPr>
          <p:spPr>
            <a:xfrm>
              <a:off x="2362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24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88673" y="3117273"/>
              <a:ext cx="581892" cy="605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232565" y="2754868"/>
            <a:ext cx="4759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3</a:t>
            </a:r>
            <a:r>
              <a:rPr lang="en-US" dirty="0"/>
              <a:t>. Compiler  </a:t>
            </a:r>
            <a:r>
              <a:rPr lang="en-US" sz="3200" b="1" dirty="0"/>
              <a:t>C   </a:t>
            </a:r>
            <a:r>
              <a:rPr lang="en-US" sz="2000" dirty="0"/>
              <a:t>using     </a:t>
            </a:r>
            <a:r>
              <a:rPr lang="en-US" sz="3200" b="1" dirty="0"/>
              <a:t>C   </a:t>
            </a:r>
            <a:r>
              <a:rPr lang="en-US" sz="2000" dirty="0"/>
              <a:t>to obtain    </a:t>
            </a:r>
            <a:r>
              <a:rPr lang="en-US" sz="3200" b="1" dirty="0"/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809" y="268485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1591" y="268516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1590" y="3117273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818" y="2670008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1963" y="269079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6934" y="312420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463" y="2670008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2608" y="274320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0654" y="312420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7169727" y="3559729"/>
            <a:ext cx="1524000" cy="979426"/>
            <a:chOff x="2362200" y="2743200"/>
            <a:chExt cx="1524000" cy="979426"/>
          </a:xfrm>
        </p:grpSpPr>
        <p:sp>
          <p:nvSpPr>
            <p:cNvPr id="40" name="Rectangle 39"/>
            <p:cNvSpPr/>
            <p:nvPr/>
          </p:nvSpPr>
          <p:spPr>
            <a:xfrm>
              <a:off x="2362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L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24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888673" y="3117273"/>
              <a:ext cx="581892" cy="605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76949" y="4026685"/>
            <a:ext cx="1532659" cy="1096875"/>
            <a:chOff x="2362200" y="2743200"/>
            <a:chExt cx="1524000" cy="979426"/>
          </a:xfrm>
        </p:grpSpPr>
        <p:sp>
          <p:nvSpPr>
            <p:cNvPr id="44" name="Rectangle 43"/>
            <p:cNvSpPr/>
            <p:nvPr/>
          </p:nvSpPr>
          <p:spPr>
            <a:xfrm>
              <a:off x="2362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124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88673" y="3117273"/>
              <a:ext cx="581892" cy="605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667000" y="3048000"/>
            <a:ext cx="1524000" cy="979426"/>
            <a:chOff x="2362200" y="2743200"/>
            <a:chExt cx="1524000" cy="979426"/>
          </a:xfrm>
        </p:grpSpPr>
        <p:sp>
          <p:nvSpPr>
            <p:cNvPr id="48" name="Rectangle 47"/>
            <p:cNvSpPr/>
            <p:nvPr/>
          </p:nvSpPr>
          <p:spPr>
            <a:xfrm>
              <a:off x="2362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24200" y="2743200"/>
              <a:ext cx="762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888673" y="3117273"/>
              <a:ext cx="581892" cy="605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</p:grpSp>
      <p:pic>
        <p:nvPicPr>
          <p:cNvPr id="51" name="Picture 5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6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Bootstrapping</a:t>
            </a:r>
            <a:r>
              <a:rPr lang="en-US" sz="2200" dirty="0"/>
              <a:t> is a process in which simple language is used to translate more complicated program</a:t>
            </a:r>
          </a:p>
          <a:p>
            <a:pPr algn="just"/>
            <a:r>
              <a:rPr lang="en-US" sz="2200" dirty="0"/>
              <a:t>A Compiler which runs on one machine and generates target code for Another machine is called </a:t>
            </a:r>
            <a:r>
              <a:rPr lang="en-US" sz="2200" b="1" dirty="0"/>
              <a:t>Cross Compiler</a:t>
            </a: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31464F-263A-4146-8A3F-71CBEAEA4AEB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57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tokens how the automata is useful in finding tokens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2A2BF-4FA3-4AF3-AD1A-D6D28FCDA1A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58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11763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A </a:t>
            </a:r>
            <a:r>
              <a:rPr lang="en-US" sz="2200" b="1" dirty="0"/>
              <a:t>finite automaton</a:t>
            </a:r>
            <a:r>
              <a:rPr lang="en-US" sz="2200" dirty="0"/>
              <a:t>  is a machine used to recognize patterns within input taken from some character set (or alphabet) .</a:t>
            </a:r>
          </a:p>
          <a:p>
            <a:pPr algn="just"/>
            <a:r>
              <a:rPr lang="en-US" sz="2200" dirty="0"/>
              <a:t>The job of an FA is to accept or reject an input depending on whether the pattern defined by the FA occurs in the input.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Finite Automata (M) is defined by 5-tuples.</a:t>
            </a:r>
          </a:p>
          <a:p>
            <a:pPr lvl="1"/>
            <a:r>
              <a:rPr lang="en-US" sz="2200" dirty="0"/>
              <a:t>M = (Q, ∑, q0 , </a:t>
            </a:r>
            <a:r>
              <a:rPr lang="el-GR" sz="2200" dirty="0"/>
              <a:t>δ</a:t>
            </a:r>
            <a:r>
              <a:rPr lang="en-US" sz="2200" dirty="0"/>
              <a:t> ,F)</a:t>
            </a:r>
          </a:p>
          <a:p>
            <a:pPr lvl="2"/>
            <a:r>
              <a:rPr lang="en-US" sz="2200" dirty="0"/>
              <a:t>Q: Finite set of non empty states.</a:t>
            </a:r>
          </a:p>
          <a:p>
            <a:pPr lvl="2"/>
            <a:r>
              <a:rPr lang="en-US" sz="2200" dirty="0"/>
              <a:t> ∑: Finite set of input characters or alphabets.</a:t>
            </a:r>
          </a:p>
          <a:p>
            <a:pPr lvl="2"/>
            <a:r>
              <a:rPr lang="en-US" sz="2200" dirty="0"/>
              <a:t>q0: Initial state.</a:t>
            </a:r>
          </a:p>
          <a:p>
            <a:pPr lvl="2"/>
            <a:r>
              <a:rPr lang="el-GR" sz="2200" dirty="0"/>
              <a:t>δ</a:t>
            </a:r>
            <a:r>
              <a:rPr lang="en-US" sz="2200" dirty="0"/>
              <a:t>: State transition function.</a:t>
            </a:r>
          </a:p>
          <a:p>
            <a:pPr lvl="2"/>
            <a:r>
              <a:rPr lang="en-US" sz="2200" dirty="0"/>
              <a:t>F: Non empty set of final states.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8B332-ABEE-400B-B8BB-7018FF88FFB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Finite Automata(CO1)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5CD8-36EB-4616-9541-9DF7AF13D6E6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Types of Finite Automata</a:t>
            </a:r>
            <a:endParaRPr lang="en-US" sz="32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sz="2200" dirty="0"/>
              <a:t>There are two types of finite automata.</a:t>
            </a:r>
          </a:p>
          <a:p>
            <a:pPr lvl="1"/>
            <a:r>
              <a:rPr lang="en-US" sz="2200" b="1" dirty="0">
                <a:solidFill>
                  <a:srgbClr val="FF0000"/>
                </a:solidFill>
              </a:rPr>
              <a:t>Deterministic Finite Automata (DFA)</a:t>
            </a:r>
          </a:p>
          <a:p>
            <a:pPr lvl="2"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One transition per input per state</a:t>
            </a:r>
            <a:r>
              <a:rPr lang="en-US" sz="2200" dirty="0"/>
              <a:t> </a:t>
            </a:r>
          </a:p>
          <a:p>
            <a:pPr lvl="2">
              <a:buFont typeface="Arial" charset="0"/>
              <a:buChar char="•"/>
            </a:pPr>
            <a:r>
              <a:rPr lang="en-US" sz="2200" dirty="0"/>
              <a:t>No </a:t>
            </a:r>
            <a:r>
              <a:rPr lang="en-US" sz="2200" dirty="0">
                <a:sym typeface="Symbol" pitchFamily="18" charset="2"/>
              </a:rPr>
              <a:t>-moves (null moves)</a:t>
            </a:r>
          </a:p>
          <a:p>
            <a:pPr lvl="1"/>
            <a:r>
              <a:rPr lang="en-US" sz="2200" b="1" dirty="0">
                <a:solidFill>
                  <a:srgbClr val="FF0000"/>
                </a:solidFill>
              </a:rPr>
              <a:t>Nondeterministic Finite Automata (NFA)</a:t>
            </a:r>
          </a:p>
          <a:p>
            <a:pPr lvl="2"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Can have multiple transitions for one input in a given state</a:t>
            </a:r>
          </a:p>
          <a:p>
            <a:pPr lvl="2"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Can have -moves</a:t>
            </a:r>
          </a:p>
          <a:p>
            <a:pPr lvl="1"/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571F-79A2-4B17-8B05-8257D6CEE5DC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1"/>
            <a:r>
              <a:rPr lang="en-US" sz="3200" b="1" dirty="0"/>
              <a:t>Deterministic Finite Automata (DFA)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sz="2200" dirty="0"/>
              <a:t>State transition function of DFA is:</a:t>
            </a:r>
          </a:p>
          <a:p>
            <a:pPr lvl="1">
              <a:buNone/>
            </a:pPr>
            <a:r>
              <a:rPr lang="en-US" sz="2200" b="1" dirty="0">
                <a:solidFill>
                  <a:srgbClr val="FF0000"/>
                </a:solidFill>
              </a:rPr>
              <a:t>   δ: Q X ∑ </a:t>
            </a:r>
            <a:r>
              <a:rPr lang="en-US" sz="2200" b="1" dirty="0">
                <a:solidFill>
                  <a:srgbClr val="FF0000"/>
                </a:solidFill>
                <a:sym typeface="Wingdings" pitchFamily="2" charset="2"/>
              </a:rPr>
              <a:t> Q</a:t>
            </a:r>
            <a:endParaRPr lang="en-US" sz="2200" b="1" dirty="0">
              <a:solidFill>
                <a:srgbClr val="FF0000"/>
              </a:solidFill>
            </a:endParaRPr>
          </a:p>
          <a:p>
            <a:pPr lvl="1"/>
            <a:r>
              <a:rPr lang="en-US" sz="2200" dirty="0"/>
              <a:t>Example: Let Q = {q0, q1}, ∑= {a, b} then </a:t>
            </a:r>
          </a:p>
          <a:p>
            <a:pPr lvl="1"/>
            <a:r>
              <a:rPr lang="en-US" sz="2200" dirty="0"/>
              <a:t>Q X ∑ = { (q0,a), (q0, b), (q1, a), (q1, b) }</a:t>
            </a:r>
          </a:p>
        </p:txBody>
      </p:sp>
      <p:sp>
        <p:nvSpPr>
          <p:cNvPr id="9" name="Oval 8"/>
          <p:cNvSpPr/>
          <p:nvPr/>
        </p:nvSpPr>
        <p:spPr>
          <a:xfrm>
            <a:off x="1905000" y="3657600"/>
            <a:ext cx="1447800" cy="2667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(q0,a)  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(q0, b)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(q1, a)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(q1, b) </a:t>
            </a:r>
          </a:p>
        </p:txBody>
      </p:sp>
      <p:sp>
        <p:nvSpPr>
          <p:cNvPr id="11" name="Oval 10"/>
          <p:cNvSpPr/>
          <p:nvPr/>
        </p:nvSpPr>
        <p:spPr>
          <a:xfrm>
            <a:off x="4648200" y="3733800"/>
            <a:ext cx="1447800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q0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q1</a:t>
            </a:r>
          </a:p>
        </p:txBody>
      </p:sp>
      <p:cxnSp>
        <p:nvCxnSpPr>
          <p:cNvPr id="16" name="Curved Connector 15"/>
          <p:cNvCxnSpPr>
            <a:stCxn id="9" idx="0"/>
            <a:endCxn id="11" idx="0"/>
          </p:cNvCxnSpPr>
          <p:nvPr/>
        </p:nvCxnSpPr>
        <p:spPr>
          <a:xfrm rot="16200000" flipH="1">
            <a:off x="3962400" y="2324100"/>
            <a:ext cx="76200" cy="2743200"/>
          </a:xfrm>
          <a:prstGeom prst="curvedConnector3">
            <a:avLst>
              <a:gd name="adj1" fmla="val -30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71800" y="30480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δ: Q X ∑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 Q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971800" y="4114800"/>
            <a:ext cx="2209800" cy="914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048000" y="4495800"/>
            <a:ext cx="20574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3048000" y="5181600"/>
            <a:ext cx="2133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5"/>
          </p:cNvCxnSpPr>
          <p:nvPr/>
        </p:nvCxnSpPr>
        <p:spPr>
          <a:xfrm rot="5400000" flipH="1" flipV="1">
            <a:off x="3480173" y="4232601"/>
            <a:ext cx="1362027" cy="204082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905000" y="3276600"/>
            <a:ext cx="838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 X ∑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05400" y="3276600"/>
            <a:ext cx="838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1600" y="4191000"/>
            <a:ext cx="45720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2200" dirty="0">
                <a:solidFill>
                  <a:schemeClr val="tx1"/>
                </a:solidFill>
                <a:sym typeface="Symbol" pitchFamily="18" charset="2"/>
              </a:rPr>
              <a:t>One transition per input 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sym typeface="Symbol" pitchFamily="18" charset="2"/>
              </a:rPr>
              <a:t>per state and n</a:t>
            </a:r>
            <a:r>
              <a:rPr lang="en-US" sz="2200" dirty="0">
                <a:solidFill>
                  <a:schemeClr val="tx1"/>
                </a:solidFill>
              </a:rPr>
              <a:t>o </a:t>
            </a:r>
            <a:r>
              <a:rPr lang="en-US" sz="2200" dirty="0">
                <a:solidFill>
                  <a:schemeClr val="tx1"/>
                </a:solidFill>
                <a:sym typeface="Symbol" pitchFamily="18" charset="2"/>
              </a:rPr>
              <a:t>-moves</a:t>
            </a:r>
          </a:p>
        </p:txBody>
      </p:sp>
      <p:pic>
        <p:nvPicPr>
          <p:cNvPr id="21" name="Picture 2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9" grpId="0" build="allAtOnce" animBg="1"/>
      <p:bldP spid="11" grpId="0" build="allAtOnce" animBg="1"/>
      <p:bldP spid="19" grpId="0"/>
      <p:bldP spid="30" grpId="0" build="allAtOnce"/>
      <p:bldP spid="31" grpId="0" build="allAtOnce"/>
      <p:bldP spid="3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204E5-9663-40A1-976B-616A1932257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Examples of DFA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Construct a DFA that accepts all strings over ∑={0,1} ending with 1.</a:t>
            </a:r>
          </a:p>
        </p:txBody>
      </p:sp>
      <p:grpSp>
        <p:nvGrpSpPr>
          <p:cNvPr id="2" name="Group 19"/>
          <p:cNvGrpSpPr/>
          <p:nvPr/>
        </p:nvGrpSpPr>
        <p:grpSpPr>
          <a:xfrm>
            <a:off x="1447800" y="2743200"/>
            <a:ext cx="4724400" cy="1969532"/>
            <a:chOff x="1447800" y="2743200"/>
            <a:chExt cx="4724400" cy="1969532"/>
          </a:xfrm>
        </p:grpSpPr>
        <p:sp>
          <p:nvSpPr>
            <p:cNvPr id="12" name="Oval 11"/>
            <p:cNvSpPr/>
            <p:nvPr/>
          </p:nvSpPr>
          <p:spPr>
            <a:xfrm>
              <a:off x="1905000" y="3733800"/>
              <a:ext cx="762000" cy="762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q0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257800" y="3733800"/>
              <a:ext cx="762000" cy="762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q1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1447800" y="4267200"/>
              <a:ext cx="45720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2" name="Curved Connector 21"/>
            <p:cNvCxnSpPr>
              <a:stCxn id="12" idx="1"/>
              <a:endCxn id="12" idx="0"/>
            </p:cNvCxnSpPr>
            <p:nvPr/>
          </p:nvCxnSpPr>
          <p:spPr>
            <a:xfrm rot="5400000" flipH="1" flipV="1">
              <a:off x="2095500" y="3654892"/>
              <a:ext cx="111592" cy="269408"/>
            </a:xfrm>
            <a:prstGeom prst="curvedConnector3">
              <a:avLst>
                <a:gd name="adj1" fmla="val 529532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5" name="Curved Connector 24"/>
            <p:cNvCxnSpPr>
              <a:stCxn id="12" idx="7"/>
              <a:endCxn id="13" idx="1"/>
            </p:cNvCxnSpPr>
            <p:nvPr/>
          </p:nvCxnSpPr>
          <p:spPr>
            <a:xfrm rot="5400000" flipH="1" flipV="1">
              <a:off x="3962400" y="2438400"/>
              <a:ext cx="1588" cy="2813984"/>
            </a:xfrm>
            <a:prstGeom prst="curvedConnector3">
              <a:avLst>
                <a:gd name="adj1" fmla="val 44641198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7" name="Curved Connector 26"/>
            <p:cNvCxnSpPr>
              <a:stCxn id="13" idx="3"/>
              <a:endCxn id="12" idx="5"/>
            </p:cNvCxnSpPr>
            <p:nvPr/>
          </p:nvCxnSpPr>
          <p:spPr>
            <a:xfrm rot="5400000">
              <a:off x="3962400" y="2977216"/>
              <a:ext cx="1588" cy="2813984"/>
            </a:xfrm>
            <a:prstGeom prst="curvedConnector3">
              <a:avLst>
                <a:gd name="adj1" fmla="val 41854925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9" name="Curved Connector 28"/>
            <p:cNvCxnSpPr>
              <a:stCxn id="13" idx="0"/>
              <a:endCxn id="13" idx="7"/>
            </p:cNvCxnSpPr>
            <p:nvPr/>
          </p:nvCxnSpPr>
          <p:spPr>
            <a:xfrm rot="16200000" flipH="1">
              <a:off x="5717708" y="3654892"/>
              <a:ext cx="111592" cy="269408"/>
            </a:xfrm>
            <a:prstGeom prst="curvedConnector3">
              <a:avLst>
                <a:gd name="adj1" fmla="val -482397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5334000" y="3810000"/>
              <a:ext cx="609600" cy="6096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81200" y="2895600"/>
              <a:ext cx="53340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10000" y="2743200"/>
              <a:ext cx="53340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38800" y="2895600"/>
              <a:ext cx="53340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10000" y="4343400"/>
              <a:ext cx="53340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pic>
        <p:nvPicPr>
          <p:cNvPr id="21" name="Picture 2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069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228D-6C68-4DF1-A0A5-7A74F44F58A8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Examples of DFA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Construct a DFA for L={w=(0,1)*| |w|=3n , n=0,1,2,...}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685800" y="2667000"/>
            <a:ext cx="7086600" cy="2579132"/>
            <a:chOff x="685800" y="2667000"/>
            <a:chExt cx="7086600" cy="2579132"/>
          </a:xfrm>
        </p:grpSpPr>
        <p:sp>
          <p:nvSpPr>
            <p:cNvPr id="12" name="Oval 11"/>
            <p:cNvSpPr/>
            <p:nvPr/>
          </p:nvSpPr>
          <p:spPr>
            <a:xfrm>
              <a:off x="990600" y="3733800"/>
              <a:ext cx="762000" cy="762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q0</a:t>
              </a:r>
            </a:p>
          </p:txBody>
        </p:sp>
        <p:cxnSp>
          <p:nvCxnSpPr>
            <p:cNvPr id="15" name="Straight Arrow Connector 14"/>
            <p:cNvCxnSpPr>
              <a:endCxn id="12" idx="2"/>
            </p:cNvCxnSpPr>
            <p:nvPr/>
          </p:nvCxnSpPr>
          <p:spPr>
            <a:xfrm flipV="1">
              <a:off x="685800" y="4114800"/>
              <a:ext cx="3048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1066800" y="2667000"/>
              <a:ext cx="6705600" cy="2579132"/>
              <a:chOff x="1981200" y="2667000"/>
              <a:chExt cx="6705600" cy="2579132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029200" y="3733800"/>
                <a:ext cx="762000" cy="762000"/>
              </a:xfrm>
              <a:prstGeom prst="ellipse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q1</a:t>
                </a:r>
              </a:p>
            </p:txBody>
          </p:sp>
          <p:cxnSp>
            <p:nvCxnSpPr>
              <p:cNvPr id="25" name="Curved Connector 24"/>
              <p:cNvCxnSpPr>
                <a:stCxn id="12" idx="7"/>
                <a:endCxn id="13" idx="1"/>
              </p:cNvCxnSpPr>
              <p:nvPr/>
            </p:nvCxnSpPr>
            <p:spPr>
              <a:xfrm rot="5400000" flipH="1" flipV="1">
                <a:off x="3848100" y="2552700"/>
                <a:ext cx="1588" cy="2585384"/>
              </a:xfrm>
              <a:prstGeom prst="curvedConnector3">
                <a:avLst>
                  <a:gd name="adj1" fmla="val 46498692"/>
                </a:avLst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27" name="Curved Connector 26"/>
              <p:cNvCxnSpPr>
                <a:stCxn id="20" idx="3"/>
                <a:endCxn id="12" idx="5"/>
              </p:cNvCxnSpPr>
              <p:nvPr/>
            </p:nvCxnSpPr>
            <p:spPr>
              <a:xfrm rot="5400000">
                <a:off x="5295900" y="1643716"/>
                <a:ext cx="1588" cy="5480984"/>
              </a:xfrm>
              <a:prstGeom prst="curvedConnector3">
                <a:avLst>
                  <a:gd name="adj1" fmla="val 53928543"/>
                </a:avLst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29" name="Curved Connector 28"/>
              <p:cNvCxnSpPr>
                <a:stCxn id="13" idx="7"/>
                <a:endCxn id="20" idx="1"/>
              </p:cNvCxnSpPr>
              <p:nvPr/>
            </p:nvCxnSpPr>
            <p:spPr>
              <a:xfrm rot="5400000" flipH="1" flipV="1">
                <a:off x="6858000" y="2667000"/>
                <a:ext cx="1588" cy="2356784"/>
              </a:xfrm>
              <a:prstGeom prst="curvedConnector3">
                <a:avLst>
                  <a:gd name="adj1" fmla="val 50213681"/>
                </a:avLst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31" name="Oval 30"/>
              <p:cNvSpPr/>
              <p:nvPr/>
            </p:nvSpPr>
            <p:spPr>
              <a:xfrm>
                <a:off x="1981200" y="3810000"/>
                <a:ext cx="609600" cy="609600"/>
              </a:xfrm>
              <a:prstGeom prst="ellipse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810000" y="2743200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0, 1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781800" y="2667000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0, 1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953000" y="4876800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0, 1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7924800" y="3733800"/>
                <a:ext cx="762000" cy="762000"/>
              </a:xfrm>
              <a:prstGeom prst="ellipse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q2</a:t>
                </a:r>
              </a:p>
            </p:txBody>
          </p:sp>
        </p:grpSp>
      </p:grpSp>
      <p:pic>
        <p:nvPicPr>
          <p:cNvPr id="22" name="Picture 2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038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A0BD-AA3A-4AB3-9431-CBF835C617E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Examples of DFA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Construct a DFA for L= { all binary strings containing substring 001 }</a:t>
            </a:r>
          </a:p>
        </p:txBody>
      </p:sp>
      <p:cxnSp>
        <p:nvCxnSpPr>
          <p:cNvPr id="40" name="Curved Connector 39"/>
          <p:cNvCxnSpPr>
            <a:stCxn id="12" idx="0"/>
            <a:endCxn id="12" idx="7"/>
          </p:cNvCxnSpPr>
          <p:nvPr/>
        </p:nvCxnSpPr>
        <p:spPr>
          <a:xfrm rot="16200000" flipH="1">
            <a:off x="1450508" y="3654892"/>
            <a:ext cx="111592" cy="269408"/>
          </a:xfrm>
          <a:prstGeom prst="curvedConnector3">
            <a:avLst>
              <a:gd name="adj1" fmla="val -640993"/>
            </a:avLst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20" idx="0"/>
            <a:endCxn id="20" idx="7"/>
          </p:cNvCxnSpPr>
          <p:nvPr/>
        </p:nvCxnSpPr>
        <p:spPr>
          <a:xfrm rot="16200000" flipH="1">
            <a:off x="5489108" y="3654892"/>
            <a:ext cx="111592" cy="269408"/>
          </a:xfrm>
          <a:prstGeom prst="curvedConnector3">
            <a:avLst>
              <a:gd name="adj1" fmla="val -667426"/>
            </a:avLst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urved Connector 47"/>
          <p:cNvCxnSpPr>
            <a:stCxn id="21" idx="0"/>
            <a:endCxn id="21" idx="7"/>
          </p:cNvCxnSpPr>
          <p:nvPr/>
        </p:nvCxnSpPr>
        <p:spPr>
          <a:xfrm rot="16200000" flipH="1">
            <a:off x="7470308" y="3654892"/>
            <a:ext cx="111592" cy="269408"/>
          </a:xfrm>
          <a:prstGeom prst="curvedConnector3">
            <a:avLst>
              <a:gd name="adj1" fmla="val -733508"/>
            </a:avLst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685800" y="2514600"/>
            <a:ext cx="7467600" cy="2655332"/>
            <a:chOff x="685800" y="2514600"/>
            <a:chExt cx="7467600" cy="2655332"/>
          </a:xfrm>
        </p:grpSpPr>
        <p:grpSp>
          <p:nvGrpSpPr>
            <p:cNvPr id="2" name="Group 44"/>
            <p:cNvGrpSpPr/>
            <p:nvPr/>
          </p:nvGrpSpPr>
          <p:grpSpPr>
            <a:xfrm>
              <a:off x="685800" y="3657600"/>
              <a:ext cx="7010400" cy="1512332"/>
              <a:chOff x="685800" y="3657600"/>
              <a:chExt cx="7010400" cy="1512332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990600" y="3733800"/>
                <a:ext cx="762000" cy="762000"/>
              </a:xfrm>
              <a:prstGeom prst="ellipse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q0</a:t>
                </a:r>
              </a:p>
            </p:txBody>
          </p:sp>
          <p:cxnSp>
            <p:nvCxnSpPr>
              <p:cNvPr id="15" name="Straight Arrow Connector 14"/>
              <p:cNvCxnSpPr>
                <a:endCxn id="12" idx="2"/>
              </p:cNvCxnSpPr>
              <p:nvPr/>
            </p:nvCxnSpPr>
            <p:spPr>
              <a:xfrm flipV="1">
                <a:off x="685800" y="4114800"/>
                <a:ext cx="30480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grpSp>
            <p:nvGrpSpPr>
              <p:cNvPr id="3" name="Group 38"/>
              <p:cNvGrpSpPr/>
              <p:nvPr/>
            </p:nvGrpSpPr>
            <p:grpSpPr>
              <a:xfrm>
                <a:off x="1641802" y="3657600"/>
                <a:ext cx="6054398" cy="1512332"/>
                <a:chOff x="2556202" y="3657600"/>
                <a:chExt cx="6054398" cy="1512332"/>
              </a:xfrm>
            </p:grpSpPr>
            <p:sp>
              <p:nvSpPr>
                <p:cNvPr id="13" name="Oval 12"/>
                <p:cNvSpPr/>
                <p:nvPr/>
              </p:nvSpPr>
              <p:spPr>
                <a:xfrm>
                  <a:off x="3962400" y="3733800"/>
                  <a:ext cx="762000" cy="762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q1</a:t>
                  </a:r>
                </a:p>
              </p:txBody>
            </p:sp>
            <p:cxnSp>
              <p:nvCxnSpPr>
                <p:cNvPr id="25" name="Curved Connector 24"/>
                <p:cNvCxnSpPr>
                  <a:stCxn id="12" idx="6"/>
                  <a:endCxn id="13" idx="2"/>
                </p:cNvCxnSpPr>
                <p:nvPr/>
              </p:nvCxnSpPr>
              <p:spPr>
                <a:xfrm>
                  <a:off x="2667000" y="4114800"/>
                  <a:ext cx="1295400" cy="1588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arrow"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</p:cxnSp>
            <p:cxnSp>
              <p:nvCxnSpPr>
                <p:cNvPr id="27" name="Curved Connector 26"/>
                <p:cNvCxnSpPr>
                  <a:stCxn id="13" idx="3"/>
                  <a:endCxn id="12" idx="5"/>
                </p:cNvCxnSpPr>
                <p:nvPr/>
              </p:nvCxnSpPr>
              <p:spPr>
                <a:xfrm rot="5400000">
                  <a:off x="3314700" y="3624916"/>
                  <a:ext cx="1588" cy="1518584"/>
                </a:xfrm>
                <a:prstGeom prst="curvedConnector3">
                  <a:avLst>
                    <a:gd name="adj1" fmla="val 21422670"/>
                  </a:avLst>
                </a:prstGeom>
                <a:ln>
                  <a:tailEnd type="arrow"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</p:cxnSp>
            <p:cxnSp>
              <p:nvCxnSpPr>
                <p:cNvPr id="29" name="Curved Connector 28"/>
                <p:cNvCxnSpPr>
                  <a:stCxn id="13" idx="6"/>
                  <a:endCxn id="20" idx="2"/>
                </p:cNvCxnSpPr>
                <p:nvPr/>
              </p:nvCxnSpPr>
              <p:spPr>
                <a:xfrm>
                  <a:off x="4724400" y="4114800"/>
                  <a:ext cx="1219200" cy="1588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arrow"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</p:cxnSp>
            <p:sp>
              <p:nvSpPr>
                <p:cNvPr id="31" name="Oval 30"/>
                <p:cNvSpPr/>
                <p:nvPr/>
              </p:nvSpPr>
              <p:spPr>
                <a:xfrm>
                  <a:off x="8001000" y="3810000"/>
                  <a:ext cx="609600" cy="6096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3200400" y="3657600"/>
                  <a:ext cx="533400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0</a:t>
                  </a: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7162800" y="3745468"/>
                  <a:ext cx="533400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1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3124200" y="4800600"/>
                  <a:ext cx="533400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  1</a:t>
                  </a: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5943600" y="3733800"/>
                  <a:ext cx="762000" cy="762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q2</a:t>
                  </a:r>
                </a:p>
              </p:txBody>
            </p:sp>
          </p:grpSp>
        </p:grpSp>
        <p:grpSp>
          <p:nvGrpSpPr>
            <p:cNvPr id="57" name="Group 56"/>
            <p:cNvGrpSpPr/>
            <p:nvPr/>
          </p:nvGrpSpPr>
          <p:grpSpPr>
            <a:xfrm>
              <a:off x="1524000" y="2514600"/>
              <a:ext cx="6629400" cy="1981200"/>
              <a:chOff x="1524000" y="2514600"/>
              <a:chExt cx="6629400" cy="198120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7010400" y="3733800"/>
                <a:ext cx="762000" cy="762000"/>
              </a:xfrm>
              <a:prstGeom prst="ellipse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q3</a:t>
                </a:r>
              </a:p>
            </p:txBody>
          </p:sp>
          <p:cxnSp>
            <p:nvCxnSpPr>
              <p:cNvPr id="30" name="Curved Connector 29"/>
              <p:cNvCxnSpPr>
                <a:stCxn id="20" idx="6"/>
                <a:endCxn id="21" idx="2"/>
              </p:cNvCxnSpPr>
              <p:nvPr/>
            </p:nvCxnSpPr>
            <p:spPr>
              <a:xfrm>
                <a:off x="5791200" y="4114800"/>
                <a:ext cx="1219200" cy="1588"/>
              </a:xfrm>
              <a:prstGeom prst="curved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4191000" y="3733800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524000" y="2831068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562600" y="2743200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620000" y="2514600"/>
                <a:ext cx="53340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0, 1</a:t>
                </a:r>
              </a:p>
            </p:txBody>
          </p:sp>
        </p:grpSp>
      </p:grpSp>
      <p:pic>
        <p:nvPicPr>
          <p:cNvPr id="38" name="Picture 3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729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477F-2B9B-4B71-BD0D-A81200EC03F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Examples of DFA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Construct </a:t>
            </a:r>
            <a:r>
              <a:rPr lang="en-US" sz="2400" dirty="0"/>
              <a:t>a DFA for L= { </a:t>
            </a:r>
            <a:r>
              <a:rPr lang="en-US" sz="2400"/>
              <a:t>all binary strings </a:t>
            </a:r>
            <a:r>
              <a:rPr lang="en-US" sz="2400" u="sng"/>
              <a:t>not</a:t>
            </a:r>
            <a:r>
              <a:rPr lang="en-US" sz="2400"/>
              <a:t> containing substring </a:t>
            </a:r>
            <a:r>
              <a:rPr lang="en-US" sz="2400" dirty="0"/>
              <a:t>001 }</a:t>
            </a:r>
          </a:p>
        </p:txBody>
      </p:sp>
      <p:grpSp>
        <p:nvGrpSpPr>
          <p:cNvPr id="2" name="Group 44"/>
          <p:cNvGrpSpPr/>
          <p:nvPr/>
        </p:nvGrpSpPr>
        <p:grpSpPr>
          <a:xfrm>
            <a:off x="685800" y="3657600"/>
            <a:ext cx="6096000" cy="1512332"/>
            <a:chOff x="685800" y="3657600"/>
            <a:chExt cx="6096000" cy="1512332"/>
          </a:xfrm>
        </p:grpSpPr>
        <p:sp>
          <p:nvSpPr>
            <p:cNvPr id="12" name="Oval 11"/>
            <p:cNvSpPr/>
            <p:nvPr/>
          </p:nvSpPr>
          <p:spPr>
            <a:xfrm>
              <a:off x="990600" y="37338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q0</a:t>
              </a:r>
            </a:p>
          </p:txBody>
        </p:sp>
        <p:cxnSp>
          <p:nvCxnSpPr>
            <p:cNvPr id="15" name="Straight Arrow Connector 14"/>
            <p:cNvCxnSpPr>
              <a:endCxn id="12" idx="2"/>
            </p:cNvCxnSpPr>
            <p:nvPr/>
          </p:nvCxnSpPr>
          <p:spPr>
            <a:xfrm flipV="1">
              <a:off x="685800" y="4114800"/>
              <a:ext cx="304800" cy="228600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38"/>
            <p:cNvGrpSpPr/>
            <p:nvPr/>
          </p:nvGrpSpPr>
          <p:grpSpPr>
            <a:xfrm>
              <a:off x="1641802" y="3657600"/>
              <a:ext cx="5139998" cy="1512332"/>
              <a:chOff x="2556202" y="3657600"/>
              <a:chExt cx="5139998" cy="1512332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3962400" y="3733800"/>
                <a:ext cx="7620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q1</a:t>
                </a:r>
              </a:p>
            </p:txBody>
          </p:sp>
          <p:cxnSp>
            <p:nvCxnSpPr>
              <p:cNvPr id="25" name="Curved Connector 24"/>
              <p:cNvCxnSpPr>
                <a:stCxn id="12" idx="6"/>
                <a:endCxn id="13" idx="2"/>
              </p:cNvCxnSpPr>
              <p:nvPr/>
            </p:nvCxnSpPr>
            <p:spPr>
              <a:xfrm>
                <a:off x="2667000" y="4114800"/>
                <a:ext cx="1295400" cy="1588"/>
              </a:xfrm>
              <a:prstGeom prst="curvedConnector3">
                <a:avLst>
                  <a:gd name="adj1" fmla="val 50000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urved Connector 26"/>
              <p:cNvCxnSpPr>
                <a:stCxn id="13" idx="3"/>
                <a:endCxn id="12" idx="5"/>
              </p:cNvCxnSpPr>
              <p:nvPr/>
            </p:nvCxnSpPr>
            <p:spPr>
              <a:xfrm rot="5400000">
                <a:off x="3314700" y="3624916"/>
                <a:ext cx="1588" cy="1518584"/>
              </a:xfrm>
              <a:prstGeom prst="curvedConnector3">
                <a:avLst>
                  <a:gd name="adj1" fmla="val 21422670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urved Connector 28"/>
              <p:cNvCxnSpPr>
                <a:stCxn id="13" idx="6"/>
                <a:endCxn id="20" idx="2"/>
              </p:cNvCxnSpPr>
              <p:nvPr/>
            </p:nvCxnSpPr>
            <p:spPr>
              <a:xfrm>
                <a:off x="4724400" y="4114800"/>
                <a:ext cx="1219200" cy="1588"/>
              </a:xfrm>
              <a:prstGeom prst="curvedConnector3">
                <a:avLst>
                  <a:gd name="adj1" fmla="val 50000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/>
              <p:cNvSpPr/>
              <p:nvPr/>
            </p:nvSpPr>
            <p:spPr>
              <a:xfrm>
                <a:off x="6019800" y="3810000"/>
                <a:ext cx="609600" cy="6096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200400" y="3657600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162800" y="3745468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124200" y="4800600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  1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5943600" y="3733800"/>
                <a:ext cx="7620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q2</a:t>
                </a:r>
              </a:p>
            </p:txBody>
          </p:sp>
        </p:grpSp>
      </p:grpSp>
      <p:cxnSp>
        <p:nvCxnSpPr>
          <p:cNvPr id="40" name="Curved Connector 39"/>
          <p:cNvCxnSpPr>
            <a:stCxn id="12" idx="0"/>
            <a:endCxn id="12" idx="7"/>
          </p:cNvCxnSpPr>
          <p:nvPr/>
        </p:nvCxnSpPr>
        <p:spPr>
          <a:xfrm rot="16200000" flipH="1">
            <a:off x="1450508" y="3654892"/>
            <a:ext cx="111592" cy="269408"/>
          </a:xfrm>
          <a:prstGeom prst="curvedConnector3">
            <a:avLst>
              <a:gd name="adj1" fmla="val -640993"/>
            </a:avLst>
          </a:prstGeom>
          <a:ln w="31750">
            <a:solidFill>
              <a:srgbClr val="7BE5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20" idx="0"/>
            <a:endCxn id="20" idx="7"/>
          </p:cNvCxnSpPr>
          <p:nvPr/>
        </p:nvCxnSpPr>
        <p:spPr>
          <a:xfrm rot="16200000" flipH="1">
            <a:off x="5489108" y="3654892"/>
            <a:ext cx="111592" cy="269408"/>
          </a:xfrm>
          <a:prstGeom prst="curvedConnector3">
            <a:avLst>
              <a:gd name="adj1" fmla="val -667426"/>
            </a:avLst>
          </a:prstGeom>
          <a:ln w="31750">
            <a:solidFill>
              <a:srgbClr val="7BE5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>
            <a:stCxn id="21" idx="0"/>
            <a:endCxn id="21" idx="7"/>
          </p:cNvCxnSpPr>
          <p:nvPr/>
        </p:nvCxnSpPr>
        <p:spPr>
          <a:xfrm rot="16200000" flipH="1">
            <a:off x="7470308" y="3654892"/>
            <a:ext cx="111592" cy="269408"/>
          </a:xfrm>
          <a:prstGeom prst="curvedConnector3">
            <a:avLst>
              <a:gd name="adj1" fmla="val -733508"/>
            </a:avLst>
          </a:prstGeom>
          <a:ln w="31750">
            <a:solidFill>
              <a:srgbClr val="7BE5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56"/>
          <p:cNvGrpSpPr/>
          <p:nvPr/>
        </p:nvGrpSpPr>
        <p:grpSpPr>
          <a:xfrm>
            <a:off x="1524000" y="2514600"/>
            <a:ext cx="6629400" cy="1981200"/>
            <a:chOff x="1524000" y="2514600"/>
            <a:chExt cx="6629400" cy="1981200"/>
          </a:xfrm>
        </p:grpSpPr>
        <p:sp>
          <p:nvSpPr>
            <p:cNvPr id="21" name="Oval 20"/>
            <p:cNvSpPr/>
            <p:nvPr/>
          </p:nvSpPr>
          <p:spPr>
            <a:xfrm>
              <a:off x="7010400" y="37338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q3</a:t>
              </a:r>
            </a:p>
          </p:txBody>
        </p:sp>
        <p:cxnSp>
          <p:nvCxnSpPr>
            <p:cNvPr id="30" name="Curved Connector 29"/>
            <p:cNvCxnSpPr>
              <a:stCxn id="20" idx="6"/>
              <a:endCxn id="21" idx="2"/>
            </p:cNvCxnSpPr>
            <p:nvPr/>
          </p:nvCxnSpPr>
          <p:spPr>
            <a:xfrm>
              <a:off x="5791200" y="4114800"/>
              <a:ext cx="1219200" cy="1588"/>
            </a:xfrm>
            <a:prstGeom prst="curvedConnector3">
              <a:avLst>
                <a:gd name="adj1" fmla="val 50000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191000" y="37338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24000" y="2831068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562600" y="27432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620000" y="25146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0, 1</a:t>
              </a:r>
            </a:p>
          </p:txBody>
        </p:sp>
      </p:grpSp>
      <p:sp>
        <p:nvSpPr>
          <p:cNvPr id="32" name="Oval 31"/>
          <p:cNvSpPr/>
          <p:nvPr/>
        </p:nvSpPr>
        <p:spPr>
          <a:xfrm>
            <a:off x="3124200" y="3810000"/>
            <a:ext cx="609600" cy="609600"/>
          </a:xfrm>
          <a:prstGeom prst="ellipse">
            <a:avLst/>
          </a:prstGeom>
          <a:noFill/>
          <a:ln>
            <a:solidFill>
              <a:srgbClr val="7B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066800" y="3810000"/>
            <a:ext cx="609600" cy="609600"/>
          </a:xfrm>
          <a:prstGeom prst="ellipse">
            <a:avLst/>
          </a:prstGeom>
          <a:noFill/>
          <a:ln>
            <a:solidFill>
              <a:srgbClr val="7B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984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936B-8948-41EF-84B6-2B4AB4E8D90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1"/>
            <a:r>
              <a:rPr lang="en-US" sz="3200" b="1" dirty="0"/>
              <a:t>Nondeterministic Finite Automata (NFA)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sz="2200" dirty="0"/>
              <a:t>State transition function of NFA is:</a:t>
            </a:r>
          </a:p>
          <a:p>
            <a:pPr lvl="1">
              <a:buNone/>
            </a:pPr>
            <a:r>
              <a:rPr lang="en-US" sz="2200" b="1" dirty="0">
                <a:solidFill>
                  <a:srgbClr val="FF0000"/>
                </a:solidFill>
              </a:rPr>
              <a:t>   δ: Q X ∑ </a:t>
            </a:r>
            <a:r>
              <a:rPr lang="en-US" sz="2200" b="1" dirty="0">
                <a:solidFill>
                  <a:srgbClr val="FF0000"/>
                </a:solidFill>
                <a:sym typeface="Wingdings" pitchFamily="2" charset="2"/>
              </a:rPr>
              <a:t> 2</a:t>
            </a:r>
            <a:endParaRPr lang="en-US" sz="2200" b="1" dirty="0">
              <a:solidFill>
                <a:srgbClr val="FF0000"/>
              </a:solidFill>
            </a:endParaRPr>
          </a:p>
          <a:p>
            <a:pPr lvl="1"/>
            <a:r>
              <a:rPr lang="en-US" sz="2200" dirty="0"/>
              <a:t>Example: Let Q = {q0, q1}, ∑= {a, b} then </a:t>
            </a:r>
          </a:p>
          <a:p>
            <a:pPr lvl="1"/>
            <a:r>
              <a:rPr lang="en-US" sz="2200" dirty="0"/>
              <a:t>Q X ∑ = { (q0,a), (q0, b), (q1, a), (q1, b) }</a:t>
            </a:r>
          </a:p>
        </p:txBody>
      </p:sp>
      <p:sp>
        <p:nvSpPr>
          <p:cNvPr id="9" name="Oval 8"/>
          <p:cNvSpPr/>
          <p:nvPr/>
        </p:nvSpPr>
        <p:spPr>
          <a:xfrm>
            <a:off x="1905000" y="3657600"/>
            <a:ext cx="14478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(q0,a)  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(q0, b)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(q1, a)</a:t>
            </a:r>
          </a:p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(q1, b) </a:t>
            </a:r>
          </a:p>
        </p:txBody>
      </p:sp>
      <p:sp>
        <p:nvSpPr>
          <p:cNvPr id="11" name="Oval 10"/>
          <p:cNvSpPr/>
          <p:nvPr/>
        </p:nvSpPr>
        <p:spPr>
          <a:xfrm>
            <a:off x="4648200" y="3733800"/>
            <a:ext cx="1600200" cy="2514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 {q0} {q1}</a:t>
            </a:r>
          </a:p>
        </p:txBody>
      </p:sp>
      <p:cxnSp>
        <p:nvCxnSpPr>
          <p:cNvPr id="16" name="Curved Connector 15"/>
          <p:cNvCxnSpPr>
            <a:stCxn id="9" idx="0"/>
            <a:endCxn id="11" idx="0"/>
          </p:cNvCxnSpPr>
          <p:nvPr/>
        </p:nvCxnSpPr>
        <p:spPr>
          <a:xfrm rot="16200000" flipH="1">
            <a:off x="4000500" y="2286000"/>
            <a:ext cx="76200" cy="2819400"/>
          </a:xfrm>
          <a:prstGeom prst="curvedConnector3">
            <a:avLst>
              <a:gd name="adj1" fmla="val -30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71800" y="30480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δ: Q X ∑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 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971800" y="4114800"/>
            <a:ext cx="2286000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124200" y="4724400"/>
            <a:ext cx="19812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3048000" y="5029200"/>
            <a:ext cx="213360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5"/>
          </p:cNvCxnSpPr>
          <p:nvPr/>
        </p:nvCxnSpPr>
        <p:spPr>
          <a:xfrm flipV="1">
            <a:off x="3140775" y="5334000"/>
            <a:ext cx="2040825" cy="66506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905000" y="3276600"/>
            <a:ext cx="838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 X ∑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05400" y="3276600"/>
            <a:ext cx="838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4191000"/>
            <a:ext cx="45720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2200" dirty="0">
                <a:solidFill>
                  <a:schemeClr val="tx1"/>
                </a:solidFill>
                <a:sym typeface="Symbol" pitchFamily="18" charset="2"/>
              </a:rPr>
              <a:t>Multiple transitions for 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sym typeface="Symbol" pitchFamily="18" charset="2"/>
              </a:rPr>
              <a:t>one input in a given state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90800" y="137160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8956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5732" y="31358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124200" y="4724400"/>
            <a:ext cx="1981200" cy="609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9" grpId="0" build="allAtOnce" animBg="1"/>
      <p:bldP spid="11" grpId="0" build="allAtOnce" animBg="1"/>
      <p:bldP spid="19" grpId="0"/>
      <p:bldP spid="30" grpId="0" build="allAtOnce"/>
      <p:bldP spid="31" grpId="0" build="allAtOnce"/>
      <p:bldP spid="32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AAEE4-13C9-4929-8830-D707DEDA936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Representation of Finite Automata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200" dirty="0"/>
              <a:t>State Transition Diagram</a:t>
            </a:r>
          </a:p>
          <a:p>
            <a:endParaRPr lang="en-US" sz="2200" dirty="0"/>
          </a:p>
          <a:p>
            <a:pPr lvl="1"/>
            <a:r>
              <a:rPr lang="en-US" sz="2200" dirty="0"/>
              <a:t>States are represented by:</a:t>
            </a:r>
          </a:p>
          <a:p>
            <a:pPr lvl="1"/>
            <a:r>
              <a:rPr lang="en-US" sz="2200" dirty="0"/>
              <a:t>Inputs are represented by:</a:t>
            </a:r>
          </a:p>
          <a:p>
            <a:pPr lvl="1"/>
            <a:r>
              <a:rPr lang="en-US" sz="2200" dirty="0"/>
              <a:t>Initial state: </a:t>
            </a:r>
          </a:p>
          <a:p>
            <a:pPr lvl="1"/>
            <a:r>
              <a:rPr lang="en-US" sz="2200" dirty="0"/>
              <a:t>Final States:  </a:t>
            </a:r>
          </a:p>
          <a:p>
            <a:pPr lvl="1"/>
            <a:endParaRPr lang="en-US" sz="2200" dirty="0"/>
          </a:p>
          <a:p>
            <a:pPr lvl="1">
              <a:buNone/>
            </a:pPr>
            <a:r>
              <a:rPr lang="en-US" sz="2200" b="1" dirty="0">
                <a:solidFill>
                  <a:srgbClr val="FF0000"/>
                </a:solidFill>
              </a:rPr>
              <a:t>DFA of string ending with 0 over input set {0, 1}:</a:t>
            </a:r>
          </a:p>
          <a:p>
            <a:pPr lvl="1">
              <a:buNone/>
            </a:pPr>
            <a:endParaRPr lang="en-US" sz="2200" dirty="0"/>
          </a:p>
          <a:p>
            <a:pPr lvl="1">
              <a:buNone/>
            </a:pPr>
            <a:endParaRPr lang="en-US" sz="2200" dirty="0"/>
          </a:p>
        </p:txBody>
      </p:sp>
      <p:sp>
        <p:nvSpPr>
          <p:cNvPr id="9" name="Oval 8"/>
          <p:cNvSpPr/>
          <p:nvPr/>
        </p:nvSpPr>
        <p:spPr>
          <a:xfrm>
            <a:off x="4419600" y="1828800"/>
            <a:ext cx="457200" cy="4572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495800" y="2514600"/>
            <a:ext cx="8382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124200" y="2590800"/>
            <a:ext cx="457200" cy="4572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819400" y="2819400"/>
            <a:ext cx="3048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95600" y="3200400"/>
            <a:ext cx="381000" cy="3810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0" name="Oval 19"/>
          <p:cNvSpPr/>
          <p:nvPr/>
        </p:nvSpPr>
        <p:spPr>
          <a:xfrm>
            <a:off x="2819400" y="3124200"/>
            <a:ext cx="533400" cy="5334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3124200" y="4800600"/>
            <a:ext cx="609600" cy="533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q0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819400" y="5029200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419600" y="4800600"/>
            <a:ext cx="609600" cy="533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27" name="Oval 26"/>
          <p:cNvSpPr/>
          <p:nvPr/>
        </p:nvSpPr>
        <p:spPr>
          <a:xfrm>
            <a:off x="4343400" y="4724400"/>
            <a:ext cx="762000" cy="6858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733800" y="4953000"/>
            <a:ext cx="685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72000" y="42672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0000" y="51816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1" name="Straight Arrow Connector 40"/>
          <p:cNvCxnSpPr>
            <a:stCxn id="27" idx="2"/>
            <a:endCxn id="24" idx="6"/>
          </p:cNvCxnSpPr>
          <p:nvPr/>
        </p:nvCxnSpPr>
        <p:spPr>
          <a:xfrm rot="10800000">
            <a:off x="3733800" y="5067300"/>
            <a:ext cx="609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24" idx="7"/>
            <a:endCxn id="24" idx="1"/>
          </p:cNvCxnSpPr>
          <p:nvPr/>
        </p:nvCxnSpPr>
        <p:spPr>
          <a:xfrm rot="16200000" flipV="1">
            <a:off x="3429000" y="4663189"/>
            <a:ext cx="1588" cy="431052"/>
          </a:xfrm>
          <a:prstGeom prst="curvedConnector3">
            <a:avLst>
              <a:gd name="adj1" fmla="val 1931454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 rot="16200000" flipV="1">
            <a:off x="4710532" y="4585869"/>
            <a:ext cx="1588" cy="431052"/>
          </a:xfrm>
          <a:prstGeom prst="curvedConnector3">
            <a:avLst>
              <a:gd name="adj1" fmla="val 1931454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276600" y="43434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0000" y="47244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pic>
        <p:nvPicPr>
          <p:cNvPr id="30" name="Picture 2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9" grpId="0" uiExpand="1" build="allAtOnce" animBg="1"/>
      <p:bldP spid="13" grpId="0" animBg="1"/>
      <p:bldP spid="19" grpId="0" animBg="1"/>
      <p:bldP spid="20" grpId="0" animBg="1"/>
      <p:bldP spid="24" grpId="0" animBg="1"/>
      <p:bldP spid="26" grpId="0" build="allAtOnce" animBg="1"/>
      <p:bldP spid="27" grpId="0" animBg="1"/>
      <p:bldP spid="31" grpId="0"/>
      <p:bldP spid="33" grpId="0"/>
      <p:bldP spid="45" grpId="0"/>
      <p:bldP spid="4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60E-41CF-4777-8AA3-4EE2C13BD5C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Representation of Finite Automata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200" dirty="0"/>
              <a:t>State Transition Table: A 2-D Array is used</a:t>
            </a:r>
          </a:p>
          <a:p>
            <a:endParaRPr lang="en-US" sz="2200" dirty="0"/>
          </a:p>
          <a:p>
            <a:pPr lvl="1"/>
            <a:r>
              <a:rPr lang="en-US" sz="2200" b="1" dirty="0"/>
              <a:t>Rows are represented by states (Q)</a:t>
            </a:r>
          </a:p>
          <a:p>
            <a:pPr lvl="1"/>
            <a:r>
              <a:rPr lang="en-US" sz="2200" b="1" dirty="0"/>
              <a:t>Columns are represented by input characters (∑)</a:t>
            </a:r>
          </a:p>
          <a:p>
            <a:pPr lvl="1"/>
            <a:endParaRPr lang="en-US" sz="2200" dirty="0"/>
          </a:p>
          <a:p>
            <a:pPr lvl="1">
              <a:buNone/>
            </a:pPr>
            <a:r>
              <a:rPr lang="en-US" sz="2200" dirty="0"/>
              <a:t>DFA of string ending with 0 over input set {0, 1}:</a:t>
            </a:r>
          </a:p>
          <a:p>
            <a:pPr lvl="1">
              <a:buNone/>
            </a:pPr>
            <a:endParaRPr lang="en-US" sz="2200" dirty="0"/>
          </a:p>
          <a:p>
            <a:pPr lvl="1">
              <a:buNone/>
            </a:pPr>
            <a:endParaRPr lang="en-US" sz="2200" dirty="0"/>
          </a:p>
        </p:txBody>
      </p:sp>
      <p:sp>
        <p:nvSpPr>
          <p:cNvPr id="24" name="Oval 23"/>
          <p:cNvSpPr/>
          <p:nvPr/>
        </p:nvSpPr>
        <p:spPr>
          <a:xfrm>
            <a:off x="914400" y="4495800"/>
            <a:ext cx="609600" cy="533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q0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09600" y="4724400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209800" y="4495800"/>
            <a:ext cx="609600" cy="533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27" name="Oval 26"/>
          <p:cNvSpPr/>
          <p:nvPr/>
        </p:nvSpPr>
        <p:spPr>
          <a:xfrm>
            <a:off x="2133600" y="4419600"/>
            <a:ext cx="762000" cy="6858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524000" y="4646612"/>
            <a:ext cx="685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286000" y="39624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48768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1" name="Straight Arrow Connector 40"/>
          <p:cNvCxnSpPr>
            <a:stCxn id="27" idx="2"/>
            <a:endCxn id="24" idx="6"/>
          </p:cNvCxnSpPr>
          <p:nvPr/>
        </p:nvCxnSpPr>
        <p:spPr>
          <a:xfrm rot="10800000">
            <a:off x="1524000" y="4762500"/>
            <a:ext cx="609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24" idx="7"/>
            <a:endCxn id="24" idx="1"/>
          </p:cNvCxnSpPr>
          <p:nvPr/>
        </p:nvCxnSpPr>
        <p:spPr>
          <a:xfrm rot="16200000" flipV="1">
            <a:off x="1219200" y="4358389"/>
            <a:ext cx="1588" cy="431052"/>
          </a:xfrm>
          <a:prstGeom prst="curvedConnector3">
            <a:avLst>
              <a:gd name="adj1" fmla="val 1931454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 rot="16200000" flipV="1">
            <a:off x="2500732" y="4281069"/>
            <a:ext cx="1588" cy="431052"/>
          </a:xfrm>
          <a:prstGeom prst="curvedConnector3">
            <a:avLst>
              <a:gd name="adj1" fmla="val 1931454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90600" y="40386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4419600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886200" y="3733800"/>
          <a:ext cx="28194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gridSpan="2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 gridSpan="2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Oval 29"/>
          <p:cNvSpPr/>
          <p:nvPr/>
        </p:nvSpPr>
        <p:spPr>
          <a:xfrm>
            <a:off x="4038600" y="5257800"/>
            <a:ext cx="6858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q1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3733800" y="4876800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3771105" y="41529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495800" y="3810000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114800" y="464820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953000" y="52578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40" name="Oval 39"/>
          <p:cNvSpPr/>
          <p:nvPr/>
        </p:nvSpPr>
        <p:spPr>
          <a:xfrm>
            <a:off x="5943600" y="52578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q0</a:t>
            </a:r>
          </a:p>
        </p:txBody>
      </p:sp>
      <p:sp>
        <p:nvSpPr>
          <p:cNvPr id="49" name="Oval 48"/>
          <p:cNvSpPr/>
          <p:nvPr/>
        </p:nvSpPr>
        <p:spPr>
          <a:xfrm>
            <a:off x="4038600" y="45720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q0</a:t>
            </a:r>
          </a:p>
        </p:txBody>
      </p:sp>
      <p:sp>
        <p:nvSpPr>
          <p:cNvPr id="50" name="Oval 49"/>
          <p:cNvSpPr/>
          <p:nvPr/>
        </p:nvSpPr>
        <p:spPr>
          <a:xfrm>
            <a:off x="4953000" y="45720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51" name="Oval 50"/>
          <p:cNvSpPr/>
          <p:nvPr/>
        </p:nvSpPr>
        <p:spPr>
          <a:xfrm>
            <a:off x="5943600" y="45720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q0</a:t>
            </a:r>
          </a:p>
        </p:txBody>
      </p:sp>
      <p:sp>
        <p:nvSpPr>
          <p:cNvPr id="52" name="Oval 51"/>
          <p:cNvSpPr/>
          <p:nvPr/>
        </p:nvSpPr>
        <p:spPr>
          <a:xfrm>
            <a:off x="3962400" y="3733800"/>
            <a:ext cx="304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3" name="Oval 52"/>
          <p:cNvSpPr/>
          <p:nvPr/>
        </p:nvSpPr>
        <p:spPr>
          <a:xfrm>
            <a:off x="4876800" y="38100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" name="Oval 53"/>
          <p:cNvSpPr/>
          <p:nvPr/>
        </p:nvSpPr>
        <p:spPr>
          <a:xfrm>
            <a:off x="5867400" y="3810000"/>
            <a:ext cx="685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4419600" y="3733800"/>
            <a:ext cx="3048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∑</a:t>
            </a:r>
          </a:p>
        </p:txBody>
      </p:sp>
      <p:pic>
        <p:nvPicPr>
          <p:cNvPr id="42" name="Picture 4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4" grpId="0" uiExpand="1" build="allAtOnce" animBg="1"/>
      <p:bldP spid="26" grpId="0" uiExpand="1" build="allAtOnce" animBg="1"/>
      <p:bldP spid="27" grpId="0" animBg="1"/>
      <p:bldP spid="31" grpId="0"/>
      <p:bldP spid="33" grpId="0"/>
      <p:bldP spid="45" grpId="0"/>
      <p:bldP spid="48" grpId="0"/>
      <p:bldP spid="30" grpId="0" uiExpand="1" build="allAtOnce" animBg="1"/>
      <p:bldP spid="39" grpId="0"/>
      <p:bldP spid="40" grpId="0"/>
      <p:bldP spid="49" grpId="0" build="allAtOnce"/>
      <p:bldP spid="50" grpId="0"/>
      <p:bldP spid="51" grpId="0"/>
      <p:bldP spid="52" grpId="0"/>
      <p:bldP spid="54" grpId="0"/>
      <p:bldP spid="5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0545-42A6-4B8E-87DB-5EC839C0F6A8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/>
              <a:t>Conversion of NFA </a:t>
            </a:r>
            <a:r>
              <a:rPr lang="en-US" sz="3200" dirty="0"/>
              <a:t>to DFA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5029200"/>
          </a:xfrm>
        </p:spPr>
        <p:txBody>
          <a:bodyPr>
            <a:normAutofit/>
          </a:bodyPr>
          <a:lstStyle/>
          <a:p>
            <a:r>
              <a:rPr lang="en-US" sz="2800"/>
              <a:t>Convert following NFA </a:t>
            </a:r>
            <a:r>
              <a:rPr lang="en-US" sz="2800" dirty="0"/>
              <a:t>to DFA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81000" y="1524000"/>
            <a:ext cx="3886200" cy="1731369"/>
            <a:chOff x="1447800" y="2743200"/>
            <a:chExt cx="4818888" cy="2034113"/>
          </a:xfrm>
        </p:grpSpPr>
        <p:sp>
          <p:nvSpPr>
            <p:cNvPr id="25" name="Oval 24"/>
            <p:cNvSpPr/>
            <p:nvPr/>
          </p:nvSpPr>
          <p:spPr>
            <a:xfrm>
              <a:off x="1905000" y="37338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q0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257800" y="37338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q1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V="1">
              <a:off x="1447800" y="4267200"/>
              <a:ext cx="457200" cy="152400"/>
            </a:xfrm>
            <a:prstGeom prst="straightConnector1">
              <a:avLst/>
            </a:prstGeom>
            <a:ln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>
              <a:stCxn id="25" idx="1"/>
              <a:endCxn id="25" idx="0"/>
            </p:cNvCxnSpPr>
            <p:nvPr/>
          </p:nvCxnSpPr>
          <p:spPr>
            <a:xfrm rot="5400000" flipH="1" flipV="1">
              <a:off x="2095500" y="3654892"/>
              <a:ext cx="111592" cy="269408"/>
            </a:xfrm>
            <a:prstGeom prst="curvedConnector3">
              <a:avLst>
                <a:gd name="adj1" fmla="val 529532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25" idx="7"/>
              <a:endCxn id="26" idx="1"/>
            </p:cNvCxnSpPr>
            <p:nvPr/>
          </p:nvCxnSpPr>
          <p:spPr>
            <a:xfrm rot="5400000" flipH="1" flipV="1">
              <a:off x="3962400" y="2438400"/>
              <a:ext cx="1588" cy="2813984"/>
            </a:xfrm>
            <a:prstGeom prst="curvedConnector3">
              <a:avLst>
                <a:gd name="adj1" fmla="val 44641198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26" idx="3"/>
              <a:endCxn id="25" idx="5"/>
            </p:cNvCxnSpPr>
            <p:nvPr/>
          </p:nvCxnSpPr>
          <p:spPr>
            <a:xfrm rot="5400000">
              <a:off x="3962400" y="2977216"/>
              <a:ext cx="1588" cy="2813984"/>
            </a:xfrm>
            <a:prstGeom prst="curvedConnector3">
              <a:avLst>
                <a:gd name="adj1" fmla="val 41854925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urved Connector 30"/>
            <p:cNvCxnSpPr>
              <a:stCxn id="26" idx="0"/>
              <a:endCxn id="26" idx="7"/>
            </p:cNvCxnSpPr>
            <p:nvPr/>
          </p:nvCxnSpPr>
          <p:spPr>
            <a:xfrm rot="16200000" flipH="1">
              <a:off x="5717708" y="3654892"/>
              <a:ext cx="111592" cy="269408"/>
            </a:xfrm>
            <a:prstGeom prst="curvedConnector3">
              <a:avLst>
                <a:gd name="adj1" fmla="val -482397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972056" y="3810001"/>
              <a:ext cx="609600" cy="6096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981200" y="28956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10000" y="27432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10784" y="2743200"/>
              <a:ext cx="755904" cy="43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0,1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10000" y="4343400"/>
              <a:ext cx="533400" cy="43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4648200" y="1905000"/>
          <a:ext cx="39624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{q0,q1}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81000" y="3962400"/>
          <a:ext cx="3200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1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[q0,q1]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[q0,q1]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[q0,q1]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[q0,q1]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2" name="Group 71"/>
          <p:cNvGrpSpPr/>
          <p:nvPr/>
        </p:nvGrpSpPr>
        <p:grpSpPr>
          <a:xfrm>
            <a:off x="3505200" y="3733799"/>
            <a:ext cx="5410199" cy="1524001"/>
            <a:chOff x="3505200" y="3733799"/>
            <a:chExt cx="5410199" cy="1524001"/>
          </a:xfrm>
        </p:grpSpPr>
        <p:sp>
          <p:nvSpPr>
            <p:cNvPr id="53" name="Oval 52"/>
            <p:cNvSpPr/>
            <p:nvPr/>
          </p:nvSpPr>
          <p:spPr>
            <a:xfrm>
              <a:off x="7696200" y="4343400"/>
              <a:ext cx="1219199" cy="9144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[q0,q1]</a:t>
              </a: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3505200" y="3733799"/>
              <a:ext cx="5257800" cy="1481209"/>
              <a:chOff x="3505200" y="3733799"/>
              <a:chExt cx="5257800" cy="1481209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3505200" y="3733799"/>
                <a:ext cx="4953000" cy="1481209"/>
                <a:chOff x="1447800" y="2828950"/>
                <a:chExt cx="4606290" cy="1666851"/>
              </a:xfrm>
            </p:grpSpPr>
            <p:sp>
              <p:nvSpPr>
                <p:cNvPr id="41" name="Oval 40"/>
                <p:cNvSpPr/>
                <p:nvPr/>
              </p:nvSpPr>
              <p:spPr>
                <a:xfrm>
                  <a:off x="1905000" y="3733800"/>
                  <a:ext cx="762000" cy="762000"/>
                </a:xfrm>
                <a:prstGeom prst="ellipse">
                  <a:avLst/>
                </a:prstGeom>
                <a:noFill/>
                <a:ln>
                  <a:solidFill>
                    <a:srgbClr val="7BE5E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q0</a:t>
                  </a:r>
                </a:p>
              </p:txBody>
            </p:sp>
            <p:sp>
              <p:nvSpPr>
                <p:cNvPr id="42" name="Oval 41"/>
                <p:cNvSpPr/>
                <p:nvPr/>
              </p:nvSpPr>
              <p:spPr>
                <a:xfrm>
                  <a:off x="3733038" y="3733801"/>
                  <a:ext cx="762000" cy="762000"/>
                </a:xfrm>
                <a:prstGeom prst="ellipse">
                  <a:avLst/>
                </a:prstGeom>
                <a:noFill/>
                <a:ln>
                  <a:solidFill>
                    <a:srgbClr val="7BE5E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q1</a:t>
                  </a:r>
                </a:p>
              </p:txBody>
            </p:sp>
            <p:cxnSp>
              <p:nvCxnSpPr>
                <p:cNvPr id="43" name="Straight Arrow Connector 42"/>
                <p:cNvCxnSpPr/>
                <p:nvPr/>
              </p:nvCxnSpPr>
              <p:spPr>
                <a:xfrm flipV="1">
                  <a:off x="1447800" y="4267200"/>
                  <a:ext cx="457200" cy="152400"/>
                </a:xfrm>
                <a:prstGeom prst="straightConnector1">
                  <a:avLst/>
                </a:prstGeom>
                <a:ln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urved Connector 43"/>
                <p:cNvCxnSpPr>
                  <a:stCxn id="41" idx="1"/>
                  <a:endCxn id="41" idx="0"/>
                </p:cNvCxnSpPr>
                <p:nvPr/>
              </p:nvCxnSpPr>
              <p:spPr>
                <a:xfrm rot="5400000" flipH="1" flipV="1">
                  <a:off x="2095500" y="3654892"/>
                  <a:ext cx="111592" cy="269408"/>
                </a:xfrm>
                <a:prstGeom prst="curvedConnector3">
                  <a:avLst>
                    <a:gd name="adj1" fmla="val 752623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Curved Connector 46"/>
                <p:cNvCxnSpPr>
                  <a:stCxn id="42" idx="0"/>
                  <a:endCxn id="42" idx="7"/>
                </p:cNvCxnSpPr>
                <p:nvPr/>
              </p:nvCxnSpPr>
              <p:spPr>
                <a:xfrm rot="16200000" flipH="1">
                  <a:off x="4192945" y="3654894"/>
                  <a:ext cx="111592" cy="269407"/>
                </a:xfrm>
                <a:prstGeom prst="curvedConnector3">
                  <a:avLst>
                    <a:gd name="adj1" fmla="val -542854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972056" y="3810001"/>
                  <a:ext cx="609600" cy="609600"/>
                </a:xfrm>
                <a:prstGeom prst="ellipse">
                  <a:avLst/>
                </a:prstGeom>
                <a:noFill/>
                <a:ln>
                  <a:solidFill>
                    <a:srgbClr val="7BE5E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2260854" y="2828950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0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3998976" y="2842081"/>
                  <a:ext cx="533400" cy="41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0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5510784" y="2828950"/>
                  <a:ext cx="543306" cy="41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0,1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969514" y="3686454"/>
                  <a:ext cx="533400" cy="4339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54" name="Oval 53"/>
              <p:cNvSpPr/>
              <p:nvPr/>
            </p:nvSpPr>
            <p:spPr>
              <a:xfrm>
                <a:off x="7772400" y="4419600"/>
                <a:ext cx="9906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6" name="Straight Arrow Connector 55"/>
              <p:cNvCxnSpPr>
                <a:stCxn id="41" idx="6"/>
                <a:endCxn id="42" idx="2"/>
              </p:cNvCxnSpPr>
              <p:nvPr/>
            </p:nvCxnSpPr>
            <p:spPr>
              <a:xfrm>
                <a:off x="4816168" y="4876442"/>
                <a:ext cx="1146277" cy="1588"/>
              </a:xfrm>
              <a:prstGeom prst="straightConnector1">
                <a:avLst/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>
                <a:stCxn id="42" idx="6"/>
              </p:cNvCxnSpPr>
              <p:nvPr/>
            </p:nvCxnSpPr>
            <p:spPr>
              <a:xfrm flipV="1">
                <a:off x="6781800" y="4855569"/>
                <a:ext cx="914400" cy="20873"/>
              </a:xfrm>
              <a:prstGeom prst="straightConnector1">
                <a:avLst/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urved Connector 63"/>
              <p:cNvCxnSpPr>
                <a:stCxn id="53" idx="0"/>
                <a:endCxn id="53" idx="7"/>
              </p:cNvCxnSpPr>
              <p:nvPr/>
            </p:nvCxnSpPr>
            <p:spPr>
              <a:xfrm rot="16200000" flipH="1">
                <a:off x="8454369" y="4194830"/>
                <a:ext cx="133911" cy="431051"/>
              </a:xfrm>
              <a:prstGeom prst="curvedConnector3">
                <a:avLst>
                  <a:gd name="adj1" fmla="val -435035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/>
            <p:cNvSpPr txBox="1"/>
            <p:nvPr/>
          </p:nvSpPr>
          <p:spPr>
            <a:xfrm>
              <a:off x="7046452" y="4495800"/>
              <a:ext cx="573548" cy="385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pic>
        <p:nvPicPr>
          <p:cNvPr id="46" name="Picture 45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870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2AE6-34F5-4323-B930-428421B3ACC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NFA with Ɛ- Transition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04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We extend the class of an NFA by allowing ε transitions: </a:t>
            </a:r>
          </a:p>
          <a:p>
            <a:r>
              <a:rPr lang="en-US" sz="2400" dirty="0"/>
              <a:t>The automaton may be allowed to change its state without reading the input symbol. </a:t>
            </a:r>
          </a:p>
          <a:p>
            <a:r>
              <a:rPr lang="en-US" sz="2400" dirty="0"/>
              <a:t>Such transitions are depicted by labeling the appropriate arcs with ε. </a:t>
            </a:r>
          </a:p>
          <a:p>
            <a:r>
              <a:rPr lang="en-US" sz="2400" dirty="0"/>
              <a:t>‘ε’ does not belong to any alphabet (∑).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447800" y="973815"/>
            <a:ext cx="4724400" cy="1423948"/>
            <a:chOff x="1447800" y="973815"/>
            <a:chExt cx="4724400" cy="1423948"/>
          </a:xfrm>
        </p:grpSpPr>
        <p:grpSp>
          <p:nvGrpSpPr>
            <p:cNvPr id="12" name="Group 11"/>
            <p:cNvGrpSpPr/>
            <p:nvPr/>
          </p:nvGrpSpPr>
          <p:grpSpPr>
            <a:xfrm>
              <a:off x="1447800" y="973815"/>
              <a:ext cx="4724400" cy="1423948"/>
              <a:chOff x="1447800" y="2895600"/>
              <a:chExt cx="4724400" cy="16002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1905000" y="3733800"/>
                <a:ext cx="7620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q0</a:t>
                </a: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5257800" y="3733800"/>
                <a:ext cx="7620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q1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V="1">
                <a:off x="1447800" y="4267200"/>
                <a:ext cx="457200" cy="152400"/>
              </a:xfrm>
              <a:prstGeom prst="straightConnector1">
                <a:avLst/>
              </a:prstGeom>
              <a:ln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urved Connector 15"/>
              <p:cNvCxnSpPr>
                <a:stCxn id="13" idx="1"/>
                <a:endCxn id="13" idx="0"/>
              </p:cNvCxnSpPr>
              <p:nvPr/>
            </p:nvCxnSpPr>
            <p:spPr>
              <a:xfrm rot="5400000" flipH="1" flipV="1">
                <a:off x="2095500" y="3654892"/>
                <a:ext cx="111592" cy="269408"/>
              </a:xfrm>
              <a:prstGeom prst="curvedConnector3">
                <a:avLst>
                  <a:gd name="adj1" fmla="val 529532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urved Connector 18"/>
              <p:cNvCxnSpPr>
                <a:stCxn id="14" idx="0"/>
                <a:endCxn id="14" idx="7"/>
              </p:cNvCxnSpPr>
              <p:nvPr/>
            </p:nvCxnSpPr>
            <p:spPr>
              <a:xfrm rot="16200000" flipH="1">
                <a:off x="5717708" y="3654892"/>
                <a:ext cx="111592" cy="269408"/>
              </a:xfrm>
              <a:prstGeom prst="curvedConnector3">
                <a:avLst>
                  <a:gd name="adj1" fmla="val -482397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/>
              <p:cNvSpPr/>
              <p:nvPr/>
            </p:nvSpPr>
            <p:spPr>
              <a:xfrm>
                <a:off x="5334000" y="3810000"/>
                <a:ext cx="609600" cy="6096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981200" y="2895600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38800" y="2895600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810000" y="3685149"/>
                <a:ext cx="533400" cy="518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ε</a:t>
                </a:r>
              </a:p>
            </p:txBody>
          </p:sp>
        </p:grpSp>
        <p:cxnSp>
          <p:nvCxnSpPr>
            <p:cNvPr id="26" name="Straight Arrow Connector 25"/>
            <p:cNvCxnSpPr>
              <a:stCxn id="13" idx="6"/>
              <a:endCxn id="14" idx="2"/>
            </p:cNvCxnSpPr>
            <p:nvPr/>
          </p:nvCxnSpPr>
          <p:spPr>
            <a:xfrm>
              <a:off x="2667000" y="2058726"/>
              <a:ext cx="25908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Picture 24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792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59EB-4ACF-4BAB-870C-15275E7A25E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Why  Ɛ- NFA ?/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04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ε -NFAs add a convenient feature.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Through ε –NFAs we can implement some complex languages easily.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They do not extend the power of an NFA.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Both NFAs and ε-NFAs have same power.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486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9505-28DB-469D-8EF7-A75827C7F266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Formal definition of an Ɛ- NFA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33400" y="1341438"/>
            <a:ext cx="8229600" cy="4525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An NFA is represented as a 5 </a:t>
            </a:r>
            <a:r>
              <a:rPr lang="en-US" sz="2400" dirty="0" err="1"/>
              <a:t>tuples</a:t>
            </a:r>
            <a:r>
              <a:rPr lang="en-US" sz="2400" dirty="0"/>
              <a:t>,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		M={Q, ∑, </a:t>
            </a:r>
            <a:r>
              <a:rPr lang="en-US" sz="2400" dirty="0">
                <a:sym typeface="Symbol" panose="05050102010706020507"/>
              </a:rPr>
              <a:t>, q</a:t>
            </a:r>
            <a:r>
              <a:rPr lang="en-US" sz="2400" baseline="-25000" dirty="0">
                <a:sym typeface="Symbol" panose="05050102010706020507"/>
              </a:rPr>
              <a:t>0</a:t>
            </a:r>
            <a:r>
              <a:rPr lang="en-US" sz="2400" dirty="0">
                <a:sym typeface="Symbol" panose="05050102010706020507"/>
              </a:rPr>
              <a:t>, F}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ym typeface="Symbol" panose="05050102010706020507"/>
              </a:rPr>
              <a:t>		Q= Non empty finite set of states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ym typeface="Symbol" panose="05050102010706020507"/>
              </a:rPr>
              <a:t>		 </a:t>
            </a:r>
            <a:r>
              <a:rPr lang="en-US" sz="2400" dirty="0"/>
              <a:t>∑= Input alphabet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ym typeface="Symbol" panose="05050102010706020507"/>
              </a:rPr>
              <a:t>		 = Transition Function, </a:t>
            </a:r>
            <a:r>
              <a:rPr lang="en-US" sz="2400" dirty="0">
                <a:solidFill>
                  <a:srgbClr val="FF0000"/>
                </a:solidFill>
                <a:sym typeface="Symbol" panose="05050102010706020507"/>
              </a:rPr>
              <a:t>: Q X</a:t>
            </a:r>
            <a:r>
              <a:rPr lang="en-US" sz="2400" dirty="0">
                <a:solidFill>
                  <a:srgbClr val="FF0000"/>
                </a:solidFill>
              </a:rPr>
              <a:t> (∑</a:t>
            </a:r>
            <a:r>
              <a:rPr lang="en-US" sz="2400" dirty="0">
                <a:solidFill>
                  <a:srgbClr val="FF0000"/>
                </a:solidFill>
                <a:sym typeface="Symbol" panose="05050102010706020507"/>
              </a:rPr>
              <a:t>Ɛ)  2</a:t>
            </a:r>
            <a:r>
              <a:rPr lang="en-US" sz="2400" baseline="30000" dirty="0">
                <a:solidFill>
                  <a:srgbClr val="FF0000"/>
                </a:solidFill>
                <a:sym typeface="Symbol" panose="05050102010706020507"/>
              </a:rPr>
              <a:t>Q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ym typeface="Symbol" panose="05050102010706020507"/>
              </a:rPr>
              <a:t>		 q</a:t>
            </a:r>
            <a:r>
              <a:rPr lang="en-US" sz="2400" baseline="-25000" dirty="0">
                <a:sym typeface="Symbol" panose="05050102010706020507"/>
              </a:rPr>
              <a:t>0</a:t>
            </a:r>
            <a:r>
              <a:rPr lang="en-US" sz="2400" dirty="0">
                <a:sym typeface="Symbol" panose="05050102010706020507"/>
              </a:rPr>
              <a:t>= Initial State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ym typeface="Symbol" panose="05050102010706020507"/>
              </a:rPr>
              <a:t>		 F= Set of final states (F Q)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360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284E-CB33-4AE5-82CF-FB6F7E6A006C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Regular Expression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76200" y="1066800"/>
            <a:ext cx="8991600" cy="5059363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A regular expression is </a:t>
            </a:r>
            <a:r>
              <a:rPr lang="en-US" sz="2200" b="1" dirty="0">
                <a:solidFill>
                  <a:srgbClr val="FF0000"/>
                </a:solidFill>
              </a:rPr>
              <a:t>a mathematical representation </a:t>
            </a:r>
            <a:r>
              <a:rPr lang="en-US" sz="2200" dirty="0"/>
              <a:t>of a pattern which is used to formulate </a:t>
            </a:r>
            <a:r>
              <a:rPr lang="en-US" sz="2200" b="1" dirty="0">
                <a:solidFill>
                  <a:srgbClr val="FF0000"/>
                </a:solidFill>
              </a:rPr>
              <a:t>tokens</a:t>
            </a:r>
            <a:r>
              <a:rPr lang="en-US" sz="2200" dirty="0"/>
              <a:t> of any high level programming language.</a:t>
            </a:r>
          </a:p>
          <a:p>
            <a:pPr algn="just"/>
            <a:r>
              <a:rPr lang="en-US" sz="2200" dirty="0"/>
              <a:t>Regular Expressions can be:</a:t>
            </a:r>
          </a:p>
          <a:p>
            <a:pPr lvl="1" algn="just">
              <a:defRPr/>
            </a:pPr>
            <a:r>
              <a:rPr lang="en-US" sz="2200" b="1" dirty="0">
                <a:cs typeface="Calibri" pitchFamily="34" charset="0"/>
                <a:sym typeface="Symbol" pitchFamily="18" charset="2"/>
              </a:rPr>
              <a:t></a:t>
            </a:r>
            <a:r>
              <a:rPr lang="en-US" sz="2200" dirty="0">
                <a:cs typeface="Calibri" pitchFamily="34" charset="0"/>
                <a:sym typeface="Symbol" pitchFamily="18" charset="2"/>
              </a:rPr>
              <a:t> is a regular Expression (null move)</a:t>
            </a:r>
          </a:p>
          <a:p>
            <a:pPr lvl="1" algn="just">
              <a:defRPr/>
            </a:pPr>
            <a:r>
              <a:rPr lang="en-US" sz="2200" dirty="0"/>
              <a:t>Every </a:t>
            </a:r>
            <a:r>
              <a:rPr lang="en-US" sz="2200" b="1" dirty="0"/>
              <a:t>‘a’</a:t>
            </a:r>
            <a:r>
              <a:rPr lang="en-US" sz="2200" dirty="0"/>
              <a:t> belonging to ∑ is a regular expression</a:t>
            </a:r>
          </a:p>
          <a:p>
            <a:pPr lvl="1" algn="just">
              <a:defRPr/>
            </a:pPr>
            <a:r>
              <a:rPr lang="en-US" sz="2200" b="1" dirty="0">
                <a:sym typeface="Symbol" pitchFamily="18" charset="2"/>
              </a:rPr>
              <a:t>Let R is a regular expression then</a:t>
            </a:r>
          </a:p>
          <a:p>
            <a:pPr lvl="2" algn="just">
              <a:defRPr/>
            </a:pPr>
            <a:r>
              <a:rPr lang="en-US" sz="2200" b="1" dirty="0">
                <a:sym typeface="Symbol" pitchFamily="18" charset="2"/>
              </a:rPr>
              <a:t>R* (</a:t>
            </a:r>
            <a:r>
              <a:rPr lang="en-US" sz="2200" b="1" dirty="0" err="1">
                <a:sym typeface="Symbol" pitchFamily="18" charset="2"/>
              </a:rPr>
              <a:t>Kleen’s</a:t>
            </a:r>
            <a:r>
              <a:rPr lang="en-US" sz="2200" b="1" dirty="0">
                <a:sym typeface="Symbol" pitchFamily="18" charset="2"/>
              </a:rPr>
              <a:t> Closure):</a:t>
            </a:r>
            <a:r>
              <a:rPr lang="en-US" sz="2200" dirty="0">
                <a:sym typeface="Symbol" pitchFamily="18" charset="2"/>
              </a:rPr>
              <a:t> Zero or more occurrence of R is a regular expression.</a:t>
            </a:r>
          </a:p>
          <a:p>
            <a:pPr lvl="2" algn="just">
              <a:defRPr/>
            </a:pPr>
            <a:r>
              <a:rPr lang="en-US" sz="2200" b="1" dirty="0">
                <a:sym typeface="Symbol" pitchFamily="18" charset="2"/>
              </a:rPr>
              <a:t>R</a:t>
            </a:r>
            <a:r>
              <a:rPr lang="en-US" sz="2200" b="1" baseline="30000" dirty="0">
                <a:sym typeface="Symbol" pitchFamily="18" charset="2"/>
              </a:rPr>
              <a:t>+</a:t>
            </a:r>
            <a:r>
              <a:rPr lang="en-US" sz="2200" b="1" dirty="0">
                <a:sym typeface="Symbol" pitchFamily="18" charset="2"/>
              </a:rPr>
              <a:t> : </a:t>
            </a:r>
            <a:r>
              <a:rPr lang="en-US" sz="2200" dirty="0">
                <a:sym typeface="Symbol" pitchFamily="18" charset="2"/>
              </a:rPr>
              <a:t>one or more occurrence of R is a regular expression. </a:t>
            </a:r>
          </a:p>
          <a:p>
            <a:pPr lvl="1" algn="just">
              <a:defRPr/>
            </a:pPr>
            <a:r>
              <a:rPr lang="en-US" sz="2200" b="1" dirty="0">
                <a:sym typeface="Symbol" pitchFamily="18" charset="2"/>
              </a:rPr>
              <a:t>Let R and S are regular expressions  then</a:t>
            </a:r>
          </a:p>
          <a:p>
            <a:pPr lvl="2" algn="just">
              <a:defRPr/>
            </a:pPr>
            <a:r>
              <a:rPr lang="en-US" sz="2200" b="1" dirty="0">
                <a:sym typeface="Symbol" pitchFamily="18" charset="2"/>
              </a:rPr>
              <a:t>R/S or R+S: </a:t>
            </a:r>
            <a:r>
              <a:rPr lang="en-US" sz="2200" dirty="0">
                <a:sym typeface="Symbol" pitchFamily="18" charset="2"/>
              </a:rPr>
              <a:t>R or S is a regular expression.</a:t>
            </a:r>
          </a:p>
          <a:p>
            <a:pPr lvl="2" algn="just">
              <a:defRPr/>
            </a:pPr>
            <a:r>
              <a:rPr lang="en-US" sz="2200" b="1" dirty="0">
                <a:sym typeface="Symbol" pitchFamily="18" charset="2"/>
              </a:rPr>
              <a:t>R.S:</a:t>
            </a:r>
            <a:r>
              <a:rPr lang="en-US" sz="2200" dirty="0">
                <a:sym typeface="Symbol" pitchFamily="18" charset="2"/>
              </a:rPr>
              <a:t> concatenation is a regular expression.</a:t>
            </a:r>
          </a:p>
          <a:p>
            <a:pPr>
              <a:defRPr/>
            </a:pPr>
            <a:endParaRPr lang="en-US" sz="2200" dirty="0">
              <a:sym typeface="Symbol" pitchFamily="18" charset="2"/>
            </a:endParaRPr>
          </a:p>
          <a:p>
            <a:pPr>
              <a:defRPr/>
            </a:pPr>
            <a:endParaRPr lang="en-US" sz="2400" baseline="30000" dirty="0">
              <a:sym typeface="Symbol" pitchFamily="18" charset="2"/>
            </a:endParaRPr>
          </a:p>
          <a:p>
            <a:pPr>
              <a:defRPr/>
            </a:pPr>
            <a:endParaRPr lang="en-US" sz="2200" dirty="0">
              <a:sym typeface="Symbol" pitchFamily="18" charset="2"/>
            </a:endParaRPr>
          </a:p>
          <a:p>
            <a:endParaRPr lang="en-US" sz="2200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16A7-AA09-4060-A363-97B90C32C99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Regular Expression to NFA Conversion</a:t>
            </a:r>
            <a:r>
              <a:rPr lang="en-US" sz="3200" b="1" dirty="0"/>
              <a:t>(CO1)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685800"/>
            <a:ext cx="8458200" cy="5715000"/>
          </a:xfrm>
        </p:spPr>
        <p:txBody>
          <a:bodyPr>
            <a:normAutofit/>
          </a:bodyPr>
          <a:lstStyle/>
          <a:p>
            <a:r>
              <a:rPr lang="en-US" sz="2400" b="1" dirty="0"/>
              <a:t>Thompson’s Method:</a:t>
            </a:r>
          </a:p>
          <a:p>
            <a:r>
              <a:rPr lang="en-US" sz="2200" b="1" dirty="0">
                <a:cs typeface="Calibri" pitchFamily="34" charset="0"/>
                <a:sym typeface="Symbol" pitchFamily="18" charset="2"/>
              </a:rPr>
              <a:t></a:t>
            </a:r>
            <a:r>
              <a:rPr lang="en-US" sz="2200" dirty="0">
                <a:cs typeface="Calibri" pitchFamily="34" charset="0"/>
                <a:sym typeface="Symbol" pitchFamily="18" charset="2"/>
              </a:rPr>
              <a:t> is a regular Expression (null move)</a:t>
            </a:r>
          </a:p>
          <a:p>
            <a:r>
              <a:rPr lang="en-US" sz="2200" dirty="0"/>
              <a:t>Every </a:t>
            </a:r>
            <a:r>
              <a:rPr lang="en-US" sz="2200" b="1" dirty="0"/>
              <a:t>‘a’</a:t>
            </a:r>
            <a:r>
              <a:rPr lang="en-US" sz="2200" dirty="0"/>
              <a:t> belonging to ∑ is a regular expression</a:t>
            </a:r>
          </a:p>
          <a:p>
            <a:endParaRPr lang="en-US" sz="2200" dirty="0"/>
          </a:p>
          <a:p>
            <a:r>
              <a:rPr lang="en-US" sz="2200" b="1" dirty="0"/>
              <a:t>R.S </a:t>
            </a:r>
            <a:r>
              <a:rPr lang="en-US" sz="2200" dirty="0"/>
              <a:t>is a regular expression</a:t>
            </a:r>
          </a:p>
          <a:p>
            <a:endParaRPr lang="en-US" sz="2200" dirty="0"/>
          </a:p>
          <a:p>
            <a:r>
              <a:rPr lang="en-US" sz="2200" b="1" dirty="0"/>
              <a:t>R+S</a:t>
            </a:r>
            <a:r>
              <a:rPr lang="en-US" sz="2200" dirty="0"/>
              <a:t> is a regular expression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R*</a:t>
            </a:r>
            <a:r>
              <a:rPr lang="en-US" sz="2200" dirty="0"/>
              <a:t> is a regular expression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b="1" dirty="0"/>
          </a:p>
          <a:p>
            <a:endParaRPr lang="en-US" sz="2200" b="1" dirty="0"/>
          </a:p>
        </p:txBody>
      </p:sp>
      <p:grpSp>
        <p:nvGrpSpPr>
          <p:cNvPr id="11" name="Group 12"/>
          <p:cNvGrpSpPr>
            <a:grpSpLocks/>
          </p:cNvGrpSpPr>
          <p:nvPr/>
        </p:nvGrpSpPr>
        <p:grpSpPr bwMode="auto">
          <a:xfrm>
            <a:off x="6705600" y="762000"/>
            <a:ext cx="1752600" cy="685801"/>
            <a:chOff x="1590" y="2288"/>
            <a:chExt cx="1434" cy="540"/>
          </a:xfrm>
        </p:grpSpPr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1590" y="26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13" name="Group 14"/>
            <p:cNvGrpSpPr>
              <a:grpSpLocks/>
            </p:cNvGrpSpPr>
            <p:nvPr/>
          </p:nvGrpSpPr>
          <p:grpSpPr bwMode="auto">
            <a:xfrm>
              <a:off x="2760" y="2564"/>
              <a:ext cx="264" cy="264"/>
              <a:chOff x="2562" y="2604"/>
              <a:chExt cx="264" cy="264"/>
            </a:xfrm>
          </p:grpSpPr>
          <p:sp>
            <p:nvSpPr>
              <p:cNvPr id="17" name="Oval 15"/>
              <p:cNvSpPr>
                <a:spLocks noChangeArrowheads="1"/>
              </p:cNvSpPr>
              <p:nvPr/>
            </p:nvSpPr>
            <p:spPr bwMode="auto">
              <a:xfrm>
                <a:off x="2598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Oval 16"/>
              <p:cNvSpPr>
                <a:spLocks noChangeArrowheads="1"/>
              </p:cNvSpPr>
              <p:nvPr/>
            </p:nvSpPr>
            <p:spPr bwMode="auto">
              <a:xfrm>
                <a:off x="2562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818" y="2546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2106" y="269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2336" y="2288"/>
              <a:ext cx="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mic Sans MS" pitchFamily="-80" charset="0"/>
                  <a:sym typeface="Symbol" pitchFamily="18" charset="2"/>
                </a:rPr>
                <a:t></a:t>
              </a:r>
            </a:p>
          </p:txBody>
        </p:sp>
      </p:grp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6553200" y="1431546"/>
            <a:ext cx="2057400" cy="549654"/>
            <a:chOff x="1590" y="3195"/>
            <a:chExt cx="1458" cy="373"/>
          </a:xfrm>
        </p:grpSpPr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1590" y="34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21" name="Group 23"/>
            <p:cNvGrpSpPr>
              <a:grpSpLocks/>
            </p:cNvGrpSpPr>
            <p:nvPr/>
          </p:nvGrpSpPr>
          <p:grpSpPr bwMode="auto">
            <a:xfrm>
              <a:off x="2784" y="3304"/>
              <a:ext cx="264" cy="264"/>
              <a:chOff x="2586" y="2604"/>
              <a:chExt cx="264" cy="264"/>
            </a:xfrm>
          </p:grpSpPr>
          <p:sp>
            <p:nvSpPr>
              <p:cNvPr id="25" name="Oval 24"/>
              <p:cNvSpPr>
                <a:spLocks noChangeArrowheads="1"/>
              </p:cNvSpPr>
              <p:nvPr/>
            </p:nvSpPr>
            <p:spPr bwMode="auto">
              <a:xfrm>
                <a:off x="2622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Oval 25"/>
              <p:cNvSpPr>
                <a:spLocks noChangeArrowheads="1"/>
              </p:cNvSpPr>
              <p:nvPr/>
            </p:nvSpPr>
            <p:spPr bwMode="auto">
              <a:xfrm>
                <a:off x="2586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" name="Oval 26"/>
            <p:cNvSpPr>
              <a:spLocks noChangeArrowheads="1"/>
            </p:cNvSpPr>
            <p:nvPr/>
          </p:nvSpPr>
          <p:spPr bwMode="auto">
            <a:xfrm>
              <a:off x="1818" y="3286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>
              <a:off x="2106" y="343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4" name="Text Box 28"/>
            <p:cNvSpPr txBox="1">
              <a:spLocks noChangeArrowheads="1"/>
            </p:cNvSpPr>
            <p:nvPr/>
          </p:nvSpPr>
          <p:spPr bwMode="auto">
            <a:xfrm>
              <a:off x="2358" y="3195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27" name="Group 4"/>
          <p:cNvGrpSpPr>
            <a:grpSpLocks/>
          </p:cNvGrpSpPr>
          <p:nvPr/>
        </p:nvGrpSpPr>
        <p:grpSpPr bwMode="auto">
          <a:xfrm>
            <a:off x="4724400" y="1981200"/>
            <a:ext cx="4114800" cy="762000"/>
            <a:chOff x="720" y="1164"/>
            <a:chExt cx="3792" cy="660"/>
          </a:xfrm>
        </p:grpSpPr>
        <p:sp>
          <p:nvSpPr>
            <p:cNvPr id="28" name="Oval 5"/>
            <p:cNvSpPr>
              <a:spLocks noChangeArrowheads="1"/>
            </p:cNvSpPr>
            <p:nvPr/>
          </p:nvSpPr>
          <p:spPr bwMode="auto">
            <a:xfrm>
              <a:off x="960" y="1344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6"/>
            <p:cNvSpPr txBox="1">
              <a:spLocks noChangeArrowheads="1"/>
            </p:cNvSpPr>
            <p:nvPr/>
          </p:nvSpPr>
          <p:spPr bwMode="auto">
            <a:xfrm>
              <a:off x="1518" y="1398"/>
              <a:ext cx="22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/>
                <a:t>R</a:t>
              </a:r>
            </a:p>
          </p:txBody>
        </p:sp>
        <p:sp>
          <p:nvSpPr>
            <p:cNvPr id="30" name="Line 7"/>
            <p:cNvSpPr>
              <a:spLocks noChangeShapeType="1"/>
            </p:cNvSpPr>
            <p:nvPr/>
          </p:nvSpPr>
          <p:spPr bwMode="auto">
            <a:xfrm>
              <a:off x="720" y="159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1" name="Oval 8"/>
            <p:cNvSpPr>
              <a:spLocks noChangeArrowheads="1"/>
            </p:cNvSpPr>
            <p:nvPr/>
          </p:nvSpPr>
          <p:spPr bwMode="auto">
            <a:xfrm>
              <a:off x="2094" y="1458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9"/>
            <p:cNvSpPr>
              <a:spLocks noChangeArrowheads="1"/>
            </p:cNvSpPr>
            <p:nvPr/>
          </p:nvSpPr>
          <p:spPr bwMode="auto">
            <a:xfrm>
              <a:off x="2976" y="1344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3552" y="1440"/>
              <a:ext cx="20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/>
                <a:t>S</a:t>
              </a:r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 flipV="1">
              <a:off x="2352" y="1561"/>
              <a:ext cx="720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35" name="Group 12"/>
            <p:cNvGrpSpPr>
              <a:grpSpLocks/>
            </p:cNvGrpSpPr>
            <p:nvPr/>
          </p:nvGrpSpPr>
          <p:grpSpPr bwMode="auto">
            <a:xfrm>
              <a:off x="4110" y="1458"/>
              <a:ext cx="264" cy="264"/>
              <a:chOff x="2610" y="2604"/>
              <a:chExt cx="264" cy="264"/>
            </a:xfrm>
          </p:grpSpPr>
          <p:sp>
            <p:nvSpPr>
              <p:cNvPr id="37" name="Oval 13"/>
              <p:cNvSpPr>
                <a:spLocks noChangeArrowheads="1"/>
              </p:cNvSpPr>
              <p:nvPr/>
            </p:nvSpPr>
            <p:spPr bwMode="auto">
              <a:xfrm>
                <a:off x="2646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Oval 14"/>
              <p:cNvSpPr>
                <a:spLocks noChangeArrowheads="1"/>
              </p:cNvSpPr>
              <p:nvPr/>
            </p:nvSpPr>
            <p:spPr bwMode="auto">
              <a:xfrm>
                <a:off x="2610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2570" y="1164"/>
              <a:ext cx="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mic Sans MS" pitchFamily="-80" charset="0"/>
                  <a:sym typeface="Symbol" pitchFamily="18" charset="2"/>
                </a:rPr>
                <a:t></a:t>
              </a:r>
            </a:p>
          </p:txBody>
        </p:sp>
      </p:grpSp>
      <p:sp>
        <p:nvSpPr>
          <p:cNvPr id="39" name="Oval 8"/>
          <p:cNvSpPr>
            <a:spLocks noChangeArrowheads="1"/>
          </p:cNvSpPr>
          <p:nvPr/>
        </p:nvSpPr>
        <p:spPr bwMode="auto">
          <a:xfrm>
            <a:off x="7391400" y="2362200"/>
            <a:ext cx="3048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8"/>
          <p:cNvSpPr>
            <a:spLocks noChangeArrowheads="1"/>
          </p:cNvSpPr>
          <p:nvPr/>
        </p:nvSpPr>
        <p:spPr bwMode="auto">
          <a:xfrm>
            <a:off x="5105400" y="23622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" name="Group 17"/>
          <p:cNvGrpSpPr>
            <a:grpSpLocks/>
          </p:cNvGrpSpPr>
          <p:nvPr/>
        </p:nvGrpSpPr>
        <p:grpSpPr bwMode="auto">
          <a:xfrm>
            <a:off x="4876800" y="2895601"/>
            <a:ext cx="3733800" cy="1275398"/>
            <a:chOff x="912" y="2320"/>
            <a:chExt cx="3288" cy="1339"/>
          </a:xfrm>
        </p:grpSpPr>
        <p:sp>
          <p:nvSpPr>
            <p:cNvPr id="42" name="Oval 18"/>
            <p:cNvSpPr>
              <a:spLocks noChangeArrowheads="1"/>
            </p:cNvSpPr>
            <p:nvPr/>
          </p:nvSpPr>
          <p:spPr bwMode="auto">
            <a:xfrm>
              <a:off x="1824" y="3120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382" y="3174"/>
              <a:ext cx="287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/>
                <a:t>S</a:t>
              </a:r>
            </a:p>
          </p:txBody>
        </p:sp>
        <p:sp>
          <p:nvSpPr>
            <p:cNvPr id="44" name="Line 20"/>
            <p:cNvSpPr>
              <a:spLocks noChangeShapeType="1"/>
            </p:cNvSpPr>
            <p:nvPr/>
          </p:nvSpPr>
          <p:spPr bwMode="auto">
            <a:xfrm>
              <a:off x="1536" y="3120"/>
              <a:ext cx="288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" name="Oval 21"/>
            <p:cNvSpPr>
              <a:spLocks noChangeArrowheads="1"/>
            </p:cNvSpPr>
            <p:nvPr/>
          </p:nvSpPr>
          <p:spPr bwMode="auto">
            <a:xfrm>
              <a:off x="2958" y="3234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22"/>
            <p:cNvSpPr>
              <a:spLocks noChangeArrowheads="1"/>
            </p:cNvSpPr>
            <p:nvPr/>
          </p:nvSpPr>
          <p:spPr bwMode="auto">
            <a:xfrm>
              <a:off x="1824" y="2400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2400" y="2496"/>
              <a:ext cx="309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/>
                <a:t>R</a:t>
              </a:r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 flipV="1">
              <a:off x="3216" y="3072"/>
              <a:ext cx="768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9" name="Oval 25"/>
            <p:cNvSpPr>
              <a:spLocks noChangeArrowheads="1"/>
            </p:cNvSpPr>
            <p:nvPr/>
          </p:nvSpPr>
          <p:spPr bwMode="auto">
            <a:xfrm>
              <a:off x="2958" y="2514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26"/>
            <p:cNvSpPr txBox="1">
              <a:spLocks noChangeArrowheads="1"/>
            </p:cNvSpPr>
            <p:nvPr/>
          </p:nvSpPr>
          <p:spPr bwMode="auto">
            <a:xfrm>
              <a:off x="3504" y="3113"/>
              <a:ext cx="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mic Sans MS" pitchFamily="-80" charset="0"/>
                  <a:sym typeface="Symbol" pitchFamily="18" charset="2"/>
                </a:rPr>
                <a:t></a:t>
              </a:r>
            </a:p>
          </p:txBody>
        </p:sp>
        <p:sp>
          <p:nvSpPr>
            <p:cNvPr id="51" name="Oval 27"/>
            <p:cNvSpPr>
              <a:spLocks noChangeArrowheads="1"/>
            </p:cNvSpPr>
            <p:nvPr/>
          </p:nvSpPr>
          <p:spPr bwMode="auto">
            <a:xfrm>
              <a:off x="1296" y="2880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 flipV="1">
              <a:off x="1536" y="268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3" name="Line 29"/>
            <p:cNvSpPr>
              <a:spLocks noChangeShapeType="1"/>
            </p:cNvSpPr>
            <p:nvPr/>
          </p:nvSpPr>
          <p:spPr bwMode="auto">
            <a:xfrm flipV="1">
              <a:off x="912" y="30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4" name="Text Box 30"/>
            <p:cNvSpPr txBox="1">
              <a:spLocks noChangeArrowheads="1"/>
            </p:cNvSpPr>
            <p:nvPr/>
          </p:nvSpPr>
          <p:spPr bwMode="auto">
            <a:xfrm>
              <a:off x="1449" y="2393"/>
              <a:ext cx="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mic Sans MS" pitchFamily="-80" charset="0"/>
                  <a:sym typeface="Symbol" pitchFamily="18" charset="2"/>
                </a:rPr>
                <a:t></a:t>
              </a:r>
            </a:p>
          </p:txBody>
        </p:sp>
        <p:sp>
          <p:nvSpPr>
            <p:cNvPr id="55" name="Text Box 31"/>
            <p:cNvSpPr txBox="1">
              <a:spLocks noChangeArrowheads="1"/>
            </p:cNvSpPr>
            <p:nvPr/>
          </p:nvSpPr>
          <p:spPr bwMode="auto">
            <a:xfrm>
              <a:off x="1436" y="3040"/>
              <a:ext cx="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mic Sans MS" pitchFamily="-80" charset="0"/>
                  <a:sym typeface="Symbol" pitchFamily="18" charset="2"/>
                </a:rPr>
                <a:t></a:t>
              </a:r>
            </a:p>
          </p:txBody>
        </p:sp>
        <p:grpSp>
          <p:nvGrpSpPr>
            <p:cNvPr id="56" name="Group 32"/>
            <p:cNvGrpSpPr>
              <a:grpSpLocks/>
            </p:cNvGrpSpPr>
            <p:nvPr/>
          </p:nvGrpSpPr>
          <p:grpSpPr bwMode="auto">
            <a:xfrm>
              <a:off x="3936" y="2832"/>
              <a:ext cx="264" cy="264"/>
              <a:chOff x="2610" y="2604"/>
              <a:chExt cx="264" cy="264"/>
            </a:xfrm>
          </p:grpSpPr>
          <p:sp>
            <p:nvSpPr>
              <p:cNvPr id="59" name="Oval 33"/>
              <p:cNvSpPr>
                <a:spLocks noChangeArrowheads="1"/>
              </p:cNvSpPr>
              <p:nvPr/>
            </p:nvSpPr>
            <p:spPr bwMode="auto">
              <a:xfrm>
                <a:off x="2646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Oval 34"/>
              <p:cNvSpPr>
                <a:spLocks noChangeArrowheads="1"/>
              </p:cNvSpPr>
              <p:nvPr/>
            </p:nvSpPr>
            <p:spPr bwMode="auto">
              <a:xfrm>
                <a:off x="2610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7" name="Line 35"/>
            <p:cNvSpPr>
              <a:spLocks noChangeShapeType="1"/>
            </p:cNvSpPr>
            <p:nvPr/>
          </p:nvSpPr>
          <p:spPr bwMode="auto">
            <a:xfrm>
              <a:off x="3216" y="2688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8" name="Text Box 36"/>
            <p:cNvSpPr txBox="1">
              <a:spLocks noChangeArrowheads="1"/>
            </p:cNvSpPr>
            <p:nvPr/>
          </p:nvSpPr>
          <p:spPr bwMode="auto">
            <a:xfrm>
              <a:off x="3552" y="2320"/>
              <a:ext cx="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mic Sans MS" pitchFamily="-80" charset="0"/>
                  <a:sym typeface="Symbol" pitchFamily="18" charset="2"/>
                </a:rPr>
                <a:t></a:t>
              </a:r>
            </a:p>
          </p:txBody>
        </p:sp>
      </p:grpSp>
      <p:sp>
        <p:nvSpPr>
          <p:cNvPr id="62" name="Oval 25"/>
          <p:cNvSpPr>
            <a:spLocks noChangeArrowheads="1"/>
          </p:cNvSpPr>
          <p:nvPr/>
        </p:nvSpPr>
        <p:spPr bwMode="auto">
          <a:xfrm>
            <a:off x="6096000" y="3048000"/>
            <a:ext cx="299794" cy="251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Oval 25"/>
          <p:cNvSpPr>
            <a:spLocks noChangeArrowheads="1"/>
          </p:cNvSpPr>
          <p:nvPr/>
        </p:nvSpPr>
        <p:spPr bwMode="auto">
          <a:xfrm>
            <a:off x="6096000" y="3787140"/>
            <a:ext cx="299794" cy="251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4" name="Group 58"/>
          <p:cNvGrpSpPr>
            <a:grpSpLocks/>
          </p:cNvGrpSpPr>
          <p:nvPr/>
        </p:nvGrpSpPr>
        <p:grpSpPr bwMode="auto">
          <a:xfrm>
            <a:off x="5562600" y="4343400"/>
            <a:ext cx="3048000" cy="1447801"/>
            <a:chOff x="1638300" y="2462491"/>
            <a:chExt cx="5143500" cy="1942822"/>
          </a:xfrm>
        </p:grpSpPr>
        <p:sp>
          <p:nvSpPr>
            <p:cNvPr id="65" name="Oval 4"/>
            <p:cNvSpPr>
              <a:spLocks noChangeArrowheads="1"/>
            </p:cNvSpPr>
            <p:nvPr/>
          </p:nvSpPr>
          <p:spPr bwMode="auto">
            <a:xfrm>
              <a:off x="3238500" y="3033713"/>
              <a:ext cx="24384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6"/>
            <p:cNvSpPr>
              <a:spLocks noChangeShapeType="1"/>
            </p:cNvSpPr>
            <p:nvPr/>
          </p:nvSpPr>
          <p:spPr bwMode="auto">
            <a:xfrm>
              <a:off x="2705100" y="34147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7" name="Oval 7"/>
            <p:cNvSpPr>
              <a:spLocks noChangeArrowheads="1"/>
            </p:cNvSpPr>
            <p:nvPr/>
          </p:nvSpPr>
          <p:spPr bwMode="auto">
            <a:xfrm>
              <a:off x="5038725" y="3186113"/>
              <a:ext cx="419100" cy="4191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8"/>
            <p:cNvSpPr>
              <a:spLocks noChangeArrowheads="1"/>
            </p:cNvSpPr>
            <p:nvPr/>
          </p:nvSpPr>
          <p:spPr bwMode="auto">
            <a:xfrm>
              <a:off x="2247900" y="3186113"/>
              <a:ext cx="419100" cy="4191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Line 9"/>
            <p:cNvSpPr>
              <a:spLocks noChangeShapeType="1"/>
            </p:cNvSpPr>
            <p:nvPr/>
          </p:nvSpPr>
          <p:spPr bwMode="auto">
            <a:xfrm flipV="1">
              <a:off x="1638300" y="3414713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70" name="Group 11"/>
            <p:cNvGrpSpPr>
              <a:grpSpLocks/>
            </p:cNvGrpSpPr>
            <p:nvPr/>
          </p:nvGrpSpPr>
          <p:grpSpPr bwMode="auto">
            <a:xfrm>
              <a:off x="6362700" y="3186113"/>
              <a:ext cx="419100" cy="419100"/>
              <a:chOff x="2610" y="2604"/>
              <a:chExt cx="264" cy="264"/>
            </a:xfrm>
          </p:grpSpPr>
          <p:sp>
            <p:nvSpPr>
              <p:cNvPr id="73" name="Oval 12"/>
              <p:cNvSpPr>
                <a:spLocks noChangeArrowheads="1"/>
              </p:cNvSpPr>
              <p:nvPr/>
            </p:nvSpPr>
            <p:spPr bwMode="auto">
              <a:xfrm>
                <a:off x="2646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Oval 13"/>
              <p:cNvSpPr>
                <a:spLocks noChangeArrowheads="1"/>
              </p:cNvSpPr>
              <p:nvPr/>
            </p:nvSpPr>
            <p:spPr bwMode="auto">
              <a:xfrm>
                <a:off x="2610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" name="Freeform 14"/>
            <p:cNvSpPr>
              <a:spLocks/>
            </p:cNvSpPr>
            <p:nvPr/>
          </p:nvSpPr>
          <p:spPr bwMode="auto">
            <a:xfrm>
              <a:off x="2570163" y="3573463"/>
              <a:ext cx="3944937" cy="831850"/>
            </a:xfrm>
            <a:custGeom>
              <a:avLst/>
              <a:gdLst>
                <a:gd name="T0" fmla="*/ 0 w 2485"/>
                <a:gd name="T1" fmla="*/ 2147483647 h 524"/>
                <a:gd name="T2" fmla="*/ 2147483647 w 2485"/>
                <a:gd name="T3" fmla="*/ 2147483647 h 524"/>
                <a:gd name="T4" fmla="*/ 2147483647 w 2485"/>
                <a:gd name="T5" fmla="*/ 2147483647 h 524"/>
                <a:gd name="T6" fmla="*/ 2147483647 w 2485"/>
                <a:gd name="T7" fmla="*/ 2147483647 h 524"/>
                <a:gd name="T8" fmla="*/ 2147483647 w 2485"/>
                <a:gd name="T9" fmla="*/ 0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85"/>
                <a:gd name="T16" fmla="*/ 0 h 524"/>
                <a:gd name="T17" fmla="*/ 2485 w 2485"/>
                <a:gd name="T18" fmla="*/ 524 h 5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85" h="524">
                  <a:moveTo>
                    <a:pt x="0" y="16"/>
                  </a:moveTo>
                  <a:cubicBezTo>
                    <a:pt x="63" y="74"/>
                    <a:pt x="151" y="282"/>
                    <a:pt x="373" y="367"/>
                  </a:cubicBezTo>
                  <a:cubicBezTo>
                    <a:pt x="595" y="452"/>
                    <a:pt x="1045" y="524"/>
                    <a:pt x="1333" y="524"/>
                  </a:cubicBezTo>
                  <a:cubicBezTo>
                    <a:pt x="1621" y="524"/>
                    <a:pt x="1909" y="454"/>
                    <a:pt x="2101" y="367"/>
                  </a:cubicBezTo>
                  <a:cubicBezTo>
                    <a:pt x="2293" y="280"/>
                    <a:pt x="2389" y="140"/>
                    <a:pt x="248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" name="Freeform 16"/>
            <p:cNvSpPr>
              <a:spLocks/>
            </p:cNvSpPr>
            <p:nvPr/>
          </p:nvSpPr>
          <p:spPr bwMode="auto">
            <a:xfrm>
              <a:off x="3657600" y="2462491"/>
              <a:ext cx="1981199" cy="966508"/>
            </a:xfrm>
            <a:custGeom>
              <a:avLst/>
              <a:gdLst>
                <a:gd name="T0" fmla="*/ 2147483647 w 2056"/>
                <a:gd name="T1" fmla="*/ 2147483647 h 544"/>
                <a:gd name="T2" fmla="*/ 2147483647 w 2056"/>
                <a:gd name="T3" fmla="*/ 2147483647 h 544"/>
                <a:gd name="T4" fmla="*/ 2147483647 w 2056"/>
                <a:gd name="T5" fmla="*/ 2147483647 h 544"/>
                <a:gd name="T6" fmla="*/ 2147483647 w 2056"/>
                <a:gd name="T7" fmla="*/ 2147483647 h 544"/>
                <a:gd name="T8" fmla="*/ 0 w 2056"/>
                <a:gd name="T9" fmla="*/ 2147483647 h 5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6"/>
                <a:gd name="T16" fmla="*/ 0 h 544"/>
                <a:gd name="T17" fmla="*/ 2056 w 2056"/>
                <a:gd name="T18" fmla="*/ 544 h 5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6" h="544">
                  <a:moveTo>
                    <a:pt x="1824" y="544"/>
                  </a:moveTo>
                  <a:cubicBezTo>
                    <a:pt x="1940" y="464"/>
                    <a:pt x="2056" y="384"/>
                    <a:pt x="2016" y="304"/>
                  </a:cubicBezTo>
                  <a:cubicBezTo>
                    <a:pt x="1976" y="224"/>
                    <a:pt x="1848" y="104"/>
                    <a:pt x="1584" y="64"/>
                  </a:cubicBezTo>
                  <a:cubicBezTo>
                    <a:pt x="1320" y="24"/>
                    <a:pt x="696" y="0"/>
                    <a:pt x="432" y="64"/>
                  </a:cubicBezTo>
                  <a:cubicBezTo>
                    <a:pt x="168" y="128"/>
                    <a:pt x="84" y="288"/>
                    <a:pt x="0" y="4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</p:grpSp>
      <p:sp>
        <p:nvSpPr>
          <p:cNvPr id="75" name="Line 6"/>
          <p:cNvSpPr>
            <a:spLocks noChangeShapeType="1"/>
          </p:cNvSpPr>
          <p:nvPr/>
        </p:nvSpPr>
        <p:spPr bwMode="auto">
          <a:xfrm flipV="1">
            <a:off x="7848600" y="4993004"/>
            <a:ext cx="533400" cy="4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6" name="Text Box 10"/>
          <p:cNvSpPr txBox="1">
            <a:spLocks noChangeArrowheads="1"/>
          </p:cNvSpPr>
          <p:nvPr/>
        </p:nvSpPr>
        <p:spPr bwMode="auto">
          <a:xfrm>
            <a:off x="6934200" y="4733925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sym typeface="Symbol" pitchFamily="18" charset="2"/>
              </a:rPr>
              <a:t>R</a:t>
            </a:r>
          </a:p>
        </p:txBody>
      </p:sp>
      <p:sp>
        <p:nvSpPr>
          <p:cNvPr id="77" name="Oval 7"/>
          <p:cNvSpPr>
            <a:spLocks noChangeArrowheads="1"/>
          </p:cNvSpPr>
          <p:nvPr/>
        </p:nvSpPr>
        <p:spPr bwMode="auto">
          <a:xfrm>
            <a:off x="6705600" y="4876800"/>
            <a:ext cx="248356" cy="31231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6137275" y="4572000"/>
            <a:ext cx="339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Comic Sans MS" pitchFamily="-80" charset="0"/>
                <a:sym typeface="Symbol" pitchFamily="18" charset="2"/>
              </a:rPr>
              <a:t>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auto">
          <a:xfrm>
            <a:off x="7086600" y="4205287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Comic Sans MS" pitchFamily="-80" charset="0"/>
                <a:sym typeface="Symbol" pitchFamily="18" charset="2"/>
              </a:rPr>
              <a:t></a:t>
            </a: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7086600" y="5638800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Comic Sans MS" pitchFamily="-80" charset="0"/>
                <a:sym typeface="Symbol" pitchFamily="18" charset="2"/>
              </a:rPr>
              <a:t></a:t>
            </a:r>
          </a:p>
        </p:txBody>
      </p:sp>
      <p:sp>
        <p:nvSpPr>
          <p:cNvPr id="82" name="Text Box 10"/>
          <p:cNvSpPr txBox="1">
            <a:spLocks noChangeArrowheads="1"/>
          </p:cNvSpPr>
          <p:nvPr/>
        </p:nvSpPr>
        <p:spPr bwMode="auto">
          <a:xfrm>
            <a:off x="7966075" y="4586287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Comic Sans MS" pitchFamily="-80" charset="0"/>
                <a:sym typeface="Symbol" pitchFamily="18" charset="2"/>
              </a:rPr>
              <a:t></a:t>
            </a:r>
          </a:p>
        </p:txBody>
      </p:sp>
      <p:pic>
        <p:nvPicPr>
          <p:cNvPr id="83" name="Picture 8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9" grpId="0" animBg="1"/>
      <p:bldP spid="40" grpId="0" animBg="1"/>
      <p:bldP spid="62" grpId="0" animBg="1"/>
      <p:bldP spid="63" grpId="0" animBg="1"/>
      <p:bldP spid="75" grpId="0" animBg="1"/>
      <p:bldP spid="76" grpId="0" build="allAtOnce"/>
      <p:bldP spid="77" grpId="0" animBg="1"/>
      <p:bldP spid="79" grpId="0"/>
      <p:bldP spid="80" grpId="0"/>
      <p:bldP spid="81" grpId="0"/>
      <p:bldP spid="8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114C5-BAC8-4101-B589-B7B2770EC4E8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Example of Regular Expression to NFA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200" dirty="0"/>
              <a:t>Consider the regular expression (1 + 0)*.1 and construct equivalent NFA.</a:t>
            </a:r>
          </a:p>
          <a:p>
            <a:r>
              <a:rPr lang="en-US" sz="2200" dirty="0"/>
              <a:t>By precedence:</a:t>
            </a:r>
          </a:p>
          <a:p>
            <a:pPr lvl="1"/>
            <a:r>
              <a:rPr lang="en-US" sz="2000" dirty="0"/>
              <a:t>(1+0)</a:t>
            </a:r>
          </a:p>
          <a:p>
            <a:pPr lvl="1"/>
            <a:r>
              <a:rPr lang="en-US" sz="2000" dirty="0"/>
              <a:t>(1+0)*</a:t>
            </a:r>
          </a:p>
          <a:p>
            <a:pPr lvl="1"/>
            <a:r>
              <a:rPr lang="en-US" sz="2000" dirty="0"/>
              <a:t>1</a:t>
            </a:r>
          </a:p>
          <a:p>
            <a:pPr lvl="1"/>
            <a:r>
              <a:rPr lang="en-US" sz="2000" dirty="0"/>
              <a:t>(1+0)*.1</a:t>
            </a:r>
          </a:p>
          <a:p>
            <a:endParaRPr lang="en-US" sz="2200" dirty="0"/>
          </a:p>
        </p:txBody>
      </p:sp>
      <p:sp>
        <p:nvSpPr>
          <p:cNvPr id="62" name="Oval 61"/>
          <p:cNvSpPr/>
          <p:nvPr/>
        </p:nvSpPr>
        <p:spPr>
          <a:xfrm>
            <a:off x="2438400" y="4648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200400" y="40386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3276600" y="5029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191000" y="40386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267200" y="5029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5029200" y="4495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>
            <a:stCxn id="62" idx="7"/>
            <a:endCxn id="64" idx="3"/>
          </p:cNvCxnSpPr>
          <p:nvPr/>
        </p:nvCxnSpPr>
        <p:spPr>
          <a:xfrm rot="5400000" flipH="1" flipV="1">
            <a:off x="2839804" y="4287604"/>
            <a:ext cx="340192" cy="49259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rot="5400000" flipH="1" flipV="1">
            <a:off x="4689008" y="4765208"/>
            <a:ext cx="340192" cy="49259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7" idx="2"/>
          </p:cNvCxnSpPr>
          <p:nvPr/>
        </p:nvCxnSpPr>
        <p:spPr>
          <a:xfrm>
            <a:off x="2743200" y="4988392"/>
            <a:ext cx="533400" cy="23130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572000" y="4343400"/>
            <a:ext cx="533400" cy="23130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endCxn id="69" idx="2"/>
          </p:cNvCxnSpPr>
          <p:nvPr/>
        </p:nvCxnSpPr>
        <p:spPr>
          <a:xfrm flipV="1">
            <a:off x="3657600" y="5219700"/>
            <a:ext cx="609600" cy="381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3581400" y="4229100"/>
            <a:ext cx="609600" cy="381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657600" y="38862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33800" y="48768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672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0600" y="4953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24400" y="41148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0" y="50292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86" name="Oval 85"/>
          <p:cNvSpPr/>
          <p:nvPr/>
        </p:nvSpPr>
        <p:spPr>
          <a:xfrm>
            <a:off x="1600200" y="4648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5867400" y="4495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/>
          <p:cNvCxnSpPr>
            <a:stCxn id="86" idx="6"/>
            <a:endCxn id="62" idx="2"/>
          </p:cNvCxnSpPr>
          <p:nvPr/>
        </p:nvCxnSpPr>
        <p:spPr>
          <a:xfrm>
            <a:off x="1981200" y="4838700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905000" y="44958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cxnSp>
        <p:nvCxnSpPr>
          <p:cNvPr id="92" name="Straight Arrow Connector 91"/>
          <p:cNvCxnSpPr/>
          <p:nvPr/>
        </p:nvCxnSpPr>
        <p:spPr>
          <a:xfrm>
            <a:off x="5410200" y="4686300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334000" y="4343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cxnSp>
        <p:nvCxnSpPr>
          <p:cNvPr id="95" name="Curved Connector 94"/>
          <p:cNvCxnSpPr>
            <a:stCxn id="86" idx="4"/>
            <a:endCxn id="87" idx="4"/>
          </p:cNvCxnSpPr>
          <p:nvPr/>
        </p:nvCxnSpPr>
        <p:spPr>
          <a:xfrm rot="5400000" flipH="1" flipV="1">
            <a:off x="3848100" y="2819400"/>
            <a:ext cx="152400" cy="4267200"/>
          </a:xfrm>
          <a:prstGeom prst="curvedConnector3">
            <a:avLst>
              <a:gd name="adj1" fmla="val -44538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urved Connector 97"/>
          <p:cNvCxnSpPr>
            <a:stCxn id="70" idx="0"/>
            <a:endCxn id="62" idx="0"/>
          </p:cNvCxnSpPr>
          <p:nvPr/>
        </p:nvCxnSpPr>
        <p:spPr>
          <a:xfrm rot="16200000" flipH="1" flipV="1">
            <a:off x="3848100" y="3276600"/>
            <a:ext cx="152400" cy="2590800"/>
          </a:xfrm>
          <a:prstGeom prst="curvedConnector3">
            <a:avLst>
              <a:gd name="adj1" fmla="val -510001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733800" y="54102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103" name="Oval 102"/>
          <p:cNvSpPr/>
          <p:nvPr/>
        </p:nvSpPr>
        <p:spPr>
          <a:xfrm>
            <a:off x="6705600" y="4495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7696200" y="4495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/>
          <p:cNvCxnSpPr/>
          <p:nvPr/>
        </p:nvCxnSpPr>
        <p:spPr>
          <a:xfrm flipV="1">
            <a:off x="7086600" y="4686300"/>
            <a:ext cx="609600" cy="381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7162800" y="4343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6248400" y="4722812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6248400" y="4343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ε</a:t>
            </a:r>
          </a:p>
        </p:txBody>
      </p:sp>
      <p:sp>
        <p:nvSpPr>
          <p:cNvPr id="109" name="Oval 108"/>
          <p:cNvSpPr/>
          <p:nvPr/>
        </p:nvSpPr>
        <p:spPr>
          <a:xfrm>
            <a:off x="7772400" y="457200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1143000" y="4875212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62" grpId="0" uiExpand="1" animBg="1"/>
      <p:bldP spid="64" grpId="0" uiExpand="1" animBg="1"/>
      <p:bldP spid="67" grpId="0" uiExpand="1" animBg="1"/>
      <p:bldP spid="68" grpId="0" uiExpand="1" animBg="1"/>
      <p:bldP spid="69" grpId="0" uiExpand="1" animBg="1"/>
      <p:bldP spid="70" grpId="0" uiExpand="1" animBg="1"/>
      <p:bldP spid="80" grpId="0" uiExpand="1"/>
      <p:bldP spid="81" grpId="0" uiExpand="1"/>
      <p:bldP spid="82" grpId="0" uiExpand="1"/>
      <p:bldP spid="83" grpId="0" uiExpand="1"/>
      <p:bldP spid="84" grpId="0" uiExpand="1"/>
      <p:bldP spid="85" grpId="0" uiExpand="1"/>
      <p:bldP spid="86" grpId="0" uiExpand="1" animBg="1"/>
      <p:bldP spid="87" grpId="0" uiExpand="1" animBg="1"/>
      <p:bldP spid="89" grpId="0" uiExpand="1"/>
      <p:bldP spid="93" grpId="0"/>
      <p:bldP spid="101" grpId="0" uiExpand="1" build="allAtOnce"/>
      <p:bldP spid="102" grpId="0" uiExpand="1" build="allAtOnce"/>
      <p:bldP spid="103" grpId="0" uiExpand="1" animBg="1"/>
      <p:bldP spid="104" grpId="0" uiExpand="1" animBg="1"/>
      <p:bldP spid="106" grpId="0" uiExpand="1"/>
      <p:bldP spid="108" grpId="0"/>
      <p:bldP spid="10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8FE-CFE2-4135-8567-E3DCFB919466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NFA With Null Moves to DFA Conversion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ea typeface="Times New Roman"/>
                <a:cs typeface="Mangal"/>
              </a:rPr>
              <a:t>Some definition used in the method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0000"/>
                </a:solidFill>
                <a:ea typeface="Times New Roman"/>
                <a:cs typeface="Mangal"/>
              </a:rPr>
              <a:t>ε-Closure (S)</a:t>
            </a:r>
            <a:r>
              <a:rPr lang="en-US" sz="2200" b="1" dirty="0">
                <a:ea typeface="Times New Roman"/>
                <a:cs typeface="Mangal"/>
              </a:rPr>
              <a:t>: </a:t>
            </a:r>
            <a:r>
              <a:rPr lang="en-US" sz="2200" dirty="0">
                <a:solidFill>
                  <a:srgbClr val="000000"/>
                </a:solidFill>
                <a:ea typeface="Times New Roman"/>
                <a:cs typeface="Mangal"/>
              </a:rPr>
              <a:t>Set of states reachable from state S via epsilon.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0000"/>
                </a:solidFill>
                <a:ea typeface="Times New Roman"/>
                <a:cs typeface="Mangal"/>
              </a:rPr>
              <a:t>ε-Closure (T): </a:t>
            </a:r>
            <a:r>
              <a:rPr lang="en-US" sz="2200" dirty="0">
                <a:solidFill>
                  <a:srgbClr val="000000"/>
                </a:solidFill>
                <a:ea typeface="Times New Roman"/>
                <a:cs typeface="Mangal"/>
              </a:rPr>
              <a:t>Set of states reachable from any state in set T via 	                   epsilon.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0000"/>
                </a:solidFill>
                <a:ea typeface="Times New Roman"/>
                <a:cs typeface="Mangal"/>
              </a:rPr>
              <a:t>move (T, a): </a:t>
            </a:r>
            <a:r>
              <a:rPr lang="en-US" sz="2200" dirty="0">
                <a:solidFill>
                  <a:srgbClr val="000000"/>
                </a:solidFill>
                <a:ea typeface="Times New Roman"/>
                <a:cs typeface="Mangal"/>
              </a:rPr>
              <a:t>Set of states to which there is an NFA transition from 	               states in T on a symbol a.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 err="1">
                <a:solidFill>
                  <a:srgbClr val="000000"/>
                </a:solidFill>
                <a:ea typeface="Calibri"/>
                <a:cs typeface="Mangal"/>
              </a:rPr>
              <a:t>D_states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Mangal"/>
              </a:rPr>
              <a:t>: 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Mangal"/>
              </a:rPr>
              <a:t>Set of states in equivalent DFA.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 err="1">
                <a:solidFill>
                  <a:srgbClr val="000000"/>
                </a:solidFill>
                <a:ea typeface="Calibri"/>
                <a:cs typeface="Mangal"/>
              </a:rPr>
              <a:t>D_Tran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Mangal"/>
              </a:rPr>
              <a:t>: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Mangal"/>
              </a:rPr>
              <a:t>Transition table of equivalent DFA.</a:t>
            </a:r>
            <a:endParaRPr lang="en-US" sz="2200" dirty="0">
              <a:ea typeface="Calibri"/>
              <a:cs typeface="Mangal"/>
            </a:endParaRPr>
          </a:p>
          <a:p>
            <a:endParaRPr lang="en-US" sz="2200" b="1" dirty="0"/>
          </a:p>
          <a:p>
            <a:endParaRPr lang="en-US" sz="2200" b="1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92F9-AA33-4FCB-8B7A-982A56B9AB2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/>
              <a:t>NFA With Null Moves to DFA Conversion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rmAutofit/>
          </a:bodyPr>
          <a:lstStyle/>
          <a:p>
            <a:r>
              <a:rPr lang="en-US" sz="1800" dirty="0"/>
              <a:t>Let N = (Q,∑,</a:t>
            </a:r>
            <a:r>
              <a:rPr lang="en-US" sz="1800" dirty="0">
                <a:sym typeface="Symbol" panose="05050102010706020507"/>
              </a:rPr>
              <a:t> , q0, F) is a NFA with  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ε-moves then there exists N’ = (Q, </a:t>
            </a:r>
            <a:r>
              <a:rPr lang="en-US" sz="1800" dirty="0"/>
              <a:t>∑, </a:t>
            </a:r>
            <a:r>
              <a:rPr lang="en-US" sz="1800" dirty="0">
                <a:sym typeface="Symbol" panose="05050102010706020507"/>
              </a:rPr>
              <a:t>, q0, F’) without 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ε-moves.</a:t>
            </a: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First Find 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ε-closure of all states in the design.</a:t>
            </a: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Calculate extended transition function using following conversion formulae.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  (</a:t>
            </a:r>
            <a:r>
              <a:rPr lang="en-US" sz="1800" dirty="0" err="1">
                <a:solidFill>
                  <a:srgbClr val="000000"/>
                </a:solidFill>
                <a:ea typeface="Times New Roman"/>
                <a:cs typeface="Mangal"/>
              </a:rPr>
              <a:t>i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) </a:t>
            </a:r>
            <a:r>
              <a:rPr lang="en-US" sz="1800" dirty="0">
                <a:sym typeface="Symbol" panose="05050102010706020507"/>
              </a:rPr>
              <a:t> (q, x) = 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ε-closure (</a:t>
            </a:r>
            <a:r>
              <a:rPr lang="en-US" sz="1800" dirty="0">
                <a:sym typeface="Symbol" panose="05050102010706020507"/>
              </a:rPr>
              <a:t>((q,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 ε), x))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 (ii) </a:t>
            </a:r>
            <a:r>
              <a:rPr lang="en-US" sz="1800" dirty="0">
                <a:sym typeface="Symbol" panose="05050102010706020507"/>
              </a:rPr>
              <a:t> (q, 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ε</a:t>
            </a:r>
            <a:r>
              <a:rPr lang="en-US" sz="1800" dirty="0">
                <a:sym typeface="Symbol" panose="05050102010706020507"/>
              </a:rPr>
              <a:t>) = </a:t>
            </a: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ε-closure (q)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Times New Roman"/>
                <a:cs typeface="Mangal"/>
              </a:rPr>
              <a:t>3. F’ is a set of all states whose ε-closure contains a final state in F.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ea typeface="Times New Roman"/>
              <a:cs typeface="Mangal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7605346" y="94615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20980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9400" y="2239135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338" y="2524641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pic>
        <p:nvPicPr>
          <p:cNvPr id="14" name="Picture 13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74F6-C290-4E15-B9CF-61DB8BE123D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ε –Closure of a state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295400"/>
          </a:xfrm>
        </p:spPr>
        <p:txBody>
          <a:bodyPr>
            <a:normAutofit/>
          </a:bodyPr>
          <a:lstStyle/>
          <a:p>
            <a:r>
              <a:rPr lang="en-US" sz="2400" dirty="0"/>
              <a:t>The ε-closure of the state q, denoted as ε-Closure(q), is the set that contains q, together with all states that can be reached starting at q by following only ε-transitions.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752600" y="2514600"/>
            <a:ext cx="5181600" cy="1905000"/>
            <a:chOff x="1752600" y="2514600"/>
            <a:chExt cx="5181600" cy="1905000"/>
          </a:xfrm>
        </p:grpSpPr>
        <p:cxnSp>
          <p:nvCxnSpPr>
            <p:cNvPr id="101" name="Straight Arrow Connector 100"/>
            <p:cNvCxnSpPr>
              <a:stCxn id="14" idx="6"/>
              <a:endCxn id="18" idx="2"/>
            </p:cNvCxnSpPr>
            <p:nvPr/>
          </p:nvCxnSpPr>
          <p:spPr>
            <a:xfrm>
              <a:off x="4572000" y="4038600"/>
              <a:ext cx="1219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752600" y="2514600"/>
              <a:ext cx="5181600" cy="1905000"/>
              <a:chOff x="1447800" y="2514600"/>
              <a:chExt cx="5181600" cy="1905000"/>
            </a:xfrm>
          </p:grpSpPr>
          <p:cxnSp>
            <p:nvCxnSpPr>
              <p:cNvPr id="120" name="Curved Connector 119"/>
              <p:cNvCxnSpPr>
                <a:stCxn id="12" idx="0"/>
                <a:endCxn id="12" idx="7"/>
              </p:cNvCxnSpPr>
              <p:nvPr/>
            </p:nvCxnSpPr>
            <p:spPr>
              <a:xfrm rot="16200000" flipH="1">
                <a:off x="2212508" y="3578692"/>
                <a:ext cx="111592" cy="269408"/>
              </a:xfrm>
              <a:prstGeom prst="curvedConnector3">
                <a:avLst>
                  <a:gd name="adj1" fmla="val -680642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urved Connector 121"/>
              <p:cNvCxnSpPr>
                <a:stCxn id="14" idx="0"/>
                <a:endCxn id="14" idx="7"/>
              </p:cNvCxnSpPr>
              <p:nvPr/>
            </p:nvCxnSpPr>
            <p:spPr>
              <a:xfrm rot="16200000" flipH="1">
                <a:off x="3965108" y="3578692"/>
                <a:ext cx="111592" cy="269408"/>
              </a:xfrm>
              <a:prstGeom prst="curvedConnector3">
                <a:avLst>
                  <a:gd name="adj1" fmla="val -773157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urved Connector 122"/>
              <p:cNvCxnSpPr>
                <a:stCxn id="18" idx="0"/>
                <a:endCxn id="18" idx="7"/>
              </p:cNvCxnSpPr>
              <p:nvPr/>
            </p:nvCxnSpPr>
            <p:spPr>
              <a:xfrm rot="16200000" flipH="1">
                <a:off x="5946308" y="3578692"/>
                <a:ext cx="111592" cy="269408"/>
              </a:xfrm>
              <a:prstGeom prst="curvedConnector3">
                <a:avLst>
                  <a:gd name="adj1" fmla="val -746723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" name="Group 133"/>
              <p:cNvGrpSpPr/>
              <p:nvPr/>
            </p:nvGrpSpPr>
            <p:grpSpPr>
              <a:xfrm>
                <a:off x="1447800" y="2514600"/>
                <a:ext cx="5181600" cy="1905000"/>
                <a:chOff x="1447800" y="2514600"/>
                <a:chExt cx="5181600" cy="1905000"/>
              </a:xfrm>
            </p:grpSpPr>
            <p:grpSp>
              <p:nvGrpSpPr>
                <p:cNvPr id="3" name="Group 132"/>
                <p:cNvGrpSpPr/>
                <p:nvPr/>
              </p:nvGrpSpPr>
              <p:grpSpPr>
                <a:xfrm>
                  <a:off x="1447800" y="3653135"/>
                  <a:ext cx="4800600" cy="766465"/>
                  <a:chOff x="1447800" y="3653135"/>
                  <a:chExt cx="4800600" cy="766465"/>
                </a:xfrm>
              </p:grpSpPr>
              <p:sp>
                <p:nvSpPr>
                  <p:cNvPr id="12" name="Oval 11"/>
                  <p:cNvSpPr/>
                  <p:nvPr/>
                </p:nvSpPr>
                <p:spPr>
                  <a:xfrm>
                    <a:off x="17526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q0</a:t>
                    </a:r>
                  </a:p>
                </p:txBody>
              </p:sp>
              <p:cxnSp>
                <p:nvCxnSpPr>
                  <p:cNvPr id="13" name="Straight Arrow Connector 12"/>
                  <p:cNvCxnSpPr>
                    <a:endCxn id="12" idx="2"/>
                  </p:cNvCxnSpPr>
                  <p:nvPr/>
                </p:nvCxnSpPr>
                <p:spPr>
                  <a:xfrm flipV="1">
                    <a:off x="1447800" y="4038600"/>
                    <a:ext cx="304800" cy="228600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Oval 13"/>
                  <p:cNvSpPr/>
                  <p:nvPr/>
                </p:nvSpPr>
                <p:spPr>
                  <a:xfrm>
                    <a:off x="35052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q1</a:t>
                    </a:r>
                  </a:p>
                </p:txBody>
              </p:sp>
              <p:sp>
                <p:nvSpPr>
                  <p:cNvPr id="16" name="Oval 15"/>
                  <p:cNvSpPr/>
                  <p:nvPr/>
                </p:nvSpPr>
                <p:spPr>
                  <a:xfrm>
                    <a:off x="5562600" y="3733800"/>
                    <a:ext cx="609600" cy="6096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/>
                  <p:cNvSpPr/>
                  <p:nvPr/>
                </p:nvSpPr>
                <p:spPr>
                  <a:xfrm>
                    <a:off x="54864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q2</a:t>
                    </a:r>
                  </a:p>
                </p:txBody>
              </p:sp>
              <p:cxnSp>
                <p:nvCxnSpPr>
                  <p:cNvPr id="40" name="Straight Arrow Connector 39"/>
                  <p:cNvCxnSpPr>
                    <a:stCxn id="12" idx="6"/>
                    <a:endCxn id="14" idx="2"/>
                  </p:cNvCxnSpPr>
                  <p:nvPr/>
                </p:nvCxnSpPr>
                <p:spPr>
                  <a:xfrm>
                    <a:off x="2514600" y="4038600"/>
                    <a:ext cx="990600" cy="1588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4724400" y="3653135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2819400" y="3653135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</p:grpSp>
            <p:sp>
              <p:nvSpPr>
                <p:cNvPr id="130" name="TextBox 129"/>
                <p:cNvSpPr txBox="1"/>
                <p:nvPr/>
              </p:nvSpPr>
              <p:spPr>
                <a:xfrm>
                  <a:off x="2362200" y="2586335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a</a:t>
                  </a: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4114800" y="2514600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  <p:sp>
              <p:nvSpPr>
                <p:cNvPr id="132" name="TextBox 131"/>
                <p:cNvSpPr txBox="1"/>
                <p:nvPr/>
              </p:nvSpPr>
              <p:spPr>
                <a:xfrm>
                  <a:off x="6096000" y="2514600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c</a:t>
                  </a:r>
                </a:p>
              </p:txBody>
            </p:sp>
          </p:grpSp>
        </p:grpSp>
      </p:grpSp>
      <p:sp>
        <p:nvSpPr>
          <p:cNvPr id="26" name="Content Placeholder 10"/>
          <p:cNvSpPr txBox="1"/>
          <p:nvPr/>
        </p:nvSpPr>
        <p:spPr>
          <a:xfrm>
            <a:off x="609600" y="4648200"/>
            <a:ext cx="82296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ε-Closure(q0) = {q0, q1, q2}</a:t>
            </a:r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ε-Closure(q1) = {q1, q2}</a:t>
            </a:r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ε-Closure(q2) = {q2}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" name="Picture 2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57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BED-14EB-4DFC-B604-B2FE8C9376B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ε –Closure of a state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sz="2000" dirty="0">
                <a:sym typeface="Symbol" panose="05050102010706020507"/>
              </a:rPr>
              <a:t>’</a:t>
            </a:r>
            <a:r>
              <a:rPr lang="en-US" sz="2000" dirty="0"/>
              <a:t>({q0, q1,q2} ,a) = ε-Closure (</a:t>
            </a:r>
            <a:r>
              <a:rPr lang="en-US" sz="2000" dirty="0">
                <a:sym typeface="Symbol" panose="05050102010706020507"/>
              </a:rPr>
              <a:t> (q0,q1,q2), a)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/>
              </a:rPr>
              <a:t>                                  = </a:t>
            </a:r>
            <a:r>
              <a:rPr lang="en-US" sz="2000" dirty="0"/>
              <a:t>ε-Closure (</a:t>
            </a:r>
            <a:r>
              <a:rPr lang="en-US" sz="2000" dirty="0">
                <a:sym typeface="Symbol" panose="05050102010706020507"/>
              </a:rPr>
              <a:t>(q0,a) U  (q1,a) U  (q2,a))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/>
              </a:rPr>
              <a:t>                                   = </a:t>
            </a:r>
            <a:r>
              <a:rPr lang="en-US" sz="2000" dirty="0"/>
              <a:t>ε-Closure (q0 U </a:t>
            </a:r>
            <a:r>
              <a:rPr lang="en-US" sz="2000" dirty="0">
                <a:sym typeface="Symbol" panose="05050102010706020507"/>
              </a:rPr>
              <a:t> U )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/>
              </a:rPr>
              <a:t>                                   = </a:t>
            </a:r>
            <a:r>
              <a:rPr lang="en-US" sz="2000" dirty="0"/>
              <a:t>ε-Closure (q0)</a:t>
            </a:r>
          </a:p>
          <a:p>
            <a:pPr marL="0" indent="0">
              <a:buNone/>
            </a:pPr>
            <a:r>
              <a:rPr lang="en-US" sz="2000" dirty="0"/>
              <a:t>                                    = {q0,q1,q2}</a:t>
            </a:r>
          </a:p>
          <a:p>
            <a:pPr marL="0" indent="0">
              <a:buNone/>
            </a:pPr>
            <a:r>
              <a:rPr lang="en-US" sz="2000" dirty="0"/>
              <a:t>Similarly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/>
              </a:rPr>
              <a:t>’</a:t>
            </a:r>
            <a:r>
              <a:rPr lang="en-US" sz="2000" dirty="0"/>
              <a:t>({q0, q1,q2} ,b)   =  ε-Closure (</a:t>
            </a:r>
            <a:r>
              <a:rPr lang="en-US" sz="2000" dirty="0">
                <a:sym typeface="Symbol" panose="05050102010706020507"/>
              </a:rPr>
              <a:t> (q0,q1,q2), b)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/>
              </a:rPr>
              <a:t>                                  = </a:t>
            </a:r>
            <a:r>
              <a:rPr lang="en-US" sz="2000" dirty="0"/>
              <a:t>ε-Closure (</a:t>
            </a:r>
            <a:r>
              <a:rPr lang="en-US" sz="2000" dirty="0">
                <a:sym typeface="Symbol" panose="05050102010706020507"/>
              </a:rPr>
              <a:t>(q0,b) U  (q1,b) U  (q2,b))</a:t>
            </a:r>
          </a:p>
          <a:p>
            <a:pPr marL="0" indent="0">
              <a:buNone/>
            </a:pPr>
            <a:r>
              <a:rPr lang="en-US" sz="2000" dirty="0"/>
              <a:t>                                   </a:t>
            </a:r>
            <a:r>
              <a:rPr lang="en-US" sz="2000" dirty="0">
                <a:sym typeface="Symbol" panose="05050102010706020507"/>
              </a:rPr>
              <a:t>= </a:t>
            </a:r>
            <a:r>
              <a:rPr lang="en-US" sz="2000" dirty="0"/>
              <a:t>ε-Closure (</a:t>
            </a:r>
            <a:r>
              <a:rPr lang="en-US" sz="2000" dirty="0">
                <a:sym typeface="Symbol" panose="05050102010706020507"/>
              </a:rPr>
              <a:t> U q1 U )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/>
              </a:rPr>
              <a:t>                                   = </a:t>
            </a:r>
            <a:r>
              <a:rPr lang="en-US" sz="2000" dirty="0"/>
              <a:t>ε-Closure (q1)</a:t>
            </a:r>
          </a:p>
          <a:p>
            <a:pPr marL="0" indent="0">
              <a:buNone/>
            </a:pPr>
            <a:r>
              <a:rPr lang="en-US" sz="2000" dirty="0"/>
              <a:t>                                    = {q1,q2}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057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801-1E2F-49F5-93DD-2D1FEB06F6F2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Conversion of ε –NFA to NFA 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33400" y="838200"/>
            <a:ext cx="5181600" cy="1447800"/>
            <a:chOff x="1752600" y="2514600"/>
            <a:chExt cx="5181600" cy="1905000"/>
          </a:xfrm>
        </p:grpSpPr>
        <p:cxnSp>
          <p:nvCxnSpPr>
            <p:cNvPr id="46" name="Straight Arrow Connector 45"/>
            <p:cNvCxnSpPr>
              <a:stCxn id="58" idx="6"/>
              <a:endCxn id="60" idx="2"/>
            </p:cNvCxnSpPr>
            <p:nvPr/>
          </p:nvCxnSpPr>
          <p:spPr>
            <a:xfrm>
              <a:off x="4572000" y="4038600"/>
              <a:ext cx="1219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24"/>
            <p:cNvGrpSpPr/>
            <p:nvPr/>
          </p:nvGrpSpPr>
          <p:grpSpPr>
            <a:xfrm>
              <a:off x="1752600" y="2514600"/>
              <a:ext cx="5181600" cy="1905000"/>
              <a:chOff x="1447800" y="2514600"/>
              <a:chExt cx="5181600" cy="1905000"/>
            </a:xfrm>
          </p:grpSpPr>
          <p:cxnSp>
            <p:nvCxnSpPr>
              <p:cNvPr id="48" name="Curved Connector 47"/>
              <p:cNvCxnSpPr>
                <a:stCxn id="56" idx="0"/>
                <a:endCxn id="56" idx="7"/>
              </p:cNvCxnSpPr>
              <p:nvPr/>
            </p:nvCxnSpPr>
            <p:spPr>
              <a:xfrm rot="16200000" flipH="1">
                <a:off x="2212508" y="3578692"/>
                <a:ext cx="111592" cy="269408"/>
              </a:xfrm>
              <a:prstGeom prst="curvedConnector3">
                <a:avLst>
                  <a:gd name="adj1" fmla="val -680642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urved Connector 48"/>
              <p:cNvCxnSpPr>
                <a:stCxn id="58" idx="0"/>
                <a:endCxn id="58" idx="7"/>
              </p:cNvCxnSpPr>
              <p:nvPr/>
            </p:nvCxnSpPr>
            <p:spPr>
              <a:xfrm rot="16200000" flipH="1">
                <a:off x="3965108" y="3578692"/>
                <a:ext cx="111592" cy="269408"/>
              </a:xfrm>
              <a:prstGeom prst="curvedConnector3">
                <a:avLst>
                  <a:gd name="adj1" fmla="val -773157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urved Connector 49"/>
              <p:cNvCxnSpPr>
                <a:stCxn id="60" idx="0"/>
                <a:endCxn id="60" idx="7"/>
              </p:cNvCxnSpPr>
              <p:nvPr/>
            </p:nvCxnSpPr>
            <p:spPr>
              <a:xfrm rot="16200000" flipH="1">
                <a:off x="5946308" y="3578692"/>
                <a:ext cx="111592" cy="269408"/>
              </a:xfrm>
              <a:prstGeom prst="curvedConnector3">
                <a:avLst>
                  <a:gd name="adj1" fmla="val -746723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133"/>
              <p:cNvGrpSpPr/>
              <p:nvPr/>
            </p:nvGrpSpPr>
            <p:grpSpPr>
              <a:xfrm>
                <a:off x="1447800" y="2514600"/>
                <a:ext cx="5181600" cy="1905000"/>
                <a:chOff x="1447800" y="2514600"/>
                <a:chExt cx="5181600" cy="1905000"/>
              </a:xfrm>
            </p:grpSpPr>
            <p:grpSp>
              <p:nvGrpSpPr>
                <p:cNvPr id="52" name="Group 132"/>
                <p:cNvGrpSpPr/>
                <p:nvPr/>
              </p:nvGrpSpPr>
              <p:grpSpPr>
                <a:xfrm>
                  <a:off x="1447800" y="3517232"/>
                  <a:ext cx="4800600" cy="902368"/>
                  <a:chOff x="1447800" y="3517232"/>
                  <a:chExt cx="4800600" cy="902368"/>
                </a:xfrm>
              </p:grpSpPr>
              <p:sp>
                <p:nvSpPr>
                  <p:cNvPr id="56" name="Oval 55"/>
                  <p:cNvSpPr/>
                  <p:nvPr/>
                </p:nvSpPr>
                <p:spPr>
                  <a:xfrm>
                    <a:off x="17526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q0</a:t>
                    </a:r>
                  </a:p>
                </p:txBody>
              </p:sp>
              <p:cxnSp>
                <p:nvCxnSpPr>
                  <p:cNvPr id="57" name="Straight Arrow Connector 56"/>
                  <p:cNvCxnSpPr>
                    <a:endCxn id="56" idx="2"/>
                  </p:cNvCxnSpPr>
                  <p:nvPr/>
                </p:nvCxnSpPr>
                <p:spPr>
                  <a:xfrm flipV="1">
                    <a:off x="1447800" y="4038600"/>
                    <a:ext cx="304800" cy="228600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Oval 57"/>
                  <p:cNvSpPr/>
                  <p:nvPr/>
                </p:nvSpPr>
                <p:spPr>
                  <a:xfrm>
                    <a:off x="35052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q1</a:t>
                    </a:r>
                  </a:p>
                </p:txBody>
              </p:sp>
              <p:sp>
                <p:nvSpPr>
                  <p:cNvPr id="59" name="Oval 58"/>
                  <p:cNvSpPr/>
                  <p:nvPr/>
                </p:nvSpPr>
                <p:spPr>
                  <a:xfrm>
                    <a:off x="5562600" y="3733800"/>
                    <a:ext cx="609600" cy="6096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" name="Oval 59"/>
                  <p:cNvSpPr/>
                  <p:nvPr/>
                </p:nvSpPr>
                <p:spPr>
                  <a:xfrm>
                    <a:off x="54864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q2</a:t>
                    </a:r>
                  </a:p>
                </p:txBody>
              </p:sp>
              <p:cxnSp>
                <p:nvCxnSpPr>
                  <p:cNvPr id="61" name="Straight Arrow Connector 60"/>
                  <p:cNvCxnSpPr>
                    <a:stCxn id="56" idx="6"/>
                    <a:endCxn id="58" idx="2"/>
                  </p:cNvCxnSpPr>
                  <p:nvPr/>
                </p:nvCxnSpPr>
                <p:spPr>
                  <a:xfrm>
                    <a:off x="2514600" y="4038600"/>
                    <a:ext cx="990600" cy="1588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4724400" y="3517232"/>
                    <a:ext cx="533400" cy="461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2819400" y="3517232"/>
                    <a:ext cx="533400" cy="461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</p:grpSp>
            <p:sp>
              <p:nvSpPr>
                <p:cNvPr id="53" name="TextBox 52"/>
                <p:cNvSpPr txBox="1"/>
                <p:nvPr/>
              </p:nvSpPr>
              <p:spPr>
                <a:xfrm>
                  <a:off x="2362200" y="2586335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a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4114800" y="2514600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6096000" y="2514600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c</a:t>
                  </a:r>
                </a:p>
              </p:txBody>
            </p:sp>
          </p:grpSp>
        </p:grpSp>
      </p:grp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81000" y="2590800"/>
          <a:ext cx="29718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ε</a:t>
                      </a:r>
                      <a:r>
                        <a:rPr lang="en-US" sz="1800" dirty="0"/>
                        <a:t>-Closure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{q0, 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q2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99695"/>
              </p:ext>
            </p:extLst>
          </p:nvPr>
        </p:nvGraphicFramePr>
        <p:xfrm>
          <a:off x="3518646" y="2590800"/>
          <a:ext cx="5015753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3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A={q0,</a:t>
                      </a:r>
                      <a:r>
                        <a:rPr lang="en-US" baseline="0" dirty="0"/>
                        <a:t> q1,q2}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{q0, 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B={q1,q2}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C={q2}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3" name="Group 112"/>
          <p:cNvGrpSpPr/>
          <p:nvPr/>
        </p:nvGrpSpPr>
        <p:grpSpPr>
          <a:xfrm>
            <a:off x="2590800" y="4343400"/>
            <a:ext cx="5257800" cy="2024931"/>
            <a:chOff x="2590800" y="4343400"/>
            <a:chExt cx="5257800" cy="2024931"/>
          </a:xfrm>
        </p:grpSpPr>
        <p:grpSp>
          <p:nvGrpSpPr>
            <p:cNvPr id="111" name="Group 110"/>
            <p:cNvGrpSpPr/>
            <p:nvPr/>
          </p:nvGrpSpPr>
          <p:grpSpPr>
            <a:xfrm>
              <a:off x="2590800" y="4343400"/>
              <a:ext cx="5257800" cy="2024931"/>
              <a:chOff x="2590800" y="4419601"/>
              <a:chExt cx="5257800" cy="2024931"/>
            </a:xfrm>
          </p:grpSpPr>
          <p:cxnSp>
            <p:nvCxnSpPr>
              <p:cNvPr id="67" name="Straight Arrow Connector 66"/>
              <p:cNvCxnSpPr>
                <a:stCxn id="79" idx="6"/>
                <a:endCxn id="81" idx="2"/>
              </p:cNvCxnSpPr>
              <p:nvPr/>
            </p:nvCxnSpPr>
            <p:spPr>
              <a:xfrm flipV="1">
                <a:off x="5410200" y="5484411"/>
                <a:ext cx="1278591" cy="16234"/>
              </a:xfrm>
              <a:prstGeom prst="straightConnector1">
                <a:avLst/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/>
              <p:cNvGrpSpPr/>
              <p:nvPr/>
            </p:nvGrpSpPr>
            <p:grpSpPr>
              <a:xfrm>
                <a:off x="2590800" y="4419601"/>
                <a:ext cx="5257800" cy="2024931"/>
                <a:chOff x="1295400" y="4680669"/>
                <a:chExt cx="5257800" cy="2024931"/>
              </a:xfrm>
            </p:grpSpPr>
            <p:cxnSp>
              <p:nvCxnSpPr>
                <p:cNvPr id="69" name="Curved Connector 68"/>
                <p:cNvCxnSpPr>
                  <a:stCxn id="77" idx="0"/>
                  <a:endCxn id="77" idx="7"/>
                </p:cNvCxnSpPr>
                <p:nvPr/>
              </p:nvCxnSpPr>
              <p:spPr>
                <a:xfrm rot="16200000" flipH="1">
                  <a:off x="2076637" y="5309607"/>
                  <a:ext cx="102665" cy="273370"/>
                </a:xfrm>
                <a:prstGeom prst="curvedConnector3">
                  <a:avLst>
                    <a:gd name="adj1" fmla="val -423783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Curved Connector 69"/>
                <p:cNvCxnSpPr>
                  <a:stCxn id="79" idx="0"/>
                  <a:endCxn id="79" idx="7"/>
                </p:cNvCxnSpPr>
                <p:nvPr/>
              </p:nvCxnSpPr>
              <p:spPr>
                <a:xfrm rot="16200000" flipH="1">
                  <a:off x="3824573" y="5319313"/>
                  <a:ext cx="107420" cy="258710"/>
                </a:xfrm>
                <a:prstGeom prst="curvedConnector3">
                  <a:avLst>
                    <a:gd name="adj1" fmla="val -405025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Curved Connector 70"/>
                <p:cNvCxnSpPr>
                  <a:stCxn id="81" idx="0"/>
                  <a:endCxn id="81" idx="7"/>
                </p:cNvCxnSpPr>
                <p:nvPr/>
              </p:nvCxnSpPr>
              <p:spPr>
                <a:xfrm rot="16200000" flipH="1">
                  <a:off x="5865346" y="5309607"/>
                  <a:ext cx="102665" cy="273370"/>
                </a:xfrm>
                <a:prstGeom prst="curvedConnector3">
                  <a:avLst>
                    <a:gd name="adj1" fmla="val -423783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2" name="Group 133"/>
                <p:cNvGrpSpPr/>
                <p:nvPr/>
              </p:nvGrpSpPr>
              <p:grpSpPr>
                <a:xfrm>
                  <a:off x="1295400" y="4680669"/>
                  <a:ext cx="5257800" cy="1447799"/>
                  <a:chOff x="1447800" y="2881196"/>
                  <a:chExt cx="5181600" cy="1573695"/>
                </a:xfrm>
              </p:grpSpPr>
              <p:grpSp>
                <p:nvGrpSpPr>
                  <p:cNvPr id="73" name="Group 132"/>
                  <p:cNvGrpSpPr/>
                  <p:nvPr/>
                </p:nvGrpSpPr>
                <p:grpSpPr>
                  <a:xfrm>
                    <a:off x="1447800" y="3591340"/>
                    <a:ext cx="4800600" cy="863551"/>
                    <a:chOff x="1447800" y="3591340"/>
                    <a:chExt cx="4800600" cy="863551"/>
                  </a:xfrm>
                </p:grpSpPr>
                <p:sp>
                  <p:nvSpPr>
                    <p:cNvPr id="77" name="Oval 76"/>
                    <p:cNvSpPr/>
                    <p:nvPr/>
                  </p:nvSpPr>
                  <p:spPr>
                    <a:xfrm>
                      <a:off x="1752600" y="3657600"/>
                      <a:ext cx="762000" cy="762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p:txBody>
                </p:sp>
                <p:cxnSp>
                  <p:nvCxnSpPr>
                    <p:cNvPr id="78" name="Straight Arrow Connector 77"/>
                    <p:cNvCxnSpPr>
                      <a:endCxn id="77" idx="2"/>
                    </p:cNvCxnSpPr>
                    <p:nvPr/>
                  </p:nvCxnSpPr>
                  <p:spPr>
                    <a:xfrm flipV="1">
                      <a:off x="1447800" y="4038600"/>
                      <a:ext cx="304800" cy="228600"/>
                    </a:xfrm>
                    <a:prstGeom prst="straightConnector1">
                      <a:avLst/>
                    </a:prstGeom>
                    <a:ln w="31750">
                      <a:solidFill>
                        <a:srgbClr val="7BE5E5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Oval 78"/>
                    <p:cNvSpPr/>
                    <p:nvPr/>
                  </p:nvSpPr>
                  <p:spPr>
                    <a:xfrm>
                      <a:off x="3505200" y="3657598"/>
                      <a:ext cx="721139" cy="797293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p:txBody>
                </p:sp>
                <p:sp>
                  <p:nvSpPr>
                    <p:cNvPr id="80" name="Oval 79"/>
                    <p:cNvSpPr/>
                    <p:nvPr/>
                  </p:nvSpPr>
                  <p:spPr>
                    <a:xfrm>
                      <a:off x="5562600" y="3733800"/>
                      <a:ext cx="609600" cy="6096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Oval 80"/>
                    <p:cNvSpPr/>
                    <p:nvPr/>
                  </p:nvSpPr>
                  <p:spPr>
                    <a:xfrm>
                      <a:off x="5486400" y="3657600"/>
                      <a:ext cx="762000" cy="762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p:txBody>
                </p:sp>
                <p:cxnSp>
                  <p:nvCxnSpPr>
                    <p:cNvPr id="82" name="Straight Arrow Connector 81"/>
                    <p:cNvCxnSpPr>
                      <a:stCxn id="77" idx="6"/>
                      <a:endCxn id="79" idx="2"/>
                    </p:cNvCxnSpPr>
                    <p:nvPr/>
                  </p:nvCxnSpPr>
                  <p:spPr>
                    <a:xfrm>
                      <a:off x="2514600" y="4038599"/>
                      <a:ext cx="990600" cy="17646"/>
                    </a:xfrm>
                    <a:prstGeom prst="straightConnector1">
                      <a:avLst/>
                    </a:prstGeom>
                    <a:ln w="31750">
                      <a:solidFill>
                        <a:srgbClr val="7BE5E5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3" name="TextBox 82"/>
                    <p:cNvSpPr txBox="1"/>
                    <p:nvPr/>
                  </p:nvSpPr>
                  <p:spPr>
                    <a:xfrm>
                      <a:off x="4601817" y="3591340"/>
                      <a:ext cx="655982" cy="5018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c</a:t>
                      </a:r>
                    </a:p>
                  </p:txBody>
                </p:sp>
                <p:sp>
                  <p:nvSpPr>
                    <p:cNvPr id="84" name="TextBox 83"/>
                    <p:cNvSpPr txBox="1"/>
                    <p:nvPr/>
                  </p:nvSpPr>
                  <p:spPr>
                    <a:xfrm>
                      <a:off x="2724426" y="3591340"/>
                      <a:ext cx="655982" cy="5018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p:txBody>
                </p:sp>
              </p:grpSp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2362200" y="2881196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a</a:t>
                    </a:r>
                  </a:p>
                </p:txBody>
              </p:sp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4114800" y="2881196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6096000" y="2881196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c</a:t>
                    </a:r>
                  </a:p>
                </p:txBody>
              </p:sp>
            </p:grpSp>
            <p:cxnSp>
              <p:nvCxnSpPr>
                <p:cNvPr id="87" name="Curved Connector 86"/>
                <p:cNvCxnSpPr>
                  <a:stCxn id="77" idx="4"/>
                  <a:endCxn id="81" idx="4"/>
                </p:cNvCxnSpPr>
                <p:nvPr/>
              </p:nvCxnSpPr>
              <p:spPr>
                <a:xfrm rot="16200000" flipH="1">
                  <a:off x="3885639" y="4201645"/>
                  <a:ext cx="1588" cy="3788709"/>
                </a:xfrm>
                <a:prstGeom prst="curvedConnector3">
                  <a:avLst>
                    <a:gd name="adj1" fmla="val 38542707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/>
                <p:cNvSpPr txBox="1"/>
                <p:nvPr/>
              </p:nvSpPr>
              <p:spPr>
                <a:xfrm>
                  <a:off x="3525371" y="6243935"/>
                  <a:ext cx="970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 c</a:t>
                  </a:r>
                </a:p>
              </p:txBody>
            </p:sp>
          </p:grpSp>
        </p:grpSp>
        <p:sp>
          <p:nvSpPr>
            <p:cNvPr id="97" name="Oval 96"/>
            <p:cNvSpPr/>
            <p:nvPr/>
          </p:nvSpPr>
          <p:spPr>
            <a:xfrm>
              <a:off x="4724400" y="5181600"/>
              <a:ext cx="609600" cy="5334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2971800" y="5105400"/>
              <a:ext cx="618565" cy="560832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Picture 6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844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C2172-C972-4AA6-B2FD-998EB62AD622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Minimization of DFA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42546" y="1387475"/>
            <a:ext cx="8229600" cy="47244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/>
              <a:t>Minimization of a DFA refers to the removal of those states of a DFA, whose presence or absence in a DFA does not affect the language accepted by the automata.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states that can be eliminated from automata are:</a:t>
            </a:r>
          </a:p>
          <a:p>
            <a:pPr indent="-3175" algn="just">
              <a:buFont typeface="Wingdings" panose="05000000000000000000" pitchFamily="2" charset="2"/>
              <a:buChar char="Ø"/>
            </a:pPr>
            <a:r>
              <a:rPr lang="en-US" sz="2400" dirty="0"/>
              <a:t>	</a:t>
            </a:r>
            <a:r>
              <a:rPr lang="en-US" sz="2400" b="1" dirty="0"/>
              <a:t>Unreachable or inaccessible states: </a:t>
            </a:r>
            <a:r>
              <a:rPr lang="en-US" sz="2400" dirty="0"/>
              <a:t>All those states which can never be reached from the initial state called unreachable states.</a:t>
            </a:r>
          </a:p>
          <a:p>
            <a:pPr indent="-3175" algn="just">
              <a:buFont typeface="Wingdings" panose="05000000000000000000" pitchFamily="2" charset="2"/>
              <a:buChar char="Ø"/>
            </a:pPr>
            <a:r>
              <a:rPr lang="en-US" sz="2400" dirty="0"/>
              <a:t>	</a:t>
            </a:r>
            <a:r>
              <a:rPr lang="en-US" sz="2400" b="1" dirty="0"/>
              <a:t>Dead states: </a:t>
            </a:r>
            <a:r>
              <a:rPr lang="en-US" sz="1700" dirty="0"/>
              <a:t>All those non final states which transition to itself for all input </a:t>
            </a:r>
          </a:p>
          <a:p>
            <a:pPr indent="-3175" algn="just">
              <a:buFont typeface="Wingdings" panose="05000000000000000000" pitchFamily="2" charset="2"/>
              <a:buChar char="Ø"/>
            </a:pPr>
            <a:r>
              <a:rPr lang="en-US" sz="2400" dirty="0"/>
              <a:t>	</a:t>
            </a:r>
            <a:r>
              <a:rPr lang="en-US" sz="2400" b="1" dirty="0"/>
              <a:t>Non-distinguishable or indistinguishable state or equivalent states: </a:t>
            </a:r>
            <a:r>
              <a:rPr lang="en-US" sz="2400" dirty="0"/>
              <a:t>Two states q1 and q2 are indistinguishable if </a:t>
            </a:r>
          </a:p>
          <a:p>
            <a:pPr marL="339725" indent="0" algn="just">
              <a:buNone/>
            </a:pPr>
            <a:r>
              <a:rPr lang="en-US" sz="2400" dirty="0"/>
              <a:t> </a:t>
            </a:r>
            <a:r>
              <a:rPr lang="en-US" sz="2400" dirty="0">
                <a:sym typeface="Symbol" panose="05050102010706020507"/>
              </a:rPr>
              <a:t></a:t>
            </a:r>
            <a:r>
              <a:rPr lang="en-US" sz="2400" dirty="0"/>
              <a:t> (q1,w)  </a:t>
            </a:r>
            <a:r>
              <a:rPr lang="el-GR" sz="2400" dirty="0"/>
              <a:t>ε</a:t>
            </a:r>
            <a:r>
              <a:rPr lang="en-US" sz="2400" dirty="0"/>
              <a:t> F             </a:t>
            </a:r>
            <a:r>
              <a:rPr lang="en-US" sz="2400" dirty="0">
                <a:sym typeface="Symbol" panose="05050102010706020507"/>
              </a:rPr>
              <a:t></a:t>
            </a:r>
            <a:r>
              <a:rPr lang="en-US" sz="2400" dirty="0"/>
              <a:t>  (q2,w) </a:t>
            </a:r>
            <a:r>
              <a:rPr lang="el-GR" sz="2400" dirty="0"/>
              <a:t>ε</a:t>
            </a:r>
            <a:r>
              <a:rPr lang="en-US" sz="2400" dirty="0"/>
              <a:t> F</a:t>
            </a:r>
          </a:p>
          <a:p>
            <a:pPr marL="339725" indent="0" algn="just">
              <a:buNone/>
            </a:pPr>
            <a:r>
              <a:rPr lang="en-US" sz="2400" dirty="0">
                <a:sym typeface="Symbol" panose="05050102010706020507"/>
              </a:rPr>
              <a:t> </a:t>
            </a:r>
            <a:r>
              <a:rPr lang="en-US" sz="2400" dirty="0"/>
              <a:t> (q1,w)  </a:t>
            </a:r>
            <a:r>
              <a:rPr lang="el-GR" sz="2400" dirty="0"/>
              <a:t>ε</a:t>
            </a:r>
            <a:r>
              <a:rPr lang="en-US" sz="2400" dirty="0"/>
              <a:t> F             </a:t>
            </a:r>
            <a:r>
              <a:rPr lang="en-US" sz="2400" dirty="0">
                <a:sym typeface="Symbol" panose="05050102010706020507"/>
              </a:rPr>
              <a:t></a:t>
            </a:r>
            <a:r>
              <a:rPr lang="en-US" sz="2400" dirty="0"/>
              <a:t>  (q2,w) </a:t>
            </a:r>
            <a:r>
              <a:rPr lang="el-GR" sz="2400" dirty="0"/>
              <a:t>ε</a:t>
            </a:r>
            <a:r>
              <a:rPr lang="en-US" sz="2400" dirty="0"/>
              <a:t> F</a:t>
            </a:r>
          </a:p>
          <a:p>
            <a:pPr marL="339725" indent="0" algn="just">
              <a:buNone/>
            </a:pPr>
            <a:endParaRPr lang="en-US" sz="2400" dirty="0"/>
          </a:p>
        </p:txBody>
      </p:sp>
      <p:sp>
        <p:nvSpPr>
          <p:cNvPr id="2" name="Right Arrow 1"/>
          <p:cNvSpPr/>
          <p:nvPr/>
        </p:nvSpPr>
        <p:spPr>
          <a:xfrm>
            <a:off x="2438400" y="52578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5014491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6792" y="4993948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6242" y="567055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981200" y="5670550"/>
            <a:ext cx="152400" cy="273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191000" y="5644173"/>
            <a:ext cx="152400" cy="273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5092" y="5428895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6792" y="544648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</a:t>
            </a:r>
          </a:p>
        </p:txBody>
      </p:sp>
      <p:pic>
        <p:nvPicPr>
          <p:cNvPr id="19" name="Picture 1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40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00CF-277A-4CD2-902E-9C7495080F9B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Minimization of DFA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3048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Minimize the following DFA: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381000" y="1676400"/>
            <a:ext cx="4191000" cy="4038600"/>
            <a:chOff x="1447800" y="1981200"/>
            <a:chExt cx="4191000" cy="4038600"/>
          </a:xfrm>
        </p:grpSpPr>
        <p:sp>
          <p:nvSpPr>
            <p:cNvPr id="17" name="Oval 16"/>
            <p:cNvSpPr/>
            <p:nvPr/>
          </p:nvSpPr>
          <p:spPr>
            <a:xfrm>
              <a:off x="1752600" y="36576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A</a:t>
              </a:r>
            </a:p>
          </p:txBody>
        </p:sp>
        <p:cxnSp>
          <p:nvCxnSpPr>
            <p:cNvPr id="18" name="Straight Arrow Connector 17"/>
            <p:cNvCxnSpPr>
              <a:endCxn id="17" idx="2"/>
            </p:cNvCxnSpPr>
            <p:nvPr/>
          </p:nvCxnSpPr>
          <p:spPr>
            <a:xfrm flipV="1">
              <a:off x="1447800" y="4038600"/>
              <a:ext cx="304800" cy="228600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/>
            <p:cNvCxnSpPr>
              <a:stCxn id="22" idx="1"/>
              <a:endCxn id="25" idx="7"/>
            </p:cNvCxnSpPr>
            <p:nvPr/>
          </p:nvCxnSpPr>
          <p:spPr>
            <a:xfrm rot="16200000" flipV="1">
              <a:off x="4305300" y="2400300"/>
              <a:ext cx="1588" cy="1061384"/>
            </a:xfrm>
            <a:prstGeom prst="curvedConnector3">
              <a:avLst>
                <a:gd name="adj1" fmla="val 21422670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724400" y="28194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3124200" y="46482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724400" y="46482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3124200" y="28194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800600" y="4724400"/>
              <a:ext cx="609600" cy="6096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23" idx="0"/>
              <a:endCxn id="25" idx="4"/>
            </p:cNvCxnSpPr>
            <p:nvPr/>
          </p:nvCxnSpPr>
          <p:spPr>
            <a:xfrm rot="5400000" flipH="1" flipV="1">
              <a:off x="2971800" y="4114800"/>
              <a:ext cx="10668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4" idx="1"/>
              <a:endCxn id="25" idx="5"/>
            </p:cNvCxnSpPr>
            <p:nvPr/>
          </p:nvCxnSpPr>
          <p:spPr>
            <a:xfrm rot="16200000" flipV="1">
              <a:off x="3660308" y="3584108"/>
              <a:ext cx="1289984" cy="1061384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7" idx="5"/>
              <a:endCxn id="23" idx="2"/>
            </p:cNvCxnSpPr>
            <p:nvPr/>
          </p:nvCxnSpPr>
          <p:spPr>
            <a:xfrm rot="16200000" flipH="1">
              <a:off x="2403008" y="4308008"/>
              <a:ext cx="721192" cy="721192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7" idx="7"/>
            </p:cNvCxnSpPr>
            <p:nvPr/>
          </p:nvCxnSpPr>
          <p:spPr>
            <a:xfrm rot="5400000" flipH="1" flipV="1">
              <a:off x="2479208" y="3124200"/>
              <a:ext cx="568792" cy="721192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4267200" y="38670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38400" y="3119735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67200" y="50100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3" name="Straight Arrow Connector 12"/>
            <p:cNvCxnSpPr>
              <a:stCxn id="25" idx="6"/>
              <a:endCxn id="22" idx="2"/>
            </p:cNvCxnSpPr>
            <p:nvPr/>
          </p:nvCxnSpPr>
          <p:spPr>
            <a:xfrm>
              <a:off x="3886200" y="3200400"/>
              <a:ext cx="838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191000" y="2907268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5" name="Curved Connector 14"/>
            <p:cNvCxnSpPr>
              <a:stCxn id="23" idx="3"/>
              <a:endCxn id="23" idx="5"/>
            </p:cNvCxnSpPr>
            <p:nvPr/>
          </p:nvCxnSpPr>
          <p:spPr>
            <a:xfrm rot="16200000" flipH="1">
              <a:off x="3505200" y="5029200"/>
              <a:ext cx="1588" cy="538816"/>
            </a:xfrm>
            <a:prstGeom prst="curvedConnector3">
              <a:avLst>
                <a:gd name="adj1" fmla="val 36282505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105400" y="3821668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64" name="Straight Arrow Connector 63"/>
            <p:cNvCxnSpPr>
              <a:stCxn id="22" idx="4"/>
              <a:endCxn id="24" idx="0"/>
            </p:cNvCxnSpPr>
            <p:nvPr/>
          </p:nvCxnSpPr>
          <p:spPr>
            <a:xfrm rot="5400000">
              <a:off x="4572000" y="4114800"/>
              <a:ext cx="10668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24" idx="2"/>
              <a:endCxn id="23" idx="6"/>
            </p:cNvCxnSpPr>
            <p:nvPr/>
          </p:nvCxnSpPr>
          <p:spPr>
            <a:xfrm rot="10800000">
              <a:off x="3886200" y="5029200"/>
              <a:ext cx="838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urved Connector 14"/>
            <p:cNvCxnSpPr>
              <a:stCxn id="25" idx="0"/>
            </p:cNvCxnSpPr>
            <p:nvPr/>
          </p:nvCxnSpPr>
          <p:spPr>
            <a:xfrm rot="16200000" flipH="1" flipV="1">
              <a:off x="3258904" y="2760896"/>
              <a:ext cx="187792" cy="304800"/>
            </a:xfrm>
            <a:prstGeom prst="curvedConnector4">
              <a:avLst>
                <a:gd name="adj1" fmla="val -247387"/>
                <a:gd name="adj2" fmla="val 269355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4114800" y="22098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819400" y="19812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505200" y="40194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14600" y="45528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3048000" y="56196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5181600" y="2438400"/>
          <a:ext cx="3429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</a:t>
                      </a:r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*E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TextBox 115"/>
          <p:cNvSpPr txBox="1"/>
          <p:nvPr/>
        </p:nvSpPr>
        <p:spPr>
          <a:xfrm>
            <a:off x="6019800" y="1905000"/>
            <a:ext cx="168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Transition Table</a:t>
            </a:r>
          </a:p>
        </p:txBody>
      </p:sp>
      <p:pic>
        <p:nvPicPr>
          <p:cNvPr id="38" name="Picture 3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044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3723-C37D-4106-8743-ADCA3710785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Minimization of DFA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33400" y="762000"/>
            <a:ext cx="7331710" cy="50673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Eqivalent State 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2209800" y="2493963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5943600" y="2417763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2209800" y="4017963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6019800" y="3941763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>
            <a:off x="3124200" y="2951163"/>
            <a:ext cx="2819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3124200" y="4398963"/>
            <a:ext cx="2895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187" name="Text Box 11"/>
          <p:cNvSpPr txBox="1">
            <a:spLocks noChangeArrowheads="1"/>
          </p:cNvSpPr>
          <p:nvPr/>
        </p:nvSpPr>
        <p:spPr bwMode="auto">
          <a:xfrm>
            <a:off x="2498725" y="1925638"/>
            <a:ext cx="4206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qi</a:t>
            </a:r>
          </a:p>
        </p:txBody>
      </p:sp>
      <p:sp>
        <p:nvSpPr>
          <p:cNvPr id="50188" name="Text Box 12"/>
          <p:cNvSpPr txBox="1">
            <a:spLocks noChangeArrowheads="1"/>
          </p:cNvSpPr>
          <p:nvPr/>
        </p:nvSpPr>
        <p:spPr bwMode="auto">
          <a:xfrm>
            <a:off x="6172200" y="3484563"/>
            <a:ext cx="488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qn</a:t>
            </a:r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2514600" y="3484563"/>
            <a:ext cx="4206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qj</a:t>
            </a: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6096000" y="1960563"/>
            <a:ext cx="573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qm</a:t>
            </a:r>
          </a:p>
        </p:txBody>
      </p:sp>
      <p:sp>
        <p:nvSpPr>
          <p:cNvPr id="50192" name="Text Box 16"/>
          <p:cNvSpPr txBox="1">
            <a:spLocks noChangeArrowheads="1"/>
          </p:cNvSpPr>
          <p:nvPr/>
        </p:nvSpPr>
        <p:spPr bwMode="auto">
          <a:xfrm>
            <a:off x="4632325" y="2382838"/>
            <a:ext cx="319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a</a:t>
            </a:r>
          </a:p>
        </p:txBody>
      </p:sp>
      <p:sp>
        <p:nvSpPr>
          <p:cNvPr id="50193" name="Text Box 17"/>
          <p:cNvSpPr txBox="1">
            <a:spLocks noChangeArrowheads="1"/>
          </p:cNvSpPr>
          <p:nvPr/>
        </p:nvSpPr>
        <p:spPr bwMode="auto">
          <a:xfrm>
            <a:off x="4724400" y="3865563"/>
            <a:ext cx="319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a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524000" y="5155565"/>
            <a:ext cx="51562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sym typeface="+mn-ea"/>
              </a:rPr>
              <a:t>If </a:t>
            </a:r>
            <a:r>
              <a:rPr lang="en-US" dirty="0" err="1">
                <a:sym typeface="+mn-ea"/>
              </a:rPr>
              <a:t>qm</a:t>
            </a:r>
            <a:r>
              <a:rPr lang="en-US" dirty="0">
                <a:sym typeface="+mn-ea"/>
              </a:rPr>
              <a:t> and </a:t>
            </a:r>
            <a:r>
              <a:rPr lang="en-US" dirty="0" err="1">
                <a:sym typeface="+mn-ea"/>
              </a:rPr>
              <a:t>qn</a:t>
            </a:r>
            <a:r>
              <a:rPr lang="en-US" dirty="0">
                <a:sym typeface="+mn-ea"/>
              </a:rPr>
              <a:t> are distinguishable, then so are </a:t>
            </a:r>
            <a:r>
              <a:rPr lang="en-US" dirty="0" err="1">
                <a:sym typeface="+mn-ea"/>
              </a:rPr>
              <a:t>qi</a:t>
            </a:r>
            <a:r>
              <a:rPr lang="en-US" dirty="0">
                <a:sym typeface="+mn-ea"/>
              </a:rPr>
              <a:t> and </a:t>
            </a:r>
            <a:r>
              <a:rPr lang="en-US" dirty="0" err="1">
                <a:sym typeface="+mn-ea"/>
              </a:rPr>
              <a:t>qj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275080" y="1149985"/>
            <a:ext cx="75076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ym typeface="+mn-ea"/>
              </a:rPr>
              <a:t>Two states </a:t>
            </a:r>
            <a:r>
              <a:rPr lang="en-US" dirty="0" err="1">
                <a:sym typeface="+mn-ea"/>
              </a:rPr>
              <a:t>qi</a:t>
            </a:r>
            <a:r>
              <a:rPr lang="en-US" dirty="0">
                <a:sym typeface="+mn-ea"/>
              </a:rPr>
              <a:t> and </a:t>
            </a:r>
            <a:r>
              <a:rPr lang="en-US" dirty="0" err="1">
                <a:sym typeface="+mn-ea"/>
              </a:rPr>
              <a:t>qj</a:t>
            </a:r>
            <a:r>
              <a:rPr lang="en-US" dirty="0">
                <a:sym typeface="+mn-ea"/>
              </a:rPr>
              <a:t> are </a:t>
            </a:r>
            <a:r>
              <a:rPr lang="en-US" i="1" dirty="0">
                <a:sym typeface="+mn-ea"/>
              </a:rPr>
              <a:t>equivalent</a:t>
            </a:r>
            <a:r>
              <a:rPr lang="en-US" dirty="0">
                <a:sym typeface="+mn-ea"/>
              </a:rPr>
              <a:t> or </a:t>
            </a:r>
            <a:r>
              <a:rPr lang="en-US" i="1" dirty="0">
                <a:sym typeface="+mn-ea"/>
              </a:rPr>
              <a:t>indistinguishable </a:t>
            </a:r>
            <a:r>
              <a:rPr lang="en-US" dirty="0">
                <a:sym typeface="+mn-ea"/>
              </a:rPr>
              <a:t>(for the future), if, when started in these states, every string causes the machine to either end up in an accepting state for both or end up in a non-accepting state for both. </a:t>
            </a:r>
            <a:endParaRPr lang="en-US"/>
          </a:p>
        </p:txBody>
      </p:sp>
      <p:pic>
        <p:nvPicPr>
          <p:cNvPr id="22" name="Picture 21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177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77735-A979-44AB-9577-C7546FDA99D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Minimization of DFA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009015"/>
            <a:ext cx="8542020" cy="4632325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/>
              <a:t>Suppose there is a DFA D &lt; Q, Σ, q0, δ, F &gt; which recognizes a language L. Then the minimized DFA D &lt; Q’, Σ, q0, δ’, F’ &gt; can be constructed for language L as: 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000" b="1" dirty="0"/>
              <a:t>Step 1:</a:t>
            </a:r>
            <a:r>
              <a:rPr lang="en-US" sz="2000" dirty="0"/>
              <a:t> We will divide Q (set of states) into two sets. One set will contain all final states and other set will contain non-final states. This partition is called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baseline="-25000" dirty="0">
                <a:sym typeface="Symbol" panose="05050102010706020507"/>
              </a:rPr>
              <a:t>0</a:t>
            </a:r>
            <a:r>
              <a:rPr lang="en-US" sz="2000" dirty="0"/>
              <a:t>. 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000" b="1" dirty="0"/>
              <a:t>Step 2:</a:t>
            </a:r>
            <a:r>
              <a:rPr lang="en-US" sz="2000" dirty="0"/>
              <a:t> Initialize k = 1 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000" b="1" dirty="0"/>
              <a:t>Step 3:</a:t>
            </a:r>
            <a:r>
              <a:rPr lang="en-US" sz="2000" dirty="0"/>
              <a:t> Find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 by partitioning the different sets of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k-1. In each set of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k-1, we will take all possible pair of states. If two states of a set are distinguishable, we will split the sets into different sets in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k. 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000" b="1" dirty="0"/>
              <a:t>Step 4:</a:t>
            </a:r>
            <a:r>
              <a:rPr lang="en-US" sz="2000" dirty="0"/>
              <a:t> Stop when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 =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k-1 (No change in partition) 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000" b="1" dirty="0"/>
              <a:t>Step 5:</a:t>
            </a:r>
            <a:r>
              <a:rPr lang="en-US" sz="2000" dirty="0"/>
              <a:t> All states of one set are merged into one. No. of states in minimized DFA will be equal to no. of sets in </a:t>
            </a:r>
            <a:r>
              <a:rPr lang="en-US" sz="2000" dirty="0">
                <a:sym typeface="Symbol" panose="05050102010706020507"/>
              </a:rPr>
              <a:t></a:t>
            </a:r>
            <a:r>
              <a:rPr lang="en-US" sz="2000" dirty="0"/>
              <a:t>k. 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584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38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191000" cy="4525963"/>
          </a:xfrm>
        </p:spPr>
        <p:txBody>
          <a:bodyPr/>
          <a:lstStyle/>
          <a:p>
            <a:pPr>
              <a:buNone/>
            </a:pPr>
            <a:r>
              <a:rPr lang="en-US" dirty="0">
                <a:sym typeface="Symbol" panose="05050102010706020507"/>
              </a:rPr>
              <a:t>Find Equivalence classes</a:t>
            </a:r>
          </a:p>
          <a:p>
            <a:pPr>
              <a:buNone/>
            </a:pPr>
            <a:r>
              <a:rPr lang="en-US" dirty="0">
                <a:sym typeface="Symbol" panose="05050102010706020507"/>
              </a:rPr>
              <a:t></a:t>
            </a:r>
            <a:r>
              <a:rPr lang="en-US" baseline="-25000" dirty="0">
                <a:sym typeface="Symbol" panose="05050102010706020507"/>
              </a:rPr>
              <a:t>0</a:t>
            </a:r>
            <a:r>
              <a:rPr lang="en-US" dirty="0">
                <a:sym typeface="Symbol" panose="05050102010706020507"/>
              </a:rPr>
              <a:t>= </a:t>
            </a:r>
            <a:r>
              <a:rPr lang="en-US" dirty="0"/>
              <a:t> {A,B,C,D} {E} </a:t>
            </a:r>
          </a:p>
          <a:p>
            <a:pPr>
              <a:buNone/>
            </a:pPr>
            <a:r>
              <a:rPr lang="en-US" dirty="0">
                <a:sym typeface="Symbol" panose="05050102010706020507"/>
              </a:rPr>
              <a:t></a:t>
            </a:r>
            <a:r>
              <a:rPr lang="en-US" baseline="-25000" dirty="0"/>
              <a:t>1</a:t>
            </a:r>
            <a:r>
              <a:rPr lang="en-US" dirty="0"/>
              <a:t>=  {A,B,C} {D} {E} </a:t>
            </a:r>
          </a:p>
          <a:p>
            <a:pPr>
              <a:buNone/>
            </a:pPr>
            <a:r>
              <a:rPr lang="en-US" dirty="0">
                <a:sym typeface="Symbol" panose="05050102010706020507"/>
              </a:rPr>
              <a:t></a:t>
            </a:r>
            <a:r>
              <a:rPr lang="en-US" baseline="-25000" dirty="0"/>
              <a:t>2</a:t>
            </a:r>
            <a:r>
              <a:rPr lang="en-US" dirty="0"/>
              <a:t>=  {A,C} {B} {D} {E} </a:t>
            </a:r>
          </a:p>
          <a:p>
            <a:pPr>
              <a:buNone/>
            </a:pPr>
            <a:r>
              <a:rPr lang="en-US" dirty="0">
                <a:sym typeface="Symbol" panose="05050102010706020507"/>
              </a:rPr>
              <a:t></a:t>
            </a:r>
            <a:r>
              <a:rPr lang="en-US" baseline="-25000" dirty="0"/>
              <a:t>3</a:t>
            </a:r>
            <a:r>
              <a:rPr lang="en-US" dirty="0"/>
              <a:t>=  {A,C} {B} {D} {E}</a:t>
            </a:r>
          </a:p>
          <a:p>
            <a:pPr>
              <a:buNone/>
            </a:pPr>
            <a:r>
              <a:rPr lang="en-US" dirty="0">
                <a:sym typeface="Symbol" panose="05050102010706020507"/>
              </a:rPr>
              <a:t></a:t>
            </a:r>
            <a:r>
              <a:rPr lang="en-US" baseline="-25000" dirty="0"/>
              <a:t>2</a:t>
            </a:r>
            <a:r>
              <a:rPr lang="en-US" dirty="0"/>
              <a:t>=</a:t>
            </a:r>
            <a:r>
              <a:rPr lang="en-US" dirty="0">
                <a:sym typeface="Symbol" panose="05050102010706020507"/>
              </a:rPr>
              <a:t> </a:t>
            </a:r>
            <a:r>
              <a:rPr lang="en-US" baseline="-25000" dirty="0"/>
              <a:t>3</a:t>
            </a:r>
            <a:r>
              <a:rPr lang="en-US" dirty="0">
                <a:sym typeface="Symbol" panose="05050102010706020507"/>
              </a:rPr>
              <a:t> ,so stop here</a:t>
            </a:r>
            <a:r>
              <a:rPr lang="en-US" baseline="-25000" dirty="0">
                <a:sym typeface="Symbol" panose="05050102010706020507"/>
              </a:rPr>
              <a:t>.</a:t>
            </a:r>
            <a:endParaRPr lang="en-US" baseline="-250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2CBE-21D7-4EFA-87BE-2EF7B8B85959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Minimization of DFA </a:t>
            </a:r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381000" y="2438400"/>
          <a:ext cx="3429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</a:t>
                      </a:r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*E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TextBox 115"/>
          <p:cNvSpPr txBox="1"/>
          <p:nvPr/>
        </p:nvSpPr>
        <p:spPr>
          <a:xfrm>
            <a:off x="990600" y="1992868"/>
            <a:ext cx="168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Transition Table</a:t>
            </a:r>
          </a:p>
        </p:txBody>
      </p:sp>
      <p:sp>
        <p:nvSpPr>
          <p:cNvPr id="4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pic>
        <p:nvPicPr>
          <p:cNvPr id="11" name="Picture 1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765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38"/>
          <p:cNvSpPr>
            <a:spLocks noGrp="1"/>
          </p:cNvSpPr>
          <p:nvPr>
            <p:ph sz="half" idx="2"/>
          </p:nvPr>
        </p:nvSpPr>
        <p:spPr>
          <a:xfrm>
            <a:off x="4876800" y="1295400"/>
            <a:ext cx="4191000" cy="4830763"/>
          </a:xfrm>
        </p:spPr>
        <p:txBody>
          <a:bodyPr/>
          <a:lstStyle/>
          <a:p>
            <a:pPr>
              <a:buNone/>
            </a:pPr>
            <a:r>
              <a:rPr lang="en-US" dirty="0">
                <a:sym typeface="Symbol" panose="05050102010706020507"/>
              </a:rPr>
              <a:t>	</a:t>
            </a:r>
            <a:r>
              <a:rPr lang="en-US" dirty="0"/>
              <a:t>{A,C} {B} {D} {E}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69128-3B62-4F74-B200-4EDD62B702F3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Minimization of DFA </a:t>
            </a:r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381000" y="2209800"/>
          <a:ext cx="3429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</a:t>
                      </a:r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*E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TextBox 115"/>
          <p:cNvSpPr txBox="1"/>
          <p:nvPr/>
        </p:nvSpPr>
        <p:spPr>
          <a:xfrm>
            <a:off x="990600" y="1600200"/>
            <a:ext cx="168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Transition Table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>
            <a:off x="4267200" y="2057400"/>
            <a:ext cx="4191000" cy="3429000"/>
            <a:chOff x="4267200" y="1981200"/>
            <a:chExt cx="4191000" cy="3429000"/>
          </a:xfrm>
        </p:grpSpPr>
        <p:cxnSp>
          <p:nvCxnSpPr>
            <p:cNvPr id="16" name="Straight Arrow Connector 15"/>
            <p:cNvCxnSpPr>
              <a:endCxn id="19" idx="2"/>
            </p:cNvCxnSpPr>
            <p:nvPr/>
          </p:nvCxnSpPr>
          <p:spPr>
            <a:xfrm flipV="1">
              <a:off x="4267200" y="4038600"/>
              <a:ext cx="381000" cy="228600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urved Connector 16"/>
            <p:cNvCxnSpPr>
              <a:stCxn id="18" idx="1"/>
              <a:endCxn id="21" idx="7"/>
            </p:cNvCxnSpPr>
            <p:nvPr/>
          </p:nvCxnSpPr>
          <p:spPr>
            <a:xfrm rot="16200000" flipV="1">
              <a:off x="7124700" y="2400300"/>
              <a:ext cx="1588" cy="1061384"/>
            </a:xfrm>
            <a:prstGeom prst="curvedConnector3">
              <a:avLst>
                <a:gd name="adj1" fmla="val 21422670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7543800" y="28194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648200" y="36576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AC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7543800" y="46482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943600" y="2819400"/>
              <a:ext cx="762000" cy="7620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620000" y="4724400"/>
              <a:ext cx="609600" cy="6096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stCxn id="20" idx="1"/>
              <a:endCxn id="21" idx="5"/>
            </p:cNvCxnSpPr>
            <p:nvPr/>
          </p:nvCxnSpPr>
          <p:spPr>
            <a:xfrm rot="16200000" flipV="1">
              <a:off x="6479708" y="3584108"/>
              <a:ext cx="1289984" cy="1061384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9" idx="7"/>
              <a:endCxn id="21" idx="2"/>
            </p:cNvCxnSpPr>
            <p:nvPr/>
          </p:nvCxnSpPr>
          <p:spPr>
            <a:xfrm rot="5400000" flipH="1" flipV="1">
              <a:off x="5336708" y="3162300"/>
              <a:ext cx="568792" cy="644992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7086600" y="38670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7800" y="3119735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cxnSp>
          <p:nvCxnSpPr>
            <p:cNvPr id="30" name="Straight Arrow Connector 29"/>
            <p:cNvCxnSpPr>
              <a:stCxn id="21" idx="6"/>
              <a:endCxn id="18" idx="2"/>
            </p:cNvCxnSpPr>
            <p:nvPr/>
          </p:nvCxnSpPr>
          <p:spPr>
            <a:xfrm>
              <a:off x="6705600" y="3200400"/>
              <a:ext cx="838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7010400" y="2907268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32" name="Curved Connector 31"/>
            <p:cNvCxnSpPr>
              <a:stCxn id="19" idx="3"/>
              <a:endCxn id="19" idx="5"/>
            </p:cNvCxnSpPr>
            <p:nvPr/>
          </p:nvCxnSpPr>
          <p:spPr>
            <a:xfrm rot="16200000" flipH="1">
              <a:off x="5029200" y="4038600"/>
              <a:ext cx="1588" cy="538816"/>
            </a:xfrm>
            <a:prstGeom prst="curvedConnector3">
              <a:avLst>
                <a:gd name="adj1" fmla="val 39068778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924800" y="3821668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34" name="Straight Arrow Connector 33"/>
            <p:cNvCxnSpPr>
              <a:stCxn id="18" idx="4"/>
              <a:endCxn id="20" idx="0"/>
            </p:cNvCxnSpPr>
            <p:nvPr/>
          </p:nvCxnSpPr>
          <p:spPr>
            <a:xfrm rot="5400000">
              <a:off x="7391400" y="4114800"/>
              <a:ext cx="10668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0" idx="2"/>
              <a:endCxn id="19" idx="6"/>
            </p:cNvCxnSpPr>
            <p:nvPr/>
          </p:nvCxnSpPr>
          <p:spPr>
            <a:xfrm rot="10800000">
              <a:off x="5410200" y="4038600"/>
              <a:ext cx="2133600" cy="990600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14"/>
            <p:cNvCxnSpPr>
              <a:stCxn id="21" idx="0"/>
            </p:cNvCxnSpPr>
            <p:nvPr/>
          </p:nvCxnSpPr>
          <p:spPr>
            <a:xfrm rot="16200000" flipH="1" flipV="1">
              <a:off x="6078304" y="2760896"/>
              <a:ext cx="187792" cy="304800"/>
            </a:xfrm>
            <a:prstGeom prst="curvedConnector4">
              <a:avLst>
                <a:gd name="adj1" fmla="val -247387"/>
                <a:gd name="adj2" fmla="val 269355"/>
              </a:avLst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6934200" y="22098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638800" y="19812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248400" y="409569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72000" y="45720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pic>
        <p:nvPicPr>
          <p:cNvPr id="43" name="Picture 42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475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B79F97-D2BC-4393-9E06-5BDC555126BE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53215-64DE-4D2F-AB57-692349E7A540}" type="slidenum">
              <a:rPr lang="en-US"/>
              <a:pPr>
                <a:defRPr/>
              </a:pPr>
              <a:t>87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Regular Expressions to Finite Automata</a:t>
            </a:r>
          </a:p>
        </p:txBody>
      </p:sp>
      <p:sp>
        <p:nvSpPr>
          <p:cNvPr id="8" name="Text Box 5"/>
          <p:cNvSpPr txBox="1">
            <a:spLocks noGrp="1" noChangeArrowheads="1"/>
          </p:cNvSpPr>
          <p:nvPr>
            <p:ph idx="1"/>
          </p:nvPr>
        </p:nvSpPr>
        <p:spPr>
          <a:xfrm>
            <a:off x="4343400" y="1143000"/>
            <a:ext cx="609600" cy="400050"/>
          </a:xfrm>
        </p:spPr>
        <p:txBody>
          <a:bodyPr wrap="non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en-US" sz="2000" b="1" dirty="0">
                <a:latin typeface="+mj-lt"/>
              </a:rPr>
              <a:t>NFA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946775" y="2057400"/>
            <a:ext cx="6048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  <a:buFont typeface="Arial" charset="0"/>
              <a:buNone/>
              <a:defRPr/>
            </a:pPr>
            <a:r>
              <a:rPr lang="en-US" sz="2000" b="1" dirty="0">
                <a:latin typeface="+mj-lt"/>
                <a:cs typeface="+mn-cs"/>
              </a:rPr>
              <a:t>DFA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318125" y="3810000"/>
            <a:ext cx="26558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>
                <a:latin typeface="+mj-lt"/>
              </a:rPr>
              <a:t>Table-driven </a:t>
            </a: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Implementation of DFA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557338" y="4038600"/>
            <a:ext cx="15446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>
                <a:latin typeface="+mj-lt"/>
              </a:rPr>
              <a:t>Lexical</a:t>
            </a: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Specification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84325" y="2209800"/>
            <a:ext cx="14319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>
                <a:latin typeface="+mj-lt"/>
              </a:rPr>
              <a:t>Regular</a:t>
            </a: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expressions</a:t>
            </a:r>
          </a:p>
        </p:txBody>
      </p:sp>
      <p:cxnSp>
        <p:nvCxnSpPr>
          <p:cNvPr id="18443" name="AutoShape 9"/>
          <p:cNvCxnSpPr>
            <a:cxnSpLocks noChangeShapeType="1"/>
            <a:endCxn id="12" idx="2"/>
          </p:cNvCxnSpPr>
          <p:nvPr/>
        </p:nvCxnSpPr>
        <p:spPr bwMode="auto">
          <a:xfrm flipV="1">
            <a:off x="2286000" y="2917825"/>
            <a:ext cx="14288" cy="12731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4" name="AutoShape 9"/>
          <p:cNvCxnSpPr>
            <a:cxnSpLocks noChangeShapeType="1"/>
            <a:endCxn id="8" idx="1"/>
          </p:cNvCxnSpPr>
          <p:nvPr/>
        </p:nvCxnSpPr>
        <p:spPr bwMode="auto">
          <a:xfrm flipV="1">
            <a:off x="2438400" y="1343025"/>
            <a:ext cx="1905000" cy="9207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5" name="AutoShape 9"/>
          <p:cNvCxnSpPr>
            <a:cxnSpLocks noChangeShapeType="1"/>
          </p:cNvCxnSpPr>
          <p:nvPr/>
        </p:nvCxnSpPr>
        <p:spPr bwMode="auto">
          <a:xfrm>
            <a:off x="4876800" y="1447800"/>
            <a:ext cx="1219200" cy="685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6" name="AutoShape 9"/>
          <p:cNvCxnSpPr>
            <a:cxnSpLocks noChangeShapeType="1"/>
          </p:cNvCxnSpPr>
          <p:nvPr/>
        </p:nvCxnSpPr>
        <p:spPr bwMode="auto">
          <a:xfrm>
            <a:off x="6172200" y="2438400"/>
            <a:ext cx="76200" cy="1447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3404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7" name="Picture 1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 build="allAtOnce"/>
      <p:bldP spid="10" grpId="0" build="allAtOnce"/>
      <p:bldP spid="11" grpId="0" build="allAtOnce"/>
      <p:bldP spid="12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200" dirty="0"/>
              <a:t>There are two types of finite automata.</a:t>
            </a:r>
          </a:p>
          <a:p>
            <a:pPr lvl="1"/>
            <a:r>
              <a:rPr lang="en-US" sz="2200" dirty="0"/>
              <a:t>Deterministic Finite Automata (DFA)</a:t>
            </a:r>
          </a:p>
          <a:p>
            <a:pPr lvl="2"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One transition per input per state</a:t>
            </a:r>
            <a:r>
              <a:rPr lang="en-US" sz="2200" dirty="0"/>
              <a:t> </a:t>
            </a:r>
          </a:p>
          <a:p>
            <a:pPr lvl="2">
              <a:buFont typeface="Arial" charset="0"/>
              <a:buChar char="•"/>
            </a:pPr>
            <a:r>
              <a:rPr lang="en-US" sz="2200" dirty="0"/>
              <a:t>No </a:t>
            </a:r>
            <a:r>
              <a:rPr lang="en-US" sz="2200" dirty="0">
                <a:sym typeface="Symbol" pitchFamily="18" charset="2"/>
              </a:rPr>
              <a:t>-moves (null moves)</a:t>
            </a:r>
          </a:p>
          <a:p>
            <a:pPr lvl="1"/>
            <a:r>
              <a:rPr lang="en-US" sz="2200" dirty="0"/>
              <a:t>Nondeterministic Finite Automata (NFA)</a:t>
            </a:r>
          </a:p>
          <a:p>
            <a:pPr lvl="2"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Can have multiple transitions for one input in a given state</a:t>
            </a:r>
          </a:p>
          <a:p>
            <a:pPr lvl="2"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Can have -moves</a:t>
            </a:r>
          </a:p>
          <a:p>
            <a:pPr>
              <a:buFont typeface="Arial" charset="0"/>
              <a:buChar char="•"/>
            </a:pPr>
            <a:r>
              <a:rPr lang="en-US" sz="2200" dirty="0"/>
              <a:t>A regular expression is a mathematical representation of a pattern</a:t>
            </a:r>
          </a:p>
          <a:p>
            <a:pPr>
              <a:buFont typeface="Arial" charset="0"/>
              <a:buChar char="•"/>
            </a:pPr>
            <a:r>
              <a:rPr lang="en-US" sz="2200" dirty="0">
                <a:sym typeface="Symbol" pitchFamily="18" charset="2"/>
              </a:rPr>
              <a:t>Thompson’s method</a:t>
            </a:r>
          </a:p>
          <a:p>
            <a:pPr>
              <a:buFont typeface="Arial" charset="0"/>
              <a:buChar char="•"/>
            </a:pPr>
            <a:r>
              <a:rPr lang="en-US" sz="2200" dirty="0"/>
              <a:t>Subset Construction Method: (</a:t>
            </a:r>
            <a:r>
              <a:rPr lang="en-US" sz="2200" dirty="0">
                <a:solidFill>
                  <a:srgbClr val="000000"/>
                </a:solidFill>
                <a:ea typeface="Times New Roman"/>
                <a:cs typeface="Mangal"/>
              </a:rPr>
              <a:t>ε-Closure Method)</a:t>
            </a:r>
            <a:endParaRPr lang="en-US" sz="2200" dirty="0"/>
          </a:p>
          <a:p>
            <a:pPr>
              <a:buNone/>
            </a:pPr>
            <a:endParaRPr lang="en-US" sz="2200" dirty="0">
              <a:sym typeface="Symbol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1312A14-381B-4DD0-85CA-E5212F494DB4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88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scanner how a lexical analyzer work in compiler designing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8BE697F-CB5D-4039-B813-90D91A61C23D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89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Interface diagram of Lexical Analysis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55CF1C-DD25-4A45-9029-07729533897A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75A38-9C2B-4D0D-AABA-018AE4F39A87}" type="slidenum">
              <a:rPr lang="en-US"/>
              <a:pPr>
                <a:defRPr/>
              </a:pPr>
              <a:t>90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Lexical Analysis</a:t>
            </a:r>
            <a:r>
              <a:rPr lang="en-US" sz="3200" b="1" dirty="0"/>
              <a:t>(CO1)</a:t>
            </a:r>
            <a:endParaRPr lang="en-US" sz="3200" dirty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81000" y="2209800"/>
            <a:ext cx="8197850" cy="3352800"/>
            <a:chOff x="-849807" y="2590800"/>
            <a:chExt cx="10158365" cy="3311525"/>
          </a:xfrm>
        </p:grpSpPr>
        <p:sp>
          <p:nvSpPr>
            <p:cNvPr id="9" name="Rounded Rectangle 8"/>
            <p:cNvSpPr/>
            <p:nvPr/>
          </p:nvSpPr>
          <p:spPr>
            <a:xfrm>
              <a:off x="1447823" y="2742892"/>
              <a:ext cx="2057640" cy="91411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Lexical Analyzer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384" y="2742892"/>
              <a:ext cx="2057640" cy="91411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Syntax Analysis</a:t>
              </a:r>
            </a:p>
          </p:txBody>
        </p:sp>
        <p:cxnSp>
          <p:nvCxnSpPr>
            <p:cNvPr id="11" name="Straight Arrow Connector 10"/>
            <p:cNvCxnSpPr>
              <a:endCxn id="9" idx="1"/>
            </p:cNvCxnSpPr>
            <p:nvPr/>
          </p:nvCxnSpPr>
          <p:spPr>
            <a:xfrm>
              <a:off x="304909" y="3200736"/>
              <a:ext cx="1142914" cy="156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505463" y="2971814"/>
              <a:ext cx="1980922" cy="156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10800000">
              <a:off x="3505463" y="3429657"/>
              <a:ext cx="1980922" cy="156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2"/>
            <p:cNvSpPr txBox="1">
              <a:spLocks noChangeArrowheads="1"/>
            </p:cNvSpPr>
            <p:nvPr/>
          </p:nvSpPr>
          <p:spPr bwMode="auto">
            <a:xfrm>
              <a:off x="-849807" y="2819722"/>
              <a:ext cx="1329794" cy="699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Source</a:t>
              </a:r>
            </a:p>
            <a:p>
              <a:pPr>
                <a:defRPr/>
              </a:pPr>
              <a:r>
                <a:rPr lang="en-US" sz="2000" dirty="0">
                  <a:latin typeface="+mj-lt"/>
                </a:rPr>
                <a:t>program</a:t>
              </a:r>
            </a:p>
          </p:txBody>
        </p:sp>
        <p:sp>
          <p:nvSpPr>
            <p:cNvPr id="15" name="TextBox 13"/>
            <p:cNvSpPr txBox="1">
              <a:spLocks noChangeArrowheads="1"/>
            </p:cNvSpPr>
            <p:nvPr/>
          </p:nvSpPr>
          <p:spPr bwMode="auto">
            <a:xfrm>
              <a:off x="4038561" y="2590800"/>
              <a:ext cx="959970" cy="395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>
                  <a:latin typeface="+mj-lt"/>
                </a:rPr>
                <a:t>token</a:t>
              </a:r>
            </a:p>
          </p:txBody>
        </p:sp>
        <p:sp>
          <p:nvSpPr>
            <p:cNvPr id="16" name="TextBox 14"/>
            <p:cNvSpPr txBox="1">
              <a:spLocks noChangeArrowheads="1"/>
            </p:cNvSpPr>
            <p:nvPr/>
          </p:nvSpPr>
          <p:spPr bwMode="auto">
            <a:xfrm>
              <a:off x="3623493" y="3550390"/>
              <a:ext cx="2266517" cy="395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Get  Next Token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2514019" y="3657011"/>
              <a:ext cx="1676013" cy="129670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10800000" flipV="1">
              <a:off x="4953286" y="3657011"/>
              <a:ext cx="1599294" cy="129670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3582182" y="4988207"/>
              <a:ext cx="2055672" cy="91411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Symbol</a:t>
              </a:r>
            </a:p>
            <a:p>
              <a:pPr algn="ctr">
                <a:defRPr/>
              </a:pPr>
              <a:r>
                <a:rPr lang="en-US" dirty="0">
                  <a:latin typeface="+mj-lt"/>
                </a:rPr>
                <a:t>table</a:t>
              </a:r>
            </a:p>
          </p:txBody>
        </p:sp>
        <p:sp>
          <p:nvSpPr>
            <p:cNvPr id="20" name="TextBox 26"/>
            <p:cNvSpPr txBox="1">
              <a:spLocks noChangeArrowheads="1"/>
            </p:cNvSpPr>
            <p:nvPr/>
          </p:nvSpPr>
          <p:spPr bwMode="auto">
            <a:xfrm>
              <a:off x="7544024" y="2819722"/>
              <a:ext cx="1764534" cy="699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>
                  <a:latin typeface="+mj-lt"/>
                </a:rPr>
                <a:t>To semantic</a:t>
              </a:r>
            </a:p>
            <a:p>
              <a:pPr>
                <a:defRPr/>
              </a:pPr>
              <a:r>
                <a:rPr lang="en-US" sz="2000">
                  <a:latin typeface="+mj-lt"/>
                </a:rPr>
                <a:t>analysis</a:t>
              </a: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6934200" y="2819400"/>
            <a:ext cx="159861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3404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24" name="Picture 23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3ECE-120C-4AF5-BC09-E00E11C626E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Functions of Lexical Analyzer(CO1)</a:t>
            </a:r>
            <a:endParaRPr lang="en-US" sz="32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200" dirty="0"/>
              <a:t>Reads the input program character by character &amp; produce a stream of token.</a:t>
            </a:r>
          </a:p>
          <a:p>
            <a:r>
              <a:rPr lang="en-US" sz="2200" dirty="0"/>
              <a:t>Removing white spaces / tabs.</a:t>
            </a:r>
          </a:p>
          <a:p>
            <a:r>
              <a:rPr lang="en-US" sz="2200" dirty="0"/>
              <a:t>Remove comments from source program.</a:t>
            </a:r>
          </a:p>
          <a:p>
            <a:r>
              <a:rPr lang="en-US" sz="2200" dirty="0"/>
              <a:t>Lexical Analyzer generates errors and gives the line number of the error.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1B941-44D7-4F03-A3A0-B3BBCDD17BE6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Tokens, Patterns and Lexemes</a:t>
            </a:r>
            <a:r>
              <a:rPr lang="en-US" sz="3200" b="1" dirty="0"/>
              <a:t>(CO1)</a:t>
            </a:r>
            <a:endParaRPr lang="en-US" sz="32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Tokens-</a:t>
            </a:r>
            <a:r>
              <a:rPr lang="en-US" sz="2200" dirty="0"/>
              <a:t> Sequence of characters that have a collective meaning and treated as a single logical entity.</a:t>
            </a:r>
          </a:p>
          <a:p>
            <a:pPr algn="just"/>
            <a:r>
              <a:rPr lang="en-US" sz="2200" dirty="0"/>
              <a:t>Tokens are symbolic names for the entities that make up the text of the program.</a:t>
            </a:r>
          </a:p>
          <a:p>
            <a:pPr algn="just"/>
            <a:r>
              <a:rPr lang="en-US" sz="2200" dirty="0"/>
              <a:t>Typical Tokens are:</a:t>
            </a:r>
          </a:p>
          <a:p>
            <a:pPr marL="0" indent="0" algn="just">
              <a:buNone/>
            </a:pPr>
            <a:r>
              <a:rPr lang="en-US" sz="2200" dirty="0"/>
              <a:t>     {    </a:t>
            </a:r>
            <a:r>
              <a:rPr lang="en-US" sz="2200" b="1" dirty="0">
                <a:solidFill>
                  <a:srgbClr val="FF0000"/>
                </a:solidFill>
              </a:rPr>
              <a:t>Keywords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,     </a:t>
            </a:r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Identifiers</a:t>
            </a:r>
            <a:r>
              <a:rPr lang="en-US" sz="2200" dirty="0"/>
              <a:t>,        Operators        ,  </a:t>
            </a:r>
            <a:r>
              <a:rPr lang="en-US" sz="2200" b="1" dirty="0">
                <a:solidFill>
                  <a:schemeClr val="tx2"/>
                </a:solidFill>
              </a:rPr>
              <a:t> Separators  </a:t>
            </a:r>
            <a:r>
              <a:rPr lang="en-US" sz="2200" dirty="0" err="1"/>
              <a:t>etc</a:t>
            </a:r>
            <a:r>
              <a:rPr lang="en-US" sz="2200" dirty="0"/>
              <a:t>   }</a:t>
            </a:r>
          </a:p>
          <a:p>
            <a:pPr marL="0" indent="0" algn="just">
              <a:buNone/>
            </a:pPr>
            <a:r>
              <a:rPr lang="en-US" sz="2200" dirty="0"/>
              <a:t>   </a:t>
            </a:r>
            <a:r>
              <a:rPr lang="en-US" sz="2200" b="1" dirty="0">
                <a:solidFill>
                  <a:srgbClr val="FF0000"/>
                </a:solidFill>
              </a:rPr>
              <a:t>(for, if, while)   </a:t>
            </a:r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(variable name,     </a:t>
            </a:r>
            <a:r>
              <a:rPr lang="en-US" sz="2200" dirty="0"/>
              <a:t>( +,  - , * , ++ )    </a:t>
            </a:r>
            <a:r>
              <a:rPr lang="en-US" sz="2200" b="1" dirty="0">
                <a:solidFill>
                  <a:schemeClr val="tx2"/>
                </a:solidFill>
              </a:rPr>
              <a:t>( ,  ;  </a:t>
            </a:r>
            <a:r>
              <a:rPr lang="en-US" sz="2200" b="1" dirty="0" err="1">
                <a:solidFill>
                  <a:schemeClr val="tx2"/>
                </a:solidFill>
              </a:rPr>
              <a:t>etc</a:t>
            </a:r>
            <a:r>
              <a:rPr lang="en-US" sz="2200" b="1" dirty="0">
                <a:solidFill>
                  <a:schemeClr val="tx2"/>
                </a:solidFill>
              </a:rPr>
              <a:t> )</a:t>
            </a:r>
          </a:p>
          <a:p>
            <a:pPr marL="0" indent="0" algn="just">
              <a:buNone/>
            </a:pPr>
            <a:r>
              <a:rPr lang="en-US" sz="2200" dirty="0"/>
              <a:t>                              </a:t>
            </a:r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function name)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b="1" dirty="0"/>
              <a:t>Patterns</a:t>
            </a:r>
            <a:r>
              <a:rPr lang="en-US" sz="2200" dirty="0"/>
              <a:t>- Rule that check Lexeme is valid token or not.</a:t>
            </a:r>
          </a:p>
          <a:p>
            <a:pPr algn="just"/>
            <a:r>
              <a:rPr lang="en-US" sz="2200" b="1" dirty="0"/>
              <a:t>Lexeme-</a:t>
            </a:r>
            <a:r>
              <a:rPr lang="en-US" sz="2200" dirty="0"/>
              <a:t> A sequence of characters in the source program that is matched by the pattern for a token.</a:t>
            </a:r>
          </a:p>
          <a:p>
            <a:endParaRPr lang="en-US" sz="2200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255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CA88-5307-427F-BF30-C93984184E3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Example of Tokens, Patterns and Lexemes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390650"/>
            <a:ext cx="8191055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09600" y="2133600"/>
            <a:ext cx="170843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Keyword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700" y="2750024"/>
            <a:ext cx="1670338" cy="609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Keyword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62" y="3362325"/>
            <a:ext cx="1664276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938232"/>
            <a:ext cx="1708438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Identifier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571431"/>
            <a:ext cx="170843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Constant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5196384"/>
            <a:ext cx="8305800" cy="7472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Constant</a:t>
            </a:r>
          </a:p>
        </p:txBody>
      </p:sp>
      <p:pic>
        <p:nvPicPr>
          <p:cNvPr id="15" name="Picture 14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Tokens, Patterns and Lexemes with example</a:t>
            </a:r>
          </a:p>
          <a:p>
            <a:r>
              <a:rPr lang="en-US" sz="2400" dirty="0"/>
              <a:t>Designing of Lexical Analyzer</a:t>
            </a:r>
          </a:p>
          <a:p>
            <a:pPr algn="just"/>
            <a:r>
              <a:rPr lang="en-US" sz="2400" dirty="0"/>
              <a:t>Lexical analysis turns input characters into tokens.</a:t>
            </a:r>
          </a:p>
          <a:p>
            <a:pPr algn="just"/>
            <a:r>
              <a:rPr lang="en-US" sz="2400" dirty="0"/>
              <a:t>Lexical syntax is described by regular expressions.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35A0BA-9568-4E89-A021-E80DB1301D1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94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Introduce students to the concepts of language used to design the compiler.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EAEFED-B4E1-4541-A911-EBC30FC42B41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95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Topic Objective(CO1)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4876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dirty="0"/>
              <a:t>A grammar </a:t>
            </a:r>
            <a:r>
              <a:rPr lang="en-IN" sz="2400" b="1" dirty="0"/>
              <a:t>G</a:t>
            </a:r>
            <a:r>
              <a:rPr lang="en-IN" sz="2400" dirty="0"/>
              <a:t> can be formally written as a 4-tuple (N, T, S, P) where −</a:t>
            </a:r>
          </a:p>
          <a:p>
            <a:pPr marL="0" indent="0" algn="just">
              <a:buNone/>
            </a:pPr>
            <a:endParaRPr lang="en-IN" sz="2400" dirty="0"/>
          </a:p>
          <a:p>
            <a:r>
              <a:rPr lang="en-IN" sz="2400" b="1" dirty="0"/>
              <a:t>N</a:t>
            </a:r>
            <a:r>
              <a:rPr lang="en-IN" sz="2400" dirty="0"/>
              <a:t> or </a:t>
            </a:r>
            <a:r>
              <a:rPr lang="en-IN" sz="2400" b="1" dirty="0"/>
              <a:t>V</a:t>
            </a:r>
            <a:r>
              <a:rPr lang="en-IN" sz="2400" b="1" i="1" baseline="-25000" dirty="0"/>
              <a:t>N</a:t>
            </a:r>
            <a:r>
              <a:rPr lang="en-IN" sz="2400" dirty="0"/>
              <a:t> is a set of variables or non-terminal symbols.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b="1" dirty="0"/>
              <a:t>T</a:t>
            </a:r>
            <a:r>
              <a:rPr lang="en-IN" sz="2400" dirty="0"/>
              <a:t> or </a:t>
            </a:r>
            <a:r>
              <a:rPr lang="en-IN" sz="2400" b="1" dirty="0"/>
              <a:t>∑</a:t>
            </a:r>
            <a:r>
              <a:rPr lang="en-IN" sz="2400" dirty="0"/>
              <a:t> is a set of Terminal symbols.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b="1" dirty="0"/>
              <a:t>S</a:t>
            </a:r>
            <a:r>
              <a:rPr lang="en-IN" sz="2400" dirty="0"/>
              <a:t> is a special variable called the Start symbol, S ∈ N</a:t>
            </a:r>
          </a:p>
          <a:p>
            <a:pPr marL="0" indent="0">
              <a:buNone/>
            </a:pPr>
            <a:endParaRPr lang="en-IN" sz="2400" dirty="0"/>
          </a:p>
          <a:p>
            <a:pPr algn="just"/>
            <a:r>
              <a:rPr lang="en-IN" sz="2400" b="1" dirty="0"/>
              <a:t>P</a:t>
            </a:r>
            <a:r>
              <a:rPr lang="en-IN" sz="2400" dirty="0"/>
              <a:t> is Production rules for Terminals and Non-terminals. A production rule has the form α → β, where α and β are strings on V</a:t>
            </a:r>
            <a:r>
              <a:rPr lang="en-IN" sz="2400" i="1" baseline="-25000" dirty="0"/>
              <a:t>N</a:t>
            </a:r>
            <a:r>
              <a:rPr lang="en-IN" sz="2400" dirty="0"/>
              <a:t> ∪ ∑ and least one symbol of α belongs to V</a:t>
            </a:r>
            <a:r>
              <a:rPr lang="en-IN" sz="2400" baseline="-25000" dirty="0"/>
              <a:t>N</a:t>
            </a:r>
            <a:r>
              <a:rPr lang="en-IN" sz="2400" dirty="0"/>
              <a:t>.</a:t>
            </a:r>
          </a:p>
          <a:p>
            <a:pPr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  <a:sym typeface="Symbol" panose="05050102010706020507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79AA-05BB-4D66-A861-B7CA1B437C9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Grammar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610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Grammar G1 −  ({S, A, B}, {a, b}, S, {S → AB, A → a, B → b})</a:t>
            </a:r>
          </a:p>
          <a:p>
            <a:pPr marL="0" indent="0">
              <a:buNone/>
            </a:pPr>
            <a:r>
              <a:rPr lang="en-IN" sz="2600" dirty="0"/>
              <a:t>Here,</a:t>
            </a:r>
          </a:p>
          <a:p>
            <a:r>
              <a:rPr lang="en-IN" sz="2600" b="1" dirty="0"/>
              <a:t>S, A,</a:t>
            </a:r>
            <a:r>
              <a:rPr lang="en-IN" sz="2600" dirty="0"/>
              <a:t> and </a:t>
            </a:r>
            <a:r>
              <a:rPr lang="en-IN" sz="2600" b="1" dirty="0"/>
              <a:t>B</a:t>
            </a:r>
            <a:r>
              <a:rPr lang="en-IN" sz="2600" dirty="0"/>
              <a:t> are Non-terminal symbols;</a:t>
            </a:r>
          </a:p>
          <a:p>
            <a:r>
              <a:rPr lang="en-IN" sz="2600" b="1" dirty="0"/>
              <a:t>a</a:t>
            </a:r>
            <a:r>
              <a:rPr lang="en-IN" sz="2600" dirty="0"/>
              <a:t> and </a:t>
            </a:r>
            <a:r>
              <a:rPr lang="en-IN" sz="2600" b="1" dirty="0"/>
              <a:t>b</a:t>
            </a:r>
            <a:r>
              <a:rPr lang="en-IN" sz="2600" dirty="0"/>
              <a:t> are Terminal symbols</a:t>
            </a:r>
          </a:p>
          <a:p>
            <a:r>
              <a:rPr lang="en-IN" sz="2600" b="1" dirty="0"/>
              <a:t>S</a:t>
            </a:r>
            <a:r>
              <a:rPr lang="en-IN" sz="2600" dirty="0"/>
              <a:t> is the Start symbol, S ∈ N</a:t>
            </a:r>
          </a:p>
          <a:p>
            <a:r>
              <a:rPr lang="en-IN" sz="2600" dirty="0"/>
              <a:t>Productions, </a:t>
            </a:r>
            <a:r>
              <a:rPr lang="en-IN" sz="2600" b="1" dirty="0"/>
              <a:t>P : S → AB, A → a, B → b</a:t>
            </a:r>
            <a:endParaRPr lang="en-IN" sz="2600" dirty="0"/>
          </a:p>
          <a:p>
            <a:pPr marL="0" indent="0">
              <a:buNone/>
            </a:pPr>
            <a:r>
              <a:rPr lang="en-IN" sz="2800" dirty="0">
                <a:solidFill>
                  <a:srgbClr val="FF0000"/>
                </a:solidFill>
              </a:rPr>
              <a:t>Grammar G2 −(({S, A}, {a, b}, S,{S → </a:t>
            </a:r>
            <a:r>
              <a:rPr lang="en-IN" sz="2800" dirty="0" err="1">
                <a:solidFill>
                  <a:srgbClr val="FF0000"/>
                </a:solidFill>
              </a:rPr>
              <a:t>aAb</a:t>
            </a:r>
            <a:r>
              <a:rPr lang="en-IN" sz="2800" dirty="0">
                <a:solidFill>
                  <a:srgbClr val="FF0000"/>
                </a:solidFill>
              </a:rPr>
              <a:t>, </a:t>
            </a:r>
            <a:r>
              <a:rPr lang="en-IN" sz="2800" dirty="0" err="1">
                <a:solidFill>
                  <a:srgbClr val="FF0000"/>
                </a:solidFill>
              </a:rPr>
              <a:t>aA</a:t>
            </a:r>
            <a:r>
              <a:rPr lang="en-IN" sz="2800" dirty="0">
                <a:solidFill>
                  <a:srgbClr val="FF0000"/>
                </a:solidFill>
              </a:rPr>
              <a:t> → </a:t>
            </a:r>
            <a:r>
              <a:rPr lang="en-IN" sz="2800" dirty="0" err="1">
                <a:solidFill>
                  <a:srgbClr val="FF0000"/>
                </a:solidFill>
              </a:rPr>
              <a:t>aaAb</a:t>
            </a:r>
            <a:r>
              <a:rPr lang="en-IN" sz="2800" dirty="0">
                <a:solidFill>
                  <a:srgbClr val="FF0000"/>
                </a:solidFill>
              </a:rPr>
              <a:t>, A → </a:t>
            </a:r>
            <a:r>
              <a:rPr lang="el-GR" sz="2800" dirty="0">
                <a:solidFill>
                  <a:srgbClr val="FF0000"/>
                </a:solidFill>
              </a:rPr>
              <a:t>ε } )</a:t>
            </a:r>
          </a:p>
          <a:p>
            <a:pPr marL="0" indent="0">
              <a:buNone/>
            </a:pPr>
            <a:r>
              <a:rPr lang="en-IN" sz="2800" dirty="0"/>
              <a:t>Here,</a:t>
            </a:r>
          </a:p>
          <a:p>
            <a:r>
              <a:rPr lang="en-IN" sz="2800" b="1" dirty="0"/>
              <a:t>S</a:t>
            </a:r>
            <a:r>
              <a:rPr lang="en-IN" sz="2800" dirty="0"/>
              <a:t> and </a:t>
            </a:r>
            <a:r>
              <a:rPr lang="en-IN" sz="2800" b="1" dirty="0"/>
              <a:t>A</a:t>
            </a:r>
            <a:r>
              <a:rPr lang="en-IN" sz="2800" dirty="0"/>
              <a:t> are Non-terminal symbols.</a:t>
            </a:r>
          </a:p>
          <a:p>
            <a:r>
              <a:rPr lang="en-IN" sz="2800" b="1" dirty="0"/>
              <a:t>a</a:t>
            </a:r>
            <a:r>
              <a:rPr lang="en-IN" sz="2800" dirty="0"/>
              <a:t> and </a:t>
            </a:r>
            <a:r>
              <a:rPr lang="en-IN" sz="2800" b="1" dirty="0"/>
              <a:t>b</a:t>
            </a:r>
            <a:r>
              <a:rPr lang="en-IN" sz="2800" dirty="0"/>
              <a:t> are Terminal symbols.</a:t>
            </a:r>
          </a:p>
          <a:p>
            <a:r>
              <a:rPr lang="el-GR" sz="2800" b="1" dirty="0"/>
              <a:t>ε</a:t>
            </a:r>
            <a:r>
              <a:rPr lang="el-GR" sz="2800" dirty="0"/>
              <a:t> </a:t>
            </a:r>
            <a:r>
              <a:rPr lang="en-IN" sz="2800" dirty="0"/>
              <a:t>is an empty string.</a:t>
            </a:r>
          </a:p>
          <a:p>
            <a:r>
              <a:rPr lang="en-IN" sz="2800" b="1" dirty="0"/>
              <a:t>S</a:t>
            </a:r>
            <a:r>
              <a:rPr lang="en-IN" sz="2800" dirty="0"/>
              <a:t> is the Start symbol, S ∈ N</a:t>
            </a:r>
          </a:p>
          <a:p>
            <a:r>
              <a:rPr lang="en-IN" sz="2800" dirty="0"/>
              <a:t>Production </a:t>
            </a:r>
            <a:r>
              <a:rPr lang="en-IN" sz="2800" b="1" dirty="0"/>
              <a:t>P : S → </a:t>
            </a:r>
            <a:r>
              <a:rPr lang="en-IN" sz="2800" b="1" dirty="0" err="1"/>
              <a:t>aAb</a:t>
            </a:r>
            <a:r>
              <a:rPr lang="en-IN" sz="2800" b="1" dirty="0"/>
              <a:t>, </a:t>
            </a:r>
            <a:r>
              <a:rPr lang="en-IN" sz="2800" b="1" dirty="0" err="1"/>
              <a:t>aA</a:t>
            </a:r>
            <a:r>
              <a:rPr lang="en-IN" sz="2800" b="1" dirty="0"/>
              <a:t> → </a:t>
            </a:r>
            <a:r>
              <a:rPr lang="en-IN" sz="2800" b="1" dirty="0" err="1"/>
              <a:t>aaAb</a:t>
            </a:r>
            <a:r>
              <a:rPr lang="en-IN" sz="2800" b="1" dirty="0"/>
              <a:t>, A → </a:t>
            </a:r>
            <a:r>
              <a:rPr lang="el-GR" sz="2800" b="1" dirty="0"/>
              <a:t>ε</a:t>
            </a:r>
            <a:endParaRPr lang="el-GR" sz="2800" dirty="0"/>
          </a:p>
          <a:p>
            <a:pPr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  <a:sym typeface="Symbol" panose="05050102010706020507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64DB-5FEE-4770-A657-45E60D1044C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Example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331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Strings may be derived from other strings using the productions in a grammar. </a:t>
            </a:r>
          </a:p>
          <a:p>
            <a:pPr marL="0" indent="0" algn="just">
              <a:buNone/>
            </a:pPr>
            <a:r>
              <a:rPr lang="en-IN" sz="2400" dirty="0"/>
              <a:t>If a grammar </a:t>
            </a:r>
            <a:r>
              <a:rPr lang="en-IN" sz="2400" b="1" dirty="0"/>
              <a:t>G</a:t>
            </a:r>
            <a:r>
              <a:rPr lang="en-IN" sz="2400" dirty="0"/>
              <a:t> has a production </a:t>
            </a:r>
            <a:r>
              <a:rPr lang="en-IN" sz="2400" b="1" dirty="0"/>
              <a:t>α → β</a:t>
            </a:r>
            <a:r>
              <a:rPr lang="en-IN" sz="2400" dirty="0"/>
              <a:t>, we can say that </a:t>
            </a:r>
            <a:r>
              <a:rPr lang="en-IN" sz="2400" b="1" dirty="0"/>
              <a:t>x α y</a:t>
            </a:r>
            <a:r>
              <a:rPr lang="en-IN" sz="2400" dirty="0"/>
              <a:t> derives </a:t>
            </a:r>
            <a:r>
              <a:rPr lang="en-IN" sz="2400" b="1" dirty="0"/>
              <a:t>x β y</a:t>
            </a:r>
            <a:r>
              <a:rPr lang="en-IN" sz="2400" dirty="0"/>
              <a:t> in </a:t>
            </a:r>
            <a:r>
              <a:rPr lang="en-IN" sz="2400" b="1" dirty="0"/>
              <a:t>G</a:t>
            </a:r>
            <a:r>
              <a:rPr lang="en-IN" sz="2400" dirty="0"/>
              <a:t>. </a:t>
            </a:r>
          </a:p>
          <a:p>
            <a:pPr marL="0" indent="0" algn="just">
              <a:buNone/>
            </a:pPr>
            <a:r>
              <a:rPr lang="en-IN" sz="2400" dirty="0"/>
              <a:t>This derivation is written as </a:t>
            </a:r>
          </a:p>
          <a:p>
            <a:pPr marL="0" indent="0" algn="ctr">
              <a:buNone/>
            </a:pPr>
            <a:endParaRPr lang="es-ES" b="1" dirty="0"/>
          </a:p>
          <a:p>
            <a:pPr marL="0" indent="0" algn="ctr">
              <a:buNone/>
            </a:pPr>
            <a:r>
              <a:rPr lang="es-ES" b="1" i="1" dirty="0"/>
              <a:t>x α y ⇒ x β y</a:t>
            </a:r>
            <a:endParaRPr lang="en-US" dirty="0">
              <a:solidFill>
                <a:schemeClr val="accent2">
                  <a:lumMod val="75000"/>
                </a:schemeClr>
              </a:solidFill>
              <a:sym typeface="Symbol" panose="05050102010706020507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2A64-0EE7-40B0-A965-17C893242B7B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Derivations from a Grammar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60789" y="3581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209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Let us consider the grammar −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     G2 = ({S, A}, {a, b}, S, {S → </a:t>
            </a:r>
            <a:r>
              <a:rPr lang="en-IN" sz="2400" dirty="0" err="1">
                <a:solidFill>
                  <a:srgbClr val="FF0000"/>
                </a:solidFill>
              </a:rPr>
              <a:t>aAb</a:t>
            </a:r>
            <a:r>
              <a:rPr lang="en-IN" sz="2400" dirty="0">
                <a:solidFill>
                  <a:srgbClr val="FF0000"/>
                </a:solidFill>
              </a:rPr>
              <a:t>, </a:t>
            </a:r>
            <a:r>
              <a:rPr lang="en-IN" sz="2400" dirty="0" err="1">
                <a:solidFill>
                  <a:srgbClr val="FF0000"/>
                </a:solidFill>
              </a:rPr>
              <a:t>aA</a:t>
            </a:r>
            <a:r>
              <a:rPr lang="en-IN" sz="2400" dirty="0">
                <a:solidFill>
                  <a:srgbClr val="FF0000"/>
                </a:solidFill>
              </a:rPr>
              <a:t> → </a:t>
            </a:r>
            <a:r>
              <a:rPr lang="en-IN" sz="2400" dirty="0" err="1">
                <a:solidFill>
                  <a:srgbClr val="FF0000"/>
                </a:solidFill>
              </a:rPr>
              <a:t>aaAb</a:t>
            </a:r>
            <a:r>
              <a:rPr lang="en-IN" sz="2400" dirty="0">
                <a:solidFill>
                  <a:srgbClr val="FF0000"/>
                </a:solidFill>
              </a:rPr>
              <a:t>, A → </a:t>
            </a:r>
            <a:r>
              <a:rPr lang="el-GR" sz="2400" dirty="0">
                <a:solidFill>
                  <a:srgbClr val="FF0000"/>
                </a:solidFill>
              </a:rPr>
              <a:t>ε } 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Some of the strings that can be derived are −</a:t>
            </a:r>
          </a:p>
          <a:p>
            <a:r>
              <a:rPr lang="en-IN" sz="2400" dirty="0"/>
              <a:t>S ⇒ </a:t>
            </a:r>
            <a:r>
              <a:rPr lang="en-IN" sz="2400" u="sng" dirty="0" err="1"/>
              <a:t>aA</a:t>
            </a:r>
            <a:r>
              <a:rPr lang="en-IN" sz="2400" dirty="0" err="1"/>
              <a:t>b</a:t>
            </a:r>
            <a:r>
              <a:rPr lang="en-IN" sz="2400" dirty="0"/>
              <a:t>            using production S → </a:t>
            </a:r>
            <a:r>
              <a:rPr lang="en-IN" sz="2400" dirty="0" err="1"/>
              <a:t>aAb</a:t>
            </a:r>
            <a:endParaRPr lang="en-IN" sz="2400" dirty="0"/>
          </a:p>
          <a:p>
            <a:r>
              <a:rPr lang="en-IN" sz="2400" dirty="0"/>
              <a:t>⇒ </a:t>
            </a:r>
            <a:r>
              <a:rPr lang="en-IN" sz="2400" dirty="0" err="1"/>
              <a:t>a</a:t>
            </a:r>
            <a:r>
              <a:rPr lang="en-IN" sz="2400" u="sng" dirty="0" err="1"/>
              <a:t>aA</a:t>
            </a:r>
            <a:r>
              <a:rPr lang="en-IN" sz="2400" dirty="0" err="1"/>
              <a:t>bb</a:t>
            </a:r>
            <a:r>
              <a:rPr lang="en-IN" sz="2400" dirty="0"/>
              <a:t>          using production </a:t>
            </a:r>
            <a:r>
              <a:rPr lang="en-IN" sz="2400" dirty="0" err="1"/>
              <a:t>aA</a:t>
            </a:r>
            <a:r>
              <a:rPr lang="en-IN" sz="2400" dirty="0"/>
              <a:t> → </a:t>
            </a:r>
            <a:r>
              <a:rPr lang="en-IN" sz="2400" dirty="0" err="1"/>
              <a:t>aaAb</a:t>
            </a:r>
            <a:endParaRPr lang="en-IN" sz="2400" dirty="0"/>
          </a:p>
          <a:p>
            <a:r>
              <a:rPr lang="en-IN" sz="2400" dirty="0"/>
              <a:t>⇒ </a:t>
            </a:r>
            <a:r>
              <a:rPr lang="en-IN" sz="2400" dirty="0" err="1"/>
              <a:t>aaa</a:t>
            </a:r>
            <a:r>
              <a:rPr lang="en-IN" sz="2400" u="sng" dirty="0" err="1"/>
              <a:t>A</a:t>
            </a:r>
            <a:r>
              <a:rPr lang="en-IN" sz="2400" dirty="0" err="1"/>
              <a:t>bbb</a:t>
            </a:r>
            <a:r>
              <a:rPr lang="en-IN" sz="2400" dirty="0"/>
              <a:t>     using production </a:t>
            </a:r>
            <a:r>
              <a:rPr lang="en-IN" sz="2400" dirty="0" err="1"/>
              <a:t>aA</a:t>
            </a:r>
            <a:r>
              <a:rPr lang="en-IN" sz="2400" dirty="0"/>
              <a:t> → </a:t>
            </a:r>
            <a:r>
              <a:rPr lang="en-IN" sz="2400" dirty="0" err="1"/>
              <a:t>aaAb</a:t>
            </a:r>
            <a:endParaRPr lang="en-IN" sz="2400" dirty="0"/>
          </a:p>
          <a:p>
            <a:r>
              <a:rPr lang="en-IN" sz="2400" dirty="0"/>
              <a:t>⇒ </a:t>
            </a:r>
            <a:r>
              <a:rPr lang="en-IN" sz="2400" dirty="0" err="1"/>
              <a:t>aaabbb</a:t>
            </a:r>
            <a:r>
              <a:rPr lang="en-IN" sz="2400" dirty="0"/>
              <a:t>        using production A → </a:t>
            </a:r>
            <a:r>
              <a:rPr lang="el-GR" sz="2400" dirty="0"/>
              <a:t>ε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34DA-1332-42C4-8B9F-9BACACDCFC46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Example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2844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The set of all strings that can be derived from a grammar is said to be the language generated from that grammar. </a:t>
            </a:r>
          </a:p>
          <a:p>
            <a:pPr marL="0" indent="0" algn="just">
              <a:buNone/>
            </a:pPr>
            <a:r>
              <a:rPr lang="en-IN" sz="2400" dirty="0"/>
              <a:t>A language generated by a grammar </a:t>
            </a:r>
            <a:r>
              <a:rPr lang="en-IN" sz="2400" b="1" dirty="0"/>
              <a:t>G</a:t>
            </a:r>
            <a:r>
              <a:rPr lang="en-IN" sz="2400" dirty="0"/>
              <a:t> is a subset formally defined by</a:t>
            </a:r>
          </a:p>
          <a:p>
            <a:pPr marL="0" indent="0">
              <a:buNone/>
            </a:pPr>
            <a:r>
              <a:rPr lang="en-IN" dirty="0"/>
              <a:t>                  </a:t>
            </a:r>
            <a:r>
              <a:rPr lang="en-IN" dirty="0">
                <a:solidFill>
                  <a:srgbClr val="FF0000"/>
                </a:solidFill>
              </a:rPr>
              <a:t>L(G)={W|W ∈ ∑*, S ⇒G </a:t>
            </a:r>
            <a:r>
              <a:rPr lang="en-IN" b="1" dirty="0">
                <a:solidFill>
                  <a:srgbClr val="FF0000"/>
                </a:solidFill>
              </a:rPr>
              <a:t>W</a:t>
            </a: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algn="just"/>
            <a:r>
              <a:rPr lang="en-IN" sz="2400" dirty="0"/>
              <a:t>If </a:t>
            </a:r>
            <a:r>
              <a:rPr lang="en-IN" sz="2400" b="1" dirty="0"/>
              <a:t>L(G1) = L(G2)</a:t>
            </a:r>
            <a:r>
              <a:rPr lang="en-IN" sz="2400" dirty="0"/>
              <a:t>, the Grammar </a:t>
            </a:r>
            <a:r>
              <a:rPr lang="en-IN" sz="2400" b="1" dirty="0"/>
              <a:t>G1</a:t>
            </a:r>
            <a:r>
              <a:rPr lang="en-IN" sz="2400" dirty="0"/>
              <a:t> is equivalent to the Grammar </a:t>
            </a:r>
            <a:r>
              <a:rPr lang="en-IN" sz="2400" b="1" dirty="0"/>
              <a:t>G2</a:t>
            </a:r>
            <a:r>
              <a:rPr lang="en-IN" sz="2400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CE27-171F-4DD7-ADFE-95B064C2F44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Language Generated by a Grammar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148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1. If there is a grammar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          G: N = {S, A, B} T = {a, b} P = {S → AB, A → a, B → b}</a:t>
            </a:r>
          </a:p>
          <a:p>
            <a:r>
              <a:rPr lang="en-IN" sz="2400" dirty="0"/>
              <a:t>Here </a:t>
            </a:r>
            <a:r>
              <a:rPr lang="en-IN" sz="2400" b="1" dirty="0"/>
              <a:t>S</a:t>
            </a:r>
            <a:r>
              <a:rPr lang="en-IN" sz="2400" dirty="0"/>
              <a:t> produces </a:t>
            </a:r>
            <a:r>
              <a:rPr lang="en-IN" sz="2400" b="1" dirty="0"/>
              <a:t>AB</a:t>
            </a:r>
            <a:r>
              <a:rPr lang="en-IN" sz="2400" dirty="0"/>
              <a:t>, and we can replace </a:t>
            </a:r>
            <a:r>
              <a:rPr lang="en-IN" sz="2400" b="1" dirty="0"/>
              <a:t>A</a:t>
            </a:r>
            <a:r>
              <a:rPr lang="en-IN" sz="2400" dirty="0"/>
              <a:t> by </a:t>
            </a:r>
            <a:r>
              <a:rPr lang="en-IN" sz="2400" b="1" dirty="0"/>
              <a:t>a</a:t>
            </a:r>
            <a:r>
              <a:rPr lang="en-IN" sz="2400" dirty="0"/>
              <a:t>, and </a:t>
            </a:r>
            <a:r>
              <a:rPr lang="en-IN" sz="2400" b="1" dirty="0"/>
              <a:t>B</a:t>
            </a:r>
            <a:r>
              <a:rPr lang="en-IN" sz="2400" dirty="0"/>
              <a:t> by </a:t>
            </a:r>
            <a:r>
              <a:rPr lang="en-IN" sz="2400" b="1" dirty="0"/>
              <a:t>b</a:t>
            </a:r>
            <a:r>
              <a:rPr lang="en-IN" sz="2400" dirty="0"/>
              <a:t>. Here, the only accepted string is </a:t>
            </a:r>
            <a:r>
              <a:rPr lang="en-IN" sz="2400" b="1" dirty="0" err="1"/>
              <a:t>ab</a:t>
            </a:r>
            <a:r>
              <a:rPr lang="en-IN" sz="2400" dirty="0"/>
              <a:t>, i.e.,</a:t>
            </a:r>
          </a:p>
          <a:p>
            <a:r>
              <a:rPr lang="en-IN" sz="2400" dirty="0"/>
              <a:t>L(G) = {</a:t>
            </a:r>
            <a:r>
              <a:rPr lang="en-IN" sz="2400" dirty="0" err="1"/>
              <a:t>ab</a:t>
            </a:r>
            <a:r>
              <a:rPr lang="en-IN" sz="2400" dirty="0"/>
              <a:t>}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2.   Suppose we have the following grammar −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      G: N = {S, A, B} T = {a, b} P = {S → AB, A → </a:t>
            </a:r>
            <a:r>
              <a:rPr lang="en-IN" sz="2400" dirty="0" err="1">
                <a:solidFill>
                  <a:srgbClr val="FF0000"/>
                </a:solidFill>
              </a:rPr>
              <a:t>aA|a</a:t>
            </a:r>
            <a:r>
              <a:rPr lang="en-IN" sz="2400" dirty="0">
                <a:solidFill>
                  <a:srgbClr val="FF0000"/>
                </a:solidFill>
              </a:rPr>
              <a:t>, B → </a:t>
            </a:r>
            <a:r>
              <a:rPr lang="en-IN" sz="2400" dirty="0" err="1">
                <a:solidFill>
                  <a:srgbClr val="FF0000"/>
                </a:solidFill>
              </a:rPr>
              <a:t>bB|b</a:t>
            </a:r>
            <a:r>
              <a:rPr lang="en-IN" sz="2400" dirty="0">
                <a:solidFill>
                  <a:srgbClr val="FF0000"/>
                </a:solidFill>
              </a:rPr>
              <a:t>}</a:t>
            </a:r>
          </a:p>
          <a:p>
            <a:r>
              <a:rPr lang="en-IN" sz="2400" dirty="0"/>
              <a:t>The language generated by this grammar −</a:t>
            </a:r>
          </a:p>
          <a:p>
            <a:r>
              <a:rPr lang="en-IN" sz="2400" dirty="0"/>
              <a:t> L(G) = {</a:t>
            </a:r>
            <a:r>
              <a:rPr lang="en-IN" sz="2400" dirty="0" err="1"/>
              <a:t>ab</a:t>
            </a:r>
            <a:r>
              <a:rPr lang="en-IN" sz="2400" dirty="0"/>
              <a:t>, a</a:t>
            </a:r>
            <a:r>
              <a:rPr lang="en-IN" sz="2400" baseline="30000" dirty="0"/>
              <a:t>2</a:t>
            </a:r>
            <a:r>
              <a:rPr lang="en-IN" sz="2400" dirty="0"/>
              <a:t>b, ab</a:t>
            </a:r>
            <a:r>
              <a:rPr lang="en-IN" sz="2400" baseline="30000" dirty="0"/>
              <a:t>2</a:t>
            </a:r>
            <a:r>
              <a:rPr lang="en-IN" sz="2400" dirty="0"/>
              <a:t>, a</a:t>
            </a:r>
            <a:r>
              <a:rPr lang="en-IN" sz="2400" baseline="30000" dirty="0"/>
              <a:t>2</a:t>
            </a:r>
            <a:r>
              <a:rPr lang="en-IN" sz="2400" dirty="0"/>
              <a:t>b</a:t>
            </a:r>
            <a:r>
              <a:rPr lang="en-IN" sz="2400" baseline="30000" dirty="0"/>
              <a:t>2</a:t>
            </a:r>
            <a:r>
              <a:rPr lang="en-IN" sz="2400" dirty="0"/>
              <a:t>, ………}</a:t>
            </a:r>
          </a:p>
          <a:p>
            <a:pPr marL="0" indent="0">
              <a:buNone/>
            </a:pPr>
            <a:r>
              <a:rPr lang="en-IN" sz="2400" dirty="0"/>
              <a:t>           = {a</a:t>
            </a:r>
            <a:r>
              <a:rPr lang="en-IN" sz="2400" baseline="30000" dirty="0"/>
              <a:t>m</a:t>
            </a:r>
            <a:r>
              <a:rPr lang="en-IN" sz="2400" dirty="0"/>
              <a:t> </a:t>
            </a:r>
            <a:r>
              <a:rPr lang="en-IN" sz="2400" dirty="0" err="1"/>
              <a:t>b</a:t>
            </a:r>
            <a:r>
              <a:rPr lang="en-IN" sz="2400" baseline="30000" dirty="0" err="1"/>
              <a:t>n</a:t>
            </a:r>
            <a:r>
              <a:rPr lang="en-IN" sz="2400" dirty="0"/>
              <a:t> | m ≥ 1 and n ≥ 1}</a:t>
            </a:r>
          </a:p>
          <a:p>
            <a:pPr marL="0" indent="0">
              <a:buNone/>
            </a:pPr>
            <a:endParaRPr lang="en-IN" sz="2400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3B01-1C53-4748-85EF-F0998AECBAB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Example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443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According to Noam </a:t>
            </a:r>
            <a:r>
              <a:rPr lang="en-IN" sz="2400" dirty="0" err="1"/>
              <a:t>Chomosky</a:t>
            </a:r>
            <a:r>
              <a:rPr lang="en-IN" sz="2400" dirty="0"/>
              <a:t>, there are four types of grammars − Type 0, Type 1, Type 2, and Type 3. The following table shows how they differ from each other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861AF-CB9A-44D5-98F5-7BB0FDB7495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Chomsky Classification of Grammars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201230"/>
              </p:ext>
            </p:extLst>
          </p:nvPr>
        </p:nvGraphicFramePr>
        <p:xfrm>
          <a:off x="533400" y="2438400"/>
          <a:ext cx="8077200" cy="377332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3733">
                <a:tc>
                  <a:txBody>
                    <a:bodyPr/>
                    <a:lstStyle/>
                    <a:p>
                      <a:pPr algn="ctr" fontAlgn="t"/>
                      <a:r>
                        <a:rPr lang="en-IN" b="1" dirty="0">
                          <a:effectLst/>
                        </a:rPr>
                        <a:t>Grammar Type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b="1">
                          <a:effectLst/>
                        </a:rPr>
                        <a:t>Grammar Accepted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b="1">
                          <a:effectLst/>
                        </a:rPr>
                        <a:t>Language Accepted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b="1" dirty="0">
                          <a:effectLst/>
                        </a:rPr>
                        <a:t>Automaton</a:t>
                      </a:r>
                      <a:endParaRPr lang="en-IN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15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Type 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Unrestricted grammar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Recursively enumerable language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Turing Machine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15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Type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Context-sensitive grammar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Context-sensitive language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Linear-bounded automaton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733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Type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Context-free grammar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Context-free language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Pushdown automaton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733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Type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Regular grammar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Regular language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Finite state automaton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224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 It shows the scope of each type of grammar −</a:t>
            </a:r>
          </a:p>
          <a:p>
            <a:pPr marL="0" indent="0">
              <a:buNone/>
            </a:pPr>
            <a:endParaRPr lang="en-IN" sz="2400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AD85-D549-48A5-85EF-9B5690A12BD8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Chomsky Classification of Grammars</a:t>
            </a:r>
          </a:p>
        </p:txBody>
      </p:sp>
      <p:pic>
        <p:nvPicPr>
          <p:cNvPr id="2050" name="Picture 2" descr="Containment of Type3, Type2, Type1, Type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73914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3467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Type-3 grammars</a:t>
            </a:r>
            <a:r>
              <a:rPr lang="en-IN" sz="2400" dirty="0"/>
              <a:t> generate regular languages. </a:t>
            </a:r>
          </a:p>
          <a:p>
            <a:pPr algn="just"/>
            <a:r>
              <a:rPr lang="en-IN" sz="2400" dirty="0"/>
              <a:t>Type-3 grammars must have a single non-terminal </a:t>
            </a:r>
            <a:r>
              <a:rPr lang="en-IN" sz="2400" b="1" dirty="0"/>
              <a:t>on the left-hand side .</a:t>
            </a:r>
          </a:p>
          <a:p>
            <a:pPr algn="just"/>
            <a:r>
              <a:rPr lang="en-IN" sz="2400" b="1" dirty="0"/>
              <a:t>a right-hand side </a:t>
            </a:r>
            <a:r>
              <a:rPr lang="en-IN" sz="2400" dirty="0"/>
              <a:t>consisting of a single terminal or single terminal followed by a single non-terminal.</a:t>
            </a:r>
          </a:p>
          <a:p>
            <a:pPr algn="just"/>
            <a:r>
              <a:rPr lang="en-IN" sz="2400" dirty="0"/>
              <a:t>The productions must be in the form </a:t>
            </a:r>
          </a:p>
          <a:p>
            <a:pPr marL="0" indent="0" algn="just">
              <a:buNone/>
            </a:pPr>
            <a:r>
              <a:rPr lang="en-IN" sz="2400" b="1" dirty="0"/>
              <a:t>              X → a or X → </a:t>
            </a:r>
            <a:r>
              <a:rPr lang="en-IN" sz="2400" b="1" dirty="0" err="1"/>
              <a:t>aY</a:t>
            </a:r>
            <a:r>
              <a:rPr lang="en-IN" sz="2400" b="1" dirty="0"/>
              <a:t>      ---------- (right linear)</a:t>
            </a:r>
          </a:p>
          <a:p>
            <a:pPr marL="0" indent="0" algn="just">
              <a:buNone/>
            </a:pPr>
            <a:r>
              <a:rPr lang="en-IN" sz="2400" b="1" dirty="0"/>
              <a:t>              X → a or X →  </a:t>
            </a:r>
            <a:r>
              <a:rPr lang="en-IN" sz="2400" b="1" dirty="0" err="1"/>
              <a:t>Ya</a:t>
            </a:r>
            <a:r>
              <a:rPr lang="en-IN" sz="2400" b="1" dirty="0"/>
              <a:t>      -----------(left linear) </a:t>
            </a: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      	where </a:t>
            </a:r>
            <a:r>
              <a:rPr lang="en-IN" sz="2400" b="1" dirty="0"/>
              <a:t>X, Y ∈ N</a:t>
            </a:r>
            <a:r>
              <a:rPr lang="en-IN" sz="2400" dirty="0"/>
              <a:t> (Non terminal)</a:t>
            </a:r>
          </a:p>
          <a:p>
            <a:pPr marL="0" indent="0" algn="just">
              <a:buNone/>
            </a:pPr>
            <a:r>
              <a:rPr lang="en-IN" sz="2400" dirty="0"/>
              <a:t>	</a:t>
            </a:r>
            <a:r>
              <a:rPr lang="en-IN" sz="2400" b="1" dirty="0"/>
              <a:t>a ∈ T</a:t>
            </a:r>
            <a:r>
              <a:rPr lang="en-IN" sz="2400" dirty="0"/>
              <a:t> (Terminal)</a:t>
            </a:r>
          </a:p>
          <a:p>
            <a:pPr marL="0" indent="0" algn="just">
              <a:buNone/>
            </a:pPr>
            <a:r>
              <a:rPr lang="en-IN" sz="2400" dirty="0"/>
              <a:t>Note: The rule </a:t>
            </a:r>
            <a:r>
              <a:rPr lang="en-IN" sz="2400" b="1" dirty="0"/>
              <a:t>S → ε</a:t>
            </a:r>
            <a:r>
              <a:rPr lang="en-IN" sz="2400" dirty="0"/>
              <a:t> is allowed if </a:t>
            </a:r>
            <a:r>
              <a:rPr lang="en-IN" sz="2400" b="1" dirty="0"/>
              <a:t>S</a:t>
            </a:r>
            <a:r>
              <a:rPr lang="en-IN" sz="2400" dirty="0"/>
              <a:t> does not appear on the right side of any rule.</a:t>
            </a:r>
          </a:p>
          <a:p>
            <a:pPr marL="0" indent="0">
              <a:buNone/>
            </a:pPr>
            <a:endParaRPr lang="en-IN" sz="2400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D84B-9CDF-4545-B69A-75FFFB24C8E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- 3 Grammar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379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Example1 :</a:t>
            </a:r>
          </a:p>
          <a:p>
            <a:pPr marL="0" indent="0" algn="just">
              <a:buNone/>
            </a:pPr>
            <a:r>
              <a:rPr lang="es-ES" sz="2400" dirty="0"/>
              <a:t>     X → ε </a:t>
            </a:r>
          </a:p>
          <a:p>
            <a:pPr algn="just"/>
            <a:r>
              <a:rPr lang="es-ES" sz="2400" dirty="0"/>
              <a:t>X → a | </a:t>
            </a:r>
            <a:r>
              <a:rPr lang="es-ES" sz="2400" dirty="0" err="1"/>
              <a:t>aY</a:t>
            </a:r>
            <a:r>
              <a:rPr lang="es-ES" sz="2400" dirty="0"/>
              <a:t> </a:t>
            </a:r>
          </a:p>
          <a:p>
            <a:pPr algn="just"/>
            <a:r>
              <a:rPr lang="es-ES" sz="2400" dirty="0"/>
              <a:t>Y → b</a:t>
            </a:r>
            <a:endParaRPr lang="en-IN" sz="2400" dirty="0"/>
          </a:p>
          <a:p>
            <a:pPr marL="0" indent="0" algn="just">
              <a:buNone/>
            </a:pPr>
            <a:r>
              <a:rPr lang="en-US" sz="2400" dirty="0"/>
              <a:t>Example 2:</a:t>
            </a:r>
          </a:p>
          <a:p>
            <a:pPr marL="0" indent="0" algn="just">
              <a:buNone/>
            </a:pPr>
            <a:r>
              <a:rPr lang="en-US" sz="2400" dirty="0"/>
              <a:t>The language 0(10)*  is generated by </a:t>
            </a:r>
          </a:p>
          <a:p>
            <a:pPr marL="0" indent="0" algn="just">
              <a:buNone/>
            </a:pPr>
            <a:r>
              <a:rPr lang="en-US" sz="2400" dirty="0"/>
              <a:t>the right linear grammar:    S </a:t>
            </a:r>
            <a:r>
              <a:rPr lang="es-ES" sz="2400" dirty="0"/>
              <a:t>→ 0A</a:t>
            </a:r>
          </a:p>
          <a:p>
            <a:pPr marL="0" indent="0" algn="just">
              <a:buNone/>
            </a:pPr>
            <a:r>
              <a:rPr lang="es-ES" sz="2400" dirty="0"/>
              <a:t>                                                 A → 10 A / ε </a:t>
            </a:r>
          </a:p>
          <a:p>
            <a:pPr marL="0" indent="0" algn="just">
              <a:buNone/>
            </a:pP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left</a:t>
            </a:r>
            <a:r>
              <a:rPr lang="es-ES" sz="2400" dirty="0"/>
              <a:t> linear </a:t>
            </a:r>
            <a:r>
              <a:rPr lang="es-ES" sz="2400" dirty="0" err="1"/>
              <a:t>grammar</a:t>
            </a:r>
            <a:r>
              <a:rPr lang="es-ES" sz="2400" dirty="0"/>
              <a:t> : S → S10 / 0</a:t>
            </a:r>
            <a:r>
              <a:rPr lang="en-US" sz="24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DE49-47A1-42A1-8B09-EEBFC5DB782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- 3 Grammar Example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0692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2400" b="1" dirty="0"/>
              <a:t>Type-2 grammars</a:t>
            </a:r>
            <a:r>
              <a:rPr lang="en-IN" sz="2400" dirty="0"/>
              <a:t> generate context-free languages.</a:t>
            </a:r>
          </a:p>
          <a:p>
            <a:pPr algn="just"/>
            <a:r>
              <a:rPr lang="en-IN" sz="2400" dirty="0"/>
              <a:t>The productions must be in the form </a:t>
            </a:r>
            <a:r>
              <a:rPr lang="en-IN" sz="2400" b="1" dirty="0"/>
              <a:t>A → γ</a:t>
            </a: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	where </a:t>
            </a:r>
            <a:r>
              <a:rPr lang="en-IN" sz="2400" b="1" dirty="0"/>
              <a:t>A ∈ N</a:t>
            </a:r>
            <a:r>
              <a:rPr lang="en-IN" sz="2400" dirty="0"/>
              <a:t> (Non terminal)</a:t>
            </a:r>
          </a:p>
          <a:p>
            <a:pPr marL="0" indent="0" algn="just">
              <a:buNone/>
            </a:pPr>
            <a:r>
              <a:rPr lang="en-IN" sz="2400" b="1" dirty="0"/>
              <a:t>	γ ∈ (T ∪ N)*</a:t>
            </a:r>
            <a:r>
              <a:rPr lang="en-IN" sz="2400" dirty="0"/>
              <a:t> (String of terminals and non-terminals).</a:t>
            </a:r>
          </a:p>
          <a:p>
            <a:pPr marL="0" indent="0" algn="just">
              <a:buNone/>
            </a:pPr>
            <a:endParaRPr lang="en-IN" sz="2400" dirty="0"/>
          </a:p>
          <a:p>
            <a:pPr algn="just"/>
            <a:r>
              <a:rPr lang="en-IN" sz="2400" dirty="0"/>
              <a:t>These languages generated by these grammars are be recognized by a non-deterministic pushdown automaton.</a:t>
            </a:r>
          </a:p>
          <a:p>
            <a:pPr marL="0" indent="0" algn="just">
              <a:buNone/>
            </a:pPr>
            <a:r>
              <a:rPr lang="en-US" sz="2600" b="1" dirty="0"/>
              <a:t>Example:</a:t>
            </a:r>
          </a:p>
          <a:p>
            <a:pPr marL="0" indent="0" algn="just">
              <a:buNone/>
            </a:pPr>
            <a:r>
              <a:rPr lang="en-IN" sz="2600" dirty="0"/>
              <a:t>S → X a </a:t>
            </a:r>
          </a:p>
          <a:p>
            <a:pPr marL="0" indent="0" algn="just">
              <a:buNone/>
            </a:pPr>
            <a:r>
              <a:rPr lang="en-IN" sz="2600" dirty="0"/>
              <a:t>X → a </a:t>
            </a:r>
          </a:p>
          <a:p>
            <a:pPr marL="0" indent="0" algn="just">
              <a:buNone/>
            </a:pPr>
            <a:r>
              <a:rPr lang="en-IN" sz="2600" dirty="0"/>
              <a:t>X → </a:t>
            </a:r>
            <a:r>
              <a:rPr lang="en-IN" sz="2600" dirty="0" err="1"/>
              <a:t>aX</a:t>
            </a:r>
            <a:r>
              <a:rPr lang="en-IN" sz="2600" dirty="0"/>
              <a:t> </a:t>
            </a:r>
          </a:p>
          <a:p>
            <a:pPr marL="0" indent="0" algn="just">
              <a:buNone/>
            </a:pPr>
            <a:r>
              <a:rPr lang="en-IN" sz="2600" dirty="0"/>
              <a:t>X → </a:t>
            </a:r>
            <a:r>
              <a:rPr lang="en-IN" sz="2600" dirty="0" err="1"/>
              <a:t>abc</a:t>
            </a:r>
            <a:r>
              <a:rPr lang="en-IN" sz="2600" dirty="0"/>
              <a:t> </a:t>
            </a:r>
          </a:p>
          <a:p>
            <a:pPr marL="0" indent="0" algn="just">
              <a:buNone/>
            </a:pPr>
            <a:r>
              <a:rPr lang="en-IN" sz="2600" dirty="0"/>
              <a:t>X → </a:t>
            </a:r>
            <a:r>
              <a:rPr lang="el-GR" sz="2600" dirty="0"/>
              <a:t>ε</a:t>
            </a:r>
            <a:endParaRPr 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7FE70-01A8-4619-AB48-160FE9CE67D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- 2 Grammar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586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Type-1 grammars</a:t>
            </a:r>
            <a:r>
              <a:rPr lang="en-IN" sz="2400" dirty="0"/>
              <a:t> generate context-sensitive languages. </a:t>
            </a:r>
          </a:p>
          <a:p>
            <a:pPr algn="just"/>
            <a:r>
              <a:rPr lang="en-IN" sz="2400" dirty="0"/>
              <a:t>The productions must be in the form</a:t>
            </a:r>
          </a:p>
          <a:p>
            <a:pPr marL="0" indent="0" algn="just">
              <a:buNone/>
            </a:pPr>
            <a:r>
              <a:rPr lang="en-IN" sz="2400" b="1" dirty="0"/>
              <a:t>		α A β → α γ β</a:t>
            </a: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	where </a:t>
            </a:r>
            <a:r>
              <a:rPr lang="en-IN" sz="2400" b="1" dirty="0"/>
              <a:t>A ∈ N</a:t>
            </a:r>
            <a:r>
              <a:rPr lang="en-IN" sz="2400" dirty="0"/>
              <a:t> (Non-terminal)</a:t>
            </a:r>
          </a:p>
          <a:p>
            <a:pPr marL="0" indent="0" algn="just">
              <a:buNone/>
            </a:pPr>
            <a:r>
              <a:rPr lang="en-IN" sz="2400" dirty="0"/>
              <a:t>	 </a:t>
            </a:r>
            <a:r>
              <a:rPr lang="en-IN" sz="2400" b="1" dirty="0"/>
              <a:t>α, β, γ ∈ (T ∪ N)*</a:t>
            </a:r>
            <a:r>
              <a:rPr lang="en-IN" sz="2400" dirty="0"/>
              <a:t> (Strings of terminals and non-terminals)</a:t>
            </a:r>
          </a:p>
          <a:p>
            <a:pPr marL="0" indent="0" algn="just">
              <a:buNone/>
            </a:pPr>
            <a:endParaRPr lang="en-IN" sz="2400" dirty="0"/>
          </a:p>
          <a:p>
            <a:pPr algn="just"/>
            <a:r>
              <a:rPr lang="en-IN" sz="2400" dirty="0"/>
              <a:t>The strings </a:t>
            </a:r>
            <a:r>
              <a:rPr lang="en-IN" sz="2400" b="1" dirty="0"/>
              <a:t>α</a:t>
            </a:r>
            <a:r>
              <a:rPr lang="en-IN" sz="2400" dirty="0"/>
              <a:t> and </a:t>
            </a:r>
            <a:r>
              <a:rPr lang="en-IN" sz="2400" b="1" dirty="0"/>
              <a:t>β</a:t>
            </a:r>
            <a:r>
              <a:rPr lang="en-IN" sz="2400" dirty="0"/>
              <a:t> may be empty, but </a:t>
            </a:r>
            <a:r>
              <a:rPr lang="en-IN" sz="2400" b="1" dirty="0"/>
              <a:t>γ</a:t>
            </a:r>
            <a:r>
              <a:rPr lang="en-IN" sz="2400" dirty="0"/>
              <a:t> must be non-empty.</a:t>
            </a:r>
          </a:p>
          <a:p>
            <a:pPr algn="just"/>
            <a:r>
              <a:rPr lang="en-IN" sz="2400" dirty="0"/>
              <a:t>The rule </a:t>
            </a:r>
            <a:r>
              <a:rPr lang="en-IN" sz="2400" b="1" dirty="0"/>
              <a:t>S → ε</a:t>
            </a:r>
            <a:r>
              <a:rPr lang="en-IN" sz="2400" dirty="0"/>
              <a:t> is allowed if S does not appear on the right side of any rule. The languages generated by these grammars are recognized by a linear bounded automaton.</a:t>
            </a:r>
          </a:p>
          <a:p>
            <a:pPr algn="just"/>
            <a:r>
              <a:rPr lang="en-IN" sz="2400" b="1" dirty="0"/>
              <a:t>Right hand side string </a:t>
            </a:r>
            <a:r>
              <a:rPr lang="en-IN" sz="2400" dirty="0"/>
              <a:t>be at least as long as or longer than </a:t>
            </a:r>
            <a:r>
              <a:rPr lang="en-IN" sz="2400" b="1" dirty="0"/>
              <a:t>Left hand side string.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1340-17AD-44A5-BCEA-1246F927630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- 1 Grammar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615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AB → </a:t>
            </a:r>
            <a:r>
              <a:rPr lang="en-IN" sz="2400" dirty="0" err="1"/>
              <a:t>AbBc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A → </a:t>
            </a:r>
            <a:r>
              <a:rPr lang="en-IN" sz="2400" dirty="0" err="1"/>
              <a:t>bcA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B → 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E960-79E4-4871-B39B-C1283F17514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- 1 Grammar Example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1359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Type-0 grammars</a:t>
            </a:r>
            <a:r>
              <a:rPr lang="en-IN" sz="2400" dirty="0"/>
              <a:t> generate recursively enumerable languages. The productions have no restrictions. </a:t>
            </a:r>
          </a:p>
          <a:p>
            <a:pPr algn="just"/>
            <a:r>
              <a:rPr lang="en-IN" sz="2400" dirty="0"/>
              <a:t>They are any phase structure grammar including all formal grammars.</a:t>
            </a:r>
          </a:p>
          <a:p>
            <a:pPr algn="just"/>
            <a:r>
              <a:rPr lang="en-IN" sz="2400" dirty="0"/>
              <a:t>They generate the languages that are recognized by a Turing machine.</a:t>
            </a:r>
          </a:p>
          <a:p>
            <a:pPr algn="just"/>
            <a:r>
              <a:rPr lang="en-IN" sz="2400" dirty="0"/>
              <a:t>The productions can be in the form of </a:t>
            </a:r>
            <a:r>
              <a:rPr lang="en-IN" sz="2400" b="1" dirty="0"/>
              <a:t>α → β</a:t>
            </a:r>
            <a:r>
              <a:rPr lang="en-IN" sz="2400" dirty="0"/>
              <a:t> </a:t>
            </a:r>
          </a:p>
          <a:p>
            <a:pPr algn="just"/>
            <a:r>
              <a:rPr lang="en-IN" sz="2400" dirty="0"/>
              <a:t>where </a:t>
            </a:r>
            <a:r>
              <a:rPr lang="en-IN" sz="2400" b="1" dirty="0"/>
              <a:t>α</a:t>
            </a:r>
            <a:r>
              <a:rPr lang="en-IN" sz="2400" dirty="0"/>
              <a:t> is a string of terminals and </a:t>
            </a:r>
            <a:r>
              <a:rPr lang="en-IN" sz="2400" dirty="0" err="1"/>
              <a:t>nonterminals</a:t>
            </a:r>
            <a:r>
              <a:rPr lang="en-IN" sz="2400" dirty="0"/>
              <a:t> with at least one non-terminal and </a:t>
            </a:r>
            <a:r>
              <a:rPr lang="en-IN" sz="2400" b="1" dirty="0"/>
              <a:t>α</a:t>
            </a:r>
            <a:r>
              <a:rPr lang="en-IN" sz="2400" dirty="0"/>
              <a:t> cannot be null. </a:t>
            </a:r>
            <a:r>
              <a:rPr lang="en-IN" sz="2400" b="1" dirty="0"/>
              <a:t>β</a:t>
            </a:r>
            <a:r>
              <a:rPr lang="en-IN" sz="2400" dirty="0"/>
              <a:t> is a string of terminals and non-terminals.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FC69-0250-4183-B5F4-3EC8564C515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- 0 Grammar 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9370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S → </a:t>
            </a:r>
            <a:r>
              <a:rPr lang="en-IN" sz="2400" dirty="0" err="1"/>
              <a:t>ACaB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 err="1"/>
              <a:t>Bc</a:t>
            </a:r>
            <a:r>
              <a:rPr lang="en-IN" sz="2400" dirty="0"/>
              <a:t> → </a:t>
            </a:r>
            <a:r>
              <a:rPr lang="en-IN" sz="2400" dirty="0" err="1"/>
              <a:t>acB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CB → DB </a:t>
            </a:r>
          </a:p>
          <a:p>
            <a:pPr algn="just"/>
            <a:r>
              <a:rPr lang="en-IN" sz="2400" dirty="0" err="1"/>
              <a:t>aD</a:t>
            </a:r>
            <a:r>
              <a:rPr lang="en-IN" sz="2400" dirty="0"/>
              <a:t> → </a:t>
            </a:r>
            <a:r>
              <a:rPr lang="en-IN" sz="2400" dirty="0" err="1"/>
              <a:t>Db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D14E0-ED28-4CFC-955A-98C27190A03E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12" name="Title 1"/>
          <p:cNvSpPr txBox="1"/>
          <p:nvPr/>
        </p:nvSpPr>
        <p:spPr>
          <a:xfrm>
            <a:off x="1371600" y="0"/>
            <a:ext cx="7772400" cy="838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dirty="0"/>
              <a:t>Type - 0 Grammar Example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1336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012E7C2-BA1B-491C-B0C0-5EBDA8FDE0A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67F0AC-F99D-48A2-B2AB-42FCB9C49DA6}" type="slidenum">
              <a:rPr lang="en-US"/>
              <a:pPr>
                <a:defRPr/>
              </a:pPr>
              <a:t>111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/>
              <a:t>Context free grammars</a:t>
            </a:r>
            <a:r>
              <a:rPr lang="en-US" sz="2800" b="1" dirty="0"/>
              <a:t>(CO1)</a:t>
            </a:r>
            <a:endParaRPr lang="en-US" sz="2800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24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dirty="0"/>
              <a:t>Terminals</a:t>
            </a:r>
          </a:p>
          <a:p>
            <a:pPr eaLnBrk="1" hangingPunct="1"/>
            <a:r>
              <a:rPr lang="en-US" sz="2200" dirty="0"/>
              <a:t>Non terminals</a:t>
            </a:r>
          </a:p>
          <a:p>
            <a:pPr eaLnBrk="1" hangingPunct="1"/>
            <a:r>
              <a:rPr lang="en-US" sz="2200" dirty="0"/>
              <a:t>Start symbol</a:t>
            </a:r>
          </a:p>
          <a:p>
            <a:pPr eaLnBrk="1" hangingPunct="1"/>
            <a:r>
              <a:rPr lang="en-US" sz="2200" dirty="0"/>
              <a:t>productions</a:t>
            </a:r>
          </a:p>
          <a:p>
            <a:endParaRPr lang="en-US" dirty="0"/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191000" y="2057400"/>
            <a:ext cx="38131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expression -&gt; expression + term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expression -&gt; expression – term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expression -&gt; term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term -&gt; term * factor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term -&gt; term / factor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term -&gt; factor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factor -&gt; (expression)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charset="0"/>
              </a:rPr>
              <a:t>factor -&gt; </a:t>
            </a:r>
            <a:r>
              <a:rPr lang="en-US" sz="2200" b="1" dirty="0">
                <a:latin typeface="+mj-lt"/>
                <a:cs typeface="Arial" charset="0"/>
              </a:rPr>
              <a:t>id</a:t>
            </a:r>
          </a:p>
        </p:txBody>
      </p:sp>
      <p:pic>
        <p:nvPicPr>
          <p:cNvPr id="11" name="Picture 1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7BB2D22-8090-413E-998A-8F0BC1C5770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FB4DC-0EA0-4D58-89C2-E660F47D68D5}" type="slidenum">
              <a:rPr lang="en-US"/>
              <a:pPr>
                <a:defRPr/>
              </a:pPr>
              <a:t>112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/>
              <a:t>Derivation</a:t>
            </a:r>
            <a:r>
              <a:rPr lang="en-US" sz="2800" b="1" dirty="0"/>
              <a:t>(CO1)</a:t>
            </a:r>
            <a:endParaRPr lang="en-US" sz="2800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1271" name="Content Placeholder 7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/>
            <a:endParaRPr lang="en-US" sz="2200" dirty="0">
              <a:latin typeface="Calibri (Body)"/>
            </a:endParaRPr>
          </a:p>
          <a:p>
            <a:pPr eaLnBrk="1" hangingPunct="1"/>
            <a:r>
              <a:rPr lang="en-US" sz="2200" dirty="0">
                <a:latin typeface="Calibri (Body)"/>
              </a:rPr>
              <a:t>Productions are treated as rewriting rules to generate a string</a:t>
            </a:r>
          </a:p>
          <a:p>
            <a:pPr eaLnBrk="1" hangingPunct="1"/>
            <a:r>
              <a:rPr lang="en-US" sz="2200" dirty="0">
                <a:latin typeface="Calibri (Body)"/>
              </a:rPr>
              <a:t>Rightmost and leftmost derivations</a:t>
            </a:r>
          </a:p>
          <a:p>
            <a:pPr lvl="1" eaLnBrk="1" hangingPunct="1"/>
            <a:r>
              <a:rPr lang="en-US" sz="2200" dirty="0">
                <a:latin typeface="Calibri (Body)"/>
              </a:rPr>
              <a:t>E -&gt; E + E | E * E | -E | (E) | </a:t>
            </a:r>
            <a:r>
              <a:rPr lang="en-US" sz="2200" b="1" dirty="0">
                <a:latin typeface="Calibri (Body)"/>
              </a:rPr>
              <a:t>id</a:t>
            </a:r>
          </a:p>
          <a:p>
            <a:pPr lvl="1" eaLnBrk="1" hangingPunct="1"/>
            <a:r>
              <a:rPr lang="en-US" sz="2200" dirty="0">
                <a:latin typeface="Calibri (Body)"/>
              </a:rPr>
              <a:t>Derivations for </a:t>
            </a:r>
            <a:r>
              <a:rPr lang="en-US" sz="2200" b="1" dirty="0">
                <a:latin typeface="Calibri (Body)"/>
              </a:rPr>
              <a:t>–(</a:t>
            </a:r>
            <a:r>
              <a:rPr lang="en-US" sz="2200" b="1" dirty="0" err="1">
                <a:latin typeface="Calibri (Body)"/>
              </a:rPr>
              <a:t>id+id</a:t>
            </a:r>
            <a:r>
              <a:rPr lang="en-US" sz="2200" b="1" dirty="0">
                <a:latin typeface="Calibri (Body)"/>
              </a:rPr>
              <a:t>)</a:t>
            </a:r>
          </a:p>
          <a:p>
            <a:pPr lvl="2" eaLnBrk="1" hangingPunct="1"/>
            <a:r>
              <a:rPr lang="en-US" sz="2200" dirty="0">
                <a:latin typeface="Calibri (Body)"/>
              </a:rPr>
              <a:t>E =&gt; -E =&gt; -(E) =&gt; -(E+E) =&gt; -(</a:t>
            </a:r>
            <a:r>
              <a:rPr lang="en-US" sz="2200" b="1" dirty="0" err="1">
                <a:latin typeface="Calibri (Body)"/>
              </a:rPr>
              <a:t>id</a:t>
            </a:r>
            <a:r>
              <a:rPr lang="en-US" sz="2200" dirty="0" err="1">
                <a:latin typeface="Calibri (Body)"/>
              </a:rPr>
              <a:t>+E</a:t>
            </a:r>
            <a:r>
              <a:rPr lang="en-US" sz="2200" dirty="0">
                <a:latin typeface="Calibri (Body)"/>
              </a:rPr>
              <a:t>)=&gt;-(</a:t>
            </a:r>
            <a:r>
              <a:rPr lang="en-US" sz="2200" b="1" dirty="0" err="1">
                <a:latin typeface="Calibri (Body)"/>
              </a:rPr>
              <a:t>id</a:t>
            </a:r>
            <a:r>
              <a:rPr lang="en-US" sz="2200" dirty="0" err="1">
                <a:latin typeface="Calibri (Body)"/>
              </a:rPr>
              <a:t>+</a:t>
            </a:r>
            <a:r>
              <a:rPr lang="en-US" sz="2200" b="1" dirty="0" err="1">
                <a:latin typeface="Calibri (Body)"/>
              </a:rPr>
              <a:t>id</a:t>
            </a:r>
            <a:r>
              <a:rPr lang="en-US" sz="2200" dirty="0">
                <a:latin typeface="Calibri (Body)"/>
              </a:rPr>
              <a:t>) </a:t>
            </a: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200" dirty="0"/>
              <a:t>A string can be derived in many ways . But we restrict ourselves to : </a:t>
            </a:r>
          </a:p>
          <a:p>
            <a:pPr marL="0" indent="0">
              <a:buNone/>
            </a:pPr>
            <a:r>
              <a:rPr lang="en-US" sz="2200" dirty="0"/>
              <a:t>	1. Rightmost Derivations</a:t>
            </a:r>
          </a:p>
          <a:p>
            <a:pPr marL="0" indent="0">
              <a:buNone/>
            </a:pPr>
            <a:r>
              <a:rPr lang="en-US" sz="2200" dirty="0"/>
              <a:t>	2. Leftmost Derivations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In leftmost derivations the left most variable of </a:t>
            </a:r>
            <a:r>
              <a:rPr lang="el-GR" sz="2200" b="1" dirty="0">
                <a:solidFill>
                  <a:schemeClr val="tx2"/>
                </a:solidFill>
                <a:cs typeface="Calibri"/>
              </a:rPr>
              <a:t>β</a:t>
            </a:r>
            <a:r>
              <a:rPr lang="en-US" sz="2200" b="1" dirty="0">
                <a:solidFill>
                  <a:schemeClr val="tx2"/>
                </a:solidFill>
                <a:cs typeface="Calibri"/>
              </a:rPr>
              <a:t> </a:t>
            </a:r>
            <a:r>
              <a:rPr lang="en-US" sz="2200" dirty="0"/>
              <a:t>from (</a:t>
            </a:r>
            <a:r>
              <a:rPr lang="en-US" sz="2200" b="1" dirty="0">
                <a:solidFill>
                  <a:schemeClr val="tx2"/>
                </a:solidFill>
                <a:cs typeface="Calibri"/>
              </a:rPr>
              <a:t>α→</a:t>
            </a:r>
            <a:r>
              <a:rPr lang="el-GR" sz="2200" b="1" dirty="0">
                <a:solidFill>
                  <a:schemeClr val="tx2"/>
                </a:solidFill>
                <a:cs typeface="Calibri"/>
              </a:rPr>
              <a:t>β</a:t>
            </a:r>
            <a:r>
              <a:rPr lang="en-US" sz="2200" b="1" dirty="0">
                <a:solidFill>
                  <a:schemeClr val="tx2"/>
                </a:solidFill>
                <a:cs typeface="Calibri"/>
              </a:rPr>
              <a:t>) </a:t>
            </a:r>
            <a:r>
              <a:rPr lang="en-US" sz="2200" dirty="0"/>
              <a:t>, is picked for expansion. </a:t>
            </a:r>
          </a:p>
          <a:p>
            <a:endParaRPr lang="en-US" sz="2200" dirty="0"/>
          </a:p>
          <a:p>
            <a:r>
              <a:rPr lang="en-US" sz="2200" dirty="0"/>
              <a:t>In rightmost derivations the right most variable of </a:t>
            </a:r>
            <a:r>
              <a:rPr lang="el-GR" sz="2200" b="1" dirty="0">
                <a:solidFill>
                  <a:schemeClr val="tx2"/>
                </a:solidFill>
                <a:cs typeface="Calibri"/>
              </a:rPr>
              <a:t>β</a:t>
            </a:r>
            <a:r>
              <a:rPr lang="en-US" sz="2200" b="1" dirty="0">
                <a:solidFill>
                  <a:schemeClr val="tx2"/>
                </a:solidFill>
                <a:cs typeface="Calibri"/>
              </a:rPr>
              <a:t> </a:t>
            </a:r>
            <a:r>
              <a:rPr lang="en-US" sz="2200" dirty="0"/>
              <a:t>from (</a:t>
            </a:r>
            <a:r>
              <a:rPr lang="en-US" sz="2200" b="1" dirty="0">
                <a:solidFill>
                  <a:schemeClr val="tx2"/>
                </a:solidFill>
                <a:cs typeface="Calibri"/>
              </a:rPr>
              <a:t>α→</a:t>
            </a:r>
            <a:r>
              <a:rPr lang="el-GR" sz="2200" b="1" dirty="0">
                <a:solidFill>
                  <a:schemeClr val="tx2"/>
                </a:solidFill>
                <a:cs typeface="Calibri"/>
              </a:rPr>
              <a:t>β</a:t>
            </a:r>
            <a:r>
              <a:rPr lang="en-US" sz="2200" b="1" dirty="0">
                <a:solidFill>
                  <a:schemeClr val="tx2"/>
                </a:solidFill>
                <a:cs typeface="Calibri"/>
              </a:rPr>
              <a:t>) </a:t>
            </a:r>
            <a:r>
              <a:rPr lang="en-US" sz="2200" dirty="0"/>
              <a:t>, is picked for expansion. 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4BFF4-1168-4B96-A5F7-E8473A2ED7BB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80744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Left Most ad Right Most derivations </a:t>
            </a: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For the grammar given below :</a:t>
            </a:r>
          </a:p>
          <a:p>
            <a:pPr marL="0" indent="0">
              <a:buNone/>
            </a:pPr>
            <a:r>
              <a:rPr lang="en-US" sz="2000" dirty="0"/>
              <a:t>S →A1B</a:t>
            </a:r>
          </a:p>
          <a:p>
            <a:pPr marL="0" indent="0">
              <a:buNone/>
            </a:pPr>
            <a:r>
              <a:rPr lang="en-US" sz="2000" dirty="0"/>
              <a:t>A →0A|ɛ</a:t>
            </a:r>
          </a:p>
          <a:p>
            <a:pPr marL="0" indent="0">
              <a:buNone/>
            </a:pPr>
            <a:r>
              <a:rPr lang="en-US" sz="2000" dirty="0"/>
              <a:t>B →0B|1B|ɛ</a:t>
            </a:r>
          </a:p>
          <a:p>
            <a:pPr marL="0" indent="0">
              <a:buNone/>
            </a:pPr>
            <a:r>
              <a:rPr lang="en-US" sz="2000" dirty="0"/>
              <a:t>Give Leftmost derivation and rightmost derivation of string 1001.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Solution</a:t>
            </a:r>
          </a:p>
          <a:p>
            <a:pPr marL="0" indent="0">
              <a:buNone/>
            </a:pPr>
            <a:r>
              <a:rPr lang="en-US" sz="2000" b="1" dirty="0"/>
              <a:t>Leftmost derivation of 1001:</a:t>
            </a:r>
          </a:p>
          <a:p>
            <a:pPr marL="0" indent="0">
              <a:buNone/>
            </a:pPr>
            <a:r>
              <a:rPr lang="en-US" sz="2000" dirty="0"/>
              <a:t>S →A1B</a:t>
            </a:r>
          </a:p>
          <a:p>
            <a:pPr marL="0" indent="0">
              <a:buNone/>
            </a:pPr>
            <a:r>
              <a:rPr lang="en-US" sz="2000" dirty="0"/>
              <a:t>S →1B       [A →ɛ]</a:t>
            </a:r>
          </a:p>
          <a:p>
            <a:pPr marL="0" indent="0">
              <a:buNone/>
            </a:pPr>
            <a:r>
              <a:rPr lang="en-US" sz="2000" dirty="0"/>
              <a:t>   →10B     [B →0B]</a:t>
            </a:r>
          </a:p>
          <a:p>
            <a:pPr marL="0" indent="0">
              <a:buNone/>
            </a:pPr>
            <a:r>
              <a:rPr lang="en-US" sz="2000" dirty="0"/>
              <a:t>   →100B   [B →0B]</a:t>
            </a:r>
          </a:p>
          <a:p>
            <a:pPr marL="0" indent="0">
              <a:buNone/>
            </a:pPr>
            <a:r>
              <a:rPr lang="en-US" sz="2000" dirty="0"/>
              <a:t>   →1001B [B →1B]</a:t>
            </a:r>
          </a:p>
          <a:p>
            <a:pPr marL="0" indent="0">
              <a:buNone/>
            </a:pPr>
            <a:r>
              <a:rPr lang="en-US" sz="2000" dirty="0"/>
              <a:t>   →1001    [B →ɛ]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A04C-8E6E-4FE9-8918-089260472892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Left Most ad Right Most derivations [Example]</a:t>
            </a: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2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Rightmost derivation of 1001:</a:t>
            </a:r>
          </a:p>
          <a:p>
            <a:pPr marL="0" indent="0">
              <a:buNone/>
            </a:pPr>
            <a:r>
              <a:rPr lang="en-US" sz="2200" dirty="0"/>
              <a:t>S →A1B</a:t>
            </a:r>
          </a:p>
          <a:p>
            <a:pPr marL="0" indent="0">
              <a:buNone/>
            </a:pPr>
            <a:r>
              <a:rPr lang="en-US" sz="2200" dirty="0"/>
              <a:t>S →A10B     [B →0B]</a:t>
            </a:r>
          </a:p>
          <a:p>
            <a:pPr marL="0" indent="0">
              <a:buNone/>
            </a:pPr>
            <a:r>
              <a:rPr lang="en-US" sz="2200" dirty="0"/>
              <a:t>   →A100B   [B →0B]</a:t>
            </a:r>
          </a:p>
          <a:p>
            <a:pPr marL="0" indent="0">
              <a:buNone/>
            </a:pPr>
            <a:r>
              <a:rPr lang="en-US" sz="2200" dirty="0"/>
              <a:t>   →A1001B [B →1B]</a:t>
            </a:r>
          </a:p>
          <a:p>
            <a:pPr marL="0" indent="0">
              <a:buNone/>
            </a:pPr>
            <a:r>
              <a:rPr lang="en-US" sz="2200" dirty="0"/>
              <a:t>   →A1001    [A →ɛ]</a:t>
            </a:r>
          </a:p>
          <a:p>
            <a:pPr marL="0" indent="0">
              <a:buNone/>
            </a:pPr>
            <a:r>
              <a:rPr lang="en-US" sz="2200" dirty="0"/>
              <a:t>   →1001      [B →ɛ] 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EA81-B0AC-406A-A682-9FC4BF165D98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990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Left Most ad Right Most derivations [Example]</a:t>
            </a:r>
            <a:r>
              <a:rPr lang="en-US" altLang="en-US" sz="3200" b="1" dirty="0"/>
              <a:t> (Continued)</a:t>
            </a:r>
            <a:endParaRPr lang="en-US" sz="3200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3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Objective: </a:t>
            </a:r>
            <a:r>
              <a:rPr lang="en-US" sz="2200" dirty="0"/>
              <a:t>To understand the design of parse tree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A set of derivations applied to generate a word can be represented using a tree. Such a tree is known as a parse tree. A parse tree representation gives us a better understanding of: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Recursion</a:t>
            </a:r>
          </a:p>
          <a:p>
            <a:r>
              <a:rPr lang="en-US" sz="2200" dirty="0"/>
              <a:t>Grouping of symbols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A parse tree is constructed with the following conditions: </a:t>
            </a:r>
          </a:p>
          <a:p>
            <a:r>
              <a:rPr lang="en-US" sz="2200" dirty="0"/>
              <a:t>Root of the tree is represented by start symbol.</a:t>
            </a:r>
          </a:p>
          <a:p>
            <a:r>
              <a:rPr lang="en-US" sz="2200" dirty="0"/>
              <a:t>Each interior mode is represented by a variable belonging to V.</a:t>
            </a:r>
          </a:p>
          <a:p>
            <a:r>
              <a:rPr lang="en-US" sz="2200" dirty="0"/>
              <a:t>Each leaf mode is represented by a terminal or ɛ.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AF3A-A1DF-414A-9C6C-9FEF0EFCCEF8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/>
              <a:t>Parse Tree (CO1)</a:t>
            </a:r>
            <a:r>
              <a:rPr lang="en-US" sz="2400" b="1" dirty="0"/>
              <a:t> </a:t>
            </a:r>
            <a:r>
              <a:rPr lang="en-US" sz="3200" b="1" dirty="0"/>
              <a:t>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5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For a grammar given below S →0S1|01</a:t>
            </a:r>
          </a:p>
          <a:p>
            <a:r>
              <a:rPr lang="en-US" sz="2200" dirty="0"/>
              <a:t>Give Parse tree derivation of 000111</a:t>
            </a:r>
          </a:p>
          <a:p>
            <a:endParaRPr lang="en-US" sz="2200" dirty="0"/>
          </a:p>
          <a:p>
            <a:r>
              <a:rPr lang="en-US" sz="2200" dirty="0"/>
              <a:t>Derivation using parse tree: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A7BB9-716D-4833-B66B-B6BE7C5D1127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Parse Tree [Example]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76600" y="30480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9400" y="3810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8776" y="38130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0" y="3795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3" name="Straight Arrow Connector 12"/>
          <p:cNvCxnSpPr>
            <a:stCxn id="2" idx="2"/>
            <a:endCxn id="10" idx="0"/>
          </p:cNvCxnSpPr>
          <p:nvPr/>
        </p:nvCxnSpPr>
        <p:spPr>
          <a:xfrm flipH="1">
            <a:off x="2970243" y="3417332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2"/>
            <a:endCxn id="11" idx="0"/>
          </p:cNvCxnSpPr>
          <p:nvPr/>
        </p:nvCxnSpPr>
        <p:spPr>
          <a:xfrm>
            <a:off x="3421832" y="3417332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2" idx="0"/>
          </p:cNvCxnSpPr>
          <p:nvPr/>
        </p:nvCxnSpPr>
        <p:spPr>
          <a:xfrm>
            <a:off x="3421832" y="3417332"/>
            <a:ext cx="996211" cy="377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241757" y="4114800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693346" y="4114800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693346" y="4114800"/>
            <a:ext cx="996211" cy="377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20146" y="4648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9522" y="46512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7946" y="4599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3567064" y="5002816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018653" y="5002816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97933" y="548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5861" y="548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920" y="304800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→0S1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5143" y="371803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→0S1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6718" y="451104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→01</a:t>
            </a:r>
          </a:p>
        </p:txBody>
      </p:sp>
      <p:cxnSp>
        <p:nvCxnSpPr>
          <p:cNvPr id="37" name="Straight Arrow Connector 36"/>
          <p:cNvCxnSpPr>
            <a:stCxn id="33" idx="1"/>
          </p:cNvCxnSpPr>
          <p:nvPr/>
        </p:nvCxnSpPr>
        <p:spPr>
          <a:xfrm flipH="1">
            <a:off x="5407579" y="3232666"/>
            <a:ext cx="5933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5486400" y="3902702"/>
            <a:ext cx="5933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5486400" y="4701064"/>
            <a:ext cx="6187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6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10" grpId="0"/>
      <p:bldP spid="11" grpId="0"/>
      <p:bldP spid="12" grpId="0"/>
      <p:bldP spid="26" grpId="0"/>
      <p:bldP spid="27" grpId="0"/>
      <p:bldP spid="28" grpId="0"/>
      <p:bldP spid="31" grpId="0"/>
      <p:bldP spid="32" grpId="0"/>
      <p:bldP spid="33" grpId="0"/>
      <p:bldP spid="34" grpId="0"/>
      <p:bldP spid="3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7B8268-8DD7-4608-9A05-0DC1C5A7EE08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33B452-CF91-4402-ABF5-EFF411FC51AA}" type="slidenum">
              <a:rPr lang="en-US"/>
              <a:pPr>
                <a:defRPr/>
              </a:pPr>
              <a:t>118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/>
              <a:t>Parse trees</a:t>
            </a:r>
            <a:r>
              <a:rPr lang="en-US" sz="2800" b="1" dirty="0"/>
              <a:t>(CO1)</a:t>
            </a:r>
            <a:endParaRPr lang="en-US" sz="2800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0247" name="Content Placeholder 7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200" dirty="0">
                <a:latin typeface="+mj-lt"/>
              </a:rPr>
              <a:t>-(</a:t>
            </a:r>
            <a:r>
              <a:rPr lang="en-US" sz="2200" b="1" dirty="0" err="1">
                <a:latin typeface="+mj-lt"/>
              </a:rPr>
              <a:t>id</a:t>
            </a:r>
            <a:r>
              <a:rPr lang="en-US" sz="2200" dirty="0" err="1">
                <a:latin typeface="+mj-lt"/>
              </a:rPr>
              <a:t>+</a:t>
            </a:r>
            <a:r>
              <a:rPr lang="en-US" sz="2200" b="1" dirty="0" err="1">
                <a:latin typeface="+mj-lt"/>
              </a:rPr>
              <a:t>id</a:t>
            </a:r>
            <a:r>
              <a:rPr lang="en-US" sz="2200" dirty="0">
                <a:latin typeface="+mj-lt"/>
              </a:rPr>
              <a:t>)</a:t>
            </a:r>
          </a:p>
          <a:p>
            <a:pPr marL="273050" lvl="2" indent="-273050" eaLnBrk="1" hangingPunct="1">
              <a:buClr>
                <a:srgbClr val="0BD0D9"/>
              </a:buClr>
              <a:buSzPct val="95000"/>
              <a:buFont typeface="Arial" charset="0"/>
              <a:buChar char="•"/>
              <a:defRPr/>
            </a:pPr>
            <a:r>
              <a:rPr lang="en-US" sz="2200" dirty="0">
                <a:latin typeface="+mj-lt"/>
              </a:rPr>
              <a:t>E =&gt; -E =&gt; -(E) =&gt; -(E+E) =&gt; -(</a:t>
            </a:r>
            <a:r>
              <a:rPr lang="en-US" sz="2200" b="1" dirty="0" err="1">
                <a:latin typeface="+mj-lt"/>
              </a:rPr>
              <a:t>id</a:t>
            </a:r>
            <a:r>
              <a:rPr lang="en-US" sz="2200" dirty="0" err="1">
                <a:latin typeface="+mj-lt"/>
              </a:rPr>
              <a:t>+E</a:t>
            </a:r>
            <a:r>
              <a:rPr lang="en-US" sz="2200" dirty="0">
                <a:latin typeface="+mj-lt"/>
              </a:rPr>
              <a:t>)=&gt;-(</a:t>
            </a:r>
            <a:r>
              <a:rPr lang="en-US" sz="2200" b="1" dirty="0" err="1">
                <a:latin typeface="+mj-lt"/>
              </a:rPr>
              <a:t>id</a:t>
            </a:r>
            <a:r>
              <a:rPr lang="en-US" sz="2200" dirty="0" err="1">
                <a:latin typeface="+mj-lt"/>
              </a:rPr>
              <a:t>+</a:t>
            </a:r>
            <a:r>
              <a:rPr lang="en-US" sz="2200" b="1" dirty="0" err="1">
                <a:latin typeface="+mj-lt"/>
              </a:rPr>
              <a:t>id</a:t>
            </a:r>
            <a:r>
              <a:rPr lang="en-US" sz="2200" dirty="0">
                <a:latin typeface="+mj-lt"/>
              </a:rPr>
              <a:t>)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  <p:pic>
        <p:nvPicPr>
          <p:cNvPr id="12296" name="Picture 3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2286000"/>
            <a:ext cx="2638425" cy="363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 CFG is said to ambiguous if there exists more than one derivation tree for the given input string i.e., more than one </a:t>
            </a:r>
            <a:r>
              <a:rPr lang="en-US" sz="2200" b="1" dirty="0"/>
              <a:t>L</a:t>
            </a:r>
            <a:r>
              <a:rPr lang="en-US" sz="2200" dirty="0"/>
              <a:t>eft </a:t>
            </a:r>
            <a:r>
              <a:rPr lang="en-US" sz="2200" b="1" dirty="0"/>
              <a:t>M</a:t>
            </a:r>
            <a:r>
              <a:rPr lang="en-US" sz="2200" dirty="0"/>
              <a:t>ost </a:t>
            </a:r>
            <a:r>
              <a:rPr lang="en-US" sz="2200" b="1" dirty="0"/>
              <a:t>D</a:t>
            </a:r>
            <a:r>
              <a:rPr lang="en-US" sz="2200" dirty="0"/>
              <a:t>erivation </a:t>
            </a:r>
            <a:r>
              <a:rPr lang="en-US" sz="2200" b="1" dirty="0"/>
              <a:t>T</a:t>
            </a:r>
            <a:r>
              <a:rPr lang="en-US" sz="2200" dirty="0"/>
              <a:t>ree (LMDT) or </a:t>
            </a:r>
            <a:r>
              <a:rPr lang="en-US" sz="2200" b="1" dirty="0"/>
              <a:t>R</a:t>
            </a:r>
            <a:r>
              <a:rPr lang="en-US" sz="2200" dirty="0"/>
              <a:t>ight </a:t>
            </a:r>
            <a:r>
              <a:rPr lang="en-US" sz="2200" b="1" dirty="0"/>
              <a:t>M</a:t>
            </a:r>
            <a:r>
              <a:rPr lang="en-US" sz="2200" dirty="0"/>
              <a:t>ost </a:t>
            </a:r>
            <a:r>
              <a:rPr lang="en-US" sz="2200" b="1" dirty="0"/>
              <a:t>D</a:t>
            </a:r>
            <a:r>
              <a:rPr lang="en-US" sz="2200" dirty="0"/>
              <a:t>erivation </a:t>
            </a:r>
            <a:r>
              <a:rPr lang="en-US" sz="2200" b="1" dirty="0"/>
              <a:t>T</a:t>
            </a:r>
            <a:r>
              <a:rPr lang="en-US" sz="2200" dirty="0"/>
              <a:t>ree (RMDT).</a:t>
            </a:r>
            <a:br>
              <a:rPr lang="en-US" sz="2200" dirty="0"/>
            </a:br>
            <a:r>
              <a:rPr lang="en-US" sz="2200" dirty="0"/>
              <a:t> </a:t>
            </a:r>
            <a:br>
              <a:rPr lang="en-US" sz="2200" dirty="0"/>
            </a:br>
            <a:r>
              <a:rPr lang="en-US" sz="2200" b="1" dirty="0"/>
              <a:t>Definition: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dirty="0"/>
              <a:t>G = (V,T,P,S) is a CFG is said to be ambiguous if and only if there exist a string in T* that has more than on parse tree.</a:t>
            </a:r>
            <a:br>
              <a:rPr lang="en-US" sz="2200" dirty="0"/>
            </a:br>
            <a:endParaRPr lang="en-US" sz="2200" dirty="0"/>
          </a:p>
          <a:p>
            <a:pPr marL="0" indent="0">
              <a:buNone/>
            </a:pPr>
            <a:r>
              <a:rPr lang="en-US" sz="2200" dirty="0"/>
              <a:t>where V is a finite set of variables.</a:t>
            </a:r>
            <a:br>
              <a:rPr lang="en-US" sz="2200" dirty="0"/>
            </a:br>
            <a:r>
              <a:rPr lang="en-US" sz="2200" dirty="0"/>
              <a:t>T is a finite set of terminals.</a:t>
            </a:r>
            <a:br>
              <a:rPr lang="en-US" sz="2200" dirty="0"/>
            </a:br>
            <a:r>
              <a:rPr lang="en-US" sz="2200" dirty="0"/>
              <a:t>P is a finite set of productions of the form, A -&gt; α, where A is a variable and α ∈ (V ∪ T)* S is a designated variable called the start symbol. 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668B7-9797-42C8-92BE-E79C1C55E3CA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Ambiguous grammar: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3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200" b="1" dirty="0"/>
              <a:t>S →</a:t>
            </a:r>
            <a:r>
              <a:rPr lang="en-US" sz="2200" b="1" dirty="0" err="1"/>
              <a:t>SS|a|b</a:t>
            </a:r>
            <a:r>
              <a:rPr lang="en-US" sz="2200" b="1" dirty="0"/>
              <a:t> is ambiguous or not? </a:t>
            </a:r>
          </a:p>
          <a:p>
            <a:endParaRPr lang="en-US" sz="2200" dirty="0"/>
          </a:p>
          <a:p>
            <a:r>
              <a:rPr lang="en-US" sz="2200" dirty="0"/>
              <a:t>Two parse trees can be generated for the string ‘</a:t>
            </a:r>
            <a:r>
              <a:rPr lang="en-US" sz="2200" dirty="0" err="1"/>
              <a:t>aab</a:t>
            </a:r>
            <a:r>
              <a:rPr lang="en-US" sz="2200" dirty="0"/>
              <a:t>’</a:t>
            </a:r>
          </a:p>
          <a:p>
            <a:endParaRPr lang="en-US" sz="2200" dirty="0"/>
          </a:p>
          <a:p>
            <a:r>
              <a:rPr lang="en-US" sz="22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19D28-DE89-4A6F-95F0-143F5AF70792}" type="datetime1">
              <a:rPr lang="en-US" smtClean="0"/>
              <a:t>9/26/2024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Ambiguous grammar Example:</a:t>
            </a:r>
            <a:endParaRPr 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1676400" y="29718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393942" y="3323368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845531" y="3323368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24811" y="380695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2739" y="380695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954470" y="4189000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406059" y="4189000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5339" y="467258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3267" y="467258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19" name="Straight Arrow Connector 18"/>
          <p:cNvCxnSpPr>
            <a:stCxn id="17" idx="2"/>
          </p:cNvCxnSpPr>
          <p:nvPr/>
        </p:nvCxnSpPr>
        <p:spPr>
          <a:xfrm>
            <a:off x="930571" y="5041916"/>
            <a:ext cx="0" cy="53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708574" y="5049536"/>
            <a:ext cx="0" cy="53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137971" y="4140232"/>
            <a:ext cx="0" cy="53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9238" y="571500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8763" y="583261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6507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6261" y="289486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4963803" y="3246430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415392" y="3246430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94672" y="373001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2600" y="373001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915577" y="4120682"/>
            <a:ext cx="0" cy="53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94113" y="470485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5336805" y="4120682"/>
            <a:ext cx="451589" cy="392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788394" y="4120682"/>
            <a:ext cx="272176" cy="3957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167674" y="460426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5602" y="460426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45" name="Straight Arrow Connector 44"/>
          <p:cNvCxnSpPr>
            <a:stCxn id="43" idx="2"/>
          </p:cNvCxnSpPr>
          <p:nvPr/>
        </p:nvCxnSpPr>
        <p:spPr>
          <a:xfrm>
            <a:off x="5312906" y="4973598"/>
            <a:ext cx="0" cy="53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6090909" y="4981218"/>
            <a:ext cx="0" cy="53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191573" y="564668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1098" y="57642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38" name="Picture 3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7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DBD0C7-12E1-40C0-B982-89363F66339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2FDF60-D3CD-46A5-89B2-AC78476E5605}" type="slidenum">
              <a:rPr lang="en-US"/>
              <a:pPr>
                <a:defRPr/>
              </a:pPr>
              <a:t>121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/>
              <a:t>Ambiguity</a:t>
            </a:r>
            <a:r>
              <a:rPr lang="en-US" sz="2800" b="1" dirty="0"/>
              <a:t>(CO1)</a:t>
            </a:r>
            <a:endParaRPr lang="en-US" sz="2800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13319" name="Content Placeholder 7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200" dirty="0"/>
              <a:t>For some strings there exist more than one parse tree</a:t>
            </a:r>
          </a:p>
          <a:p>
            <a:r>
              <a:rPr lang="en-US" sz="2200" dirty="0"/>
              <a:t>Or more than one leftmost derivation</a:t>
            </a:r>
          </a:p>
          <a:p>
            <a:r>
              <a:rPr lang="en-US" sz="2200" dirty="0"/>
              <a:t>Or more than one rightmost derivation</a:t>
            </a:r>
          </a:p>
          <a:p>
            <a:r>
              <a:rPr lang="en-US" sz="2200" dirty="0"/>
              <a:t>Example: </a:t>
            </a:r>
            <a:r>
              <a:rPr lang="en-US" sz="2200" dirty="0" err="1"/>
              <a:t>id+id</a:t>
            </a:r>
            <a:r>
              <a:rPr lang="en-US" sz="2200" dirty="0"/>
              <a:t>*id</a:t>
            </a:r>
          </a:p>
        </p:txBody>
      </p:sp>
      <p:pic>
        <p:nvPicPr>
          <p:cNvPr id="13320" name="Picture 3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276600"/>
            <a:ext cx="1657350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Picture 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3124200"/>
            <a:ext cx="1743075" cy="2446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Context Free grammar</a:t>
            </a:r>
          </a:p>
          <a:p>
            <a:r>
              <a:rPr lang="en-US" sz="2400" dirty="0"/>
              <a:t>Parse Tree</a:t>
            </a:r>
          </a:p>
          <a:p>
            <a:r>
              <a:rPr lang="en-US" sz="2400"/>
              <a:t>Ambiguity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6A88E7B-D6BC-4469-9D78-0225893AE391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Recap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Lex is a tool which generates Lexical Analyzer .</a:t>
            </a:r>
          </a:p>
          <a:p>
            <a:r>
              <a:rPr lang="en-US" sz="2400" dirty="0"/>
              <a:t>It is also used with YACC parser generator.</a:t>
            </a:r>
          </a:p>
          <a:p>
            <a:r>
              <a:rPr lang="en-US" sz="2400" dirty="0"/>
              <a:t>Lex written by Mike </a:t>
            </a:r>
            <a:r>
              <a:rPr lang="en-US" sz="2400" dirty="0" err="1"/>
              <a:t>Lesk</a:t>
            </a:r>
            <a:r>
              <a:rPr lang="en-US" sz="2400" dirty="0"/>
              <a:t> and Eric </a:t>
            </a:r>
            <a:r>
              <a:rPr lang="en-US" sz="2400" dirty="0" err="1"/>
              <a:t>Schridt</a:t>
            </a:r>
            <a:r>
              <a:rPr lang="en-US" sz="2400" dirty="0"/>
              <a:t> and described in 1975.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FD9B81-5794-4B23-BE73-70963FF36D9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Lex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785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9FA222-BD5C-4564-9A26-DD172E59995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Block diagram of Lex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2286000" y="1371600"/>
            <a:ext cx="4648200" cy="685800"/>
            <a:chOff x="2286000" y="1371600"/>
            <a:chExt cx="4648200" cy="685800"/>
          </a:xfrm>
        </p:grpSpPr>
        <p:sp>
          <p:nvSpPr>
            <p:cNvPr id="2" name="Rectangle 1"/>
            <p:cNvSpPr/>
            <p:nvPr/>
          </p:nvSpPr>
          <p:spPr>
            <a:xfrm>
              <a:off x="3581400" y="1371600"/>
              <a:ext cx="2133600" cy="6858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Lex Compiler</a:t>
              </a:r>
            </a:p>
          </p:txBody>
        </p:sp>
        <p:cxnSp>
          <p:nvCxnSpPr>
            <p:cNvPr id="5" name="Straight Arrow Connector 4"/>
            <p:cNvCxnSpPr>
              <a:endCxn id="2" idx="1"/>
            </p:cNvCxnSpPr>
            <p:nvPr/>
          </p:nvCxnSpPr>
          <p:spPr>
            <a:xfrm flipV="1">
              <a:off x="2286000" y="1714500"/>
              <a:ext cx="1295400" cy="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5638800" y="1695450"/>
              <a:ext cx="1295400" cy="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838200" y="1371600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Lex Source Program</a:t>
            </a:r>
          </a:p>
          <a:p>
            <a:r>
              <a:rPr lang="en-US" dirty="0"/>
              <a:t>(</a:t>
            </a:r>
            <a:r>
              <a:rPr lang="en-US" dirty="0" err="1"/>
              <a:t>File.l</a:t>
            </a:r>
            <a:r>
              <a:rPr lang="en-US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295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Lex.yy.c</a:t>
            </a:r>
            <a:endParaRPr lang="en-US" dirty="0"/>
          </a:p>
          <a:p>
            <a:r>
              <a:rPr lang="en-US" dirty="0"/>
              <a:t>(C program)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76300" y="2810470"/>
            <a:ext cx="8115300" cy="830997"/>
            <a:chOff x="876300" y="2810470"/>
            <a:chExt cx="8115300" cy="830997"/>
          </a:xfrm>
        </p:grpSpPr>
        <p:grpSp>
          <p:nvGrpSpPr>
            <p:cNvPr id="17" name="Group 16"/>
            <p:cNvGrpSpPr/>
            <p:nvPr/>
          </p:nvGrpSpPr>
          <p:grpSpPr>
            <a:xfrm>
              <a:off x="2438400" y="2835275"/>
              <a:ext cx="4648200" cy="685800"/>
              <a:chOff x="2286000" y="1371600"/>
              <a:chExt cx="4648200" cy="6858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581400" y="1371600"/>
                <a:ext cx="2133600" cy="6858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C Compiler</a:t>
                </a:r>
              </a:p>
            </p:txBody>
          </p:sp>
          <p:cxnSp>
            <p:nvCxnSpPr>
              <p:cNvPr id="19" name="Straight Arrow Connector 18"/>
              <p:cNvCxnSpPr>
                <a:endCxn id="18" idx="1"/>
              </p:cNvCxnSpPr>
              <p:nvPr/>
            </p:nvCxnSpPr>
            <p:spPr>
              <a:xfrm flipV="1">
                <a:off x="2286000" y="171450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V="1">
                <a:off x="5638800" y="169545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876300" y="281047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Lex.yy.c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77454" y="2995136"/>
              <a:ext cx="18141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a.Out</a:t>
              </a:r>
              <a:endParaRPr lang="en-US" dirty="0"/>
            </a:p>
            <a:p>
              <a:r>
                <a:rPr lang="en-US" dirty="0"/>
                <a:t>(Lexical Analyzer)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29408" y="4214077"/>
            <a:ext cx="8115300" cy="710605"/>
            <a:chOff x="876300" y="2810470"/>
            <a:chExt cx="8115300" cy="710605"/>
          </a:xfrm>
        </p:grpSpPr>
        <p:grpSp>
          <p:nvGrpSpPr>
            <p:cNvPr id="25" name="Group 24"/>
            <p:cNvGrpSpPr/>
            <p:nvPr/>
          </p:nvGrpSpPr>
          <p:grpSpPr>
            <a:xfrm>
              <a:off x="2438400" y="2835275"/>
              <a:ext cx="4648200" cy="685800"/>
              <a:chOff x="2286000" y="1371600"/>
              <a:chExt cx="4648200" cy="6858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581400" y="1371600"/>
                <a:ext cx="2133600" cy="6858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/>
                  <a:t>a.out</a:t>
                </a:r>
                <a:endParaRPr lang="en-US" sz="2400" dirty="0"/>
              </a:p>
            </p:txBody>
          </p:sp>
          <p:cxnSp>
            <p:nvCxnSpPr>
              <p:cNvPr id="29" name="Straight Arrow Connector 28"/>
              <p:cNvCxnSpPr>
                <a:endCxn id="28" idx="1"/>
              </p:cNvCxnSpPr>
              <p:nvPr/>
            </p:nvCxnSpPr>
            <p:spPr>
              <a:xfrm flipV="1">
                <a:off x="2286000" y="171450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V="1">
                <a:off x="5638800" y="169545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876300" y="2810470"/>
              <a:ext cx="144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stream or HLL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177454" y="2995136"/>
              <a:ext cx="1814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stream of tokens</a:t>
              </a:r>
            </a:p>
          </p:txBody>
        </p:sp>
      </p:grpSp>
      <p:pic>
        <p:nvPicPr>
          <p:cNvPr id="31" name="Picture 3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7786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3672FDC-F4B4-450F-ACF1-1B61C77F946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Lex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001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Source Code is in Lex language with file name .l extension.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It is given to Lex Compiler which is the Lex tool and produce </a:t>
            </a:r>
            <a:r>
              <a:rPr lang="en-US" dirty="0" err="1"/>
              <a:t>lex.yy.c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 compiler runs this C Code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lex.yy.c</a:t>
            </a:r>
            <a:r>
              <a:rPr lang="en-US" dirty="0"/>
              <a:t> program and produce an output </a:t>
            </a:r>
            <a:r>
              <a:rPr lang="en-US" dirty="0" err="1"/>
              <a:t>a.out</a:t>
            </a:r>
            <a:r>
              <a:rPr lang="en-US" dirty="0"/>
              <a:t> 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a.out</a:t>
            </a:r>
            <a:r>
              <a:rPr lang="en-US" dirty="0"/>
              <a:t> transforms an input stream into a sequence of tokens.</a:t>
            </a: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888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BCC5E78-0058-4944-BA8F-D8E9CF926126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Structure of LEX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00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{declaration}</a:t>
            </a:r>
          </a:p>
          <a:p>
            <a:r>
              <a:rPr lang="en-US" dirty="0"/>
              <a:t>      %%</a:t>
            </a:r>
          </a:p>
          <a:p>
            <a:r>
              <a:rPr lang="en-US" dirty="0"/>
              <a:t>    { Translation Rules}</a:t>
            </a:r>
          </a:p>
          <a:p>
            <a:r>
              <a:rPr lang="en-US" dirty="0"/>
              <a:t>      %%</a:t>
            </a:r>
          </a:p>
          <a:p>
            <a:r>
              <a:rPr lang="en-US" dirty="0"/>
              <a:t>     { Auxiliary functions}</a:t>
            </a: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5952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It stands for Yet Another Compiler </a:t>
            </a:r>
            <a:r>
              <a:rPr lang="en-US" sz="2400" dirty="0" err="1"/>
              <a:t>Compiler</a:t>
            </a:r>
            <a:r>
              <a:rPr lang="en-US" sz="2400" dirty="0"/>
              <a:t> .</a:t>
            </a:r>
          </a:p>
          <a:p>
            <a:r>
              <a:rPr lang="en-US" sz="2400" dirty="0"/>
              <a:t>It is a tool for generating a parser.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1CE1BFD-5679-40E3-946A-70242E6EDFF6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YACC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4770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4B70045-D4D5-49DD-A133-CB7EA7512DC5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Block diagram of YACC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2286000" y="1371600"/>
            <a:ext cx="4648200" cy="685800"/>
            <a:chOff x="2286000" y="1371600"/>
            <a:chExt cx="4648200" cy="685800"/>
          </a:xfrm>
        </p:grpSpPr>
        <p:sp>
          <p:nvSpPr>
            <p:cNvPr id="2" name="Rectangle 1"/>
            <p:cNvSpPr/>
            <p:nvPr/>
          </p:nvSpPr>
          <p:spPr>
            <a:xfrm>
              <a:off x="3581400" y="1371600"/>
              <a:ext cx="2133600" cy="6858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YACC Compiler</a:t>
              </a:r>
            </a:p>
          </p:txBody>
        </p:sp>
        <p:cxnSp>
          <p:nvCxnSpPr>
            <p:cNvPr id="5" name="Straight Arrow Connector 4"/>
            <p:cNvCxnSpPr>
              <a:endCxn id="2" idx="1"/>
            </p:cNvCxnSpPr>
            <p:nvPr/>
          </p:nvCxnSpPr>
          <p:spPr>
            <a:xfrm flipV="1">
              <a:off x="2286000" y="1714500"/>
              <a:ext cx="1295400" cy="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5638800" y="1695450"/>
              <a:ext cx="1295400" cy="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838200" y="1371600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YACC specification</a:t>
            </a:r>
          </a:p>
          <a:p>
            <a:r>
              <a:rPr lang="en-US" dirty="0"/>
              <a:t>(</a:t>
            </a:r>
            <a:r>
              <a:rPr lang="en-US" dirty="0" err="1"/>
              <a:t>File.y</a:t>
            </a:r>
            <a:r>
              <a:rPr lang="en-US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295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y.tab.c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876300" y="2810470"/>
            <a:ext cx="8115300" cy="710605"/>
            <a:chOff x="876300" y="2810470"/>
            <a:chExt cx="8115300" cy="710605"/>
          </a:xfrm>
        </p:grpSpPr>
        <p:grpSp>
          <p:nvGrpSpPr>
            <p:cNvPr id="17" name="Group 16"/>
            <p:cNvGrpSpPr/>
            <p:nvPr/>
          </p:nvGrpSpPr>
          <p:grpSpPr>
            <a:xfrm>
              <a:off x="2438400" y="2835275"/>
              <a:ext cx="4648200" cy="685800"/>
              <a:chOff x="2286000" y="1371600"/>
              <a:chExt cx="4648200" cy="6858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581400" y="1371600"/>
                <a:ext cx="2133600" cy="6858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C Compiler</a:t>
                </a:r>
              </a:p>
            </p:txBody>
          </p:sp>
          <p:cxnSp>
            <p:nvCxnSpPr>
              <p:cNvPr id="19" name="Straight Arrow Connector 18"/>
              <p:cNvCxnSpPr>
                <a:endCxn id="18" idx="1"/>
              </p:cNvCxnSpPr>
              <p:nvPr/>
            </p:nvCxnSpPr>
            <p:spPr>
              <a:xfrm flipV="1">
                <a:off x="2286000" y="171450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V="1">
                <a:off x="5638800" y="169545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876300" y="281047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y.tab.c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77454" y="2995136"/>
              <a:ext cx="1814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a.out</a:t>
              </a:r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29408" y="4214077"/>
            <a:ext cx="8115300" cy="923330"/>
            <a:chOff x="876300" y="2810470"/>
            <a:chExt cx="8115300" cy="923330"/>
          </a:xfrm>
        </p:grpSpPr>
        <p:grpSp>
          <p:nvGrpSpPr>
            <p:cNvPr id="25" name="Group 24"/>
            <p:cNvGrpSpPr/>
            <p:nvPr/>
          </p:nvGrpSpPr>
          <p:grpSpPr>
            <a:xfrm>
              <a:off x="2438400" y="2835275"/>
              <a:ext cx="4648200" cy="685800"/>
              <a:chOff x="2286000" y="1371600"/>
              <a:chExt cx="4648200" cy="6858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581400" y="1371600"/>
                <a:ext cx="2133600" cy="6858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/>
                  <a:t>a.out</a:t>
                </a:r>
                <a:endParaRPr lang="en-US" sz="2400" dirty="0"/>
              </a:p>
            </p:txBody>
          </p:sp>
          <p:cxnSp>
            <p:nvCxnSpPr>
              <p:cNvPr id="29" name="Straight Arrow Connector 28"/>
              <p:cNvCxnSpPr>
                <a:endCxn id="28" idx="1"/>
              </p:cNvCxnSpPr>
              <p:nvPr/>
            </p:nvCxnSpPr>
            <p:spPr>
              <a:xfrm flipV="1">
                <a:off x="2286000" y="171450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V="1">
                <a:off x="5638800" y="1695450"/>
                <a:ext cx="1295400" cy="381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876300" y="2810470"/>
              <a:ext cx="144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(Tokens from Lexical Analyzer)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177454" y="2995136"/>
              <a:ext cx="1814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</p:grpSp>
      <p:pic>
        <p:nvPicPr>
          <p:cNvPr id="31" name="Picture 30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1414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98F6F7-F00B-4790-B196-C87DF9BFE904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FB48F7-626D-4FFB-A80E-0586926EAD49}" type="slidenum">
              <a:rPr lang="en-US"/>
              <a:pPr>
                <a:defRPr/>
              </a:pPr>
              <a:t>129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Structure of YACC</a:t>
            </a:r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642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00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{declaration}</a:t>
            </a:r>
          </a:p>
          <a:p>
            <a:r>
              <a:rPr lang="en-US" dirty="0"/>
              <a:t>      % tokens</a:t>
            </a:r>
          </a:p>
          <a:p>
            <a:r>
              <a:rPr lang="en-US" dirty="0"/>
              <a:t>      %%</a:t>
            </a:r>
          </a:p>
          <a:p>
            <a:r>
              <a:rPr lang="en-US" dirty="0"/>
              <a:t>    { Translation Rules}</a:t>
            </a:r>
          </a:p>
          <a:p>
            <a:r>
              <a:rPr lang="en-US" dirty="0"/>
              <a:t>      %%</a:t>
            </a:r>
          </a:p>
          <a:p>
            <a:r>
              <a:rPr lang="en-US" dirty="0"/>
              <a:t>     { Auxiliary Routines}</a:t>
            </a:r>
          </a:p>
        </p:txBody>
      </p:sp>
      <p:pic>
        <p:nvPicPr>
          <p:cNvPr id="10" name="Picture 9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9836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r>
              <a:rPr lang="en-US" sz="2000" dirty="0" err="1"/>
              <a:t>Youtube</a:t>
            </a:r>
            <a:r>
              <a:rPr lang="en-US" sz="2000" dirty="0"/>
              <a:t>/other  Video Links</a:t>
            </a:r>
          </a:p>
          <a:p>
            <a:r>
              <a:rPr lang="en-US" sz="2000" dirty="0">
                <a:hlinkClick r:id="rId2"/>
              </a:rPr>
              <a:t>https://www.youtube.com/watch?v=WccZQSERfCM</a:t>
            </a:r>
            <a:endParaRPr lang="en-US" sz="2000" dirty="0"/>
          </a:p>
          <a:p>
            <a:r>
              <a:rPr lang="en-US" sz="2000" dirty="0">
                <a:hlinkClick r:id="rId3"/>
              </a:rPr>
              <a:t>https://www.youtube.com/watch?v=e-WJJl1Wzc4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https://www.youtube.com/watch?v=ZMgiwh_Aimw</a:t>
            </a:r>
            <a:endParaRPr lang="en-US" sz="2000" dirty="0"/>
          </a:p>
          <a:p>
            <a:r>
              <a:rPr lang="en-US" sz="2000" dirty="0">
                <a:hlinkClick r:id="rId5"/>
              </a:rPr>
              <a:t>https://www.youtube.com/watch?v=jN8zvENdjBg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NPTEL</a:t>
            </a:r>
          </a:p>
          <a:p>
            <a:endParaRPr lang="en-US" sz="2000" dirty="0"/>
          </a:p>
          <a:p>
            <a:r>
              <a:rPr lang="en-US" sz="2000" dirty="0">
                <a:hlinkClick r:id="rId6"/>
              </a:rPr>
              <a:t>https://youtu.be/trocRZqxZFM</a:t>
            </a:r>
            <a:endParaRPr lang="en-US" sz="2000" dirty="0"/>
          </a:p>
          <a:p>
            <a:r>
              <a:rPr lang="en-US" sz="2000" dirty="0">
                <a:hlinkClick r:id="rId7"/>
              </a:rPr>
              <a:t>https://youtu.be/-Ut1b1xEbCo</a:t>
            </a:r>
            <a:endParaRPr lang="en-US" sz="2000" dirty="0"/>
          </a:p>
          <a:p>
            <a:r>
              <a:rPr lang="en-US" sz="2000" dirty="0">
                <a:hlinkClick r:id="rId8"/>
              </a:rPr>
              <a:t>https://youtu.be/UMnllso8znw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A97A-17E6-4071-BF39-90784C90B0FF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Faculty Video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Links,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Youtube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 NPTEL Video Links and Online Courses Details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556260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4000" dirty="0"/>
              <a:t>What is the output of lexical analyzer?</a:t>
            </a:r>
          </a:p>
          <a:p>
            <a:pPr lvl="1" algn="just">
              <a:buNone/>
            </a:pPr>
            <a:r>
              <a:rPr lang="en-US" sz="4000" dirty="0"/>
              <a:t>a.	A list of tokens</a:t>
            </a:r>
          </a:p>
          <a:p>
            <a:pPr lvl="1" algn="just">
              <a:buNone/>
            </a:pPr>
            <a:r>
              <a:rPr lang="en-US" sz="4000" dirty="0"/>
              <a:t>b. A parse tree</a:t>
            </a:r>
          </a:p>
          <a:p>
            <a:pPr lvl="1" algn="just">
              <a:buNone/>
            </a:pPr>
            <a:r>
              <a:rPr lang="en-US" sz="4000" dirty="0"/>
              <a:t>c.	Intermediate code</a:t>
            </a:r>
          </a:p>
          <a:p>
            <a:pPr lvl="1" algn="just">
              <a:buNone/>
            </a:pPr>
            <a:r>
              <a:rPr lang="en-US" sz="4000" dirty="0"/>
              <a:t>d. Machine code</a:t>
            </a:r>
          </a:p>
          <a:p>
            <a:pPr algn="just"/>
            <a:r>
              <a:rPr lang="en-US" sz="4000" dirty="0"/>
              <a:t>which is the permanent data base in the general model of Compiler ?</a:t>
            </a:r>
          </a:p>
          <a:p>
            <a:pPr lvl="1" algn="just">
              <a:buNone/>
            </a:pPr>
            <a:r>
              <a:rPr lang="en-US" sz="4000" dirty="0"/>
              <a:t>a.	identifier table</a:t>
            </a:r>
          </a:p>
          <a:p>
            <a:pPr lvl="1" algn="just">
              <a:buNone/>
            </a:pPr>
            <a:r>
              <a:rPr lang="en-US" sz="4000" dirty="0"/>
              <a:t>b. literal table</a:t>
            </a:r>
          </a:p>
          <a:p>
            <a:pPr lvl="1" algn="just">
              <a:buNone/>
            </a:pPr>
            <a:r>
              <a:rPr lang="en-US" sz="4000" dirty="0"/>
              <a:t>c.	terminal table</a:t>
            </a:r>
          </a:p>
          <a:p>
            <a:pPr lvl="1" algn="just">
              <a:buNone/>
            </a:pPr>
            <a:r>
              <a:rPr lang="en-US" sz="4000" dirty="0"/>
              <a:t>d. source code</a:t>
            </a:r>
          </a:p>
          <a:p>
            <a:pPr algn="just"/>
            <a:r>
              <a:rPr lang="en-US" sz="4000" dirty="0"/>
              <a:t>A _________ is a software utility that translates code written in higher language into a low level language.</a:t>
            </a:r>
          </a:p>
          <a:p>
            <a:pPr lvl="1" algn="just">
              <a:buNone/>
            </a:pPr>
            <a:r>
              <a:rPr lang="en-US" sz="4000" dirty="0"/>
              <a:t>a.	Text editor</a:t>
            </a:r>
          </a:p>
          <a:p>
            <a:pPr lvl="1" algn="just">
              <a:buNone/>
            </a:pPr>
            <a:r>
              <a:rPr lang="en-US" sz="4000" dirty="0"/>
              <a:t>b. Compiler</a:t>
            </a:r>
          </a:p>
          <a:p>
            <a:pPr lvl="1" algn="just">
              <a:buNone/>
            </a:pPr>
            <a:r>
              <a:rPr lang="en-US" sz="4000" dirty="0"/>
              <a:t>c.	Converter</a:t>
            </a:r>
          </a:p>
          <a:p>
            <a:pPr lvl="1" algn="just">
              <a:buNone/>
            </a:pPr>
            <a:r>
              <a:rPr lang="en-US" sz="4000" dirty="0"/>
              <a:t>d. Code optimizer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DD81-0765-4D66-B908-84F558268FE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Daily Quiz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029200"/>
          </a:xfrm>
        </p:spPr>
        <p:txBody>
          <a:bodyPr>
            <a:normAutofit/>
          </a:bodyPr>
          <a:lstStyle/>
          <a:p>
            <a:r>
              <a:rPr lang="en-US" sz="2200" dirty="0"/>
              <a:t>Compiler can check ________ error.</a:t>
            </a:r>
          </a:p>
          <a:p>
            <a:pPr lvl="1">
              <a:buNone/>
            </a:pPr>
            <a:r>
              <a:rPr lang="en-US" sz="2200" dirty="0"/>
              <a:t>a.	Syntax</a:t>
            </a:r>
          </a:p>
          <a:p>
            <a:pPr lvl="1">
              <a:buNone/>
            </a:pPr>
            <a:r>
              <a:rPr lang="en-US" sz="2200" dirty="0"/>
              <a:t>b.	Content</a:t>
            </a:r>
          </a:p>
          <a:p>
            <a:pPr lvl="1">
              <a:buNone/>
            </a:pPr>
            <a:r>
              <a:rPr lang="en-US" sz="2200" dirty="0"/>
              <a:t>c.	Logical</a:t>
            </a:r>
          </a:p>
          <a:p>
            <a:pPr lvl="1">
              <a:buNone/>
            </a:pPr>
            <a:r>
              <a:rPr lang="en-US" sz="2200" dirty="0"/>
              <a:t>d.	Both A and B</a:t>
            </a:r>
          </a:p>
          <a:p>
            <a:r>
              <a:rPr lang="en-US" sz="2200" dirty="0"/>
              <a:t>Compiler translates the source code to</a:t>
            </a:r>
          </a:p>
          <a:p>
            <a:pPr lvl="1">
              <a:buNone/>
            </a:pPr>
            <a:r>
              <a:rPr lang="en-US" sz="2200" dirty="0"/>
              <a:t>a.	Machine code</a:t>
            </a:r>
          </a:p>
          <a:p>
            <a:pPr lvl="1">
              <a:buNone/>
            </a:pPr>
            <a:r>
              <a:rPr lang="en-US" sz="2200" dirty="0"/>
              <a:t>b.	Binary code</a:t>
            </a:r>
          </a:p>
          <a:p>
            <a:pPr lvl="1">
              <a:buNone/>
            </a:pPr>
            <a:r>
              <a:rPr lang="en-US" sz="2200" dirty="0"/>
              <a:t>c.	Executable code</a:t>
            </a:r>
          </a:p>
          <a:p>
            <a:pPr lvl="1">
              <a:buNone/>
            </a:pPr>
            <a:r>
              <a:rPr lang="en-US" sz="2200" dirty="0"/>
              <a:t>d.	Both 1 and 2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7867B-960D-42DB-87C2-16694257892F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Daily Quiz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257800"/>
          </a:xfrm>
        </p:spPr>
        <p:txBody>
          <a:bodyPr>
            <a:normAutofit fontScale="25000" lnSpcReduction="20000"/>
          </a:bodyPr>
          <a:lstStyle/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What is compiler? Explain the various phases of compiler with suitable example. 				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Describe various compiler writing tools.	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How the boot strapping is done on more than one machine?						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Construct minimum state DFA for the regular expression (</a:t>
            </a:r>
            <a:r>
              <a:rPr lang="en-US" sz="9600" dirty="0" err="1">
                <a:latin typeface="+mj-lt"/>
                <a:ea typeface="Calibri"/>
                <a:cs typeface="Times New Roman"/>
              </a:rPr>
              <a:t>a|b</a:t>
            </a:r>
            <a:r>
              <a:rPr lang="en-US" sz="9600" dirty="0">
                <a:latin typeface="+mj-lt"/>
                <a:ea typeface="Calibri"/>
                <a:cs typeface="Times New Roman"/>
              </a:rPr>
              <a:t>)*a(</a:t>
            </a:r>
            <a:r>
              <a:rPr lang="en-US" sz="9600" dirty="0" err="1">
                <a:latin typeface="+mj-lt"/>
                <a:ea typeface="Calibri"/>
                <a:cs typeface="Times New Roman"/>
              </a:rPr>
              <a:t>a|b</a:t>
            </a:r>
            <a:r>
              <a:rPr lang="en-US" sz="9600" dirty="0">
                <a:latin typeface="+mj-lt"/>
                <a:ea typeface="Calibri"/>
                <a:cs typeface="Times New Roman"/>
              </a:rPr>
              <a:t>).				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Discuss the algorithm for subset construction and computation of ε-closure.			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Construct NFA For regular expression (</a:t>
            </a:r>
            <a:r>
              <a:rPr lang="en-US" sz="9600" dirty="0" err="1">
                <a:latin typeface="+mj-lt"/>
                <a:ea typeface="Calibri"/>
                <a:cs typeface="Times New Roman"/>
              </a:rPr>
              <a:t>a.b</a:t>
            </a:r>
            <a:r>
              <a:rPr lang="en-US" sz="9600" dirty="0">
                <a:latin typeface="+mj-lt"/>
                <a:ea typeface="Calibri"/>
                <a:cs typeface="Times New Roman"/>
              </a:rPr>
              <a:t>)*a.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Design FA from given regular expression 10 + (0+11)0*1.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Construct NFA equivalent to r = a*b.			[CO1]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9600" dirty="0">
                <a:latin typeface="+mj-lt"/>
                <a:ea typeface="Calibri"/>
                <a:cs typeface="Times New Roman"/>
              </a:rPr>
              <a:t>Construct NFA equivalent to r = (</a:t>
            </a:r>
            <a:r>
              <a:rPr lang="en-US" sz="9600" dirty="0" err="1">
                <a:latin typeface="+mj-lt"/>
                <a:ea typeface="Calibri"/>
                <a:cs typeface="Times New Roman"/>
              </a:rPr>
              <a:t>a+b</a:t>
            </a:r>
            <a:r>
              <a:rPr lang="en-US" sz="9600" dirty="0">
                <a:latin typeface="+mj-lt"/>
                <a:ea typeface="Calibri"/>
                <a:cs typeface="Times New Roman"/>
              </a:rPr>
              <a:t>)*b.			[CO1]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2000" dirty="0">
              <a:ea typeface="Calibr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D9BB-3FCD-493E-BA6C-4BB03C39BFC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0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/>
              <a:t>Weekly Assignment</a:t>
            </a: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5638800"/>
          </a:xfrm>
        </p:spPr>
        <p:txBody>
          <a:bodyPr>
            <a:noAutofit/>
          </a:bodyPr>
          <a:lstStyle/>
          <a:p>
            <a:r>
              <a:rPr lang="en-US" sz="1800" dirty="0"/>
              <a:t>In a compiler, keywords of a language are recognized during -</a:t>
            </a:r>
          </a:p>
          <a:p>
            <a:pPr lvl="1">
              <a:buNone/>
            </a:pPr>
            <a:r>
              <a:rPr lang="en-US" sz="1800" dirty="0"/>
              <a:t>a.	the code generation</a:t>
            </a:r>
          </a:p>
          <a:p>
            <a:pPr lvl="1">
              <a:buNone/>
            </a:pPr>
            <a:r>
              <a:rPr lang="en-US" sz="1800" dirty="0"/>
              <a:t>b.	parsing of the program</a:t>
            </a:r>
          </a:p>
          <a:p>
            <a:pPr lvl="1">
              <a:buNone/>
            </a:pPr>
            <a:r>
              <a:rPr lang="en-US" sz="1800" dirty="0"/>
              <a:t>c.	the lexical analysis of the program</a:t>
            </a:r>
          </a:p>
          <a:p>
            <a:pPr lvl="1">
              <a:buNone/>
            </a:pPr>
            <a:r>
              <a:rPr lang="en-US" sz="1800" dirty="0"/>
              <a:t>d.	dataflow analysis</a:t>
            </a:r>
          </a:p>
          <a:p>
            <a:r>
              <a:rPr lang="en-US" sz="1800" dirty="0"/>
              <a:t>Which of the following is used for grouping of characters into tokens?</a:t>
            </a:r>
          </a:p>
          <a:p>
            <a:pPr lvl="1">
              <a:buNone/>
            </a:pPr>
            <a:r>
              <a:rPr lang="en-US" sz="1800" dirty="0"/>
              <a:t>a.	Parser</a:t>
            </a:r>
          </a:p>
          <a:p>
            <a:pPr lvl="1">
              <a:buNone/>
            </a:pPr>
            <a:r>
              <a:rPr lang="en-US" sz="1800" dirty="0"/>
              <a:t>b.	Code generator</a:t>
            </a:r>
          </a:p>
          <a:p>
            <a:pPr lvl="1">
              <a:buNone/>
            </a:pPr>
            <a:r>
              <a:rPr lang="en-US" sz="1800" dirty="0"/>
              <a:t>c.	Lexical </a:t>
            </a:r>
            <a:r>
              <a:rPr lang="en-US" sz="1800" dirty="0" err="1"/>
              <a:t>analyser</a:t>
            </a:r>
            <a:endParaRPr lang="en-US" sz="1800" dirty="0"/>
          </a:p>
          <a:p>
            <a:pPr lvl="1">
              <a:buNone/>
            </a:pPr>
            <a:r>
              <a:rPr lang="en-US" sz="1800" dirty="0"/>
              <a:t>d.	Code generator</a:t>
            </a:r>
          </a:p>
          <a:p>
            <a:r>
              <a:rPr lang="en-US" sz="1800" dirty="0"/>
              <a:t>Given the language L = {</a:t>
            </a:r>
            <a:r>
              <a:rPr lang="en-US" sz="1800" dirty="0" err="1"/>
              <a:t>ab</a:t>
            </a:r>
            <a:r>
              <a:rPr lang="en-US" sz="1800" dirty="0"/>
              <a:t>, </a:t>
            </a:r>
            <a:r>
              <a:rPr lang="en-US" sz="1800" dirty="0" err="1"/>
              <a:t>aa</a:t>
            </a:r>
            <a:r>
              <a:rPr lang="en-US" sz="1800" dirty="0"/>
              <a:t>, baa}, which of the following strings are in L*?</a:t>
            </a:r>
          </a:p>
          <a:p>
            <a:pPr>
              <a:buNone/>
            </a:pPr>
            <a:r>
              <a:rPr lang="en-US" sz="1800" dirty="0"/>
              <a:t>      1)</a:t>
            </a:r>
            <a:r>
              <a:rPr lang="en-US" sz="1800" dirty="0" err="1"/>
              <a:t>abaabaaabaa</a:t>
            </a:r>
            <a:r>
              <a:rPr lang="en-US" sz="1800" dirty="0"/>
              <a:t> 2) </a:t>
            </a:r>
            <a:r>
              <a:rPr lang="en-US" sz="1800" dirty="0" err="1"/>
              <a:t>aaaabaaaa</a:t>
            </a:r>
            <a:r>
              <a:rPr lang="en-US" sz="1800" dirty="0"/>
              <a:t> 3) </a:t>
            </a:r>
            <a:r>
              <a:rPr lang="en-US" sz="1800" dirty="0" err="1"/>
              <a:t>baaaaabaaaab</a:t>
            </a:r>
            <a:r>
              <a:rPr lang="en-US" sz="1800" dirty="0"/>
              <a:t> 4) </a:t>
            </a:r>
            <a:r>
              <a:rPr lang="en-US" sz="1800" dirty="0" err="1"/>
              <a:t>baaaaabaa</a:t>
            </a:r>
            <a:endParaRPr lang="en-US" sz="1800" dirty="0"/>
          </a:p>
          <a:p>
            <a:pPr lvl="1">
              <a:buNone/>
            </a:pPr>
            <a:r>
              <a:rPr lang="en-US" sz="1800" dirty="0"/>
              <a:t>a.	1,2,3 </a:t>
            </a:r>
          </a:p>
          <a:p>
            <a:pPr lvl="1">
              <a:buNone/>
            </a:pPr>
            <a:r>
              <a:rPr lang="en-US" sz="1800" dirty="0"/>
              <a:t>b.	2,3,4 </a:t>
            </a:r>
          </a:p>
          <a:p>
            <a:pPr lvl="1">
              <a:buNone/>
            </a:pPr>
            <a:r>
              <a:rPr lang="en-US" sz="1800" dirty="0"/>
              <a:t>c.	1,2,4 </a:t>
            </a:r>
          </a:p>
          <a:p>
            <a:pPr lvl="1">
              <a:buNone/>
            </a:pPr>
            <a:r>
              <a:rPr lang="en-US" sz="1800" dirty="0"/>
              <a:t>d.	1,3,4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21629-90AA-48C2-AC34-6293BD1C615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24600"/>
            <a:ext cx="48768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MCQ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876800"/>
          </a:xfrm>
        </p:spPr>
        <p:txBody>
          <a:bodyPr>
            <a:normAutofit/>
          </a:bodyPr>
          <a:lstStyle/>
          <a:p>
            <a:r>
              <a:rPr lang="en-US" sz="1900" dirty="0"/>
              <a:t>Which one of the following is FALSE?</a:t>
            </a:r>
          </a:p>
          <a:p>
            <a:pPr lvl="1">
              <a:buNone/>
            </a:pPr>
            <a:r>
              <a:rPr lang="en-US" sz="1900" dirty="0"/>
              <a:t>a.	Every NFA can be converted to DFA</a:t>
            </a:r>
          </a:p>
          <a:p>
            <a:pPr lvl="1">
              <a:buNone/>
            </a:pPr>
            <a:r>
              <a:rPr lang="en-US" sz="1900" dirty="0"/>
              <a:t>b.	Every subset of a recursively enumerable set is recursive</a:t>
            </a:r>
          </a:p>
          <a:p>
            <a:pPr lvl="1">
              <a:buNone/>
            </a:pPr>
            <a:r>
              <a:rPr lang="en-US" sz="1900" dirty="0"/>
              <a:t>c.	NFA is a machine.</a:t>
            </a:r>
          </a:p>
          <a:p>
            <a:pPr lvl="1">
              <a:buNone/>
            </a:pPr>
            <a:r>
              <a:rPr lang="en-US" sz="1900" dirty="0"/>
              <a:t>d.	DFA is also a type of NFA.</a:t>
            </a:r>
          </a:p>
          <a:p>
            <a:pPr lvl="1">
              <a:buNone/>
            </a:pPr>
            <a:r>
              <a:rPr lang="en-US" sz="1900" dirty="0"/>
              <a:t>e.	All of the mentioned</a:t>
            </a:r>
          </a:p>
          <a:p>
            <a:pPr lvl="1">
              <a:buNone/>
            </a:pPr>
            <a:r>
              <a:rPr lang="en-US" sz="1900" dirty="0"/>
              <a:t>f.	None of the mentioned</a:t>
            </a:r>
          </a:p>
          <a:p>
            <a:r>
              <a:rPr lang="en-US" sz="1900" dirty="0"/>
              <a:t>Number of states of FSM required simulating </a:t>
            </a:r>
            <a:r>
              <a:rPr lang="en-US" sz="1900" dirty="0" err="1"/>
              <a:t>behaviour</a:t>
            </a:r>
            <a:r>
              <a:rPr lang="en-US" sz="1900" dirty="0"/>
              <a:t> of a computer with a memory capable of storing “m” words, each of length ‘n’</a:t>
            </a:r>
          </a:p>
          <a:p>
            <a:pPr lvl="1">
              <a:buNone/>
            </a:pPr>
            <a:r>
              <a:rPr lang="en-US" sz="1900" dirty="0"/>
              <a:t>a.	m x 2n</a:t>
            </a:r>
          </a:p>
          <a:p>
            <a:pPr lvl="1">
              <a:buNone/>
            </a:pPr>
            <a:r>
              <a:rPr lang="en-US" sz="1900" dirty="0"/>
              <a:t>b.	2mn</a:t>
            </a:r>
          </a:p>
          <a:p>
            <a:pPr lvl="1">
              <a:buNone/>
            </a:pPr>
            <a:r>
              <a:rPr lang="en-US" sz="1900" dirty="0"/>
              <a:t>c.	2(</a:t>
            </a:r>
            <a:r>
              <a:rPr lang="en-US" sz="1900" dirty="0" err="1"/>
              <a:t>m+n</a:t>
            </a:r>
            <a:r>
              <a:rPr lang="en-US" sz="1900" dirty="0"/>
              <a:t>) </a:t>
            </a:r>
          </a:p>
          <a:p>
            <a:pPr lvl="1">
              <a:buNone/>
            </a:pPr>
            <a:r>
              <a:rPr lang="en-US" sz="1900" dirty="0"/>
              <a:t>d.	All of the mentioned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36B66-C03A-494E-9303-A3D37B2BCBC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24600"/>
            <a:ext cx="48768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MCQ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A529-C682-4EBB-A157-F17004BC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5C2F-E201-4D53-94CF-68832BB76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Construct minimum state DFA for the regular expression (</a:t>
            </a:r>
            <a:r>
              <a:rPr lang="en-US" sz="2400" dirty="0" err="1">
                <a:ea typeface="Calibri"/>
                <a:cs typeface="Times New Roman"/>
              </a:rPr>
              <a:t>a|b</a:t>
            </a:r>
            <a:r>
              <a:rPr lang="en-US" sz="2400" dirty="0">
                <a:ea typeface="Calibri"/>
                <a:cs typeface="Times New Roman"/>
              </a:rPr>
              <a:t>)*a(</a:t>
            </a:r>
            <a:r>
              <a:rPr lang="en-US" sz="2400" dirty="0" err="1">
                <a:ea typeface="Calibri"/>
                <a:cs typeface="Times New Roman"/>
              </a:rPr>
              <a:t>a|b</a:t>
            </a:r>
            <a:r>
              <a:rPr lang="en-US" sz="2400" dirty="0">
                <a:ea typeface="Calibri"/>
                <a:cs typeface="Times New Roman"/>
              </a:rPr>
              <a:t>).				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Discuss the algorithm for subset construction and computation of ε-closure.	</a:t>
            </a:r>
          </a:p>
          <a:p>
            <a:pPr marL="0" lvl="0" indent="0" algn="just">
              <a:buNone/>
            </a:pPr>
            <a:r>
              <a:rPr lang="en-US" sz="2400" dirty="0"/>
              <a:t>3. What is LEX compiler? Explain the working and advantage of LEX compiler.</a:t>
            </a:r>
          </a:p>
          <a:p>
            <a:pPr marL="0" lvl="0" indent="0" algn="just">
              <a:buNone/>
            </a:pPr>
            <a:r>
              <a:rPr lang="en-US" sz="2400" dirty="0"/>
              <a:t>4. Write short note on the following.</a:t>
            </a:r>
          </a:p>
          <a:p>
            <a:pPr algn="just">
              <a:buNone/>
            </a:pPr>
            <a:r>
              <a:rPr lang="en-US" sz="2400" b="1" dirty="0"/>
              <a:t>      (</a:t>
            </a:r>
            <a:r>
              <a:rPr lang="en-US" sz="2400" b="1" dirty="0" err="1"/>
              <a:t>i</a:t>
            </a:r>
            <a:r>
              <a:rPr lang="en-US" sz="2400" b="1" dirty="0"/>
              <a:t>)</a:t>
            </a:r>
            <a:r>
              <a:rPr lang="en-US" sz="2400" dirty="0"/>
              <a:t> Formal Grammar </a:t>
            </a:r>
            <a:r>
              <a:rPr lang="en-US" sz="2400" b="1" dirty="0"/>
              <a:t>(ii)</a:t>
            </a:r>
            <a:r>
              <a:rPr lang="en-US" sz="2400" dirty="0"/>
              <a:t> Left Recursion </a:t>
            </a:r>
            <a:r>
              <a:rPr lang="en-US" sz="2400" b="1" dirty="0"/>
              <a:t>(iii)</a:t>
            </a:r>
            <a:r>
              <a:rPr lang="en-US" sz="2400" dirty="0"/>
              <a:t> Left factoring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dirty="0">
              <a:ea typeface="Calibri"/>
              <a:cs typeface="Times New Roman"/>
            </a:endParaRP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4693D-A972-44AB-848F-F2A21E59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9424-1516-4686-9566-8966D23A0F4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744A8-460C-4C5A-B6B2-4702B8DA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0C124-C4E6-427F-8EB5-C3D000A9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EB5181-1BF7-4393-BA22-CE6B3C2366F0}"/>
              </a:ext>
            </a:extLst>
          </p:cNvPr>
          <p:cNvSpPr txBox="1">
            <a:spLocks/>
          </p:cNvSpPr>
          <p:nvPr/>
        </p:nvSpPr>
        <p:spPr>
          <a:xfrm>
            <a:off x="1828800" y="136525"/>
            <a:ext cx="7086600" cy="9302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Glossary Questions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945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47775"/>
            <a:ext cx="89154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769671-16A6-4C77-976F-78A348B707B9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176C18-3BD0-4DF0-A0A2-269011FD2F47}" type="slidenum">
              <a:rPr lang="en-US" smtClean="0"/>
              <a:pPr>
                <a:defRPr/>
              </a:pPr>
              <a:t>137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3528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66788"/>
            <a:ext cx="8534400" cy="543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704491E-2641-46CE-AD78-38E26A544E90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47A7BD-166C-4B7A-92D2-626BE62C5363}" type="slidenum">
              <a:rPr lang="en-US" smtClean="0"/>
              <a:pPr>
                <a:defRPr/>
              </a:pPr>
              <a:t>138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124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890588"/>
            <a:ext cx="8458200" cy="55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96599A-117D-4B33-A21C-A0DF58730B7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84FE1F-CC2F-40AC-8F6B-B1420666CE80}" type="slidenum">
              <a:rPr lang="en-US" smtClean="0"/>
              <a:pPr>
                <a:defRPr/>
              </a:pPr>
              <a:t>139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76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43000"/>
            <a:ext cx="8839200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022A3AE-56FA-4B77-A4AE-5FA5D5DB3B9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1FEDCE-B4C9-49EC-83BE-9E28A5440FE3}" type="slidenum">
              <a:rPr lang="en-US" smtClean="0"/>
              <a:pPr>
                <a:defRPr/>
              </a:pPr>
              <a:t>140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76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8229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493BFE-C8C5-42DA-AC9D-40DC902AAA44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F6C729-3E39-4287-9829-C40925C61E2D}" type="slidenum">
              <a:rPr lang="en-US" smtClean="0"/>
              <a:pPr>
                <a:defRPr/>
              </a:pPr>
              <a:t>141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76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4875"/>
            <a:ext cx="91440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8A7FDB-7E1A-440D-BF6B-6B16845A82A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C28E53-4032-4DE9-9A01-FADDB45EAEF6}" type="slidenum">
              <a:rPr lang="en-US" smtClean="0"/>
              <a:pPr>
                <a:defRPr/>
              </a:pPr>
              <a:t>142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3528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71538"/>
            <a:ext cx="9144000" cy="545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629E3B-4BD4-4CA6-8C46-513259B1A74D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43191-DA92-4FE6-8ED0-49CC0A37B751}" type="slidenum">
              <a:rPr lang="en-US" smtClean="0"/>
              <a:pPr>
                <a:defRPr/>
              </a:pPr>
              <a:t>143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3528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905000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53BFC1-1A00-4DB3-9173-2F5DA045E11B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620B9C-04BA-45C4-AEDC-79BCA5CFF698}" type="slidenum">
              <a:rPr lang="en-US" smtClean="0"/>
              <a:pPr>
                <a:defRPr/>
              </a:pPr>
              <a:t>144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2488"/>
            <a:ext cx="91440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2FAD720-0D71-446E-9DEF-D416DB4014C0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EB867D-D3CD-40D7-916A-F99155A15734}" type="slidenum">
              <a:rPr lang="en-US" smtClean="0"/>
              <a:pPr>
                <a:defRPr/>
              </a:pPr>
              <a:t>145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4290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33463"/>
            <a:ext cx="914400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F54FEB-C06E-429E-BFCD-49B101A73DF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1ADF7A-85A9-4D65-BAF3-B7E60477D03E}" type="slidenum">
              <a:rPr lang="en-US" smtClean="0"/>
              <a:pPr>
                <a:defRPr/>
              </a:pPr>
              <a:t>146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76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95438"/>
            <a:ext cx="9144000" cy="411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A4DDDE1-5D73-4091-A4CE-6F6337F4CA1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98CFF-714E-4F14-9D91-BC8875B074F7}" type="slidenum">
              <a:rPr lang="en-US" smtClean="0"/>
              <a:pPr>
                <a:defRPr/>
              </a:pPr>
              <a:t>147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71538"/>
            <a:ext cx="8915400" cy="537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05EDB57-4FCA-4F84-852A-CAAC4FB3988C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5F9E4-3981-47D1-9A0C-B4F60DB5D087}" type="slidenum">
              <a:rPr lang="en-US" smtClean="0"/>
              <a:pPr>
                <a:defRPr/>
              </a:pPr>
              <a:t>148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00175"/>
            <a:ext cx="8915400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E25AEC-857C-45ED-B0AD-CD3CD58D35BB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5FFE4E-2947-4D68-AC2F-F92F832111E9}" type="slidenum">
              <a:rPr lang="en-US" smtClean="0"/>
              <a:pPr>
                <a:defRPr/>
              </a:pPr>
              <a:t>149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1242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4117280-C865-473B-B0BF-FE4CADBAA67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E7A27-B41A-4CFD-B2CE-6242A4A6B135}" type="slidenum">
              <a:rPr lang="en-US" smtClean="0"/>
              <a:pPr>
                <a:defRPr/>
              </a:pPr>
              <a:t>150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766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762000"/>
            <a:ext cx="7391400" cy="5486400"/>
          </a:xfrm>
          <a:prstGeom prst="rect">
            <a:avLst/>
          </a:prstGeom>
        </p:spPr>
      </p:pic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371600" y="0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dirty="0"/>
              <a:t>Old Question Papers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72C6C87-8F86-4FB7-BA04-42764707891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76F3A3-5550-4038-982E-FBB840D112FF}" type="slidenum">
              <a:rPr lang="en-US" smtClean="0"/>
              <a:pPr>
                <a:defRPr/>
              </a:pPr>
              <a:t>151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352800" cy="365125"/>
          </a:xfrm>
        </p:spPr>
        <p:txBody>
          <a:bodyPr/>
          <a:lstStyle/>
          <a:p>
            <a:pPr>
              <a:defRPr/>
            </a:pPr>
            <a:r>
              <a:rPr lang="it-IT"/>
              <a:t>Vivek Kumar Sharma           CD Unit -1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38200"/>
            <a:ext cx="7086600" cy="5334000"/>
          </a:xfrm>
          <a:prstGeom prst="rect">
            <a:avLst/>
          </a:prstGeom>
        </p:spPr>
      </p:pic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105400"/>
          </a:xfrm>
        </p:spPr>
        <p:txBody>
          <a:bodyPr>
            <a:normAutofit/>
          </a:bodyPr>
          <a:lstStyle/>
          <a:p>
            <a:pPr lvl="0" algn="just"/>
            <a:r>
              <a:rPr lang="en-US" sz="2200" dirty="0"/>
              <a:t>Create a new compiler for machine B which accepts a language L by using an existing compiler on machine A for language other than L.</a:t>
            </a:r>
          </a:p>
          <a:p>
            <a:pPr lvl="0" algn="just"/>
            <a:r>
              <a:rPr lang="en-US" sz="2200" dirty="0"/>
              <a:t>Convert regular expression </a:t>
            </a:r>
            <a:r>
              <a:rPr lang="en-US" sz="2200" b="1" dirty="0"/>
              <a:t>(</a:t>
            </a:r>
            <a:r>
              <a:rPr lang="en-US" sz="2200" b="1" dirty="0" err="1"/>
              <a:t>a,b</a:t>
            </a:r>
            <a:r>
              <a:rPr lang="en-US" sz="2200" b="1" dirty="0"/>
              <a:t>)</a:t>
            </a:r>
            <a:r>
              <a:rPr lang="en-US" sz="2200" b="1" baseline="30000" dirty="0"/>
              <a:t>*</a:t>
            </a:r>
            <a:r>
              <a:rPr lang="en-US" sz="2200" b="1" dirty="0" err="1"/>
              <a:t>aba</a:t>
            </a:r>
            <a:r>
              <a:rPr lang="en-US" sz="2200" dirty="0"/>
              <a:t> in a NFA by using Thomson rule and reduce it in equivalent DFA using </a:t>
            </a:r>
            <a:r>
              <a:rPr lang="en-US" sz="2200" b="1" dirty="0"/>
              <a:t>ε-closure</a:t>
            </a:r>
            <a:r>
              <a:rPr lang="en-US" sz="2200" dirty="0"/>
              <a:t> function.  </a:t>
            </a:r>
          </a:p>
          <a:p>
            <a:pPr lvl="0" algn="just"/>
            <a:r>
              <a:rPr lang="en-US" sz="2200" dirty="0"/>
              <a:t>Explain the implementation of lexical analyzer by taking the example of identifier.  </a:t>
            </a:r>
          </a:p>
          <a:p>
            <a:pPr lvl="0" algn="just"/>
            <a:r>
              <a:rPr lang="en-US" sz="2200" dirty="0"/>
              <a:t>What do you mean by translators? Discuss the structure of a compiler.</a:t>
            </a:r>
          </a:p>
          <a:p>
            <a:pPr lvl="0" algn="just"/>
            <a:r>
              <a:rPr lang="en-US" sz="2200" dirty="0"/>
              <a:t>What is LEX compiler? Explain the working and advantage of LEX compiler.</a:t>
            </a:r>
          </a:p>
          <a:p>
            <a:pPr lvl="0" algn="just"/>
            <a:r>
              <a:rPr lang="en-US" sz="2200" dirty="0"/>
              <a:t>Write short note on the following.</a:t>
            </a:r>
          </a:p>
          <a:p>
            <a:pPr algn="just">
              <a:buNone/>
            </a:pPr>
            <a:r>
              <a:rPr lang="en-US" sz="2200" b="1" dirty="0"/>
              <a:t>      (</a:t>
            </a:r>
            <a:r>
              <a:rPr lang="en-US" sz="2200" b="1" dirty="0" err="1"/>
              <a:t>i</a:t>
            </a:r>
            <a:r>
              <a:rPr lang="en-US" sz="2200" b="1" dirty="0"/>
              <a:t>)</a:t>
            </a:r>
            <a:r>
              <a:rPr lang="en-US" sz="2200" dirty="0"/>
              <a:t> Formal Grammar </a:t>
            </a:r>
            <a:r>
              <a:rPr lang="en-US" sz="2200" b="1" dirty="0"/>
              <a:t>(ii)</a:t>
            </a:r>
            <a:r>
              <a:rPr lang="en-US" sz="2200" dirty="0"/>
              <a:t> Left Recursion </a:t>
            </a:r>
            <a:r>
              <a:rPr lang="en-US" sz="2200" b="1" dirty="0"/>
              <a:t>(iii)</a:t>
            </a:r>
            <a:r>
              <a:rPr lang="en-US" sz="2200" dirty="0"/>
              <a:t> Left factoring</a:t>
            </a:r>
          </a:p>
          <a:p>
            <a:pPr algn="just"/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0671-8E44-448B-96DC-99B1AFCF4E7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/>
              <a:t>Expected Questions for University Exam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600" dirty="0"/>
              <a:t>Lexical analysis turns input characters into tokens.</a:t>
            </a:r>
          </a:p>
          <a:p>
            <a:pPr algn="just"/>
            <a:r>
              <a:rPr lang="en-US" sz="2600" dirty="0"/>
              <a:t>Lexical syntax is described by regular expressions.</a:t>
            </a:r>
          </a:p>
          <a:p>
            <a:pPr algn="just"/>
            <a:r>
              <a:rPr lang="en-US" sz="2600" dirty="0"/>
              <a:t>Lexical analysis is the very first phase in the compiler designing</a:t>
            </a:r>
          </a:p>
          <a:p>
            <a:pPr algn="just"/>
            <a:r>
              <a:rPr lang="en-US" sz="2600" dirty="0"/>
              <a:t>A lexeme is a sequence of characters that are included in the source program according to the matching pattern of a token</a:t>
            </a:r>
          </a:p>
          <a:p>
            <a:pPr algn="just"/>
            <a:r>
              <a:rPr lang="en-US" sz="2600" dirty="0"/>
              <a:t>Lexical analyzer is implemented to scan the entire source code of the program</a:t>
            </a:r>
          </a:p>
          <a:p>
            <a:pPr algn="just"/>
            <a:r>
              <a:rPr lang="en-US" sz="2600" dirty="0"/>
              <a:t>Lexical analyzer helps to identify token into the symbol table</a:t>
            </a:r>
          </a:p>
          <a:p>
            <a:pPr algn="just"/>
            <a:r>
              <a:rPr lang="en-US" sz="2600" dirty="0"/>
              <a:t>A character sequence which is not possible to scan into any valid token is a lexical error</a:t>
            </a:r>
          </a:p>
          <a:p>
            <a:pPr algn="just"/>
            <a:r>
              <a:rPr lang="en-US" sz="2600" dirty="0"/>
              <a:t>Removes one character from the remaining input is useful Error recovery method</a:t>
            </a:r>
          </a:p>
          <a:p>
            <a:pPr algn="just"/>
            <a:r>
              <a:rPr lang="en-US" sz="2600" dirty="0"/>
              <a:t>Lexical Analyzer scan the input program.</a:t>
            </a:r>
          </a:p>
          <a:p>
            <a:pPr algn="just"/>
            <a:r>
              <a:rPr lang="en-US" sz="2600" dirty="0"/>
              <a:t>It eases the process of lexical analysis and the syntax analysis by eliminating unwanted tokens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763B-DBAD-40CE-A2CD-66C22730A1A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47800" y="1"/>
            <a:ext cx="76962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Recap of Unit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Principles of Compiler Design Textbook by Alfred </a:t>
            </a:r>
            <a:r>
              <a:rPr lang="en-US" sz="2200" dirty="0" err="1"/>
              <a:t>Aho</a:t>
            </a:r>
            <a:r>
              <a:rPr lang="en-US" sz="2200" dirty="0"/>
              <a:t> and Jeffrey </a:t>
            </a:r>
            <a:r>
              <a:rPr lang="en-US" sz="2200" dirty="0" err="1"/>
              <a:t>Ullman</a:t>
            </a:r>
            <a:endParaRPr lang="en-US" sz="2200" dirty="0"/>
          </a:p>
          <a:p>
            <a:pPr algn="just"/>
            <a:r>
              <a:rPr lang="en-US" sz="2200" dirty="0"/>
              <a:t>Principle of Compiler Design, </a:t>
            </a:r>
            <a:r>
              <a:rPr lang="en-US" sz="2200" dirty="0" err="1"/>
              <a:t>A.V.Aho</a:t>
            </a:r>
            <a:r>
              <a:rPr lang="en-US" sz="2200" dirty="0"/>
              <a:t>, Rabi </a:t>
            </a:r>
            <a:r>
              <a:rPr lang="en-US" sz="2200" dirty="0" err="1"/>
              <a:t>Sethi</a:t>
            </a:r>
            <a:r>
              <a:rPr lang="en-US" sz="2200" dirty="0"/>
              <a:t>, </a:t>
            </a:r>
            <a:r>
              <a:rPr lang="en-US" sz="2200" dirty="0" err="1"/>
              <a:t>J.D.Ullman</a:t>
            </a:r>
            <a:r>
              <a:rPr lang="en-US" sz="2200" dirty="0"/>
              <a:t>.</a:t>
            </a:r>
          </a:p>
          <a:p>
            <a:pPr algn="just"/>
            <a:r>
              <a:rPr lang="en-US" sz="2200" dirty="0"/>
              <a:t>Compilers: Principles, Techniques and Tools  </a:t>
            </a:r>
            <a:r>
              <a:rPr lang="en-US" sz="2200" dirty="0" err="1"/>
              <a:t>A.V.Aho</a:t>
            </a:r>
            <a:r>
              <a:rPr lang="en-US" sz="2200" dirty="0"/>
              <a:t>, Monica S. Lam, Rabi </a:t>
            </a:r>
            <a:r>
              <a:rPr lang="en-US" sz="2200" dirty="0" err="1"/>
              <a:t>Sethi</a:t>
            </a:r>
            <a:r>
              <a:rPr lang="en-US" sz="2200" dirty="0"/>
              <a:t>, </a:t>
            </a:r>
            <a:r>
              <a:rPr lang="en-US" sz="2200" dirty="0" err="1"/>
              <a:t>J.D.Ullman</a:t>
            </a:r>
            <a:endParaRPr lang="en-US" sz="2200" dirty="0"/>
          </a:p>
          <a:p>
            <a:pPr algn="just"/>
            <a:r>
              <a:rPr lang="en-US" sz="2200" dirty="0">
                <a:hlinkClick r:id="rId2"/>
              </a:rPr>
              <a:t>https://www.geeksforgeeks.org/compiler-design-tutorials/</a:t>
            </a:r>
            <a:endParaRPr lang="en-US" sz="2200" dirty="0"/>
          </a:p>
          <a:p>
            <a:pPr algn="just"/>
            <a:r>
              <a:rPr lang="en-US" sz="2200" dirty="0">
                <a:hlinkClick r:id="rId3"/>
              </a:rPr>
              <a:t>https://www.javatpoint.com/compiler-tutorial</a:t>
            </a:r>
            <a:endParaRPr lang="en-US" sz="2200" dirty="0"/>
          </a:p>
          <a:p>
            <a:pPr algn="just"/>
            <a:r>
              <a:rPr lang="en-US" sz="2200" dirty="0">
                <a:hlinkClick r:id="rId4"/>
              </a:rPr>
              <a:t>https://www.tutorialspoint.com/compiler_design/index.htm</a:t>
            </a:r>
            <a:endParaRPr lang="en-US" sz="2200" dirty="0"/>
          </a:p>
          <a:p>
            <a:pPr algn="just"/>
            <a:r>
              <a:rPr lang="en-US" sz="2200" dirty="0">
                <a:hlinkClick r:id="rId5"/>
              </a:rPr>
              <a:t>https://nptel.ac.in/courses/106105190/</a:t>
            </a:r>
            <a:endParaRPr lang="en-US" sz="22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5FFB-BCEE-4EA6-88B1-611C38DDDE36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/>
              <a:t>References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EB99-6FF3-4CFA-A391-011DF5A9405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356350"/>
            <a:ext cx="5562600" cy="365125"/>
          </a:xfrm>
        </p:spPr>
        <p:txBody>
          <a:bodyPr/>
          <a:lstStyle/>
          <a:p>
            <a:r>
              <a:rPr lang="it-IT"/>
              <a:t>Vivek Kumar Sharma           CD Unit 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155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33400" y="2438400"/>
            <a:ext cx="82296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</a:pPr>
            <a:r>
              <a:rPr lang="en-US" sz="6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71600" y="1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Noida Institute of Engineering and Technology, Greater Noida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5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F4D15DFDEA6F41AC4917459B29C3E8" ma:contentTypeVersion="4" ma:contentTypeDescription="Create a new document." ma:contentTypeScope="" ma:versionID="0006742e9a01ccff0412088c37d5673f">
  <xsd:schema xmlns:xsd="http://www.w3.org/2001/XMLSchema" xmlns:xs="http://www.w3.org/2001/XMLSchema" xmlns:p="http://schemas.microsoft.com/office/2006/metadata/properties" xmlns:ns2="be27f697-ec1f-485c-9d40-f87e90360397" targetNamespace="http://schemas.microsoft.com/office/2006/metadata/properties" ma:root="true" ma:fieldsID="a1953d8328765749577fc855e2235273" ns2:_="">
    <xsd:import namespace="be27f697-ec1f-485c-9d40-f87e903603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7f697-ec1f-485c-9d40-f87e903603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D54937-7238-4890-9FEC-95A09A5C76F6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F94C51FA-0691-4407-97C3-6E14DA627A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ED3A32-04AC-4EEA-8376-8B5EC7994C4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e27f697-ec1f-485c-9d40-f87e903603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19994</TotalTime>
  <Words>7885</Words>
  <Application>Microsoft Office PowerPoint</Application>
  <PresentationFormat>On-screen Show (4:3)</PresentationFormat>
  <Paragraphs>2217</Paragraphs>
  <Slides>155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6" baseType="lpstr">
      <vt:lpstr>Office Theme</vt:lpstr>
      <vt:lpstr>Noida Institute of Engineering and Technology, Greater Noida</vt:lpstr>
      <vt:lpstr>Brief Introduction of Faculty</vt:lpstr>
      <vt:lpstr>PowerPoint Presentation</vt:lpstr>
      <vt:lpstr>PowerPoint Presentation</vt:lpstr>
      <vt:lpstr>Branch wise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Educational Objectives</vt:lpstr>
      <vt:lpstr>Result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TARUN KUMAR</cp:lastModifiedBy>
  <cp:revision>287</cp:revision>
  <dcterms:created xsi:type="dcterms:W3CDTF">2006-08-16T00:00:00Z</dcterms:created>
  <dcterms:modified xsi:type="dcterms:W3CDTF">2024-09-26T13:18:17Z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0x0101005CF4D15DFDEA6F41AC4917459B29C3E8</vt:lpwstr>
  </property>
</Properties>
</file>