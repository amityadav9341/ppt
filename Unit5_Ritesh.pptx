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861" r:id="rId2"/>
    <p:sldId id="516" r:id="rId3"/>
    <p:sldId id="573" r:id="rId4"/>
    <p:sldId id="604" r:id="rId5"/>
    <p:sldId id="607" r:id="rId6"/>
    <p:sldId id="608" r:id="rId7"/>
    <p:sldId id="609" r:id="rId8"/>
    <p:sldId id="610" r:id="rId9"/>
    <p:sldId id="583" r:id="rId10"/>
    <p:sldId id="258" r:id="rId11"/>
    <p:sldId id="574" r:id="rId12"/>
    <p:sldId id="634" r:id="rId13"/>
    <p:sldId id="614" r:id="rId14"/>
    <p:sldId id="334" r:id="rId15"/>
    <p:sldId id="635" r:id="rId16"/>
    <p:sldId id="636" r:id="rId17"/>
    <p:sldId id="637" r:id="rId18"/>
    <p:sldId id="638" r:id="rId19"/>
    <p:sldId id="639" r:id="rId20"/>
    <p:sldId id="640" r:id="rId21"/>
    <p:sldId id="641" r:id="rId22"/>
    <p:sldId id="642" r:id="rId23"/>
    <p:sldId id="643" r:id="rId24"/>
    <p:sldId id="644" r:id="rId25"/>
    <p:sldId id="645" r:id="rId26"/>
    <p:sldId id="257" r:id="rId27"/>
    <p:sldId id="581" r:id="rId28"/>
    <p:sldId id="582" r:id="rId29"/>
    <p:sldId id="649" r:id="rId30"/>
    <p:sldId id="834" r:id="rId31"/>
    <p:sldId id="835" r:id="rId32"/>
    <p:sldId id="836" r:id="rId33"/>
    <p:sldId id="837" r:id="rId34"/>
    <p:sldId id="838" r:id="rId35"/>
    <p:sldId id="839" r:id="rId36"/>
    <p:sldId id="840" r:id="rId37"/>
    <p:sldId id="841" r:id="rId38"/>
    <p:sldId id="842" r:id="rId39"/>
    <p:sldId id="843" r:id="rId40"/>
    <p:sldId id="844" r:id="rId41"/>
    <p:sldId id="845" r:id="rId42"/>
    <p:sldId id="846" r:id="rId43"/>
    <p:sldId id="847" r:id="rId44"/>
    <p:sldId id="848" r:id="rId45"/>
    <p:sldId id="849" r:id="rId46"/>
    <p:sldId id="850" r:id="rId47"/>
    <p:sldId id="851" r:id="rId48"/>
    <p:sldId id="852" r:id="rId49"/>
    <p:sldId id="853" r:id="rId50"/>
    <p:sldId id="854" r:id="rId51"/>
    <p:sldId id="855" r:id="rId52"/>
    <p:sldId id="856" r:id="rId53"/>
    <p:sldId id="857" r:id="rId54"/>
    <p:sldId id="858" r:id="rId55"/>
    <p:sldId id="859" r:id="rId56"/>
    <p:sldId id="860" r:id="rId57"/>
    <p:sldId id="829" r:id="rId58"/>
    <p:sldId id="761" r:id="rId59"/>
    <p:sldId id="789" r:id="rId60"/>
    <p:sldId id="830" r:id="rId61"/>
    <p:sldId id="831" r:id="rId62"/>
    <p:sldId id="832" r:id="rId63"/>
    <p:sldId id="765" r:id="rId64"/>
    <p:sldId id="833" r:id="rId65"/>
    <p:sldId id="767" r:id="rId66"/>
    <p:sldId id="768" r:id="rId67"/>
    <p:sldId id="769"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86496" autoAdjust="0"/>
  </p:normalViewPr>
  <p:slideViewPr>
    <p:cSldViewPr>
      <p:cViewPr varScale="1">
        <p:scale>
          <a:sx n="63" d="100"/>
          <a:sy n="63" d="100"/>
        </p:scale>
        <p:origin x="720" y="5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Collections-Container datatypes, Tkinter-GUI applications, Requests-HTTP requests, BeautifulSoup4-web scraping, Scrapy, Zappa, Dash, CherryPy, TurboGears, Flask, Web2Py,</a:t>
          </a:r>
        </a:p>
        <a:p>
          <a:r>
            <a:rPr lang="en-US" sz="2700" dirty="0"/>
            <a:t>Bottle, Falcon, CubicWeb, Quixote, Pyramid.</a:t>
          </a:r>
        </a:p>
        <a:p>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8632B43A-A1FB-4963-84A0-F0A61C5BFA59}">
      <dgm:prSet custT="1"/>
      <dgm:spPr/>
      <dgm:t>
        <a:bodyPr/>
        <a:lstStyle/>
        <a:p>
          <a:r>
            <a:rPr lang="en-US" sz="27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dirty="0"/>
        </a:p>
      </dgm:t>
    </dgm:pt>
    <dgm:pt modelId="{8954BA86-F411-4F2D-BEFA-BBF9617D879B}" type="parTrans" cxnId="{6F0FFE21-F288-41B6-AC2F-F6C2F97FC76B}">
      <dgm:prSet/>
      <dgm:spPr/>
      <dgm:t>
        <a:bodyPr/>
        <a:lstStyle/>
        <a:p>
          <a:endParaRPr lang="en-US"/>
        </a:p>
      </dgm:t>
    </dgm:pt>
    <dgm:pt modelId="{B34E360E-2AF5-434A-80B9-E34DD0DE11AF}" type="sibTrans" cxnId="{6F0FFE21-F288-41B6-AC2F-F6C2F97FC76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6DCBBEC5-5B01-4132-A331-9D4D3453D65C}" type="pres">
      <dgm:prSet presAssocID="{8632B43A-A1FB-4963-84A0-F0A61C5BFA59}" presName="parentText" presStyleLbl="node1" presStyleIdx="0" presStyleCnt="1" custScaleY="894540" custLinFactNeighborY="-25629">
        <dgm:presLayoutVars>
          <dgm:chMax val="0"/>
          <dgm:bulletEnabled val="1"/>
        </dgm:presLayoutVars>
      </dgm:prSet>
      <dgm:spPr/>
    </dgm:pt>
  </dgm:ptLst>
  <dgm:cxnLst>
    <dgm:cxn modelId="{6F0FFE21-F288-41B6-AC2F-F6C2F97FC76B}" srcId="{18EA6042-2EA2-4065-81DF-7A18BEC42C1C}" destId="{8632B43A-A1FB-4963-84A0-F0A61C5BFA59}" srcOrd="0" destOrd="0" parTransId="{8954BA86-F411-4F2D-BEFA-BBF9617D879B}" sibTransId="{B34E360E-2AF5-434A-80B9-E34DD0DE11AF}"/>
    <dgm:cxn modelId="{C48F0660-5664-41FE-99C0-FABF7335C0CC}" type="presOf" srcId="{8632B43A-A1FB-4963-84A0-F0A61C5BFA59}" destId="{6DCBBEC5-5B01-4132-A331-9D4D3453D65C}"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9D7AB4E3-F7D3-46CD-8818-41B8682B7C05}" type="presParOf" srcId="{5935E145-FD17-4F9E-B302-F21214F4A468}" destId="{6DCBBEC5-5B01-4132-A331-9D4D3453D65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baseline="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848527" custLinFactNeighborY="-250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D8C5DAEA-C992-4E2A-9A51-E215DE48D2A6}">
      <dgm:prSet custT="1"/>
      <dgm:spPr/>
      <dgm:t>
        <a:bodyPr/>
        <a:lstStyle/>
        <a:p>
          <a:r>
            <a:rPr lang="en-US" sz="2700" dirty="0"/>
            <a:t>Database Migrations, Fetch Data From Database, Displaying Data On Templates, Adding Condition On Data, Sending data from </a:t>
          </a:r>
          <a:r>
            <a:rPr lang="en-US" sz="2700" dirty="0" err="1"/>
            <a:t>url</a:t>
          </a:r>
          <a:r>
            <a:rPr lang="en-US" sz="2700" dirty="0"/>
            <a:t> to view, Sending data from view to template, Saving objects into database, Sorting objects, Filtering objects, Deleting objects, Difference between session and cookie, Creating sessions and cookies in Django.</a:t>
          </a:r>
          <a:endParaRPr lang="en-IN" sz="2700" b="0" dirty="0"/>
        </a:p>
      </dgm:t>
    </dgm:pt>
    <dgm:pt modelId="{0A91DE68-EA12-436C-90AD-A77B8BC894D9}" type="parTrans" cxnId="{A8956CE6-FC52-435B-B274-B2464F6589BB}">
      <dgm:prSet/>
      <dgm:spPr/>
      <dgm:t>
        <a:bodyPr/>
        <a:lstStyle/>
        <a:p>
          <a:endParaRPr lang="en-US"/>
        </a:p>
      </dgm:t>
    </dgm:pt>
    <dgm:pt modelId="{A7454706-B742-4409-A511-DC9BD534002F}" type="sibTrans" cxnId="{A8956CE6-FC52-435B-B274-B2464F6589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C8F18B38-BDBB-470A-815C-35A2A46B78E0}" type="pres">
      <dgm:prSet presAssocID="{D8C5DAEA-C992-4E2A-9A51-E215DE48D2A6}" presName="parentText" presStyleLbl="node1" presStyleIdx="0" presStyleCnt="1" custLinFactNeighborX="-148" custLinFactNeighborY="-7917">
        <dgm:presLayoutVars>
          <dgm:chMax val="0"/>
          <dgm:bulletEnabled val="1"/>
        </dgm:presLayoutVars>
      </dgm:prSet>
      <dgm:spPr/>
    </dgm:pt>
  </dgm:ptLst>
  <dgm:cxnLst>
    <dgm:cxn modelId="{1A102205-18B3-446C-A3D0-E5B8DBD2AEBB}" type="presOf" srcId="{D8C5DAEA-C992-4E2A-9A51-E215DE48D2A6}" destId="{C8F18B38-BDBB-470A-815C-35A2A46B78E0}"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A8956CE6-FC52-435B-B274-B2464F6589BB}" srcId="{18EA6042-2EA2-4065-81DF-7A18BEC42C1C}" destId="{D8C5DAEA-C992-4E2A-9A51-E215DE48D2A6}" srcOrd="0" destOrd="0" parTransId="{0A91DE68-EA12-436C-90AD-A77B8BC894D9}" sibTransId="{A7454706-B742-4409-A511-DC9BD534002F}"/>
    <dgm:cxn modelId="{C10C5AFD-0029-4F37-A899-5D5BE25480F0}" type="presParOf" srcId="{5935E145-FD17-4F9E-B302-F21214F4A468}" destId="{C8F18B38-BDBB-470A-815C-35A2A46B78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Creating a functional website in Django, Four Important Pillars to Deploy, Registering on Heroku and GitHub, Push project from Local System to GitHub, Working with Django Heroku</a:t>
          </a:r>
        </a:p>
        <a:p>
          <a:r>
            <a:rPr lang="en-US" sz="2700" dirty="0"/>
            <a:t>Working with Static Root, Handling WSGI with gunicorn, Setting up Database &amp; adding users</a:t>
          </a:r>
        </a:p>
      </dgm:t>
    </dgm:pt>
    <dgm:pt modelId="{5A57522C-1C32-440C-9F64-9EF818720D9C}" type="sibTrans" cxnId="{F61405CD-BF4D-4132-A8F6-94A55AFF2516}">
      <dgm:prSet/>
      <dgm:spPr/>
      <dgm:t>
        <a:bodyPr/>
        <a:lstStyle/>
        <a:p>
          <a:endParaRPr lang="en-IN"/>
        </a:p>
      </dgm:t>
    </dgm:pt>
    <dgm:pt modelId="{317883E6-23F7-434D-A777-EB6C46138693}" type="par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Y="21758">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1EB5D2-4E2C-4D1D-A447-CE86542BC42D}" type="doc">
      <dgm:prSet loTypeId="urn:microsoft.com/office/officeart/2005/8/layout/vList2" loCatId="list" qsTypeId="urn:microsoft.com/office/officeart/2005/8/quickstyle/3d4" qsCatId="3D" csTypeId="urn:microsoft.com/office/officeart/2005/8/colors/accent1_2" csCatId="accent1"/>
      <dgm:spPr/>
      <dgm:t>
        <a:bodyPr/>
        <a:lstStyle/>
        <a:p>
          <a:endParaRPr lang="en-IN"/>
        </a:p>
      </dgm:t>
    </dgm:pt>
    <dgm:pt modelId="{12DD1199-91E2-4078-A2C6-82ED080F9D95}">
      <dgm:prSet custT="1"/>
      <dgm:spPr/>
      <dgm:t>
        <a:bodyPr/>
        <a:lstStyle/>
        <a:p>
          <a:r>
            <a:rPr lang="en-US" sz="2800" dirty="0"/>
            <a:t>In this semester, the students will </a:t>
          </a:r>
          <a:endParaRPr lang="en-IN" sz="2800" dirty="0"/>
        </a:p>
      </dgm:t>
    </dgm:pt>
    <dgm:pt modelId="{1BCF16EB-8286-4D76-B156-7C9E1F338E83}" type="parTrans" cxnId="{B67221F2-07A7-4EC7-A28E-C8FA6BF50669}">
      <dgm:prSet/>
      <dgm:spPr/>
      <dgm:t>
        <a:bodyPr/>
        <a:lstStyle/>
        <a:p>
          <a:endParaRPr lang="en-IN" sz="2800"/>
        </a:p>
      </dgm:t>
    </dgm:pt>
    <dgm:pt modelId="{C609EA3A-F19F-4AAA-A417-1E1777A4EB5D}" type="sibTrans" cxnId="{B67221F2-07A7-4EC7-A28E-C8FA6BF50669}">
      <dgm:prSet/>
      <dgm:spPr/>
      <dgm:t>
        <a:bodyPr/>
        <a:lstStyle/>
        <a:p>
          <a:endParaRPr lang="en-IN" sz="2800"/>
        </a:p>
      </dgm:t>
    </dgm:pt>
    <dgm:pt modelId="{ECAF2DE4-29DE-45BE-A434-ACC5587D3C8F}" type="pres">
      <dgm:prSet presAssocID="{891EB5D2-4E2C-4D1D-A447-CE86542BC42D}" presName="linear" presStyleCnt="0">
        <dgm:presLayoutVars>
          <dgm:animLvl val="lvl"/>
          <dgm:resizeHandles val="exact"/>
        </dgm:presLayoutVars>
      </dgm:prSet>
      <dgm:spPr/>
    </dgm:pt>
    <dgm:pt modelId="{5018F1C8-632D-4593-8386-DC1BDD77A6F3}" type="pres">
      <dgm:prSet presAssocID="{12DD1199-91E2-4078-A2C6-82ED080F9D95}" presName="parentText" presStyleLbl="node1" presStyleIdx="0" presStyleCnt="1">
        <dgm:presLayoutVars>
          <dgm:chMax val="0"/>
          <dgm:bulletEnabled val="1"/>
        </dgm:presLayoutVars>
      </dgm:prSet>
      <dgm:spPr/>
    </dgm:pt>
  </dgm:ptLst>
  <dgm:cxnLst>
    <dgm:cxn modelId="{BB5D7B51-F01D-479D-912E-B1891F50CC59}" type="presOf" srcId="{891EB5D2-4E2C-4D1D-A447-CE86542BC42D}" destId="{ECAF2DE4-29DE-45BE-A434-ACC5587D3C8F}" srcOrd="0" destOrd="0" presId="urn:microsoft.com/office/officeart/2005/8/layout/vList2"/>
    <dgm:cxn modelId="{5E219689-FC35-489C-ACB4-2920C4B682D5}" type="presOf" srcId="{12DD1199-91E2-4078-A2C6-82ED080F9D95}" destId="{5018F1C8-632D-4593-8386-DC1BDD77A6F3}" srcOrd="0" destOrd="0" presId="urn:microsoft.com/office/officeart/2005/8/layout/vList2"/>
    <dgm:cxn modelId="{B67221F2-07A7-4EC7-A28E-C8FA6BF50669}" srcId="{891EB5D2-4E2C-4D1D-A447-CE86542BC42D}" destId="{12DD1199-91E2-4078-A2C6-82ED080F9D95}" srcOrd="0" destOrd="0" parTransId="{1BCF16EB-8286-4D76-B156-7C9E1F338E83}" sibTransId="{C609EA3A-F19F-4AAA-A417-1E1777A4EB5D}"/>
    <dgm:cxn modelId="{BFD82042-8229-4109-A8E4-298D18B9B416}" type="presParOf" srcId="{ECAF2DE4-29DE-45BE-A434-ACC5587D3C8F}" destId="{5018F1C8-632D-4593-8386-DC1BDD77A6F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087D5B-D783-472D-88B5-FF8830383D40}"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7BEAC6C9-E9EE-4C88-9286-99D02ED2B8F0}">
      <dgm:prSet custT="1"/>
      <dgm:spPr/>
      <dgm:t>
        <a:bodyPr/>
        <a:lstStyle/>
        <a:p>
          <a:r>
            <a:rPr lang="en-US" sz="2400" dirty="0"/>
            <a:t>Study how to </a:t>
          </a:r>
          <a:r>
            <a:rPr lang="en-US" sz="2400" b="0" i="0" dirty="0"/>
            <a:t>shows relationships and interactions between frontend &amp;backend</a:t>
          </a:r>
          <a:endParaRPr lang="en-IN" sz="2800" dirty="0"/>
        </a:p>
      </dgm:t>
    </dgm:pt>
    <dgm:pt modelId="{36912537-CFD6-44DE-AC31-6C215446DC60}" type="parTrans" cxnId="{AFC9E875-0A1B-4B46-B0D7-A4EBDAB1B21C}">
      <dgm:prSet/>
      <dgm:spPr/>
      <dgm:t>
        <a:bodyPr/>
        <a:lstStyle/>
        <a:p>
          <a:endParaRPr lang="en-IN" sz="2800"/>
        </a:p>
      </dgm:t>
    </dgm:pt>
    <dgm:pt modelId="{04E7EFA9-E153-4008-9F81-FFAA41B6F97F}" type="sibTrans" cxnId="{AFC9E875-0A1B-4B46-B0D7-A4EBDAB1B21C}">
      <dgm:prSet/>
      <dgm:spPr/>
      <dgm:t>
        <a:bodyPr/>
        <a:lstStyle/>
        <a:p>
          <a:endParaRPr lang="en-IN" sz="2800"/>
        </a:p>
      </dgm:t>
    </dgm:pt>
    <dgm:pt modelId="{BAC330DF-63D6-4D05-B05B-326D87078E16}" type="pres">
      <dgm:prSet presAssocID="{62087D5B-D783-472D-88B5-FF8830383D40}" presName="linear" presStyleCnt="0">
        <dgm:presLayoutVars>
          <dgm:animLvl val="lvl"/>
          <dgm:resizeHandles val="exact"/>
        </dgm:presLayoutVars>
      </dgm:prSet>
      <dgm:spPr/>
    </dgm:pt>
    <dgm:pt modelId="{80E7BA34-FA84-45EB-89F5-AA12E2797A41}" type="pres">
      <dgm:prSet presAssocID="{7BEAC6C9-E9EE-4C88-9286-99D02ED2B8F0}" presName="parentText" presStyleLbl="node1" presStyleIdx="0" presStyleCnt="1" custScaleY="103878">
        <dgm:presLayoutVars>
          <dgm:chMax val="0"/>
          <dgm:bulletEnabled val="1"/>
        </dgm:presLayoutVars>
      </dgm:prSet>
      <dgm:spPr/>
    </dgm:pt>
  </dgm:ptLst>
  <dgm:cxnLst>
    <dgm:cxn modelId="{A4759718-D329-48FB-9AC0-AB5B23FB3BCA}" type="presOf" srcId="{62087D5B-D783-472D-88B5-FF8830383D40}" destId="{BAC330DF-63D6-4D05-B05B-326D87078E16}" srcOrd="0" destOrd="0" presId="urn:microsoft.com/office/officeart/2005/8/layout/vList2"/>
    <dgm:cxn modelId="{AFC9E875-0A1B-4B46-B0D7-A4EBDAB1B21C}" srcId="{62087D5B-D783-472D-88B5-FF8830383D40}" destId="{7BEAC6C9-E9EE-4C88-9286-99D02ED2B8F0}" srcOrd="0" destOrd="0" parTransId="{36912537-CFD6-44DE-AC31-6C215446DC60}" sibTransId="{04E7EFA9-E153-4008-9F81-FFAA41B6F97F}"/>
    <dgm:cxn modelId="{5E4E6286-FB9E-4E88-966B-BA00AAAC53F0}" type="presOf" srcId="{7BEAC6C9-E9EE-4C88-9286-99D02ED2B8F0}" destId="{80E7BA34-FA84-45EB-89F5-AA12E2797A41}" srcOrd="0" destOrd="0" presId="urn:microsoft.com/office/officeart/2005/8/layout/vList2"/>
    <dgm:cxn modelId="{5B626400-7C3F-4782-84D2-3C27A1C69694}" type="presParOf" srcId="{BAC330DF-63D6-4D05-B05B-326D87078E16}" destId="{80E7BA34-FA84-45EB-89F5-AA12E2797A41}"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4877D1-03B1-4454-BEC3-DD4BDE35EAF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478CAB5-7AE2-456C-89C3-072C47566E3A}">
      <dgm:prSet custT="1"/>
      <dgm:spPr/>
      <dgm:t>
        <a:bodyPr/>
        <a:lstStyle/>
        <a:p>
          <a:r>
            <a:rPr lang="en-US" sz="2400" dirty="0"/>
            <a:t>Study to </a:t>
          </a:r>
          <a:r>
            <a:rPr lang="en-US" sz="2400" b="0" i="0" dirty="0"/>
            <a:t>speed up the development process by providing well-tested, proven development/design paradigms. </a:t>
          </a:r>
          <a:endParaRPr lang="en-IN" sz="2400" dirty="0"/>
        </a:p>
      </dgm:t>
    </dgm:pt>
    <dgm:pt modelId="{1E3B58B6-4386-4901-96BE-D5C27759E34E}" type="parTrans" cxnId="{0C91DF1C-CA80-463E-BE1F-628A0FD22D27}">
      <dgm:prSet/>
      <dgm:spPr/>
      <dgm:t>
        <a:bodyPr/>
        <a:lstStyle/>
        <a:p>
          <a:endParaRPr lang="en-IN"/>
        </a:p>
      </dgm:t>
    </dgm:pt>
    <dgm:pt modelId="{D159A1AF-39FA-45F3-9BA9-70283FB52E2F}" type="sibTrans" cxnId="{0C91DF1C-CA80-463E-BE1F-628A0FD22D27}">
      <dgm:prSet/>
      <dgm:spPr/>
      <dgm:t>
        <a:bodyPr/>
        <a:lstStyle/>
        <a:p>
          <a:endParaRPr lang="en-IN"/>
        </a:p>
      </dgm:t>
    </dgm:pt>
    <dgm:pt modelId="{A8CAAB2E-DFF4-4B46-AFF4-DC7FC380F713}" type="pres">
      <dgm:prSet presAssocID="{C04877D1-03B1-4454-BEC3-DD4BDE35EAFA}" presName="linear" presStyleCnt="0">
        <dgm:presLayoutVars>
          <dgm:animLvl val="lvl"/>
          <dgm:resizeHandles val="exact"/>
        </dgm:presLayoutVars>
      </dgm:prSet>
      <dgm:spPr/>
    </dgm:pt>
    <dgm:pt modelId="{1A3ADADF-1651-46C2-846B-A7F79BFA24CF}" type="pres">
      <dgm:prSet presAssocID="{0478CAB5-7AE2-456C-89C3-072C47566E3A}" presName="parentText" presStyleLbl="node1" presStyleIdx="0" presStyleCnt="1" custLinFactNeighborY="3199">
        <dgm:presLayoutVars>
          <dgm:chMax val="0"/>
          <dgm:bulletEnabled val="1"/>
        </dgm:presLayoutVars>
      </dgm:prSet>
      <dgm:spPr/>
    </dgm:pt>
  </dgm:ptLst>
  <dgm:cxnLst>
    <dgm:cxn modelId="{0C91DF1C-CA80-463E-BE1F-628A0FD22D27}" srcId="{C04877D1-03B1-4454-BEC3-DD4BDE35EAFA}" destId="{0478CAB5-7AE2-456C-89C3-072C47566E3A}" srcOrd="0" destOrd="0" parTransId="{1E3B58B6-4386-4901-96BE-D5C27759E34E}" sibTransId="{D159A1AF-39FA-45F3-9BA9-70283FB52E2F}"/>
    <dgm:cxn modelId="{45CE6C6F-EC96-488F-BAB2-5A0128F022AB}" type="presOf" srcId="{0478CAB5-7AE2-456C-89C3-072C47566E3A}" destId="{1A3ADADF-1651-46C2-846B-A7F79BFA24CF}" srcOrd="0" destOrd="0" presId="urn:microsoft.com/office/officeart/2005/8/layout/vList2"/>
    <dgm:cxn modelId="{AF4CFE83-9E2D-4B66-97C8-AF93CEB80A1B}" type="presOf" srcId="{C04877D1-03B1-4454-BEC3-DD4BDE35EAFA}" destId="{A8CAAB2E-DFF4-4B46-AFF4-DC7FC380F713}" srcOrd="0" destOrd="0" presId="urn:microsoft.com/office/officeart/2005/8/layout/vList2"/>
    <dgm:cxn modelId="{AB585AB2-D712-4C1F-B186-7B3C1234D6CB}" type="presParOf" srcId="{A8CAAB2E-DFF4-4B46-AFF4-DC7FC380F713}" destId="{1A3ADADF-1651-46C2-846B-A7F79BFA24CF}"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35442EA-3D11-4D44-8E73-F6D5E0819A3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A101FA42-0C28-44AC-8614-BCD10EA95182}">
      <dgm:prSet custT="1"/>
      <dgm:spPr/>
      <dgm:t>
        <a:bodyPr/>
        <a:lstStyle/>
        <a:p>
          <a:r>
            <a:rPr lang="en-US" sz="2400" b="0" i="0" dirty="0"/>
            <a:t>Select a specific framework for the development of a given website or webapp.</a:t>
          </a:r>
          <a:endParaRPr lang="en-IN" sz="2400" dirty="0"/>
        </a:p>
      </dgm:t>
    </dgm:pt>
    <dgm:pt modelId="{14676A68-57E3-475B-BC3C-39D366346645}" type="parTrans" cxnId="{6B6826E0-451C-41AA-A7B5-E9D2019FE3A9}">
      <dgm:prSet/>
      <dgm:spPr/>
      <dgm:t>
        <a:bodyPr/>
        <a:lstStyle/>
        <a:p>
          <a:endParaRPr lang="en-IN"/>
        </a:p>
      </dgm:t>
    </dgm:pt>
    <dgm:pt modelId="{B36A5CC8-CB01-4968-98FA-7A48EC0D37AE}" type="sibTrans" cxnId="{6B6826E0-451C-41AA-A7B5-E9D2019FE3A9}">
      <dgm:prSet/>
      <dgm:spPr/>
      <dgm:t>
        <a:bodyPr/>
        <a:lstStyle/>
        <a:p>
          <a:endParaRPr lang="en-IN"/>
        </a:p>
      </dgm:t>
    </dgm:pt>
    <dgm:pt modelId="{1582B9EB-B4CE-4A6A-916D-2795B4AC0216}" type="pres">
      <dgm:prSet presAssocID="{935442EA-3D11-4D44-8E73-F6D5E0819A38}" presName="linear" presStyleCnt="0">
        <dgm:presLayoutVars>
          <dgm:animLvl val="lvl"/>
          <dgm:resizeHandles val="exact"/>
        </dgm:presLayoutVars>
      </dgm:prSet>
      <dgm:spPr/>
    </dgm:pt>
    <dgm:pt modelId="{94DF58AF-4B5A-40D5-876B-C773221F443C}" type="pres">
      <dgm:prSet presAssocID="{A101FA42-0C28-44AC-8614-BCD10EA95182}" presName="parentText" presStyleLbl="node1" presStyleIdx="0" presStyleCnt="1" custScaleY="60044" custLinFactNeighborY="9499">
        <dgm:presLayoutVars>
          <dgm:chMax val="0"/>
          <dgm:bulletEnabled val="1"/>
        </dgm:presLayoutVars>
      </dgm:prSet>
      <dgm:spPr/>
    </dgm:pt>
  </dgm:ptLst>
  <dgm:cxnLst>
    <dgm:cxn modelId="{3583BF19-DB75-44AD-A9E8-ABF5BE2F95EB}" type="presOf" srcId="{935442EA-3D11-4D44-8E73-F6D5E0819A38}" destId="{1582B9EB-B4CE-4A6A-916D-2795B4AC0216}" srcOrd="0" destOrd="0" presId="urn:microsoft.com/office/officeart/2005/8/layout/vList2"/>
    <dgm:cxn modelId="{F4F5262D-7F4C-492A-9885-91530C6CE254}" type="presOf" srcId="{A101FA42-0C28-44AC-8614-BCD10EA95182}" destId="{94DF58AF-4B5A-40D5-876B-C773221F443C}" srcOrd="0" destOrd="0" presId="urn:microsoft.com/office/officeart/2005/8/layout/vList2"/>
    <dgm:cxn modelId="{6B6826E0-451C-41AA-A7B5-E9D2019FE3A9}" srcId="{935442EA-3D11-4D44-8E73-F6D5E0819A38}" destId="{A101FA42-0C28-44AC-8614-BCD10EA95182}" srcOrd="0" destOrd="0" parTransId="{14676A68-57E3-475B-BC3C-39D366346645}" sibTransId="{B36A5CC8-CB01-4968-98FA-7A48EC0D37AE}"/>
    <dgm:cxn modelId="{12752157-EC82-4C99-86D1-E72A548D6E4E}" type="presParOf" srcId="{1582B9EB-B4CE-4A6A-916D-2795B4AC0216}" destId="{94DF58AF-4B5A-40D5-876B-C773221F443C}"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D8AF22B-6E01-4F33-9B54-590076F38756}"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6C9149EB-4966-4FC9-84A5-2B265D92C4EA}">
      <dgm:prSet custT="1"/>
      <dgm:spPr/>
      <dgm:t>
        <a:bodyPr/>
        <a:lstStyle/>
        <a:p>
          <a:r>
            <a:rPr lang="en-US" sz="2400" dirty="0"/>
            <a:t>Analyzing and creating a functional website in Django and deploy Django Web Application on Cloud.</a:t>
          </a:r>
          <a:endParaRPr lang="en-IN" sz="2400" dirty="0"/>
        </a:p>
      </dgm:t>
    </dgm:pt>
    <dgm:pt modelId="{BCB043BE-38B4-451D-A3CA-5544958EA9E9}" type="parTrans" cxnId="{6D4048F6-3B5B-4F0D-B3C9-074D7F87A84B}">
      <dgm:prSet/>
      <dgm:spPr/>
      <dgm:t>
        <a:bodyPr/>
        <a:lstStyle/>
        <a:p>
          <a:endParaRPr lang="en-IN"/>
        </a:p>
      </dgm:t>
    </dgm:pt>
    <dgm:pt modelId="{7B1251F8-3BFD-43BE-B6B4-60C98597D653}" type="sibTrans" cxnId="{6D4048F6-3B5B-4F0D-B3C9-074D7F87A84B}">
      <dgm:prSet/>
      <dgm:spPr/>
      <dgm:t>
        <a:bodyPr/>
        <a:lstStyle/>
        <a:p>
          <a:endParaRPr lang="en-IN"/>
        </a:p>
      </dgm:t>
    </dgm:pt>
    <dgm:pt modelId="{6B117771-AD3E-410E-8C2D-70661DFBA6BA}" type="pres">
      <dgm:prSet presAssocID="{1D8AF22B-6E01-4F33-9B54-590076F38756}" presName="linear" presStyleCnt="0">
        <dgm:presLayoutVars>
          <dgm:animLvl val="lvl"/>
          <dgm:resizeHandles val="exact"/>
        </dgm:presLayoutVars>
      </dgm:prSet>
      <dgm:spPr/>
    </dgm:pt>
    <dgm:pt modelId="{516B7FBA-CAF3-4274-AEB4-00729BD1494C}" type="pres">
      <dgm:prSet presAssocID="{6C9149EB-4966-4FC9-84A5-2B265D92C4EA}" presName="parentText" presStyleLbl="node1" presStyleIdx="0" presStyleCnt="1" custScaleY="256992">
        <dgm:presLayoutVars>
          <dgm:chMax val="0"/>
          <dgm:bulletEnabled val="1"/>
        </dgm:presLayoutVars>
      </dgm:prSet>
      <dgm:spPr/>
    </dgm:pt>
  </dgm:ptLst>
  <dgm:cxnLst>
    <dgm:cxn modelId="{F01C1A4D-2D88-46FC-AA1C-174B089A1D23}" type="presOf" srcId="{1D8AF22B-6E01-4F33-9B54-590076F38756}" destId="{6B117771-AD3E-410E-8C2D-70661DFBA6BA}" srcOrd="0" destOrd="0" presId="urn:microsoft.com/office/officeart/2005/8/layout/vList2"/>
    <dgm:cxn modelId="{CF4B0ED1-F244-4FCD-A238-694B98A49368}" type="presOf" srcId="{6C9149EB-4966-4FC9-84A5-2B265D92C4EA}" destId="{516B7FBA-CAF3-4274-AEB4-00729BD1494C}" srcOrd="0" destOrd="0" presId="urn:microsoft.com/office/officeart/2005/8/layout/vList2"/>
    <dgm:cxn modelId="{6D4048F6-3B5B-4F0D-B3C9-074D7F87A84B}" srcId="{1D8AF22B-6E01-4F33-9B54-590076F38756}" destId="{6C9149EB-4966-4FC9-84A5-2B265D92C4EA}" srcOrd="0" destOrd="0" parTransId="{BCB043BE-38B4-451D-A3CA-5544958EA9E9}" sibTransId="{7B1251F8-3BFD-43BE-B6B4-60C98597D653}"/>
    <dgm:cxn modelId="{25E3078B-7A81-41B7-AAB3-6FEA8B425B2F}" type="presParOf" srcId="{6B117771-AD3E-410E-8C2D-70661DFBA6BA}" destId="{516B7FBA-CAF3-4274-AEB4-00729BD1494C}"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3000" b="1" dirty="0"/>
            <a:t>At the end of course, the student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179592">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3d1" qsCatId="3D" csTypeId="urn:microsoft.com/office/officeart/2005/8/colors/colorful2" csCatId="colorful" phldr="1"/>
      <dgm:spPr/>
      <dgm:t>
        <a:bodyPr/>
        <a:lstStyle/>
        <a:p>
          <a:endParaRPr lang="en-IN"/>
        </a:p>
      </dgm:t>
    </dgm:pt>
    <dgm:pt modelId="{02C141FE-9ABF-48FD-9848-42A0EFA33222}">
      <dgm:prSet custT="1"/>
      <dgm:spPr>
        <a:solidFill>
          <a:schemeClr val="accent3"/>
        </a:solidFill>
      </dgm:spPr>
      <dgm:t>
        <a:bodyPr/>
        <a:lstStyle/>
        <a:p>
          <a:r>
            <a:rPr lang="en-IN" sz="1700" b="1" dirty="0">
              <a:solidFill>
                <a:schemeClr val="tx1"/>
              </a:solidFill>
            </a:rPr>
            <a:t>CO1 : </a:t>
          </a:r>
          <a:r>
            <a:rPr lang="en-US" sz="1800" b="1" dirty="0">
              <a:solidFill>
                <a:schemeClr val="bg2">
                  <a:lumMod val="10000"/>
                </a:schemeClr>
              </a:solidFill>
            </a:rPr>
            <a:t>Apply the knowledge of python programing that are vital in understanding Django application </a:t>
          </a:r>
          <a:endParaRPr lang="en-IN" sz="1800" b="1" dirty="0">
            <a:solidFill>
              <a:schemeClr val="bg2">
                <a:lumMod val="10000"/>
              </a:schemeClr>
            </a:solidFill>
          </a:endParaRPr>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custScaleY="164772">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custT="1"/>
      <dgm:spPr/>
      <dgm:t>
        <a:bodyPr/>
        <a:lstStyle/>
        <a:p>
          <a:r>
            <a:rPr lang="en-US" sz="1600" b="1" dirty="0"/>
            <a:t>CO2 </a:t>
          </a:r>
          <a:r>
            <a:rPr lang="en-US" sz="1600" b="0" dirty="0">
              <a:solidFill>
                <a:schemeClr val="bg2">
                  <a:lumMod val="10000"/>
                </a:schemeClr>
              </a:solidFill>
            </a:rPr>
            <a:t>: </a:t>
          </a:r>
          <a:r>
            <a:rPr lang="en-US" sz="1800" b="1" dirty="0">
              <a:solidFill>
                <a:schemeClr val="bg2">
                  <a:lumMod val="10000"/>
                </a:schemeClr>
              </a:solidFill>
            </a:rPr>
            <a:t>Demonstrate web application framework (Django) to design and implement dynamic website </a:t>
          </a:r>
          <a:endParaRPr lang="en-IN" sz="1800" b="1" dirty="0">
            <a:solidFill>
              <a:schemeClr val="bg2">
                <a:lumMod val="10000"/>
              </a:schemeClr>
            </a:solidFill>
          </a:endParaRPr>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custScaleY="302230">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IN" b="1" dirty="0"/>
            <a:t>CO3 : </a:t>
          </a:r>
          <a:r>
            <a:rPr lang="en-US" b="1" dirty="0"/>
            <a:t>Implementing and analyzing the concept of Integrating Accounts &amp; Authentication on Django</a:t>
          </a:r>
          <a:endParaRPr lang="en-IN" b="1"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custScaleY="129067" custLinFactNeighborX="2941" custLinFactNeighborY="-20">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custT="1"/>
      <dgm:spPr/>
      <dgm:t>
        <a:bodyPr/>
        <a:lstStyle/>
        <a:p>
          <a:r>
            <a:rPr lang="en-US" sz="1600" b="1" dirty="0"/>
            <a:t>CO4 : </a:t>
          </a:r>
          <a:r>
            <a:rPr lang="en-US" sz="1800" b="1" dirty="0"/>
            <a:t>Understand the impact of web designing by database connectivity with SQLite </a:t>
          </a:r>
          <a:endParaRPr lang="en-IN" sz="1600" b="1"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custT="1"/>
      <dgm:spPr/>
      <dgm:t>
        <a:bodyPr/>
        <a:lstStyle/>
        <a:p>
          <a:r>
            <a:rPr lang="en-IN" sz="1600" b="1" dirty="0"/>
            <a:t>CO5</a:t>
          </a:r>
          <a:r>
            <a:rPr lang="en-IN" sz="1800" b="1" dirty="0"/>
            <a:t> </a:t>
          </a:r>
          <a:r>
            <a:rPr lang="en-IN" sz="2500" b="0" dirty="0"/>
            <a:t>: </a:t>
          </a:r>
          <a:r>
            <a:rPr lang="en-US" sz="1700" b="1" dirty="0"/>
            <a:t>Analyzing &amp; Creating a functional website in Django and deploy Django Web Application Cloud</a:t>
          </a:r>
          <a:endParaRPr lang="en-IN" sz="1700" b="1"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ScaleY="56667" custLinFactNeighborX="0" custLinFactNeighborY="-22117">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02C141FE-9ABF-48FD-9848-42A0EFA33222}">
      <dgm:prSet/>
      <dgm:spPr/>
      <dgm:t>
        <a:bodyPr/>
        <a:lstStyle/>
        <a:p>
          <a:r>
            <a:rPr lang="en-IN" b="1" dirty="0"/>
            <a:t>PO1 : </a:t>
          </a:r>
          <a:r>
            <a:rPr lang="en-US" b="1" dirty="0"/>
            <a:t>Engineering Knowledge</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E7AAAF9E-D416-49AE-8611-65377A7DE939}">
      <dgm:prSet/>
      <dgm:spPr/>
      <dgm:t>
        <a:bodyPr/>
        <a:lstStyle/>
        <a:p>
          <a:r>
            <a:rPr lang="en-US" b="1" dirty="0"/>
            <a:t>PO2 : Problem Analysis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CBD3793-394C-48FC-B28C-1D09533E7BA0}">
      <dgm:prSet/>
      <dgm:spPr/>
      <dgm:t>
        <a:bodyPr/>
        <a:lstStyle/>
        <a:p>
          <a:r>
            <a:rPr lang="en-IN" b="1" dirty="0"/>
            <a:t>PO3 : </a:t>
          </a:r>
          <a:r>
            <a:rPr lang="en-US" b="1" dirty="0"/>
            <a:t>Design/Development of solutions</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IN"/>
        </a:p>
      </dgm:t>
    </dgm:pt>
    <dgm:pt modelId="{F2B2203F-2FAE-49B7-A1D5-9CD1B5127346}">
      <dgm:prSet/>
      <dgm:spPr/>
      <dgm:t>
        <a:bodyPr/>
        <a:lstStyle/>
        <a:p>
          <a:r>
            <a:rPr lang="en-US" b="1" dirty="0"/>
            <a:t>PO4 : Conduct Investigations of complex problems</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IN" b="1" dirty="0"/>
            <a:t>PO5 : </a:t>
          </a:r>
          <a:r>
            <a:rPr lang="en-US" b="1" dirty="0"/>
            <a:t>Modern tool usage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t>PO6 : The engineer and society</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Y="4529">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9995D18-05F5-4A4B-8F9A-27E4833C6620}" type="doc">
      <dgm:prSet loTypeId="urn:microsoft.com/office/officeart/2005/8/layout/vList2" loCatId="list" qsTypeId="urn:microsoft.com/office/officeart/2005/8/quickstyle/3d1" qsCatId="3D" csTypeId="urn:microsoft.com/office/officeart/2005/8/colors/accent1_2" csCatId="accent1" phldr="1"/>
      <dgm:spPr/>
      <dgm:t>
        <a:bodyPr/>
        <a:lstStyle/>
        <a:p>
          <a:endParaRPr lang="en-IN"/>
        </a:p>
      </dgm:t>
    </dgm:pt>
    <dgm:pt modelId="{90AED077-85C4-46EA-B5F8-30BF070D360B}">
      <dgm:prSet custT="1"/>
      <dgm:spPr>
        <a:solidFill>
          <a:schemeClr val="accent6">
            <a:lumMod val="75000"/>
          </a:schemeClr>
        </a:solidFill>
      </dgm:spPr>
      <dgm:t>
        <a:bodyPr/>
        <a:lstStyle/>
        <a:p>
          <a:r>
            <a:rPr lang="en-US" sz="2800" b="1" dirty="0"/>
            <a:t>Engineering Graduates will be able to</a:t>
          </a:r>
          <a:r>
            <a:rPr lang="en-US" sz="2800" dirty="0"/>
            <a:t>:</a:t>
          </a:r>
          <a:endParaRPr lang="en-IN" sz="2800" dirty="0"/>
        </a:p>
      </dgm:t>
    </dgm:pt>
    <dgm:pt modelId="{1E0C8B89-16C6-4880-8B09-06C9D70EBF80}" type="parTrans" cxnId="{B048A809-CB6A-4592-A8D6-3FCFFDFA9564}">
      <dgm:prSet/>
      <dgm:spPr/>
      <dgm:t>
        <a:bodyPr/>
        <a:lstStyle/>
        <a:p>
          <a:endParaRPr lang="en-IN"/>
        </a:p>
      </dgm:t>
    </dgm:pt>
    <dgm:pt modelId="{E50D95E2-F091-4315-B45F-5F68BA43AB8B}" type="sibTrans" cxnId="{B048A809-CB6A-4592-A8D6-3FCFFDFA9564}">
      <dgm:prSet/>
      <dgm:spPr/>
      <dgm:t>
        <a:bodyPr/>
        <a:lstStyle/>
        <a:p>
          <a:endParaRPr lang="en-IN"/>
        </a:p>
      </dgm:t>
    </dgm:pt>
    <dgm:pt modelId="{F61E8516-DE3F-4AE9-AE50-9F42F39BFAD3}" type="pres">
      <dgm:prSet presAssocID="{09995D18-05F5-4A4B-8F9A-27E4833C6620}" presName="linear" presStyleCnt="0">
        <dgm:presLayoutVars>
          <dgm:animLvl val="lvl"/>
          <dgm:resizeHandles val="exact"/>
        </dgm:presLayoutVars>
      </dgm:prSet>
      <dgm:spPr/>
    </dgm:pt>
    <dgm:pt modelId="{B898B381-A99B-40FA-B837-D80DC4A60493}" type="pres">
      <dgm:prSet presAssocID="{90AED077-85C4-46EA-B5F8-30BF070D360B}" presName="parentText" presStyleLbl="node1" presStyleIdx="0" presStyleCnt="1" custScaleY="217306">
        <dgm:presLayoutVars>
          <dgm:chMax val="0"/>
          <dgm:bulletEnabled val="1"/>
        </dgm:presLayoutVars>
      </dgm:prSet>
      <dgm:spPr/>
    </dgm:pt>
  </dgm:ptLst>
  <dgm:cxnLst>
    <dgm:cxn modelId="{9A375A06-3CE5-4593-8483-B4FDE31520F6}" type="presOf" srcId="{90AED077-85C4-46EA-B5F8-30BF070D360B}" destId="{B898B381-A99B-40FA-B837-D80DC4A60493}" srcOrd="0" destOrd="0" presId="urn:microsoft.com/office/officeart/2005/8/layout/vList2"/>
    <dgm:cxn modelId="{B048A809-CB6A-4592-A8D6-3FCFFDFA9564}" srcId="{09995D18-05F5-4A4B-8F9A-27E4833C6620}" destId="{90AED077-85C4-46EA-B5F8-30BF070D360B}" srcOrd="0" destOrd="0" parTransId="{1E0C8B89-16C6-4880-8B09-06C9D70EBF80}" sibTransId="{E50D95E2-F091-4315-B45F-5F68BA43AB8B}"/>
    <dgm:cxn modelId="{A79D18C3-F407-48AA-B7AE-599693738A3B}" type="presOf" srcId="{09995D18-05F5-4A4B-8F9A-27E4833C6620}" destId="{F61E8516-DE3F-4AE9-AE50-9F42F39BFAD3}" srcOrd="0" destOrd="0" presId="urn:microsoft.com/office/officeart/2005/8/layout/vList2"/>
    <dgm:cxn modelId="{65E8A7CB-5EF3-4232-9A05-E7E89F91E38E}" type="presParOf" srcId="{F61E8516-DE3F-4AE9-AE50-9F42F39BFAD3}" destId="{B898B381-A99B-40FA-B837-D80DC4A6049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A6AA7B5-1491-47C8-85E4-E5E8FDD6D06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02C141FE-9ABF-48FD-9848-42A0EFA33222}">
      <dgm:prSet/>
      <dgm:spPr/>
      <dgm:t>
        <a:bodyPr/>
        <a:lstStyle/>
        <a:p>
          <a:r>
            <a:rPr lang="en-IN" b="1" dirty="0">
              <a:latin typeface="+mj-lt"/>
            </a:rPr>
            <a:t>PO7 : </a:t>
          </a:r>
          <a:r>
            <a:rPr lang="en-US" b="1" dirty="0">
              <a:latin typeface="+mj-lt"/>
              <a:ea typeface="Calibri" panose="020F0502020204030204" pitchFamily="34" charset="0"/>
            </a:rPr>
            <a:t>Environment and sustainability</a:t>
          </a:r>
          <a:endParaRPr lang="en-IN" dirty="0"/>
        </a:p>
      </dgm:t>
    </dgm:pt>
    <dgm:pt modelId="{293B506A-CB52-4629-804F-4EA81B2C3153}" type="parTrans" cxnId="{235FA966-C47A-4BCB-AAED-54A261FD7D2F}">
      <dgm:prSet/>
      <dgm:spPr/>
      <dgm:t>
        <a:bodyPr/>
        <a:lstStyle/>
        <a:p>
          <a:endParaRPr lang="en-IN"/>
        </a:p>
      </dgm:t>
    </dgm:pt>
    <dgm:pt modelId="{22F57173-271F-4897-B456-2A1AE73C488C}" type="sibTrans" cxnId="{235FA966-C47A-4BCB-AAED-54A261FD7D2F}">
      <dgm:prSet/>
      <dgm:spPr/>
      <dgm:t>
        <a:bodyPr/>
        <a:lstStyle/>
        <a:p>
          <a:endParaRPr lang="en-IN"/>
        </a:p>
      </dgm:t>
    </dgm:pt>
    <dgm:pt modelId="{685F4F69-7D82-4DED-A9A8-7071B724DF07}" type="pres">
      <dgm:prSet presAssocID="{9A6AA7B5-1491-47C8-85E4-E5E8FDD6D065}" presName="linear" presStyleCnt="0">
        <dgm:presLayoutVars>
          <dgm:animLvl val="lvl"/>
          <dgm:resizeHandles val="exact"/>
        </dgm:presLayoutVars>
      </dgm:prSet>
      <dgm:spPr/>
    </dgm:pt>
    <dgm:pt modelId="{AEDD9097-4AFF-4D2E-9357-46583571353B}" type="pres">
      <dgm:prSet presAssocID="{02C141FE-9ABF-48FD-9848-42A0EFA33222}" presName="parentText" presStyleLbl="node1" presStyleIdx="0" presStyleCnt="1">
        <dgm:presLayoutVars>
          <dgm:chMax val="0"/>
          <dgm:bulletEnabled val="1"/>
        </dgm:presLayoutVars>
      </dgm:prSet>
      <dgm:spPr/>
    </dgm:pt>
  </dgm:ptLst>
  <dgm:cxnLst>
    <dgm:cxn modelId="{AC74E735-F2C3-4F23-ABE1-877387F852A7}" type="presOf" srcId="{02C141FE-9ABF-48FD-9848-42A0EFA33222}" destId="{AEDD9097-4AFF-4D2E-9357-46583571353B}" srcOrd="0" destOrd="0" presId="urn:microsoft.com/office/officeart/2005/8/layout/vList2"/>
    <dgm:cxn modelId="{235FA966-C47A-4BCB-AAED-54A261FD7D2F}" srcId="{9A6AA7B5-1491-47C8-85E4-E5E8FDD6D065}" destId="{02C141FE-9ABF-48FD-9848-42A0EFA33222}" srcOrd="0" destOrd="0" parTransId="{293B506A-CB52-4629-804F-4EA81B2C3153}" sibTransId="{22F57173-271F-4897-B456-2A1AE73C488C}"/>
    <dgm:cxn modelId="{EFF34B82-60AD-4AB7-9ADE-08B4C2F23B48}" type="presOf" srcId="{9A6AA7B5-1491-47C8-85E4-E5E8FDD6D065}" destId="{685F4F69-7D82-4DED-A9A8-7071B724DF07}" srcOrd="0" destOrd="0" presId="urn:microsoft.com/office/officeart/2005/8/layout/vList2"/>
    <dgm:cxn modelId="{0FAF76ED-A85B-47AF-BBC3-6A57EC537321}" type="presParOf" srcId="{685F4F69-7D82-4DED-A9A8-7071B724DF07}" destId="{AEDD9097-4AFF-4D2E-9357-46583571353B}"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B644E16-AACD-4612-92E0-D46EF4ECB87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E7AAAF9E-D416-49AE-8611-65377A7DE939}">
      <dgm:prSet/>
      <dgm:spPr/>
      <dgm:t>
        <a:bodyPr/>
        <a:lstStyle/>
        <a:p>
          <a:r>
            <a:rPr lang="en-US" b="1" dirty="0">
              <a:latin typeface="+mj-lt"/>
              <a:ea typeface="Times New Roman" panose="02020603050405020304" pitchFamily="18" charset="0"/>
              <a:cs typeface="Times New Roman" panose="02020603050405020304" pitchFamily="18" charset="0"/>
            </a:rPr>
            <a:t>PO8 : Ethics</a:t>
          </a:r>
          <a:endParaRPr lang="en-IN" dirty="0"/>
        </a:p>
      </dgm:t>
    </dgm:pt>
    <dgm:pt modelId="{5C719D1D-8A96-404E-AB5C-11562DFC1D30}" type="parTrans" cxnId="{EADE17B7-FE92-4EA7-A469-F698C8E6940A}">
      <dgm:prSet/>
      <dgm:spPr/>
      <dgm:t>
        <a:bodyPr/>
        <a:lstStyle/>
        <a:p>
          <a:endParaRPr lang="en-IN"/>
        </a:p>
      </dgm:t>
    </dgm:pt>
    <dgm:pt modelId="{AF8B5B03-720E-47F1-8D53-0E882540183D}" type="sibTrans" cxnId="{EADE17B7-FE92-4EA7-A469-F698C8E6940A}">
      <dgm:prSet/>
      <dgm:spPr/>
      <dgm:t>
        <a:bodyPr/>
        <a:lstStyle/>
        <a:p>
          <a:endParaRPr lang="en-IN"/>
        </a:p>
      </dgm:t>
    </dgm:pt>
    <dgm:pt modelId="{B22A3E1F-BDC2-4FC3-B056-77BC1F86A5BC}" type="pres">
      <dgm:prSet presAssocID="{1B644E16-AACD-4612-92E0-D46EF4ECB879}" presName="linear" presStyleCnt="0">
        <dgm:presLayoutVars>
          <dgm:animLvl val="lvl"/>
          <dgm:resizeHandles val="exact"/>
        </dgm:presLayoutVars>
      </dgm:prSet>
      <dgm:spPr/>
    </dgm:pt>
    <dgm:pt modelId="{CD5036F8-A246-4E6A-8921-20C367BBB964}" type="pres">
      <dgm:prSet presAssocID="{E7AAAF9E-D416-49AE-8611-65377A7DE939}" presName="parentText" presStyleLbl="node1" presStyleIdx="0" presStyleCnt="1">
        <dgm:presLayoutVars>
          <dgm:chMax val="0"/>
          <dgm:bulletEnabled val="1"/>
        </dgm:presLayoutVars>
      </dgm:prSet>
      <dgm:spPr/>
    </dgm:pt>
  </dgm:ptLst>
  <dgm:cxnLst>
    <dgm:cxn modelId="{2B41B017-406D-40F4-93E9-9D0FCC4851C9}" type="presOf" srcId="{E7AAAF9E-D416-49AE-8611-65377A7DE939}" destId="{CD5036F8-A246-4E6A-8921-20C367BBB964}" srcOrd="0" destOrd="0" presId="urn:microsoft.com/office/officeart/2005/8/layout/vList2"/>
    <dgm:cxn modelId="{0137BE35-7741-4CB7-8903-0262507EB38F}" type="presOf" srcId="{1B644E16-AACD-4612-92E0-D46EF4ECB879}" destId="{B22A3E1F-BDC2-4FC3-B056-77BC1F86A5BC}" srcOrd="0" destOrd="0" presId="urn:microsoft.com/office/officeart/2005/8/layout/vList2"/>
    <dgm:cxn modelId="{EADE17B7-FE92-4EA7-A469-F698C8E6940A}" srcId="{1B644E16-AACD-4612-92E0-D46EF4ECB879}" destId="{E7AAAF9E-D416-49AE-8611-65377A7DE939}" srcOrd="0" destOrd="0" parTransId="{5C719D1D-8A96-404E-AB5C-11562DFC1D30}" sibTransId="{AF8B5B03-720E-47F1-8D53-0E882540183D}"/>
    <dgm:cxn modelId="{7B9DDA1B-23E8-4DA7-A8BE-4814CD610A9A}" type="presParOf" srcId="{B22A3E1F-BDC2-4FC3-B056-77BC1F86A5BC}" destId="{CD5036F8-A246-4E6A-8921-20C367BBB964}"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F45E94E-C528-4C21-A29D-573922B4ED6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CBD3793-394C-48FC-B28C-1D09533E7BA0}">
      <dgm:prSet/>
      <dgm:spPr/>
      <dgm:t>
        <a:bodyPr/>
        <a:lstStyle/>
        <a:p>
          <a:r>
            <a:rPr lang="en-US" b="1" dirty="0">
              <a:latin typeface="+mj-lt"/>
              <a:ea typeface="Times New Roman" panose="02020603050405020304" pitchFamily="18" charset="0"/>
              <a:cs typeface="Times New Roman" panose="02020603050405020304" pitchFamily="18" charset="0"/>
            </a:rPr>
            <a:t>PO9 : Individual and teamwork</a:t>
          </a:r>
          <a:endParaRPr lang="en-IN" dirty="0"/>
        </a:p>
      </dgm:t>
    </dgm:pt>
    <dgm:pt modelId="{3C3BF590-E539-434F-BC04-7F5815B84D60}" type="parTrans" cxnId="{27D07304-FB48-42DA-9A97-1D607D0CE964}">
      <dgm:prSet/>
      <dgm:spPr/>
      <dgm:t>
        <a:bodyPr/>
        <a:lstStyle/>
        <a:p>
          <a:endParaRPr lang="en-IN"/>
        </a:p>
      </dgm:t>
    </dgm:pt>
    <dgm:pt modelId="{6BA01F92-7F7A-4713-B56A-6F20FAAB3645}" type="sibTrans" cxnId="{27D07304-FB48-42DA-9A97-1D607D0CE964}">
      <dgm:prSet/>
      <dgm:spPr/>
      <dgm:t>
        <a:bodyPr/>
        <a:lstStyle/>
        <a:p>
          <a:endParaRPr lang="en-IN"/>
        </a:p>
      </dgm:t>
    </dgm:pt>
    <dgm:pt modelId="{45C93CBB-046D-43CD-9356-3FC8771C32AF}" type="pres">
      <dgm:prSet presAssocID="{FF45E94E-C528-4C21-A29D-573922B4ED68}" presName="linear" presStyleCnt="0">
        <dgm:presLayoutVars>
          <dgm:animLvl val="lvl"/>
          <dgm:resizeHandles val="exact"/>
        </dgm:presLayoutVars>
      </dgm:prSet>
      <dgm:spPr/>
    </dgm:pt>
    <dgm:pt modelId="{8C029958-E145-4D8C-B815-F42AE9B5E6DF}" type="pres">
      <dgm:prSet presAssocID="{FCBD3793-394C-48FC-B28C-1D09533E7BA0}" presName="parentText" presStyleLbl="node1" presStyleIdx="0" presStyleCnt="1">
        <dgm:presLayoutVars>
          <dgm:chMax val="0"/>
          <dgm:bulletEnabled val="1"/>
        </dgm:presLayoutVars>
      </dgm:prSet>
      <dgm:spPr/>
    </dgm:pt>
  </dgm:ptLst>
  <dgm:cxnLst>
    <dgm:cxn modelId="{27D07304-FB48-42DA-9A97-1D607D0CE964}" srcId="{FF45E94E-C528-4C21-A29D-573922B4ED68}" destId="{FCBD3793-394C-48FC-B28C-1D09533E7BA0}" srcOrd="0" destOrd="0" parTransId="{3C3BF590-E539-434F-BC04-7F5815B84D60}" sibTransId="{6BA01F92-7F7A-4713-B56A-6F20FAAB3645}"/>
    <dgm:cxn modelId="{05A47010-37A1-4400-9B53-9EE23CC7A1EB}" type="presOf" srcId="{FF45E94E-C528-4C21-A29D-573922B4ED68}" destId="{45C93CBB-046D-43CD-9356-3FC8771C32AF}" srcOrd="0" destOrd="0" presId="urn:microsoft.com/office/officeart/2005/8/layout/vList2"/>
    <dgm:cxn modelId="{22A65282-467B-4D1B-B70C-0E397C12B221}" type="presOf" srcId="{FCBD3793-394C-48FC-B28C-1D09533E7BA0}" destId="{8C029958-E145-4D8C-B815-F42AE9B5E6DF}" srcOrd="0" destOrd="0" presId="urn:microsoft.com/office/officeart/2005/8/layout/vList2"/>
    <dgm:cxn modelId="{43591253-4998-4341-BF06-68B4B1D65B6C}" type="presParOf" srcId="{45C93CBB-046D-43CD-9356-3FC8771C32AF}" destId="{8C029958-E145-4D8C-B815-F42AE9B5E6DF}" srcOrd="0" destOrd="0" presId="urn:microsoft.com/office/officeart/2005/8/layout/vList2"/>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CA3BDE70-45F2-45D1-A9F8-5ADC9B616F85}"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2B2203F-2FAE-49B7-A1D5-9CD1B5127346}">
      <dgm:prSet/>
      <dgm:spPr/>
      <dgm:t>
        <a:bodyPr/>
        <a:lstStyle/>
        <a:p>
          <a:r>
            <a:rPr lang="en-IN" b="1" dirty="0">
              <a:latin typeface="+mj-lt"/>
            </a:rPr>
            <a:t>PO10 : </a:t>
          </a:r>
          <a:r>
            <a:rPr lang="en-US" b="1" dirty="0">
              <a:latin typeface="+mj-lt"/>
              <a:ea typeface="Times New Roman" panose="02020603050405020304" pitchFamily="18" charset="0"/>
              <a:cs typeface="Times New Roman" panose="02020603050405020304" pitchFamily="18" charset="0"/>
            </a:rPr>
            <a:t>Communication</a:t>
          </a:r>
          <a:endParaRPr lang="en-IN" dirty="0"/>
        </a:p>
      </dgm:t>
    </dgm:pt>
    <dgm:pt modelId="{0C5F4077-1886-4CF9-AD59-B820AE05ADC7}" type="parTrans" cxnId="{C19B5B16-6706-47B1-9748-FFF77E9A2A15}">
      <dgm:prSet/>
      <dgm:spPr/>
      <dgm:t>
        <a:bodyPr/>
        <a:lstStyle/>
        <a:p>
          <a:endParaRPr lang="en-IN"/>
        </a:p>
      </dgm:t>
    </dgm:pt>
    <dgm:pt modelId="{470CA956-F82D-44F7-AFF1-5655BDBD69D3}" type="sibTrans" cxnId="{C19B5B16-6706-47B1-9748-FFF77E9A2A15}">
      <dgm:prSet/>
      <dgm:spPr/>
      <dgm:t>
        <a:bodyPr/>
        <a:lstStyle/>
        <a:p>
          <a:endParaRPr lang="en-IN"/>
        </a:p>
      </dgm:t>
    </dgm:pt>
    <dgm:pt modelId="{BAD57889-E122-4358-BE0C-A1CC3A735F9B}" type="pres">
      <dgm:prSet presAssocID="{CA3BDE70-45F2-45D1-A9F8-5ADC9B616F85}" presName="linear" presStyleCnt="0">
        <dgm:presLayoutVars>
          <dgm:animLvl val="lvl"/>
          <dgm:resizeHandles val="exact"/>
        </dgm:presLayoutVars>
      </dgm:prSet>
      <dgm:spPr/>
    </dgm:pt>
    <dgm:pt modelId="{54692D58-280A-4A5B-8ABB-4AA8C3D0C486}" type="pres">
      <dgm:prSet presAssocID="{F2B2203F-2FAE-49B7-A1D5-9CD1B5127346}" presName="parentText" presStyleLbl="node1" presStyleIdx="0" presStyleCnt="1">
        <dgm:presLayoutVars>
          <dgm:chMax val="0"/>
          <dgm:bulletEnabled val="1"/>
        </dgm:presLayoutVars>
      </dgm:prSet>
      <dgm:spPr/>
    </dgm:pt>
  </dgm:ptLst>
  <dgm:cxnLst>
    <dgm:cxn modelId="{4C5EE510-000B-4044-8645-A770BA52DCEE}" type="presOf" srcId="{CA3BDE70-45F2-45D1-A9F8-5ADC9B616F85}" destId="{BAD57889-E122-4358-BE0C-A1CC3A735F9B}" srcOrd="0" destOrd="0" presId="urn:microsoft.com/office/officeart/2005/8/layout/vList2"/>
    <dgm:cxn modelId="{C19B5B16-6706-47B1-9748-FFF77E9A2A15}" srcId="{CA3BDE70-45F2-45D1-A9F8-5ADC9B616F85}" destId="{F2B2203F-2FAE-49B7-A1D5-9CD1B5127346}" srcOrd="0" destOrd="0" parTransId="{0C5F4077-1886-4CF9-AD59-B820AE05ADC7}" sibTransId="{470CA956-F82D-44F7-AFF1-5655BDBD69D3}"/>
    <dgm:cxn modelId="{51CC87E9-4D44-4937-B700-EB606B0F31AA}" type="presOf" srcId="{F2B2203F-2FAE-49B7-A1D5-9CD1B5127346}" destId="{54692D58-280A-4A5B-8ABB-4AA8C3D0C486}" srcOrd="0" destOrd="0" presId="urn:microsoft.com/office/officeart/2005/8/layout/vList2"/>
    <dgm:cxn modelId="{0F1234CC-99AD-4C66-A03B-0A28C4FEB8FB}" type="presParOf" srcId="{BAD57889-E122-4358-BE0C-A1CC3A735F9B}" destId="{54692D58-280A-4A5B-8ABB-4AA8C3D0C486}" srcOrd="0" destOrd="0" presId="urn:microsoft.com/office/officeart/2005/8/layout/vList2"/>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803BEA6-810A-46C8-899C-70229B268BB8}"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502B59D9-8C99-44C9-B85F-4596BFA6E16F}">
      <dgm:prSet/>
      <dgm:spPr/>
      <dgm:t>
        <a:bodyPr/>
        <a:lstStyle/>
        <a:p>
          <a:r>
            <a:rPr lang="en-US" b="1" dirty="0">
              <a:latin typeface="+mj-lt"/>
              <a:ea typeface="Times New Roman" panose="02020603050405020304" pitchFamily="18" charset="0"/>
              <a:cs typeface="Times New Roman" panose="02020603050405020304" pitchFamily="18" charset="0"/>
            </a:rPr>
            <a:t>PO11 : Project management and finance</a:t>
          </a:r>
          <a:endParaRPr lang="en-IN" dirty="0"/>
        </a:p>
      </dgm:t>
    </dgm:pt>
    <dgm:pt modelId="{9D2B8A0D-F6D2-4C03-871B-3A7AAE296648}" type="parTrans" cxnId="{C0A7060B-E306-436C-82D8-E1BE2F57219E}">
      <dgm:prSet/>
      <dgm:spPr/>
      <dgm:t>
        <a:bodyPr/>
        <a:lstStyle/>
        <a:p>
          <a:endParaRPr lang="en-IN"/>
        </a:p>
      </dgm:t>
    </dgm:pt>
    <dgm:pt modelId="{1F2A8542-A15A-4424-AE39-080E22955215}" type="sibTrans" cxnId="{C0A7060B-E306-436C-82D8-E1BE2F57219E}">
      <dgm:prSet/>
      <dgm:spPr/>
      <dgm:t>
        <a:bodyPr/>
        <a:lstStyle/>
        <a:p>
          <a:endParaRPr lang="en-IN"/>
        </a:p>
      </dgm:t>
    </dgm:pt>
    <dgm:pt modelId="{E298B721-E1B9-4CD4-8B1A-4950CC157D9F}" type="pres">
      <dgm:prSet presAssocID="{0803BEA6-810A-46C8-899C-70229B268BB8}" presName="linear" presStyleCnt="0">
        <dgm:presLayoutVars>
          <dgm:animLvl val="lvl"/>
          <dgm:resizeHandles val="exact"/>
        </dgm:presLayoutVars>
      </dgm:prSet>
      <dgm:spPr/>
    </dgm:pt>
    <dgm:pt modelId="{3EED7F0D-5C80-4479-905C-E79E88227593}" type="pres">
      <dgm:prSet presAssocID="{502B59D9-8C99-44C9-B85F-4596BFA6E16F}" presName="parentText" presStyleLbl="node1" presStyleIdx="0" presStyleCnt="1" custLinFactNeighborY="2600">
        <dgm:presLayoutVars>
          <dgm:chMax val="0"/>
          <dgm:bulletEnabled val="1"/>
        </dgm:presLayoutVars>
      </dgm:prSet>
      <dgm:spPr/>
    </dgm:pt>
  </dgm:ptLst>
  <dgm:cxnLst>
    <dgm:cxn modelId="{C0A7060B-E306-436C-82D8-E1BE2F57219E}" srcId="{0803BEA6-810A-46C8-899C-70229B268BB8}" destId="{502B59D9-8C99-44C9-B85F-4596BFA6E16F}" srcOrd="0" destOrd="0" parTransId="{9D2B8A0D-F6D2-4C03-871B-3A7AAE296648}" sibTransId="{1F2A8542-A15A-4424-AE39-080E22955215}"/>
    <dgm:cxn modelId="{23B1BB43-57C8-43E8-9AD1-1337C4DAF417}" type="presOf" srcId="{502B59D9-8C99-44C9-B85F-4596BFA6E16F}" destId="{3EED7F0D-5C80-4479-905C-E79E88227593}" srcOrd="0" destOrd="0" presId="urn:microsoft.com/office/officeart/2005/8/layout/vList2"/>
    <dgm:cxn modelId="{49668B68-671F-4E13-BC55-3CC0C61BC1D0}" type="presOf" srcId="{0803BEA6-810A-46C8-899C-70229B268BB8}" destId="{E298B721-E1B9-4CD4-8B1A-4950CC157D9F}" srcOrd="0" destOrd="0" presId="urn:microsoft.com/office/officeart/2005/8/layout/vList2"/>
    <dgm:cxn modelId="{F33C2679-711E-46BD-9792-5F0D76896B3F}" type="presParOf" srcId="{E298B721-E1B9-4CD4-8B1A-4950CC157D9F}" destId="{3EED7F0D-5C80-4479-905C-E79E88227593}" srcOrd="0" destOrd="0" presId="urn:microsoft.com/office/officeart/2005/8/layout/vList2"/>
  </dgm:cxnLst>
  <dgm:bg/>
  <dgm:whole/>
  <dgm:extLst>
    <a:ext uri="http://schemas.microsoft.com/office/drawing/2008/diagram">
      <dsp:dataModelExt xmlns:dsp="http://schemas.microsoft.com/office/drawing/2008/diagram" relId="rId31"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EBCFF2A5-481F-4662-8A7E-7E8F303E314D}"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FBA19F7D-578A-464D-ADE6-D3D08AEFD9D5}">
      <dgm:prSet custT="1"/>
      <dgm:spPr/>
      <dgm:t>
        <a:bodyPr/>
        <a:lstStyle/>
        <a:p>
          <a:r>
            <a:rPr lang="en-US" sz="2800" b="1" dirty="0">
              <a:latin typeface="+mj-lt"/>
              <a:ea typeface="Times New Roman" panose="02020603050405020304" pitchFamily="18" charset="0"/>
              <a:cs typeface="Times New Roman" panose="02020603050405020304" pitchFamily="18" charset="0"/>
            </a:rPr>
            <a:t>PO12 : Life-long learning</a:t>
          </a:r>
          <a:endParaRPr lang="en-IN" sz="2800" dirty="0"/>
        </a:p>
      </dgm:t>
    </dgm:pt>
    <dgm:pt modelId="{3AF0BA7F-DD77-44E2-A6BF-C585D5079A71}" type="parTrans" cxnId="{CA989CB1-55E9-41C4-929C-8340165DAC8F}">
      <dgm:prSet/>
      <dgm:spPr/>
      <dgm:t>
        <a:bodyPr/>
        <a:lstStyle/>
        <a:p>
          <a:endParaRPr lang="en-IN"/>
        </a:p>
      </dgm:t>
    </dgm:pt>
    <dgm:pt modelId="{C1BF92C5-17F2-4305-A1F3-8B3F1D8CBFFC}" type="sibTrans" cxnId="{CA989CB1-55E9-41C4-929C-8340165DAC8F}">
      <dgm:prSet/>
      <dgm:spPr/>
      <dgm:t>
        <a:bodyPr/>
        <a:lstStyle/>
        <a:p>
          <a:endParaRPr lang="en-IN"/>
        </a:p>
      </dgm:t>
    </dgm:pt>
    <dgm:pt modelId="{52F828C4-77A4-4B43-9441-70FA5F9DF12E}" type="pres">
      <dgm:prSet presAssocID="{EBCFF2A5-481F-4662-8A7E-7E8F303E314D}" presName="linear" presStyleCnt="0">
        <dgm:presLayoutVars>
          <dgm:animLvl val="lvl"/>
          <dgm:resizeHandles val="exact"/>
        </dgm:presLayoutVars>
      </dgm:prSet>
      <dgm:spPr/>
    </dgm:pt>
    <dgm:pt modelId="{6CC17462-A62E-4245-BFD1-F10DCB528333}" type="pres">
      <dgm:prSet presAssocID="{FBA19F7D-578A-464D-ADE6-D3D08AEFD9D5}" presName="parentText" presStyleLbl="node1" presStyleIdx="0" presStyleCnt="1" custScaleY="212886" custLinFactNeighborX="-19492" custLinFactNeighborY="-87110">
        <dgm:presLayoutVars>
          <dgm:chMax val="0"/>
          <dgm:bulletEnabled val="1"/>
        </dgm:presLayoutVars>
      </dgm:prSet>
      <dgm:spPr/>
    </dgm:pt>
  </dgm:ptLst>
  <dgm:cxnLst>
    <dgm:cxn modelId="{DC6D4D03-1B24-4621-A516-7B7A15180002}" type="presOf" srcId="{EBCFF2A5-481F-4662-8A7E-7E8F303E314D}" destId="{52F828C4-77A4-4B43-9441-70FA5F9DF12E}" srcOrd="0" destOrd="0" presId="urn:microsoft.com/office/officeart/2005/8/layout/vList2"/>
    <dgm:cxn modelId="{FA46BF76-4540-42EF-9418-14DBEB706874}" type="presOf" srcId="{FBA19F7D-578A-464D-ADE6-D3D08AEFD9D5}" destId="{6CC17462-A62E-4245-BFD1-F10DCB528333}" srcOrd="0" destOrd="0" presId="urn:microsoft.com/office/officeart/2005/8/layout/vList2"/>
    <dgm:cxn modelId="{CA989CB1-55E9-41C4-929C-8340165DAC8F}" srcId="{EBCFF2A5-481F-4662-8A7E-7E8F303E314D}" destId="{FBA19F7D-578A-464D-ADE6-D3D08AEFD9D5}" srcOrd="0" destOrd="0" parTransId="{3AF0BA7F-DD77-44E2-A6BF-C585D5079A71}" sibTransId="{C1BF92C5-17F2-4305-A1F3-8B3F1D8CBFFC}"/>
    <dgm:cxn modelId="{B49D20BE-3B7E-4BFB-973B-A91ACEEA0F6B}" type="presParOf" srcId="{52F828C4-77A4-4B43-9441-70FA5F9DF12E}" destId="{6CC17462-A62E-4245-BFD1-F10DCB528333}" srcOrd="0" destOrd="0" presId="urn:microsoft.com/office/officeart/2005/8/layout/vList2"/>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0625"/>
          <a:ext cx="10020299" cy="25857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Collections-Container datatypes, Tkinter-GUI applications, Requests-HTTP requests, BeautifulSoup4-web scraping, Scrapy, Zappa, Dash, CherryPy, TurboGears, Flask, Web2Py,</a:t>
          </a:r>
        </a:p>
        <a:p>
          <a:pPr marL="0" lvl="0" indent="0" algn="l" defTabSz="1200150">
            <a:lnSpc>
              <a:spcPct val="90000"/>
            </a:lnSpc>
            <a:spcBef>
              <a:spcPct val="0"/>
            </a:spcBef>
            <a:spcAft>
              <a:spcPct val="35000"/>
            </a:spcAft>
            <a:buNone/>
          </a:pPr>
          <a:r>
            <a:rPr lang="en-US" sz="2700" kern="1200" dirty="0"/>
            <a:t>Bottle, Falcon, CubicWeb, Quixote, Pyramid.</a:t>
          </a:r>
        </a:p>
        <a:p>
          <a:pPr marL="0" lvl="0" indent="0" algn="l" defTabSz="1200150">
            <a:lnSpc>
              <a:spcPct val="90000"/>
            </a:lnSpc>
            <a:spcBef>
              <a:spcPct val="0"/>
            </a:spcBef>
            <a:spcAft>
              <a:spcPct val="35000"/>
            </a:spcAft>
            <a:buNone/>
          </a:pPr>
          <a:endParaRPr lang="en-IN" sz="2000" kern="1200" dirty="0"/>
        </a:p>
      </dsp:txBody>
      <dsp:txXfrm>
        <a:off x="126223" y="176848"/>
        <a:ext cx="9767853" cy="2333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BBEC5-5B01-4132-A331-9D4D3453D65C}">
      <dsp:nvSpPr>
        <dsp:cNvPr id="0" name=""/>
        <dsp:cNvSpPr/>
      </dsp:nvSpPr>
      <dsp:spPr>
        <a:xfrm>
          <a:off x="0" y="0"/>
          <a:ext cx="11201399" cy="2770812"/>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kern="1200" dirty="0"/>
        </a:p>
      </dsp:txBody>
      <dsp:txXfrm>
        <a:off x="135260" y="135260"/>
        <a:ext cx="10930879" cy="2500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6262"/>
          <a:ext cx="11430000" cy="262828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kern="1200" baseline="0" dirty="0"/>
        </a:p>
      </dsp:txBody>
      <dsp:txXfrm>
        <a:off x="128302" y="154564"/>
        <a:ext cx="11173396" cy="23716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18B38-BDBB-470A-815C-35A2A46B78E0}">
      <dsp:nvSpPr>
        <dsp:cNvPr id="0" name=""/>
        <dsp:cNvSpPr/>
      </dsp:nvSpPr>
      <dsp:spPr>
        <a:xfrm>
          <a:off x="0" y="371100"/>
          <a:ext cx="10591799" cy="231952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Database Migrations, Fetch Data From Database, Displaying Data On Templates, Adding Condition On Data, Sending data from </a:t>
          </a:r>
          <a:r>
            <a:rPr lang="en-US" sz="2700" kern="1200" dirty="0" err="1"/>
            <a:t>url</a:t>
          </a:r>
          <a:r>
            <a:rPr lang="en-US" sz="2700" kern="1200" dirty="0"/>
            <a:t> to view, Sending data from view to template, Saving objects into database, Sorting objects, Filtering objects, Deleting objects, Difference between session and cookie, Creating sessions and cookies in Django.</a:t>
          </a:r>
          <a:endParaRPr lang="en-IN" sz="2700" b="0" kern="1200" dirty="0"/>
        </a:p>
      </dsp:txBody>
      <dsp:txXfrm>
        <a:off x="113230" y="484330"/>
        <a:ext cx="10365339" cy="20930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52841"/>
          <a:ext cx="9982200" cy="25096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Creating a functional website in Django, Four Important Pillars to Deploy, Registering on Heroku and GitHub, Push project from Local System to GitHub, Working with Django Heroku</a:t>
          </a:r>
        </a:p>
        <a:p>
          <a:pPr marL="0" lvl="0" indent="0" algn="l" defTabSz="1200150">
            <a:lnSpc>
              <a:spcPct val="90000"/>
            </a:lnSpc>
            <a:spcBef>
              <a:spcPct val="0"/>
            </a:spcBef>
            <a:spcAft>
              <a:spcPct val="35000"/>
            </a:spcAft>
            <a:buNone/>
          </a:pPr>
          <a:r>
            <a:rPr lang="en-US" sz="2700" kern="1200" dirty="0"/>
            <a:t>Working with Static Root, Handling WSGI with gunicorn, Setting up Database &amp; adding users</a:t>
          </a:r>
        </a:p>
      </dsp:txBody>
      <dsp:txXfrm>
        <a:off x="122511" y="675352"/>
        <a:ext cx="9737178" cy="226462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18F1C8-632D-4593-8386-DC1BDD77A6F3}">
      <dsp:nvSpPr>
        <dsp:cNvPr id="0" name=""/>
        <dsp:cNvSpPr/>
      </dsp:nvSpPr>
      <dsp:spPr>
        <a:xfrm>
          <a:off x="0" y="176"/>
          <a:ext cx="6172199" cy="522866"/>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this semester, the students will </a:t>
          </a:r>
          <a:endParaRPr lang="en-IN" sz="2800" kern="1200" dirty="0"/>
        </a:p>
      </dsp:txBody>
      <dsp:txXfrm>
        <a:off x="25524" y="25700"/>
        <a:ext cx="6121151" cy="4718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7BA34-FA84-45EB-89F5-AA12E2797A41}">
      <dsp:nvSpPr>
        <dsp:cNvPr id="0" name=""/>
        <dsp:cNvSpPr/>
      </dsp:nvSpPr>
      <dsp:spPr>
        <a:xfrm>
          <a:off x="0" y="594"/>
          <a:ext cx="10134600" cy="881459"/>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how to </a:t>
          </a:r>
          <a:r>
            <a:rPr lang="en-US" sz="2400" b="0" i="0" kern="1200" dirty="0"/>
            <a:t>shows relationships and interactions between frontend &amp;backend</a:t>
          </a:r>
          <a:endParaRPr lang="en-IN" sz="2800" kern="1200" dirty="0"/>
        </a:p>
      </dsp:txBody>
      <dsp:txXfrm>
        <a:off x="43029" y="43623"/>
        <a:ext cx="10048542" cy="7954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3ADADF-1651-46C2-846B-A7F79BFA24CF}">
      <dsp:nvSpPr>
        <dsp:cNvPr id="0" name=""/>
        <dsp:cNvSpPr/>
      </dsp:nvSpPr>
      <dsp:spPr>
        <a:xfrm>
          <a:off x="0" y="328"/>
          <a:ext cx="10134600" cy="95377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Study to </a:t>
          </a:r>
          <a:r>
            <a:rPr lang="en-US" sz="2400" b="0" i="0" kern="1200" dirty="0"/>
            <a:t>speed up the development process by providing well-tested, proven development/design paradigms. </a:t>
          </a:r>
          <a:endParaRPr lang="en-IN" sz="2400" kern="1200" dirty="0"/>
        </a:p>
      </dsp:txBody>
      <dsp:txXfrm>
        <a:off x="46560" y="46888"/>
        <a:ext cx="10041480" cy="8606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F58AF-4B5A-40D5-876B-C773221F443C}">
      <dsp:nvSpPr>
        <dsp:cNvPr id="0" name=""/>
        <dsp:cNvSpPr/>
      </dsp:nvSpPr>
      <dsp:spPr>
        <a:xfrm>
          <a:off x="0" y="513513"/>
          <a:ext cx="10165080" cy="73061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Select a specific framework for the development of a given website or webapp.</a:t>
          </a:r>
          <a:endParaRPr lang="en-IN" sz="2400" kern="1200" dirty="0"/>
        </a:p>
      </dsp:txBody>
      <dsp:txXfrm>
        <a:off x="35666" y="549179"/>
        <a:ext cx="10093748" cy="659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B7FBA-CAF3-4274-AEB4-00729BD1494C}">
      <dsp:nvSpPr>
        <dsp:cNvPr id="0" name=""/>
        <dsp:cNvSpPr/>
      </dsp:nvSpPr>
      <dsp:spPr>
        <a:xfrm>
          <a:off x="0" y="232025"/>
          <a:ext cx="10165080" cy="72092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Analyzing and creating a functional website in Django and deploy Django Web Application on Cloud.</a:t>
          </a:r>
          <a:endParaRPr lang="en-IN" sz="2400" kern="1200" dirty="0"/>
        </a:p>
      </dsp:txBody>
      <dsp:txXfrm>
        <a:off x="35193" y="267218"/>
        <a:ext cx="10094694" cy="65054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43766"/>
          <a:ext cx="9601200" cy="598264"/>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dirty="0"/>
            <a:t>At the end of course, the student  will be able to</a:t>
          </a:r>
          <a:r>
            <a:rPr lang="en-US" sz="2800" kern="1200" dirty="0"/>
            <a:t>:</a:t>
          </a:r>
          <a:endParaRPr lang="en-IN" sz="2800" kern="1200" dirty="0"/>
        </a:p>
      </dsp:txBody>
      <dsp:txXfrm>
        <a:off x="29205" y="72971"/>
        <a:ext cx="9542790" cy="53985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73814"/>
          <a:ext cx="9601200" cy="578349"/>
        </a:xfrm>
        <a:prstGeom prst="roundRect">
          <a:avLst/>
        </a:prstGeom>
        <a:solidFill>
          <a:schemeClr val="accent3"/>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b="1" kern="1200" dirty="0">
              <a:solidFill>
                <a:schemeClr val="tx1"/>
              </a:solidFill>
            </a:rPr>
            <a:t>CO1 : </a:t>
          </a:r>
          <a:r>
            <a:rPr lang="en-US" sz="1800" b="1" kern="1200" dirty="0">
              <a:solidFill>
                <a:schemeClr val="bg2">
                  <a:lumMod val="10000"/>
                </a:schemeClr>
              </a:solidFill>
            </a:rPr>
            <a:t>Apply the knowledge of python programing that are vital in understanding Django application </a:t>
          </a:r>
          <a:endParaRPr lang="en-IN" sz="1800" b="1" kern="1200" dirty="0">
            <a:solidFill>
              <a:schemeClr val="bg2">
                <a:lumMod val="10000"/>
              </a:schemeClr>
            </a:solidFill>
          </a:endParaRPr>
        </a:p>
      </dsp:txBody>
      <dsp:txXfrm>
        <a:off x="28233" y="102047"/>
        <a:ext cx="9544734" cy="5218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58137"/>
          <a:ext cx="9601200" cy="65353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CO2 </a:t>
          </a:r>
          <a:r>
            <a:rPr lang="en-US" sz="1600" b="0" kern="1200" dirty="0">
              <a:solidFill>
                <a:schemeClr val="bg2">
                  <a:lumMod val="10000"/>
                </a:schemeClr>
              </a:solidFill>
            </a:rPr>
            <a:t>: </a:t>
          </a:r>
          <a:r>
            <a:rPr lang="en-US" sz="1800" b="1" kern="1200" dirty="0">
              <a:solidFill>
                <a:schemeClr val="bg2">
                  <a:lumMod val="10000"/>
                </a:schemeClr>
              </a:solidFill>
            </a:rPr>
            <a:t>Demonstrate web application framework (Django) to design and implement dynamic website </a:t>
          </a:r>
          <a:endParaRPr lang="en-IN" sz="1800" b="1" kern="1200" dirty="0">
            <a:solidFill>
              <a:schemeClr val="bg2">
                <a:lumMod val="10000"/>
              </a:schemeClr>
            </a:solidFill>
          </a:endParaRPr>
        </a:p>
      </dsp:txBody>
      <dsp:txXfrm>
        <a:off x="31903" y="90040"/>
        <a:ext cx="9537394" cy="58973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15365"/>
          <a:ext cx="9601200" cy="55722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1" kern="1200" dirty="0"/>
            <a:t>CO3 : </a:t>
          </a:r>
          <a:r>
            <a:rPr lang="en-US" sz="1800" b="1" kern="1200" dirty="0"/>
            <a:t>Implementing and analyzing the concept of Integrating Accounts &amp; Authentication on Django</a:t>
          </a:r>
          <a:endParaRPr lang="en-IN" sz="1800" b="1" kern="1200" dirty="0"/>
        </a:p>
      </dsp:txBody>
      <dsp:txXfrm>
        <a:off x="27201" y="142566"/>
        <a:ext cx="9546798" cy="50281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8325"/>
          <a:ext cx="9601201" cy="6552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CO4 : </a:t>
          </a:r>
          <a:r>
            <a:rPr lang="en-US" sz="1800" b="1" kern="1200" dirty="0"/>
            <a:t>Understand the impact of web designing by database connectivity with SQLite </a:t>
          </a:r>
          <a:endParaRPr lang="en-IN" sz="1600" b="1" kern="1200" dirty="0"/>
        </a:p>
      </dsp:txBody>
      <dsp:txXfrm>
        <a:off x="31984" y="40309"/>
        <a:ext cx="9537233" cy="59123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155092"/>
          <a:ext cx="9601200" cy="68952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b="1" kern="1200" dirty="0"/>
            <a:t>CO5</a:t>
          </a:r>
          <a:r>
            <a:rPr lang="en-IN" sz="1800" b="1" kern="1200" dirty="0"/>
            <a:t> </a:t>
          </a:r>
          <a:r>
            <a:rPr lang="en-IN" sz="2500" b="0" kern="1200" dirty="0"/>
            <a:t>: </a:t>
          </a:r>
          <a:r>
            <a:rPr lang="en-US" sz="1700" b="1" kern="1200" dirty="0"/>
            <a:t>Analyzing &amp; Creating a functional website in Django and deploy Django Web Application Cloud</a:t>
          </a:r>
          <a:endParaRPr lang="en-IN" sz="1700" b="1" kern="1200" dirty="0"/>
        </a:p>
      </dsp:txBody>
      <dsp:txXfrm>
        <a:off x="33660" y="188752"/>
        <a:ext cx="9533880" cy="62220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PO1 : </a:t>
          </a:r>
          <a:r>
            <a:rPr lang="en-US" sz="2800" b="1" kern="1200" dirty="0"/>
            <a:t>Engineering Knowledge</a:t>
          </a:r>
          <a:endParaRPr lang="en-IN" sz="2800" kern="1200" dirty="0"/>
        </a:p>
      </dsp:txBody>
      <dsp:txXfrm>
        <a:off x="32784" y="32919"/>
        <a:ext cx="7554432" cy="60601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PO2 : Problem Analysis</a:t>
          </a:r>
          <a:endParaRPr lang="en-IN" sz="2800" kern="1200" dirty="0"/>
        </a:p>
      </dsp:txBody>
      <dsp:txXfrm>
        <a:off x="32784" y="32919"/>
        <a:ext cx="7554432"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PO3 : </a:t>
          </a:r>
          <a:r>
            <a:rPr lang="en-US" sz="2800" b="1" kern="1200" dirty="0"/>
            <a:t>Design/Development of solutions</a:t>
          </a:r>
          <a:endParaRPr lang="en-IN" sz="2800" kern="1200" dirty="0"/>
        </a:p>
      </dsp:txBody>
      <dsp:txXfrm>
        <a:off x="32784" y="32919"/>
        <a:ext cx="7554432" cy="60601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2128"/>
          <a:ext cx="7619999" cy="64759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dirty="0"/>
            <a:t>PO4 : Conduct Investigations of complex problems</a:t>
          </a:r>
          <a:endParaRPr lang="en-IN" sz="2700" kern="1200" dirty="0"/>
        </a:p>
      </dsp:txBody>
      <dsp:txXfrm>
        <a:off x="31613" y="43741"/>
        <a:ext cx="7556773" cy="584369"/>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t>PO5 : </a:t>
          </a:r>
          <a:r>
            <a:rPr lang="en-US" sz="2800" b="1" kern="1200" dirty="0"/>
            <a:t>Modern tool usage</a:t>
          </a:r>
          <a:endParaRPr lang="en-IN" sz="2800" kern="1200" dirty="0"/>
        </a:p>
      </dsp:txBody>
      <dsp:txXfrm>
        <a:off x="32784" y="33054"/>
        <a:ext cx="7554432" cy="606012"/>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656"/>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PO6 : The engineer and society</a:t>
          </a:r>
          <a:endParaRPr lang="en-IN" sz="2800" kern="1200" dirty="0"/>
        </a:p>
      </dsp:txBody>
      <dsp:txXfrm>
        <a:off x="32765" y="33421"/>
        <a:ext cx="7554470" cy="6056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8B381-A99B-40FA-B837-D80DC4A60493}">
      <dsp:nvSpPr>
        <dsp:cNvPr id="0" name=""/>
        <dsp:cNvSpPr/>
      </dsp:nvSpPr>
      <dsp:spPr>
        <a:xfrm>
          <a:off x="0" y="334"/>
          <a:ext cx="7620000" cy="685128"/>
        </a:xfrm>
        <a:prstGeom prst="roundRect">
          <a:avLst/>
        </a:prstGeom>
        <a:solidFill>
          <a:schemeClr val="accent6">
            <a:lumMod val="75000"/>
          </a:schemeClr>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Engineering Graduates will be able to</a:t>
          </a:r>
          <a:r>
            <a:rPr lang="en-US" sz="2800" kern="1200" dirty="0"/>
            <a:t>:</a:t>
          </a:r>
          <a:endParaRPr lang="en-IN" sz="2800" kern="1200" dirty="0"/>
        </a:p>
      </dsp:txBody>
      <dsp:txXfrm>
        <a:off x="33445" y="33779"/>
        <a:ext cx="7553110" cy="61823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D9097-4AFF-4D2E-9357-46583571353B}">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PO7 : </a:t>
          </a:r>
          <a:r>
            <a:rPr lang="en-US" sz="2800" b="1" kern="1200" dirty="0">
              <a:latin typeface="+mj-lt"/>
              <a:ea typeface="Calibri" panose="020F0502020204030204" pitchFamily="34" charset="0"/>
            </a:rPr>
            <a:t>Environment and sustainability</a:t>
          </a:r>
          <a:endParaRPr lang="en-IN" sz="2800" kern="1200" dirty="0"/>
        </a:p>
      </dsp:txBody>
      <dsp:txXfrm>
        <a:off x="32784" y="32919"/>
        <a:ext cx="7554432" cy="606012"/>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036F8-A246-4E6A-8921-20C367BBB964}">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PO8 : Ethics</a:t>
          </a:r>
          <a:endParaRPr lang="en-IN" sz="2800" kern="1200" dirty="0"/>
        </a:p>
      </dsp:txBody>
      <dsp:txXfrm>
        <a:off x="32784" y="32919"/>
        <a:ext cx="7554432" cy="606012"/>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29958-E145-4D8C-B815-F42AE9B5E6DF}">
      <dsp:nvSpPr>
        <dsp:cNvPr id="0" name=""/>
        <dsp:cNvSpPr/>
      </dsp:nvSpPr>
      <dsp:spPr>
        <a:xfrm>
          <a:off x="0" y="135"/>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PO9 : Individual and teamwork</a:t>
          </a:r>
          <a:endParaRPr lang="en-IN" sz="2800" kern="1200" dirty="0"/>
        </a:p>
      </dsp:txBody>
      <dsp:txXfrm>
        <a:off x="32784" y="32919"/>
        <a:ext cx="7554432" cy="60601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92D58-280A-4A5B-8ABB-4AA8C3D0C486}">
      <dsp:nvSpPr>
        <dsp:cNvPr id="0" name=""/>
        <dsp:cNvSpPr/>
      </dsp:nvSpPr>
      <dsp:spPr>
        <a:xfrm>
          <a:off x="0" y="135"/>
          <a:ext cx="7619999"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b="1" kern="1200" dirty="0">
              <a:latin typeface="+mj-lt"/>
            </a:rPr>
            <a:t>PO10 : </a:t>
          </a:r>
          <a:r>
            <a:rPr lang="en-US" sz="2800" b="1" kern="1200" dirty="0">
              <a:latin typeface="+mj-lt"/>
              <a:ea typeface="Times New Roman" panose="02020603050405020304" pitchFamily="18" charset="0"/>
              <a:cs typeface="Times New Roman" panose="02020603050405020304" pitchFamily="18" charset="0"/>
            </a:rPr>
            <a:t>Communication</a:t>
          </a:r>
          <a:endParaRPr lang="en-IN" sz="2800" kern="1200" dirty="0"/>
        </a:p>
      </dsp:txBody>
      <dsp:txXfrm>
        <a:off x="32784" y="32919"/>
        <a:ext cx="7554431" cy="60601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ED7F0D-5C80-4479-905C-E79E88227593}">
      <dsp:nvSpPr>
        <dsp:cNvPr id="0" name=""/>
        <dsp:cNvSpPr/>
      </dsp:nvSpPr>
      <dsp:spPr>
        <a:xfrm>
          <a:off x="0" y="270"/>
          <a:ext cx="7620000" cy="67158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PO11 : Project management and finance</a:t>
          </a:r>
          <a:endParaRPr lang="en-IN" sz="2800" kern="1200" dirty="0"/>
        </a:p>
      </dsp:txBody>
      <dsp:txXfrm>
        <a:off x="32784" y="33054"/>
        <a:ext cx="7554432" cy="606012"/>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7462-A62E-4245-BFD1-F10DCB528333}">
      <dsp:nvSpPr>
        <dsp:cNvPr id="0" name=""/>
        <dsp:cNvSpPr/>
      </dsp:nvSpPr>
      <dsp:spPr>
        <a:xfrm>
          <a:off x="0" y="0"/>
          <a:ext cx="7620000" cy="671194"/>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latin typeface="+mj-lt"/>
              <a:ea typeface="Times New Roman" panose="02020603050405020304" pitchFamily="18" charset="0"/>
              <a:cs typeface="Times New Roman" panose="02020603050405020304" pitchFamily="18" charset="0"/>
            </a:rPr>
            <a:t>PO12 : Life-long learning</a:t>
          </a:r>
          <a:endParaRPr lang="en-IN" sz="2800" kern="1200" dirty="0"/>
        </a:p>
      </dsp:txBody>
      <dsp:txXfrm>
        <a:off x="32765" y="32765"/>
        <a:ext cx="7554470" cy="6056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7/18/2024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7/18/2024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40276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extLst>
      <p:ext uri="{BB962C8B-B14F-4D97-AF65-F5344CB8AC3E}">
        <p14:creationId xmlns:p14="http://schemas.microsoft.com/office/powerpoint/2010/main" val="92078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a:t>
            </a:fld>
            <a:endParaRPr lang="en-US" dirty="0"/>
          </a:p>
        </p:txBody>
      </p:sp>
    </p:spTree>
    <p:extLst>
      <p:ext uri="{BB962C8B-B14F-4D97-AF65-F5344CB8AC3E}">
        <p14:creationId xmlns:p14="http://schemas.microsoft.com/office/powerpoint/2010/main" val="4646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1043892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dirty="0"/>
          </a:p>
        </p:txBody>
      </p:sp>
    </p:spTree>
    <p:extLst>
      <p:ext uri="{BB962C8B-B14F-4D97-AF65-F5344CB8AC3E}">
        <p14:creationId xmlns:p14="http://schemas.microsoft.com/office/powerpoint/2010/main" val="59259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8177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309145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3D37871-2645-4253-933D-6CFDA7BA6873}" type="datetime1">
              <a:rPr lang="en-US" smtClean="0"/>
              <a:t>7/18/2024</a:t>
            </a:fld>
            <a:endParaRPr lang="en-US"/>
          </a:p>
        </p:txBody>
      </p:sp>
      <p:sp>
        <p:nvSpPr>
          <p:cNvPr id="5" name="Footer Placeholder 4"/>
          <p:cNvSpPr>
            <a:spLocks noGrp="1"/>
          </p:cNvSpPr>
          <p:nvPr>
            <p:ph type="ftr" sz="quarter" idx="11"/>
          </p:nvPr>
        </p:nvSpPr>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085C5F-00AB-4BB7-8D36-4D1200658B15}" type="datetime1">
              <a:rPr lang="en-US" smtClean="0"/>
              <a:t>7/18/2024</a:t>
            </a:fld>
            <a:endParaRPr lang="en-US"/>
          </a:p>
        </p:txBody>
      </p:sp>
      <p:sp>
        <p:nvSpPr>
          <p:cNvPr id="5" name="Footer Placeholder 4"/>
          <p:cNvSpPr>
            <a:spLocks noGrp="1"/>
          </p:cNvSpPr>
          <p:nvPr>
            <p:ph type="ftr" sz="quarter" idx="11"/>
          </p:nvPr>
        </p:nvSpPr>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04C548-FCC3-4492-B359-A56FA1D48C59}" type="datetime1">
              <a:rPr lang="en-US" smtClean="0"/>
              <a:t>7/18/2024</a:t>
            </a:fld>
            <a:endParaRPr lang="en-US"/>
          </a:p>
        </p:txBody>
      </p:sp>
      <p:sp>
        <p:nvSpPr>
          <p:cNvPr id="5" name="Footer Placeholder 4"/>
          <p:cNvSpPr>
            <a:spLocks noGrp="1"/>
          </p:cNvSpPr>
          <p:nvPr>
            <p:ph type="ftr" sz="quarter" idx="11"/>
          </p:nvPr>
        </p:nvSpPr>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11CFBA-006C-494A-83CA-D919A09C1F2B}" type="datetime1">
              <a:rPr lang="en-US" smtClean="0"/>
              <a:t>7/18/2024</a:t>
            </a:fld>
            <a:endParaRPr lang="en-US"/>
          </a:p>
        </p:txBody>
      </p:sp>
      <p:sp>
        <p:nvSpPr>
          <p:cNvPr id="6" name="Footer Placeholder 5"/>
          <p:cNvSpPr>
            <a:spLocks noGrp="1"/>
          </p:cNvSpPr>
          <p:nvPr>
            <p:ph type="ftr" sz="quarter" idx="11"/>
          </p:nvPr>
        </p:nvSpPr>
        <p:spPr/>
        <p:txBody>
          <a:bodyPr/>
          <a:lstStyle/>
          <a:p>
            <a:r>
              <a:rPr lang="en-US"/>
              <a:t>Ritesh Kumar Singh                Deploying Django Web Application on Cloud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53571F-A1C1-4CA2-95EA-83AA272E098A}" type="datetime1">
              <a:rPr lang="en-US" smtClean="0"/>
              <a:t>7/18/2024</a:t>
            </a:fld>
            <a:endParaRPr lang="en-US"/>
          </a:p>
        </p:txBody>
      </p:sp>
      <p:sp>
        <p:nvSpPr>
          <p:cNvPr id="8" name="Footer Placeholder 7"/>
          <p:cNvSpPr>
            <a:spLocks noGrp="1"/>
          </p:cNvSpPr>
          <p:nvPr>
            <p:ph type="ftr" sz="quarter" idx="11"/>
          </p:nvPr>
        </p:nvSpPr>
        <p:spPr/>
        <p:txBody>
          <a:bodyPr/>
          <a:lstStyle/>
          <a:p>
            <a:r>
              <a:rPr lang="en-US"/>
              <a:t>Ritesh Kumar Singh                Deploying Django Web Application on Cloud           Unit 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FA1F36F-167C-492D-9855-7B6D5B59B0F0}" type="datetime1">
              <a:rPr lang="en-US" smtClean="0"/>
              <a:t>7/18/2024</a:t>
            </a:fld>
            <a:endParaRPr lang="en-US"/>
          </a:p>
        </p:txBody>
      </p:sp>
      <p:sp>
        <p:nvSpPr>
          <p:cNvPr id="4" name="Footer Placeholder 3"/>
          <p:cNvSpPr>
            <a:spLocks noGrp="1"/>
          </p:cNvSpPr>
          <p:nvPr>
            <p:ph type="ftr" sz="quarter" idx="11"/>
          </p:nvPr>
        </p:nvSpPr>
        <p:spPr/>
        <p:txBody>
          <a:bodyPr/>
          <a:lstStyle/>
          <a:p>
            <a:r>
              <a:rPr lang="en-US"/>
              <a:t>Ritesh Kumar Singh                Deploying Django Web Application on Cloud           Unit 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CEDFF5-A94E-45A9-B31F-00861093FC22}" type="datetime1">
              <a:rPr lang="en-US" smtClean="0"/>
              <a:t>7/18/2024</a:t>
            </a:fld>
            <a:endParaRPr lang="en-US"/>
          </a:p>
        </p:txBody>
      </p:sp>
      <p:sp>
        <p:nvSpPr>
          <p:cNvPr id="3" name="Footer Placeholder 2"/>
          <p:cNvSpPr>
            <a:spLocks noGrp="1"/>
          </p:cNvSpPr>
          <p:nvPr>
            <p:ph type="ftr" sz="quarter" idx="11"/>
          </p:nvPr>
        </p:nvSpPr>
        <p:spPr/>
        <p:txBody>
          <a:bodyPr/>
          <a:lstStyle/>
          <a:p>
            <a:r>
              <a:rPr lang="en-US"/>
              <a:t>Ritesh Kumar Singh                Deploying Django Web Application on Cloud           Unit 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AEAC0A-29A1-45FF-8773-73565816F6D5}" type="datetime1">
              <a:rPr lang="en-US" smtClean="0"/>
              <a:t>7/18/2024</a:t>
            </a:fld>
            <a:endParaRPr lang="en-US"/>
          </a:p>
        </p:txBody>
      </p:sp>
      <p:sp>
        <p:nvSpPr>
          <p:cNvPr id="6" name="Footer Placeholder 5"/>
          <p:cNvSpPr>
            <a:spLocks noGrp="1"/>
          </p:cNvSpPr>
          <p:nvPr>
            <p:ph type="ftr" sz="quarter" idx="11"/>
          </p:nvPr>
        </p:nvSpPr>
        <p:spPr/>
        <p:txBody>
          <a:bodyPr/>
          <a:lstStyle/>
          <a:p>
            <a:r>
              <a:rPr lang="en-US"/>
              <a:t>Ritesh Kumar Singh                Deploying Django Web Application on Cloud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BEFB8F-6411-4C22-ABDF-6EB6FA5F12B3}" type="datetime1">
              <a:rPr lang="en-US" smtClean="0"/>
              <a:t>7/18/2024</a:t>
            </a:fld>
            <a:endParaRPr lang="en-US"/>
          </a:p>
        </p:txBody>
      </p:sp>
      <p:sp>
        <p:nvSpPr>
          <p:cNvPr id="6" name="Footer Placeholder 5"/>
          <p:cNvSpPr>
            <a:spLocks noGrp="1"/>
          </p:cNvSpPr>
          <p:nvPr>
            <p:ph type="ftr" sz="quarter" idx="11"/>
          </p:nvPr>
        </p:nvSpPr>
        <p:spPr/>
        <p:txBody>
          <a:bodyPr/>
          <a:lstStyle/>
          <a:p>
            <a:r>
              <a:rPr lang="en-US"/>
              <a:t>Ritesh Kumar Singh                Deploying Django Web Application on Cloud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ACF76F5-ADF1-4CDC-A9DD-CBBACC3A8790}" type="datetime1">
              <a:rPr lang="en-US" smtClean="0"/>
              <a:t>7/18/2024</a:t>
            </a:fld>
            <a:endParaRPr lang="en-US"/>
          </a:p>
        </p:txBody>
      </p:sp>
      <p:sp>
        <p:nvSpPr>
          <p:cNvPr id="5" name="Footer Placeholder 4"/>
          <p:cNvSpPr>
            <a:spLocks noGrp="1"/>
          </p:cNvSpPr>
          <p:nvPr>
            <p:ph type="ftr" sz="quarter" idx="11"/>
          </p:nvPr>
        </p:nvSpPr>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1C48B1-B257-4444-8BDB-F2FA8553C46E}" type="datetime1">
              <a:rPr lang="en-US" smtClean="0"/>
              <a:t>7/18/2024</a:t>
            </a:fld>
            <a:endParaRPr lang="en-US"/>
          </a:p>
        </p:txBody>
      </p:sp>
      <p:sp>
        <p:nvSpPr>
          <p:cNvPr id="5" name="Footer Placeholder 4"/>
          <p:cNvSpPr>
            <a:spLocks noGrp="1"/>
          </p:cNvSpPr>
          <p:nvPr>
            <p:ph type="ftr" sz="quarter" idx="11"/>
          </p:nvPr>
        </p:nvSpPr>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A09975-34A0-41FD-A54C-30D28A4E959E}" type="datetime1">
              <a:rPr lang="en-US" smtClean="0"/>
              <a:t>7/18/2024</a:t>
            </a:fld>
            <a:endParaRPr lang="en-US"/>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Ritesh Kumar Singh                Deploying Django Web Application on Cloud           Unit V</a:t>
            </a:r>
            <a:endParaRPr lang="en-US" dirty="0"/>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13570"/>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7.xml"/><Relationship Id="rId13" Type="http://schemas.openxmlformats.org/officeDocument/2006/relationships/diagramLayout" Target="../diagrams/layout8.xml"/><Relationship Id="rId18" Type="http://schemas.openxmlformats.org/officeDocument/2006/relationships/diagramLayout" Target="../diagrams/layout9.xml"/><Relationship Id="rId26" Type="http://schemas.microsoft.com/office/2007/relationships/diagramDrawing" Target="../diagrams/drawing10.xml"/><Relationship Id="rId3" Type="http://schemas.openxmlformats.org/officeDocument/2006/relationships/diagramLayout" Target="../diagrams/layout6.xml"/><Relationship Id="rId21" Type="http://schemas.microsoft.com/office/2007/relationships/diagramDrawing" Target="../diagrams/drawing9.xml"/><Relationship Id="rId7" Type="http://schemas.openxmlformats.org/officeDocument/2006/relationships/diagramData" Target="../diagrams/data7.xml"/><Relationship Id="rId12" Type="http://schemas.openxmlformats.org/officeDocument/2006/relationships/diagramData" Target="../diagrams/data8.xml"/><Relationship Id="rId17" Type="http://schemas.openxmlformats.org/officeDocument/2006/relationships/diagramData" Target="../diagrams/data9.xml"/><Relationship Id="rId25" Type="http://schemas.openxmlformats.org/officeDocument/2006/relationships/diagramColors" Target="../diagrams/colors10.xml"/><Relationship Id="rId2" Type="http://schemas.openxmlformats.org/officeDocument/2006/relationships/diagramData" Target="../diagrams/data6.xml"/><Relationship Id="rId16" Type="http://schemas.microsoft.com/office/2007/relationships/diagramDrawing" Target="../diagrams/drawing8.xml"/><Relationship Id="rId20" Type="http://schemas.openxmlformats.org/officeDocument/2006/relationships/diagramColors" Target="../diagrams/colors9.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24" Type="http://schemas.openxmlformats.org/officeDocument/2006/relationships/diagramQuickStyle" Target="../diagrams/quickStyle10.xml"/><Relationship Id="rId5" Type="http://schemas.openxmlformats.org/officeDocument/2006/relationships/diagramColors" Target="../diagrams/colors6.xml"/><Relationship Id="rId15" Type="http://schemas.openxmlformats.org/officeDocument/2006/relationships/diagramColors" Target="../diagrams/colors8.xml"/><Relationship Id="rId23" Type="http://schemas.openxmlformats.org/officeDocument/2006/relationships/diagramLayout" Target="../diagrams/layout10.xml"/><Relationship Id="rId10" Type="http://schemas.openxmlformats.org/officeDocument/2006/relationships/diagramColors" Target="../diagrams/colors7.xml"/><Relationship Id="rId19" Type="http://schemas.openxmlformats.org/officeDocument/2006/relationships/diagramQuickStyle" Target="../diagrams/quickStyle9.xml"/><Relationship Id="rId4" Type="http://schemas.openxmlformats.org/officeDocument/2006/relationships/diagramQuickStyle" Target="../diagrams/quickStyle6.xml"/><Relationship Id="rId9" Type="http://schemas.openxmlformats.org/officeDocument/2006/relationships/diagramQuickStyle" Target="../diagrams/quickStyle7.xml"/><Relationship Id="rId14" Type="http://schemas.openxmlformats.org/officeDocument/2006/relationships/diagramQuickStyle" Target="../diagrams/quickStyle8.xml"/><Relationship Id="rId22" Type="http://schemas.openxmlformats.org/officeDocument/2006/relationships/diagramData" Target="../diagrams/data10.xml"/><Relationship Id="rId27"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26" Type="http://schemas.microsoft.com/office/2007/relationships/diagramDrawing" Target="../diagrams/drawing15.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5" Type="http://schemas.openxmlformats.org/officeDocument/2006/relationships/diagramColors" Target="../diagrams/colors15.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29" Type="http://schemas.openxmlformats.org/officeDocument/2006/relationships/diagramQuickStyle" Target="../diagrams/quickStyle16.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24" Type="http://schemas.openxmlformats.org/officeDocument/2006/relationships/diagramQuickStyle" Target="../diagrams/quickStyle15.xml"/><Relationship Id="rId32" Type="http://schemas.openxmlformats.org/officeDocument/2006/relationships/image" Target="../media/image3.jpeg"/><Relationship Id="rId5" Type="http://schemas.openxmlformats.org/officeDocument/2006/relationships/diagramColors" Target="../diagrams/colors11.xml"/><Relationship Id="rId15" Type="http://schemas.openxmlformats.org/officeDocument/2006/relationships/diagramColors" Target="../diagrams/colors13.xml"/><Relationship Id="rId23" Type="http://schemas.openxmlformats.org/officeDocument/2006/relationships/diagramLayout" Target="../diagrams/layout15.xml"/><Relationship Id="rId28" Type="http://schemas.openxmlformats.org/officeDocument/2006/relationships/diagramLayout" Target="../diagrams/layout16.xml"/><Relationship Id="rId10" Type="http://schemas.openxmlformats.org/officeDocument/2006/relationships/diagramColors" Target="../diagrams/colors12.xml"/><Relationship Id="rId19" Type="http://schemas.openxmlformats.org/officeDocument/2006/relationships/diagramQuickStyle" Target="../diagrams/quickStyle14.xml"/><Relationship Id="rId31" Type="http://schemas.microsoft.com/office/2007/relationships/diagramDrawing" Target="../diagrams/drawing16.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 Id="rId22" Type="http://schemas.openxmlformats.org/officeDocument/2006/relationships/diagramData" Target="../diagrams/data15.xml"/><Relationship Id="rId27" Type="http://schemas.openxmlformats.org/officeDocument/2006/relationships/diagramData" Target="../diagrams/data16.xml"/><Relationship Id="rId30" Type="http://schemas.openxmlformats.org/officeDocument/2006/relationships/diagramColors" Target="../diagrams/colors16.xml"/></Relationships>
</file>

<file path=ppt/slides/_rels/slide12.xml.rels><?xml version="1.0" encoding="UTF-8" standalone="yes"?>
<Relationships xmlns="http://schemas.openxmlformats.org/package/2006/relationships"><Relationship Id="rId13" Type="http://schemas.openxmlformats.org/officeDocument/2006/relationships/diagramLayout" Target="../diagrams/layout19.xml"/><Relationship Id="rId18" Type="http://schemas.openxmlformats.org/officeDocument/2006/relationships/diagramLayout" Target="../diagrams/layout20.xml"/><Relationship Id="rId26" Type="http://schemas.microsoft.com/office/2007/relationships/diagramDrawing" Target="../diagrams/drawing21.xml"/><Relationship Id="rId21" Type="http://schemas.microsoft.com/office/2007/relationships/diagramDrawing" Target="../diagrams/drawing20.xml"/><Relationship Id="rId34" Type="http://schemas.openxmlformats.org/officeDocument/2006/relationships/diagramQuickStyle" Target="../diagrams/quickStyle23.xml"/><Relationship Id="rId7" Type="http://schemas.openxmlformats.org/officeDocument/2006/relationships/diagramData" Target="../diagrams/data18.xml"/><Relationship Id="rId12" Type="http://schemas.openxmlformats.org/officeDocument/2006/relationships/diagramData" Target="../diagrams/data19.xml"/><Relationship Id="rId17" Type="http://schemas.openxmlformats.org/officeDocument/2006/relationships/diagramData" Target="../diagrams/data20.xml"/><Relationship Id="rId25" Type="http://schemas.openxmlformats.org/officeDocument/2006/relationships/diagramColors" Target="../diagrams/colors21.xml"/><Relationship Id="rId33" Type="http://schemas.openxmlformats.org/officeDocument/2006/relationships/diagramLayout" Target="../diagrams/layout23.xml"/><Relationship Id="rId2" Type="http://schemas.openxmlformats.org/officeDocument/2006/relationships/diagramData" Target="../diagrams/data17.xml"/><Relationship Id="rId16" Type="http://schemas.microsoft.com/office/2007/relationships/diagramDrawing" Target="../diagrams/drawing19.xml"/><Relationship Id="rId20" Type="http://schemas.openxmlformats.org/officeDocument/2006/relationships/diagramColors" Target="../diagrams/colors20.xml"/><Relationship Id="rId29" Type="http://schemas.openxmlformats.org/officeDocument/2006/relationships/diagramQuickStyle" Target="../diagrams/quickStyle22.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24" Type="http://schemas.openxmlformats.org/officeDocument/2006/relationships/diagramQuickStyle" Target="../diagrams/quickStyle21.xml"/><Relationship Id="rId32" Type="http://schemas.openxmlformats.org/officeDocument/2006/relationships/diagramData" Target="../diagrams/data23.xml"/><Relationship Id="rId37" Type="http://schemas.openxmlformats.org/officeDocument/2006/relationships/image" Target="../media/image3.jpeg"/><Relationship Id="rId5" Type="http://schemas.openxmlformats.org/officeDocument/2006/relationships/diagramColors" Target="../diagrams/colors17.xml"/><Relationship Id="rId15" Type="http://schemas.openxmlformats.org/officeDocument/2006/relationships/diagramColors" Target="../diagrams/colors19.xml"/><Relationship Id="rId23" Type="http://schemas.openxmlformats.org/officeDocument/2006/relationships/diagramLayout" Target="../diagrams/layout21.xml"/><Relationship Id="rId28" Type="http://schemas.openxmlformats.org/officeDocument/2006/relationships/diagramLayout" Target="../diagrams/layout22.xml"/><Relationship Id="rId36" Type="http://schemas.microsoft.com/office/2007/relationships/diagramDrawing" Target="../diagrams/drawing23.xml"/><Relationship Id="rId10" Type="http://schemas.openxmlformats.org/officeDocument/2006/relationships/diagramColors" Target="../diagrams/colors18.xml"/><Relationship Id="rId19" Type="http://schemas.openxmlformats.org/officeDocument/2006/relationships/diagramQuickStyle" Target="../diagrams/quickStyle20.xml"/><Relationship Id="rId31" Type="http://schemas.microsoft.com/office/2007/relationships/diagramDrawing" Target="../diagrams/drawing22.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 Id="rId22" Type="http://schemas.openxmlformats.org/officeDocument/2006/relationships/diagramData" Target="../diagrams/data21.xml"/><Relationship Id="rId27" Type="http://schemas.openxmlformats.org/officeDocument/2006/relationships/diagramData" Target="../diagrams/data22.xml"/><Relationship Id="rId30" Type="http://schemas.openxmlformats.org/officeDocument/2006/relationships/diagramColors" Target="../diagrams/colors22.xml"/><Relationship Id="rId35" Type="http://schemas.openxmlformats.org/officeDocument/2006/relationships/diagramColors" Target="../diagrams/colors23.xml"/><Relationship Id="rId8" Type="http://schemas.openxmlformats.org/officeDocument/2006/relationships/diagramLayout" Target="../diagrams/layout18.xml"/><Relationship Id="rId3" Type="http://schemas.openxmlformats.org/officeDocument/2006/relationships/diagramLayout" Target="../diagrams/layout17.xml"/></Relationships>
</file>

<file path=ppt/slides/_rels/slide13.xml.rels><?xml version="1.0" encoding="UTF-8" standalone="yes"?>
<Relationships xmlns="http://schemas.openxmlformats.org/package/2006/relationships"><Relationship Id="rId13" Type="http://schemas.openxmlformats.org/officeDocument/2006/relationships/diagramLayout" Target="../diagrams/layout26.xml"/><Relationship Id="rId18" Type="http://schemas.openxmlformats.org/officeDocument/2006/relationships/diagramLayout" Target="../diagrams/layout27.xml"/><Relationship Id="rId26" Type="http://schemas.microsoft.com/office/2007/relationships/diagramDrawing" Target="../diagrams/drawing28.xml"/><Relationship Id="rId21" Type="http://schemas.microsoft.com/office/2007/relationships/diagramDrawing" Target="../diagrams/drawing27.xml"/><Relationship Id="rId34" Type="http://schemas.openxmlformats.org/officeDocument/2006/relationships/diagramQuickStyle" Target="../diagrams/quickStyle30.xml"/><Relationship Id="rId7" Type="http://schemas.openxmlformats.org/officeDocument/2006/relationships/diagramData" Target="../diagrams/data25.xml"/><Relationship Id="rId12" Type="http://schemas.openxmlformats.org/officeDocument/2006/relationships/diagramData" Target="../diagrams/data26.xml"/><Relationship Id="rId17" Type="http://schemas.openxmlformats.org/officeDocument/2006/relationships/diagramData" Target="../diagrams/data27.xml"/><Relationship Id="rId25" Type="http://schemas.openxmlformats.org/officeDocument/2006/relationships/diagramColors" Target="../diagrams/colors28.xml"/><Relationship Id="rId33" Type="http://schemas.openxmlformats.org/officeDocument/2006/relationships/diagramLayout" Target="../diagrams/layout30.xml"/><Relationship Id="rId2" Type="http://schemas.openxmlformats.org/officeDocument/2006/relationships/diagramData" Target="../diagrams/data24.xml"/><Relationship Id="rId16" Type="http://schemas.microsoft.com/office/2007/relationships/diagramDrawing" Target="../diagrams/drawing26.xml"/><Relationship Id="rId20" Type="http://schemas.openxmlformats.org/officeDocument/2006/relationships/diagramColors" Target="../diagrams/colors27.xml"/><Relationship Id="rId29" Type="http://schemas.openxmlformats.org/officeDocument/2006/relationships/diagramQuickStyle" Target="../diagrams/quickStyle29.xml"/><Relationship Id="rId1" Type="http://schemas.openxmlformats.org/officeDocument/2006/relationships/slideLayout" Target="../slideLayouts/slideLayout2.xml"/><Relationship Id="rId6" Type="http://schemas.microsoft.com/office/2007/relationships/diagramDrawing" Target="../diagrams/drawing24.xml"/><Relationship Id="rId11" Type="http://schemas.microsoft.com/office/2007/relationships/diagramDrawing" Target="../diagrams/drawing25.xml"/><Relationship Id="rId24" Type="http://schemas.openxmlformats.org/officeDocument/2006/relationships/diagramQuickStyle" Target="../diagrams/quickStyle28.xml"/><Relationship Id="rId32" Type="http://schemas.openxmlformats.org/officeDocument/2006/relationships/diagramData" Target="../diagrams/data30.xml"/><Relationship Id="rId37" Type="http://schemas.openxmlformats.org/officeDocument/2006/relationships/image" Target="../media/image3.jpeg"/><Relationship Id="rId5" Type="http://schemas.openxmlformats.org/officeDocument/2006/relationships/diagramColors" Target="../diagrams/colors24.xml"/><Relationship Id="rId15" Type="http://schemas.openxmlformats.org/officeDocument/2006/relationships/diagramColors" Target="../diagrams/colors26.xml"/><Relationship Id="rId23" Type="http://schemas.openxmlformats.org/officeDocument/2006/relationships/diagramLayout" Target="../diagrams/layout28.xml"/><Relationship Id="rId28" Type="http://schemas.openxmlformats.org/officeDocument/2006/relationships/diagramLayout" Target="../diagrams/layout29.xml"/><Relationship Id="rId36" Type="http://schemas.microsoft.com/office/2007/relationships/diagramDrawing" Target="../diagrams/drawing30.xml"/><Relationship Id="rId10" Type="http://schemas.openxmlformats.org/officeDocument/2006/relationships/diagramColors" Target="../diagrams/colors25.xml"/><Relationship Id="rId19" Type="http://schemas.openxmlformats.org/officeDocument/2006/relationships/diagramQuickStyle" Target="../diagrams/quickStyle27.xml"/><Relationship Id="rId31" Type="http://schemas.microsoft.com/office/2007/relationships/diagramDrawing" Target="../diagrams/drawing29.xml"/><Relationship Id="rId4" Type="http://schemas.openxmlformats.org/officeDocument/2006/relationships/diagramQuickStyle" Target="../diagrams/quickStyle24.xml"/><Relationship Id="rId9" Type="http://schemas.openxmlformats.org/officeDocument/2006/relationships/diagramQuickStyle" Target="../diagrams/quickStyle25.xml"/><Relationship Id="rId14" Type="http://schemas.openxmlformats.org/officeDocument/2006/relationships/diagramQuickStyle" Target="../diagrams/quickStyle26.xml"/><Relationship Id="rId22" Type="http://schemas.openxmlformats.org/officeDocument/2006/relationships/diagramData" Target="../diagrams/data28.xml"/><Relationship Id="rId27" Type="http://schemas.openxmlformats.org/officeDocument/2006/relationships/diagramData" Target="../diagrams/data29.xml"/><Relationship Id="rId30" Type="http://schemas.openxmlformats.org/officeDocument/2006/relationships/diagramColors" Target="../diagrams/colors29.xml"/><Relationship Id="rId35" Type="http://schemas.openxmlformats.org/officeDocument/2006/relationships/diagramColors" Target="../diagrams/colors30.xml"/><Relationship Id="rId8" Type="http://schemas.openxmlformats.org/officeDocument/2006/relationships/diagramLayout" Target="../diagrams/layout25.xml"/><Relationship Id="rId3" Type="http://schemas.openxmlformats.org/officeDocument/2006/relationships/diagramLayout" Target="../diagrams/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octoverse.github.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
            <a:ext cx="105918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3200" dirty="0"/>
              <a:t>Noida Institute of Engineering and Technology, Greater Noida</a:t>
            </a:r>
          </a:p>
        </p:txBody>
      </p:sp>
      <p:sp>
        <p:nvSpPr>
          <p:cNvPr id="3" name="Subtitle 2"/>
          <p:cNvSpPr>
            <a:spLocks noGrp="1"/>
          </p:cNvSpPr>
          <p:nvPr>
            <p:ph type="subTitle" idx="1"/>
          </p:nvPr>
        </p:nvSpPr>
        <p:spPr>
          <a:xfrm>
            <a:off x="2971800" y="914400"/>
            <a:ext cx="6324600" cy="1502402"/>
          </a:xfrm>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 Python Web Development with Django</a:t>
            </a:r>
          </a:p>
        </p:txBody>
      </p:sp>
      <p:sp>
        <p:nvSpPr>
          <p:cNvPr id="6" name="Subtitle 2"/>
          <p:cNvSpPr txBox="1">
            <a:spLocks/>
          </p:cNvSpPr>
          <p:nvPr/>
        </p:nvSpPr>
        <p:spPr>
          <a:xfrm>
            <a:off x="8382000" y="40386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800" dirty="0">
                <a:solidFill>
                  <a:schemeClr val="tx1"/>
                </a:solidFill>
              </a:rPr>
              <a:t>Ritesh Kumar Singh</a:t>
            </a:r>
          </a:p>
          <a:p>
            <a:pPr algn="ctr">
              <a:spcBef>
                <a:spcPct val="20000"/>
              </a:spcBef>
              <a:defRPr/>
            </a:pPr>
            <a:r>
              <a:rPr lang="en-US" sz="2400" dirty="0">
                <a:solidFill>
                  <a:schemeClr val="tx1"/>
                </a:solidFill>
              </a:rPr>
              <a:t> (Asst.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57D912C4-032F-459D-A76E-925251ADB483}" type="datetime1">
              <a:rPr lang="en-US" smtClean="0"/>
              <a:t>7/18/2024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4478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V</a:t>
            </a:r>
          </a:p>
        </p:txBody>
      </p:sp>
      <p:sp>
        <p:nvSpPr>
          <p:cNvPr id="13" name="Footer Placeholder 12"/>
          <p:cNvSpPr>
            <a:spLocks noGrp="1"/>
          </p:cNvSpPr>
          <p:nvPr>
            <p:ph type="ftr" sz="quarter" idx="11"/>
          </p:nvPr>
        </p:nvSpPr>
        <p:spPr>
          <a:xfrm>
            <a:off x="4078514" y="6430967"/>
            <a:ext cx="6324600" cy="365125"/>
          </a:xfrm>
        </p:spPr>
        <p:txBody>
          <a:bodyPr/>
          <a:lstStyle/>
          <a:p>
            <a:r>
              <a:rPr lang="en-US"/>
              <a:t>Ritesh Kumar Singh                Deploying Django Web Application on Cloud           Unit V</a:t>
            </a:r>
            <a:endParaRPr lang="en-US" dirty="0"/>
          </a:p>
        </p:txBody>
      </p:sp>
      <p:sp>
        <p:nvSpPr>
          <p:cNvPr id="14" name="Subtitle 2"/>
          <p:cNvSpPr txBox="1">
            <a:spLocks/>
          </p:cNvSpPr>
          <p:nvPr/>
        </p:nvSpPr>
        <p:spPr>
          <a:xfrm>
            <a:off x="14478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400" dirty="0">
                <a:solidFill>
                  <a:schemeClr val="tx1"/>
                </a:solidFill>
              </a:rPr>
              <a:t>Deploying Django Web Application on Cloud</a:t>
            </a:r>
            <a:r>
              <a:rPr lang="en-US" sz="2000" dirty="0">
                <a:solidFill>
                  <a:schemeClr val="tx1"/>
                </a:solidFill>
              </a:rPr>
              <a:t>  </a:t>
            </a:r>
            <a:endParaRPr lang="en-US" sz="2000" b="1" dirty="0">
              <a:solidFill>
                <a:schemeClr val="tx1"/>
              </a:solidFill>
            </a:endParaRPr>
          </a:p>
        </p:txBody>
      </p:sp>
      <p:sp>
        <p:nvSpPr>
          <p:cNvPr id="15" name="Subtitle 2"/>
          <p:cNvSpPr txBox="1">
            <a:spLocks/>
          </p:cNvSpPr>
          <p:nvPr/>
        </p:nvSpPr>
        <p:spPr>
          <a:xfrm>
            <a:off x="14478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pic>
        <p:nvPicPr>
          <p:cNvPr id="16" name="Picture 15"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pic>
        <p:nvPicPr>
          <p:cNvPr id="4" name="Picture 4">
            <a:extLst>
              <a:ext uri="{FF2B5EF4-FFF2-40B4-BE49-F238E27FC236}">
                <a16:creationId xmlns:a16="http://schemas.microsoft.com/office/drawing/2014/main" id="{BD9D7AE3-469E-AB19-5350-9C8CEA25DF3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p:blipFill>
        <p:spPr bwMode="auto">
          <a:xfrm>
            <a:off x="9067800" y="2469452"/>
            <a:ext cx="1516498" cy="1516498"/>
          </a:xfrm>
          <a:prstGeom prst="rect">
            <a:avLst/>
          </a:prstGeom>
          <a:noFill/>
        </p:spPr>
      </p:pic>
    </p:spTree>
    <p:extLst>
      <p:ext uri="{BB962C8B-B14F-4D97-AF65-F5344CB8AC3E}">
        <p14:creationId xmlns:p14="http://schemas.microsoft.com/office/powerpoint/2010/main" val="243289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Placeholder 3"/>
          <p:cNvSpPr>
            <a:spLocks noGrp="1"/>
          </p:cNvSpPr>
          <p:nvPr>
            <p:ph type="dt" sz="half" idx="10"/>
          </p:nvPr>
        </p:nvSpPr>
        <p:spPr/>
        <p:txBody>
          <a:bodyPr/>
          <a:lstStyle/>
          <a:p>
            <a:fld id="{0680A8AC-20A8-4988-95CE-FBC15695E774}" type="datetime1">
              <a:rPr lang="en-US" smtClean="0"/>
              <a:t>7/18/2024</a:t>
            </a:fld>
            <a:endParaRPr lang="en-US" dirty="0"/>
          </a:p>
        </p:txBody>
      </p:sp>
      <p:sp>
        <p:nvSpPr>
          <p:cNvPr id="1048604" name="Footer Placeholder 4"/>
          <p:cNvSpPr>
            <a:spLocks noGrp="1"/>
          </p:cNvSpPr>
          <p:nvPr>
            <p:ph type="ftr" sz="quarter" idx="11"/>
          </p:nvPr>
        </p:nvSpPr>
        <p:spPr>
          <a:xfrm>
            <a:off x="3962400" y="6356356"/>
            <a:ext cx="7620000" cy="365125"/>
          </a:xfrm>
        </p:spPr>
        <p:txBody>
          <a:bodyPr/>
          <a:lstStyle/>
          <a:p>
            <a:r>
              <a:rPr lang="en-US"/>
              <a:t>Ritesh Kumar Singh                Deploying Django Web Application on Cloud           Unit V</a:t>
            </a:r>
            <a:endParaRPr lang="en-US" dirty="0"/>
          </a:p>
        </p:txBody>
      </p:sp>
      <p:sp>
        <p:nvSpPr>
          <p:cNvPr id="1048605" name="Slide Number Placeholder 5"/>
          <p:cNvSpPr>
            <a:spLocks noGrp="1"/>
          </p:cNvSpPr>
          <p:nvPr>
            <p:ph type="sldNum" sz="quarter" idx="12"/>
          </p:nvPr>
        </p:nvSpPr>
        <p:spPr/>
        <p:txBody>
          <a:bodyPr/>
          <a:lstStyle/>
          <a:p>
            <a:r>
              <a:rPr lang="en-US" dirty="0"/>
              <a:t>     </a:t>
            </a:r>
            <a:fld id="{B6F15528-21DE-4FAA-801E-634DDDAF4B2B}" type="slidenum">
              <a:rPr lang="en-US" smtClean="0"/>
              <a:t>2</a:t>
            </a:fld>
            <a:endParaRPr lang="en-US" dirty="0"/>
          </a:p>
        </p:txBody>
      </p:sp>
      <p:sp>
        <p:nvSpPr>
          <p:cNvPr id="1048606" name="Title 1"/>
          <p:cNvSpPr txBox="1"/>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pPr>
            <a:r>
              <a:rPr lang="en-US" sz="3200" dirty="0"/>
              <a:t>Faculty Introduction</a:t>
            </a:r>
          </a:p>
        </p:txBody>
      </p:sp>
      <p:graphicFrame>
        <p:nvGraphicFramePr>
          <p:cNvPr id="4194304" name="Table 10"/>
          <p:cNvGraphicFramePr>
            <a:graphicFrameLocks noGrp="1"/>
          </p:cNvGraphicFramePr>
          <p:nvPr>
            <p:extLst>
              <p:ext uri="{D42A27DB-BD31-4B8C-83A1-F6EECF244321}">
                <p14:modId xmlns:p14="http://schemas.microsoft.com/office/powerpoint/2010/main" val="236610062"/>
              </p:ext>
            </p:extLst>
          </p:nvPr>
        </p:nvGraphicFramePr>
        <p:xfrm>
          <a:off x="609600" y="1143000"/>
          <a:ext cx="11201400" cy="4748126"/>
        </p:xfrm>
        <a:graphic>
          <a:graphicData uri="http://schemas.openxmlformats.org/drawingml/2006/table">
            <a:tbl>
              <a:tblPr firstRow="1" bandRow="1">
                <a:tableStyleId>{E8B1032C-EA38-4F05-BA0D-38AFFFC7BED3}</a:tableStyleId>
              </a:tblPr>
              <a:tblGrid>
                <a:gridCol w="2419503">
                  <a:extLst>
                    <a:ext uri="{9D8B030D-6E8A-4147-A177-3AD203B41FA5}">
                      <a16:colId xmlns:a16="http://schemas.microsoft.com/office/drawing/2014/main" val="20000"/>
                    </a:ext>
                  </a:extLst>
                </a:gridCol>
                <a:gridCol w="8781897">
                  <a:extLst>
                    <a:ext uri="{9D8B030D-6E8A-4147-A177-3AD203B41FA5}">
                      <a16:colId xmlns:a16="http://schemas.microsoft.com/office/drawing/2014/main" val="20001"/>
                    </a:ext>
                  </a:extLst>
                </a:gridCol>
              </a:tblGrid>
              <a:tr h="471650">
                <a:tc>
                  <a:txBody>
                    <a:bodyPr/>
                    <a:lstStyle/>
                    <a:p>
                      <a:r>
                        <a:rPr lang="en-US" sz="2600" dirty="0"/>
                        <a:t>Name</a:t>
                      </a:r>
                      <a:endParaRPr lang="en-IN" sz="2600" dirty="0"/>
                    </a:p>
                  </a:txBody>
                  <a:tcPr/>
                </a:tc>
                <a:tc>
                  <a:txBody>
                    <a:bodyPr/>
                    <a:lstStyle/>
                    <a:p>
                      <a:r>
                        <a:rPr lang="en-US" sz="2600" dirty="0"/>
                        <a:t>Ritesh Kumar Singh</a:t>
                      </a:r>
                      <a:r>
                        <a:rPr lang="en-US" sz="2600" baseline="0" dirty="0"/>
                        <a:t> </a:t>
                      </a:r>
                      <a:endParaRPr lang="en-IN" sz="2600" dirty="0"/>
                    </a:p>
                  </a:txBody>
                  <a:tcPr/>
                </a:tc>
                <a:extLst>
                  <a:ext uri="{0D108BD9-81ED-4DB2-BD59-A6C34878D82A}">
                    <a16:rowId xmlns:a16="http://schemas.microsoft.com/office/drawing/2014/main" val="10000"/>
                  </a:ext>
                </a:extLst>
              </a:tr>
              <a:tr h="471650">
                <a:tc>
                  <a:txBody>
                    <a:bodyPr/>
                    <a:lstStyle/>
                    <a:p>
                      <a:r>
                        <a:rPr lang="en-US" sz="2600" dirty="0"/>
                        <a:t>Qualification</a:t>
                      </a:r>
                      <a:endParaRPr lang="en-IN" sz="2600" dirty="0"/>
                    </a:p>
                  </a:txBody>
                  <a:tcPr/>
                </a:tc>
                <a:tc>
                  <a:txBody>
                    <a:bodyPr/>
                    <a:lstStyle/>
                    <a:p>
                      <a:r>
                        <a:rPr lang="en-US" sz="2600" dirty="0"/>
                        <a:t>M. Tech.(CSE), PhD. Pursuing(CSE-Blockchain Technology)</a:t>
                      </a:r>
                      <a:endParaRPr lang="en-IN" sz="2600" dirty="0"/>
                    </a:p>
                  </a:txBody>
                  <a:tcPr/>
                </a:tc>
                <a:extLst>
                  <a:ext uri="{0D108BD9-81ED-4DB2-BD59-A6C34878D82A}">
                    <a16:rowId xmlns:a16="http://schemas.microsoft.com/office/drawing/2014/main" val="10001"/>
                  </a:ext>
                </a:extLst>
              </a:tr>
              <a:tr h="532610">
                <a:tc>
                  <a:txBody>
                    <a:bodyPr/>
                    <a:lstStyle/>
                    <a:p>
                      <a:r>
                        <a:rPr lang="en-US" sz="2600" dirty="0"/>
                        <a:t>Designation</a:t>
                      </a:r>
                      <a:endParaRPr lang="en-IN" sz="2600" dirty="0"/>
                    </a:p>
                  </a:txBody>
                  <a:tcPr/>
                </a:tc>
                <a:tc>
                  <a:txBody>
                    <a:bodyPr/>
                    <a:lstStyle/>
                    <a:p>
                      <a:r>
                        <a:rPr lang="en-US" sz="2600" dirty="0"/>
                        <a:t>Assistant Professor</a:t>
                      </a:r>
                      <a:endParaRPr lang="en-IN" sz="2600" dirty="0"/>
                    </a:p>
                  </a:txBody>
                  <a:tcPr/>
                </a:tc>
                <a:extLst>
                  <a:ext uri="{0D108BD9-81ED-4DB2-BD59-A6C34878D82A}">
                    <a16:rowId xmlns:a16="http://schemas.microsoft.com/office/drawing/2014/main" val="10002"/>
                  </a:ext>
                </a:extLst>
              </a:tr>
              <a:tr h="579966">
                <a:tc>
                  <a:txBody>
                    <a:bodyPr/>
                    <a:lstStyle/>
                    <a:p>
                      <a:r>
                        <a:rPr lang="en-US" sz="2600" dirty="0"/>
                        <a:t>Department</a:t>
                      </a:r>
                      <a:endParaRPr lang="en-IN" sz="2600" dirty="0"/>
                    </a:p>
                  </a:txBody>
                  <a:tcPr/>
                </a:tc>
                <a:tc>
                  <a:txBody>
                    <a:bodyPr/>
                    <a:lstStyle/>
                    <a:p>
                      <a:r>
                        <a:rPr lang="en-IN" sz="2600" dirty="0"/>
                        <a:t>Computer</a:t>
                      </a:r>
                      <a:r>
                        <a:rPr lang="en-IN" sz="2600" baseline="0" dirty="0"/>
                        <a:t> Science &amp; Engineering</a:t>
                      </a:r>
                      <a:endParaRPr lang="en-IN" sz="2600" dirty="0"/>
                    </a:p>
                  </a:txBody>
                  <a:tcPr/>
                </a:tc>
                <a:extLst>
                  <a:ext uri="{0D108BD9-81ED-4DB2-BD59-A6C34878D82A}">
                    <a16:rowId xmlns:a16="http://schemas.microsoft.com/office/drawing/2014/main" val="10003"/>
                  </a:ext>
                </a:extLst>
              </a:tr>
              <a:tr h="496110">
                <a:tc>
                  <a:txBody>
                    <a:bodyPr/>
                    <a:lstStyle/>
                    <a:p>
                      <a:r>
                        <a:rPr lang="en-US" sz="2600" dirty="0"/>
                        <a:t>Total Experience</a:t>
                      </a:r>
                      <a:endParaRPr lang="en-IN" sz="2600" dirty="0"/>
                    </a:p>
                  </a:txBody>
                  <a:tcPr/>
                </a:tc>
                <a:tc>
                  <a:txBody>
                    <a:bodyPr/>
                    <a:lstStyle/>
                    <a:p>
                      <a:r>
                        <a:rPr lang="en-US" sz="2600" dirty="0"/>
                        <a:t>5 years</a:t>
                      </a:r>
                      <a:endParaRPr lang="en-IN" sz="2600" dirty="0"/>
                    </a:p>
                  </a:txBody>
                  <a:tcPr/>
                </a:tc>
                <a:extLst>
                  <a:ext uri="{0D108BD9-81ED-4DB2-BD59-A6C34878D82A}">
                    <a16:rowId xmlns:a16="http://schemas.microsoft.com/office/drawing/2014/main" val="10004"/>
                  </a:ext>
                </a:extLst>
              </a:tr>
              <a:tr h="472243">
                <a:tc>
                  <a:txBody>
                    <a:bodyPr/>
                    <a:lstStyle/>
                    <a:p>
                      <a:r>
                        <a:rPr lang="en-US" sz="2600" dirty="0"/>
                        <a:t>NIET Experience</a:t>
                      </a:r>
                      <a:endParaRPr lang="en-IN" sz="2600"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pPr>
                      <a:r>
                        <a:rPr lang="en-US" sz="2600" baseline="0"/>
                        <a:t>4.5 </a:t>
                      </a:r>
                      <a:r>
                        <a:rPr lang="en-US" sz="2600" dirty="0"/>
                        <a:t>years</a:t>
                      </a:r>
                    </a:p>
                  </a:txBody>
                  <a:tcPr/>
                </a:tc>
                <a:extLst>
                  <a:ext uri="{0D108BD9-81ED-4DB2-BD59-A6C34878D82A}">
                    <a16:rowId xmlns:a16="http://schemas.microsoft.com/office/drawing/2014/main" val="10005"/>
                  </a:ext>
                </a:extLst>
              </a:tr>
              <a:tr h="1520798">
                <a:tc>
                  <a:txBody>
                    <a:bodyPr/>
                    <a:lstStyle/>
                    <a:p>
                      <a:r>
                        <a:rPr lang="en-US" sz="2600" dirty="0"/>
                        <a:t>Subject Taught</a:t>
                      </a:r>
                      <a:endParaRPr lang="en-IN" sz="2600" dirty="0"/>
                    </a:p>
                  </a:txBody>
                  <a:tcPr/>
                </a:tc>
                <a:tc>
                  <a:txBody>
                    <a:bodyPr/>
                    <a:lstStyle/>
                    <a:p>
                      <a:pPr marL="0" marR="0" lvl="0" indent="0" algn="just" defTabSz="914377" rtl="0" eaLnBrk="1" fontAlgn="auto" latinLnBrk="0" hangingPunct="1">
                        <a:lnSpc>
                          <a:spcPct val="100000"/>
                        </a:lnSpc>
                        <a:spcBef>
                          <a:spcPts val="0"/>
                        </a:spcBef>
                        <a:spcAft>
                          <a:spcPts val="0"/>
                        </a:spcAft>
                        <a:buClrTx/>
                        <a:buSzTx/>
                        <a:buFontTx/>
                        <a:buNone/>
                      </a:pPr>
                      <a:r>
                        <a:rPr lang="en-US" sz="2600" b="0" dirty="0"/>
                        <a:t>Web development using python with Django, Problem Solving using Advance Python, Problem Solving using Python, </a:t>
                      </a:r>
                      <a:r>
                        <a:rPr lang="en-IN" sz="2600" b="0" i="0" u="none" strike="noStrike" kern="1200" baseline="0" dirty="0">
                          <a:solidFill>
                            <a:schemeClr val="tx1"/>
                          </a:solidFill>
                          <a:latin typeface="+mn-lt"/>
                          <a:ea typeface="+mn-ea"/>
                          <a:cs typeface="+mn-cs"/>
                        </a:rPr>
                        <a:t>Programming for Problem Solving using C,</a:t>
                      </a:r>
                      <a:r>
                        <a:rPr lang="en-US" sz="2600" b="0" dirty="0"/>
                        <a:t> </a:t>
                      </a:r>
                      <a:r>
                        <a:rPr lang="en-IN" sz="2600" b="0" i="0" u="none" strike="noStrike" kern="1200" baseline="0" dirty="0">
                          <a:solidFill>
                            <a:schemeClr val="tx1"/>
                          </a:solidFill>
                          <a:latin typeface="+mn-lt"/>
                          <a:ea typeface="+mn-ea"/>
                          <a:cs typeface="+mn-cs"/>
                        </a:rPr>
                        <a:t>Database Management System.</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9B40915-8EE8-4A15-A9A2-979448F88814}" type="datetime1">
              <a:rPr lang="en-US" smtClean="0"/>
              <a:t>7/18/2024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Evaluation Scheme</a:t>
            </a:r>
          </a:p>
        </p:txBody>
      </p:sp>
      <p:pic>
        <p:nvPicPr>
          <p:cNvPr id="2" name="Picture 1"/>
          <p:cNvPicPr>
            <a:picLocks noChangeAspect="1"/>
          </p:cNvPicPr>
          <p:nvPr/>
        </p:nvPicPr>
        <p:blipFill>
          <a:blip r:embed="rId2"/>
          <a:stretch>
            <a:fillRect/>
          </a:stretch>
        </p:blipFill>
        <p:spPr>
          <a:xfrm>
            <a:off x="1676400" y="793757"/>
            <a:ext cx="9390164" cy="5855044"/>
          </a:xfrm>
          <a:prstGeom prst="rect">
            <a:avLst/>
          </a:prstGeom>
          <a:ln>
            <a:solidFill>
              <a:schemeClr val="accent1"/>
            </a:solidFill>
          </a:ln>
        </p:spPr>
      </p:pic>
      <p:sp>
        <p:nvSpPr>
          <p:cNvPr id="9" name="TextBox 8"/>
          <p:cNvSpPr txBox="1"/>
          <p:nvPr/>
        </p:nvSpPr>
        <p:spPr>
          <a:xfrm>
            <a:off x="2514600" y="4114800"/>
            <a:ext cx="3276600" cy="461665"/>
          </a:xfrm>
          <a:prstGeom prst="rect">
            <a:avLst/>
          </a:prstGeom>
          <a:solidFill>
            <a:srgbClr val="FFFF00"/>
          </a:solidFill>
          <a:ln>
            <a:solidFill>
              <a:schemeClr val="bg1"/>
            </a:solidFill>
          </a:ln>
        </p:spPr>
        <p:txBody>
          <a:bodyPr wrap="square" rtlCol="0">
            <a:spAutoFit/>
          </a:bodyPr>
          <a:lstStyle/>
          <a:p>
            <a:r>
              <a:rPr lang="en-US" sz="1200" dirty="0"/>
              <a:t>Python Web development with Django (Elective I)</a:t>
            </a:r>
          </a:p>
          <a:p>
            <a:r>
              <a:rPr lang="en-US" sz="1200" dirty="0"/>
              <a:t>Design Pattern (Elective II)</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7056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5F78BC-1745-4363-BFE8-DF1836C6B97A}" type="datetime1">
              <a:rPr lang="en-US" smtClean="0"/>
              <a:t>7/18/2024</a:t>
            </a:fld>
            <a:endParaRPr lang="en-US" dirty="0"/>
          </a:p>
        </p:txBody>
      </p:sp>
      <p:sp>
        <p:nvSpPr>
          <p:cNvPr id="5" name="Footer Placeholder 4"/>
          <p:cNvSpPr>
            <a:spLocks noGrp="1"/>
          </p:cNvSpPr>
          <p:nvPr>
            <p:ph type="ftr" sz="quarter" idx="11"/>
          </p:nvPr>
        </p:nvSpPr>
        <p:spPr>
          <a:xfrm>
            <a:off x="3810000" y="6455769"/>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Python libraries for web development</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4083313355"/>
              </p:ext>
            </p:extLst>
          </p:nvPr>
        </p:nvGraphicFramePr>
        <p:xfrm>
          <a:off x="1447800" y="2158974"/>
          <a:ext cx="100203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446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B0B92E-22E1-4193-8B81-2B9A4D029545}" type="datetime1">
              <a:rPr lang="en-US" smtClean="0"/>
              <a:t>7/18/2024</a:t>
            </a:fld>
            <a:endParaRPr lang="en-US" dirty="0"/>
          </a:p>
        </p:txBody>
      </p:sp>
      <p:sp>
        <p:nvSpPr>
          <p:cNvPr id="5" name="Footer Placeholder 4"/>
          <p:cNvSpPr>
            <a:spLocks noGrp="1"/>
          </p:cNvSpPr>
          <p:nvPr>
            <p:ph type="ftr" sz="quarter" idx="11"/>
          </p:nvPr>
        </p:nvSpPr>
        <p:spPr>
          <a:xfrm>
            <a:off x="4032794" y="6373774"/>
            <a:ext cx="6330406"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162288"/>
            <a:ext cx="66294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  Introduction to Django Framework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530179346"/>
              </p:ext>
            </p:extLst>
          </p:nvPr>
        </p:nvGraphicFramePr>
        <p:xfrm>
          <a:off x="762000" y="2429460"/>
          <a:ext cx="11201400" cy="282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5622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90146F1-9C1A-4D0C-A333-40DDEA46A0EE}" type="datetime1">
              <a:rPr lang="en-US" smtClean="0"/>
              <a:t>7/18/2024</a:t>
            </a:fld>
            <a:endParaRPr lang="en-US" dirty="0"/>
          </a:p>
        </p:txBody>
      </p:sp>
      <p:sp>
        <p:nvSpPr>
          <p:cNvPr id="5" name="Footer Placeholder 4"/>
          <p:cNvSpPr>
            <a:spLocks noGrp="1"/>
          </p:cNvSpPr>
          <p:nvPr>
            <p:ph type="ftr" sz="quarter" idx="11"/>
          </p:nvPr>
        </p:nvSpPr>
        <p:spPr>
          <a:xfrm>
            <a:off x="4343400" y="6248406"/>
            <a:ext cx="6248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78280" y="1162431"/>
            <a:ext cx="957072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UNIT-III: </a:t>
            </a:r>
            <a:r>
              <a:rPr lang="en-US" sz="2800" b="1" dirty="0"/>
              <a:t> Integrating Accounts &amp; Authentication on Django </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597070583"/>
              </p:ext>
            </p:extLst>
          </p:nvPr>
        </p:nvGraphicFramePr>
        <p:xfrm>
          <a:off x="609600" y="2162276"/>
          <a:ext cx="11430000" cy="283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5323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4E21580-EF91-468F-92A7-A891C5CC822F}" type="datetime1">
              <a:rPr lang="en-US" smtClean="0"/>
              <a:t>7/18/2024</a:t>
            </a:fld>
            <a:endParaRPr lang="en-US" dirty="0"/>
          </a:p>
        </p:txBody>
      </p:sp>
      <p:sp>
        <p:nvSpPr>
          <p:cNvPr id="5" name="Footer Placeholder 4"/>
          <p:cNvSpPr>
            <a:spLocks noGrp="1"/>
          </p:cNvSpPr>
          <p:nvPr>
            <p:ph type="ftr" sz="quarter" idx="11"/>
          </p:nvPr>
        </p:nvSpPr>
        <p:spPr>
          <a:xfrm>
            <a:off x="4343400" y="6248406"/>
            <a:ext cx="6248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7394" y="1245982"/>
            <a:ext cx="7600406"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UNIT-IV: </a:t>
            </a:r>
            <a:r>
              <a:rPr lang="en-US" sz="2800" b="1" dirty="0"/>
              <a:t>Connecting  SQLite  with Django</a:t>
            </a:r>
            <a:r>
              <a:rPr lang="en-IN" sz="2800" b="1" dirty="0"/>
              <a:t> </a:t>
            </a:r>
            <a:endParaRPr lang="en-IN" sz="30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285603072"/>
              </p:ext>
            </p:extLst>
          </p:nvPr>
        </p:nvGraphicFramePr>
        <p:xfrm>
          <a:off x="1143000" y="2209800"/>
          <a:ext cx="105918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48376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BBA5B6-486C-486F-AFDF-F3580EA2CDCC}" type="datetime1">
              <a:rPr lang="en-US" smtClean="0"/>
              <a:t>7/18/2024</a:t>
            </a:fld>
            <a:endParaRPr lang="en-US" dirty="0"/>
          </a:p>
        </p:txBody>
      </p:sp>
      <p:sp>
        <p:nvSpPr>
          <p:cNvPr id="5" name="Footer Placeholder 4"/>
          <p:cNvSpPr>
            <a:spLocks noGrp="1"/>
          </p:cNvSpPr>
          <p:nvPr>
            <p:ph type="ftr" sz="quarter" idx="11"/>
          </p:nvPr>
        </p:nvSpPr>
        <p:spPr>
          <a:xfrm>
            <a:off x="4343400" y="6248406"/>
            <a:ext cx="6400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213828"/>
            <a:ext cx="86106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UNIT-V: </a:t>
            </a:r>
            <a:r>
              <a:rPr lang="en-US" sz="2800" b="1" dirty="0"/>
              <a:t> Deploying Django Web Application on Cloud</a:t>
            </a:r>
            <a:r>
              <a:rPr lang="en-IN" sz="2800" b="1" dirty="0"/>
              <a:t>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911545463"/>
              </p:ext>
            </p:extLst>
          </p:nvPr>
        </p:nvGraphicFramePr>
        <p:xfrm>
          <a:off x="1447800" y="1966709"/>
          <a:ext cx="9982200" cy="306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7285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7D7F6AD-A769-43DA-85E6-FECDA959EB0C}" type="datetime1">
              <a:rPr lang="en-US" smtClean="0"/>
              <a:t>7/18/2024</a:t>
            </a:fld>
            <a:endParaRPr lang="en-US" dirty="0"/>
          </a:p>
        </p:txBody>
      </p:sp>
      <p:sp>
        <p:nvSpPr>
          <p:cNvPr id="5" name="Footer Placeholder 4"/>
          <p:cNvSpPr>
            <a:spLocks noGrp="1"/>
          </p:cNvSpPr>
          <p:nvPr>
            <p:ph type="ftr" sz="quarter" idx="11"/>
          </p:nvPr>
        </p:nvSpPr>
        <p:spPr>
          <a:xfrm>
            <a:off x="4343400" y="6248406"/>
            <a:ext cx="6553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dirty="0"/>
              <a:t>Branch Wise Application</a:t>
            </a:r>
            <a:endParaRPr lang="en-IN" sz="3200" dirty="0"/>
          </a:p>
        </p:txBody>
      </p:sp>
      <p:graphicFrame>
        <p:nvGraphicFramePr>
          <p:cNvPr id="9" name="Table 8"/>
          <p:cNvGraphicFramePr>
            <a:graphicFrameLocks noGrp="1"/>
          </p:cNvGraphicFramePr>
          <p:nvPr>
            <p:extLst>
              <p:ext uri="{D42A27DB-BD31-4B8C-83A1-F6EECF244321}">
                <p14:modId xmlns:p14="http://schemas.microsoft.com/office/powerpoint/2010/main" val="3479779763"/>
              </p:ext>
            </p:extLst>
          </p:nvPr>
        </p:nvGraphicFramePr>
        <p:xfrm>
          <a:off x="1143000" y="1317623"/>
          <a:ext cx="10134600" cy="4791456"/>
        </p:xfrm>
        <a:graphic>
          <a:graphicData uri="http://schemas.openxmlformats.org/drawingml/2006/table">
            <a:tbl>
              <a:tblPr firstRow="1" bandRow="1">
                <a:tableStyleId>{5C22544A-7EE6-4342-B048-85BDC9FD1C3A}</a:tableStyleId>
              </a:tblPr>
              <a:tblGrid>
                <a:gridCol w="10134600">
                  <a:extLst>
                    <a:ext uri="{9D8B030D-6E8A-4147-A177-3AD203B41FA5}">
                      <a16:colId xmlns:a16="http://schemas.microsoft.com/office/drawing/2014/main" val="3381697907"/>
                    </a:ext>
                  </a:extLst>
                </a:gridCol>
              </a:tblGrid>
              <a:tr h="370840">
                <a:tc>
                  <a:txBody>
                    <a:bodyPr/>
                    <a:lstStyle/>
                    <a:p>
                      <a:r>
                        <a:rPr lang="en-US" sz="2400" b="0" dirty="0">
                          <a:solidFill>
                            <a:schemeClr val="accent4">
                              <a:lumMod val="50000"/>
                            </a:schemeClr>
                          </a:solidFill>
                        </a:rPr>
                        <a:t>1. Real time web analytics</a:t>
                      </a:r>
                    </a:p>
                  </a:txBody>
                  <a:tcPr>
                    <a:solidFill>
                      <a:schemeClr val="accent3"/>
                    </a:solidFill>
                  </a:tcPr>
                </a:tc>
                <a:extLst>
                  <a:ext uri="{0D108BD9-81ED-4DB2-BD59-A6C34878D82A}">
                    <a16:rowId xmlns:a16="http://schemas.microsoft.com/office/drawing/2014/main" val="2041522289"/>
                  </a:ext>
                </a:extLst>
              </a:tr>
              <a:tr h="370840">
                <a:tc>
                  <a:txBody>
                    <a:bodyPr/>
                    <a:lstStyle/>
                    <a:p>
                      <a:pPr marL="0" indent="0">
                        <a:lnSpc>
                          <a:spcPct val="120000"/>
                        </a:lnSpc>
                        <a:buNone/>
                      </a:pPr>
                      <a:r>
                        <a:rPr lang="en-US" sz="2400" b="0" dirty="0">
                          <a:solidFill>
                            <a:schemeClr val="accent4">
                              <a:lumMod val="50000"/>
                            </a:schemeClr>
                          </a:solidFill>
                        </a:rPr>
                        <a:t>2. Digital Advertising</a:t>
                      </a:r>
                    </a:p>
                  </a:txBody>
                  <a:tcPr>
                    <a:solidFill>
                      <a:srgbClr val="00B0F0"/>
                    </a:solidFill>
                  </a:tcPr>
                </a:tc>
                <a:extLst>
                  <a:ext uri="{0D108BD9-81ED-4DB2-BD59-A6C34878D82A}">
                    <a16:rowId xmlns:a16="http://schemas.microsoft.com/office/drawing/2014/main" val="4237819354"/>
                  </a:ext>
                </a:extLst>
              </a:tr>
              <a:tr h="370840">
                <a:tc>
                  <a:txBody>
                    <a:bodyPr/>
                    <a:lstStyle/>
                    <a:p>
                      <a:r>
                        <a:rPr lang="en-US" sz="2400" b="0" dirty="0">
                          <a:solidFill>
                            <a:schemeClr val="accent4">
                              <a:lumMod val="50000"/>
                            </a:schemeClr>
                          </a:solidFill>
                        </a:rPr>
                        <a:t>3. E-Commerce</a:t>
                      </a:r>
                    </a:p>
                  </a:txBody>
                  <a:tcPr>
                    <a:solidFill>
                      <a:schemeClr val="accent4"/>
                    </a:solidFill>
                  </a:tcPr>
                </a:tc>
                <a:extLst>
                  <a:ext uri="{0D108BD9-81ED-4DB2-BD59-A6C34878D82A}">
                    <a16:rowId xmlns:a16="http://schemas.microsoft.com/office/drawing/2014/main" val="3364231830"/>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4. Publishing</a:t>
                      </a:r>
                    </a:p>
                  </a:txBody>
                  <a:tcPr>
                    <a:solidFill>
                      <a:schemeClr val="accent6"/>
                    </a:solidFill>
                  </a:tcPr>
                </a:tc>
                <a:extLst>
                  <a:ext uri="{0D108BD9-81ED-4DB2-BD59-A6C34878D82A}">
                    <a16:rowId xmlns:a16="http://schemas.microsoft.com/office/drawing/2014/main" val="859735425"/>
                  </a:ext>
                </a:extLst>
              </a:tr>
              <a:tr h="370840">
                <a:tc>
                  <a:txBody>
                    <a:bodyPr/>
                    <a:lstStyle/>
                    <a:p>
                      <a:pPr marL="0" indent="0">
                        <a:lnSpc>
                          <a:spcPct val="120000"/>
                        </a:lnSpc>
                        <a:buNone/>
                      </a:pPr>
                      <a:r>
                        <a:rPr lang="en-US" sz="2400" b="0" dirty="0">
                          <a:solidFill>
                            <a:schemeClr val="accent4">
                              <a:lumMod val="50000"/>
                            </a:schemeClr>
                          </a:solidFill>
                        </a:rPr>
                        <a:t>5. Massively Multiplayer Online Games</a:t>
                      </a:r>
                    </a:p>
                  </a:txBody>
                  <a:tcPr>
                    <a:solidFill>
                      <a:schemeClr val="tx2"/>
                    </a:solidFill>
                  </a:tcPr>
                </a:tc>
                <a:extLst>
                  <a:ext uri="{0D108BD9-81ED-4DB2-BD59-A6C34878D82A}">
                    <a16:rowId xmlns:a16="http://schemas.microsoft.com/office/drawing/2014/main" val="3838202114"/>
                  </a:ext>
                </a:extLst>
              </a:tr>
              <a:tr h="370840">
                <a:tc>
                  <a:txBody>
                    <a:bodyPr/>
                    <a:lstStyle/>
                    <a:p>
                      <a:r>
                        <a:rPr lang="en-US" sz="2400" b="0" dirty="0">
                          <a:solidFill>
                            <a:schemeClr val="accent4">
                              <a:lumMod val="50000"/>
                            </a:schemeClr>
                          </a:solidFill>
                        </a:rPr>
                        <a:t>6. Backend Services and Messaging</a:t>
                      </a:r>
                    </a:p>
                  </a:txBody>
                  <a:tcPr>
                    <a:solidFill>
                      <a:schemeClr val="accent4"/>
                    </a:solidFill>
                  </a:tcPr>
                </a:tc>
                <a:extLst>
                  <a:ext uri="{0D108BD9-81ED-4DB2-BD59-A6C34878D82A}">
                    <a16:rowId xmlns:a16="http://schemas.microsoft.com/office/drawing/2014/main" val="2179510869"/>
                  </a:ext>
                </a:extLst>
              </a:tr>
              <a:tr h="370840">
                <a:tc>
                  <a:txBody>
                    <a:bodyPr/>
                    <a:lstStyle/>
                    <a:p>
                      <a:r>
                        <a:rPr lang="en-US" sz="2400" b="0" dirty="0">
                          <a:solidFill>
                            <a:schemeClr val="accent4">
                              <a:lumMod val="50000"/>
                            </a:schemeClr>
                          </a:solidFill>
                        </a:rPr>
                        <a:t>7. Project Management &amp; Collaboration</a:t>
                      </a:r>
                    </a:p>
                  </a:txBody>
                  <a:tcPr>
                    <a:solidFill>
                      <a:srgbClr val="FFC000"/>
                    </a:solidFill>
                  </a:tcPr>
                </a:tc>
                <a:extLst>
                  <a:ext uri="{0D108BD9-81ED-4DB2-BD59-A6C34878D82A}">
                    <a16:rowId xmlns:a16="http://schemas.microsoft.com/office/drawing/2014/main" val="4231919225"/>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400" b="0" dirty="0">
                          <a:solidFill>
                            <a:schemeClr val="accent4">
                              <a:lumMod val="50000"/>
                            </a:schemeClr>
                          </a:solidFill>
                        </a:rPr>
                        <a:t>8. Real time Monitoring Services</a:t>
                      </a:r>
                    </a:p>
                  </a:txBody>
                  <a:tcPr>
                    <a:solidFill>
                      <a:schemeClr val="accent6">
                        <a:lumMod val="75000"/>
                      </a:schemeClr>
                    </a:solidFill>
                  </a:tcPr>
                </a:tc>
                <a:extLst>
                  <a:ext uri="{0D108BD9-81ED-4DB2-BD59-A6C34878D82A}">
                    <a16:rowId xmlns:a16="http://schemas.microsoft.com/office/drawing/2014/main" val="2668177381"/>
                  </a:ext>
                </a:extLst>
              </a:tr>
              <a:tr h="370840">
                <a:tc>
                  <a:txBody>
                    <a:bodyPr/>
                    <a:lstStyle/>
                    <a:p>
                      <a:r>
                        <a:rPr lang="en-US" sz="2400" b="0" dirty="0">
                          <a:solidFill>
                            <a:schemeClr val="accent4">
                              <a:lumMod val="50000"/>
                            </a:schemeClr>
                          </a:solidFill>
                        </a:rPr>
                        <a:t>9.Live Charting and Graphing</a:t>
                      </a:r>
                    </a:p>
                  </a:txBody>
                  <a:tcPr>
                    <a:solidFill>
                      <a:srgbClr val="00B0F0"/>
                    </a:solidFill>
                  </a:tcPr>
                </a:tc>
                <a:extLst>
                  <a:ext uri="{0D108BD9-81ED-4DB2-BD59-A6C34878D82A}">
                    <a16:rowId xmlns:a16="http://schemas.microsoft.com/office/drawing/2014/main" val="3851611393"/>
                  </a:ext>
                </a:extLst>
              </a:tr>
              <a:tr h="370840">
                <a:tc>
                  <a:txBody>
                    <a:bodyPr/>
                    <a:lstStyle/>
                    <a:p>
                      <a:pPr marL="0" indent="0">
                        <a:lnSpc>
                          <a:spcPct val="120000"/>
                        </a:lnSpc>
                        <a:buNone/>
                      </a:pPr>
                      <a:r>
                        <a:rPr lang="en-US" sz="2400" b="0" dirty="0">
                          <a:solidFill>
                            <a:schemeClr val="accent4">
                              <a:lumMod val="50000"/>
                            </a:schemeClr>
                          </a:solidFill>
                        </a:rPr>
                        <a:t>10. Group and Private Chat</a:t>
                      </a:r>
                    </a:p>
                  </a:txBody>
                  <a:tcPr>
                    <a:solidFill>
                      <a:schemeClr val="accent2"/>
                    </a:solidFill>
                  </a:tcPr>
                </a:tc>
                <a:extLst>
                  <a:ext uri="{0D108BD9-81ED-4DB2-BD59-A6C34878D82A}">
                    <a16:rowId xmlns:a16="http://schemas.microsoft.com/office/drawing/2014/main" val="334082140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79124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D885933-A037-47EF-A6F4-175834A9BB18}" type="datetime1">
              <a:rPr lang="en-US" smtClean="0"/>
              <a:t>7/18/2024</a:t>
            </a:fld>
            <a:endParaRPr lang="en-US" dirty="0"/>
          </a:p>
        </p:txBody>
      </p:sp>
      <p:sp>
        <p:nvSpPr>
          <p:cNvPr id="5" name="Footer Placeholder 4"/>
          <p:cNvSpPr>
            <a:spLocks noGrp="1"/>
          </p:cNvSpPr>
          <p:nvPr>
            <p:ph type="ftr" sz="quarter" idx="11"/>
          </p:nvPr>
        </p:nvSpPr>
        <p:spPr>
          <a:xfrm>
            <a:off x="4343400" y="6248406"/>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Course Objective</a:t>
            </a:r>
          </a:p>
        </p:txBody>
      </p:sp>
      <p:graphicFrame>
        <p:nvGraphicFramePr>
          <p:cNvPr id="18" name="Diagram 17">
            <a:extLst>
              <a:ext uri="{FF2B5EF4-FFF2-40B4-BE49-F238E27FC236}">
                <a16:creationId xmlns:a16="http://schemas.microsoft.com/office/drawing/2014/main" id="{9543BB0E-4B34-41A6-8377-ED0BEFF27559}"/>
              </a:ext>
            </a:extLst>
          </p:cNvPr>
          <p:cNvGraphicFramePr/>
          <p:nvPr>
            <p:extLst>
              <p:ext uri="{D42A27DB-BD31-4B8C-83A1-F6EECF244321}">
                <p14:modId xmlns:p14="http://schemas.microsoft.com/office/powerpoint/2010/main" val="590954112"/>
              </p:ext>
            </p:extLst>
          </p:nvPr>
        </p:nvGraphicFramePr>
        <p:xfrm>
          <a:off x="1447800" y="990600"/>
          <a:ext cx="6172200" cy="5232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Diagram 16">
            <a:extLst>
              <a:ext uri="{FF2B5EF4-FFF2-40B4-BE49-F238E27FC236}">
                <a16:creationId xmlns:a16="http://schemas.microsoft.com/office/drawing/2014/main" id="{DE6980AE-8C03-45D0-8DE7-A5C1FF65544F}"/>
              </a:ext>
            </a:extLst>
          </p:cNvPr>
          <p:cNvGraphicFramePr/>
          <p:nvPr>
            <p:extLst>
              <p:ext uri="{D42A27DB-BD31-4B8C-83A1-F6EECF244321}">
                <p14:modId xmlns:p14="http://schemas.microsoft.com/office/powerpoint/2010/main" val="3428656778"/>
              </p:ext>
            </p:extLst>
          </p:nvPr>
        </p:nvGraphicFramePr>
        <p:xfrm>
          <a:off x="1452154" y="1621771"/>
          <a:ext cx="10134600" cy="88264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1" name="Diagram 20">
            <a:extLst>
              <a:ext uri="{FF2B5EF4-FFF2-40B4-BE49-F238E27FC236}">
                <a16:creationId xmlns:a16="http://schemas.microsoft.com/office/drawing/2014/main" id="{9B70875F-83EC-41AC-90E2-352EB6BEB0EE}"/>
              </a:ext>
            </a:extLst>
          </p:cNvPr>
          <p:cNvGraphicFramePr/>
          <p:nvPr>
            <p:extLst>
              <p:ext uri="{D42A27DB-BD31-4B8C-83A1-F6EECF244321}">
                <p14:modId xmlns:p14="http://schemas.microsoft.com/office/powerpoint/2010/main" val="3418981199"/>
              </p:ext>
            </p:extLst>
          </p:nvPr>
        </p:nvGraphicFramePr>
        <p:xfrm>
          <a:off x="1447800" y="2667000"/>
          <a:ext cx="10134600" cy="95410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4" name="Diagram 23">
            <a:extLst>
              <a:ext uri="{FF2B5EF4-FFF2-40B4-BE49-F238E27FC236}">
                <a16:creationId xmlns:a16="http://schemas.microsoft.com/office/drawing/2014/main" id="{48C4ED4A-4AA9-4E26-97D5-1E626AAFF23D}"/>
              </a:ext>
            </a:extLst>
          </p:cNvPr>
          <p:cNvGraphicFramePr/>
          <p:nvPr>
            <p:extLst>
              <p:ext uri="{D42A27DB-BD31-4B8C-83A1-F6EECF244321}">
                <p14:modId xmlns:p14="http://schemas.microsoft.com/office/powerpoint/2010/main" val="2876628957"/>
              </p:ext>
            </p:extLst>
          </p:nvPr>
        </p:nvGraphicFramePr>
        <p:xfrm>
          <a:off x="1417320" y="3287731"/>
          <a:ext cx="10165080" cy="1526474"/>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72B28E27-B03F-4901-8614-B7F4E6B51B27}"/>
              </a:ext>
            </a:extLst>
          </p:cNvPr>
          <p:cNvGraphicFramePr/>
          <p:nvPr>
            <p:extLst>
              <p:ext uri="{D42A27DB-BD31-4B8C-83A1-F6EECF244321}">
                <p14:modId xmlns:p14="http://schemas.microsoft.com/office/powerpoint/2010/main" val="3246761232"/>
              </p:ext>
            </p:extLst>
          </p:nvPr>
        </p:nvGraphicFramePr>
        <p:xfrm>
          <a:off x="1417320" y="4690132"/>
          <a:ext cx="10165080" cy="118498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pic>
        <p:nvPicPr>
          <p:cNvPr id="11" name="Picture 10" descr="C:\Users\Dr. CS Yadav\Downloads\New logo NIET.jpg"/>
          <p:cNvPicPr/>
          <p:nvPr/>
        </p:nvPicPr>
        <p:blipFill>
          <a:blip r:embed="rId2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341724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143ABA-F66E-4FA7-854B-448922BD7497}" type="datetime1">
              <a:rPr lang="en-US" smtClean="0"/>
              <a:t>7/18/2024</a:t>
            </a:fld>
            <a:endParaRPr lang="en-US" dirty="0"/>
          </a:p>
        </p:txBody>
      </p:sp>
      <p:sp>
        <p:nvSpPr>
          <p:cNvPr id="5" name="Footer Placeholder 4"/>
          <p:cNvSpPr>
            <a:spLocks noGrp="1"/>
          </p:cNvSpPr>
          <p:nvPr>
            <p:ph type="ftr" sz="quarter" idx="11"/>
          </p:nvPr>
        </p:nvSpPr>
        <p:spPr>
          <a:xfrm>
            <a:off x="4165600" y="6356357"/>
            <a:ext cx="558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Course  Outcomes (COs)</a:t>
            </a:r>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628112404"/>
              </p:ext>
            </p:extLst>
          </p:nvPr>
        </p:nvGraphicFramePr>
        <p:xfrm>
          <a:off x="1447800" y="915993"/>
          <a:ext cx="96012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2563338120"/>
              </p:ext>
            </p:extLst>
          </p:nvPr>
        </p:nvGraphicFramePr>
        <p:xfrm>
          <a:off x="1447800" y="1676400"/>
          <a:ext cx="9601200" cy="7259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3186053711"/>
              </p:ext>
            </p:extLst>
          </p:nvPr>
        </p:nvGraphicFramePr>
        <p:xfrm>
          <a:off x="1447800" y="2485504"/>
          <a:ext cx="9601200" cy="769812"/>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44130838"/>
              </p:ext>
            </p:extLst>
          </p:nvPr>
        </p:nvGraphicFramePr>
        <p:xfrm>
          <a:off x="1447800" y="3255316"/>
          <a:ext cx="9601200" cy="788125"/>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1609899313"/>
              </p:ext>
            </p:extLst>
          </p:nvPr>
        </p:nvGraphicFramePr>
        <p:xfrm>
          <a:off x="1447799" y="4043442"/>
          <a:ext cx="9601201"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4269391771"/>
              </p:ext>
            </p:extLst>
          </p:nvPr>
        </p:nvGraphicFramePr>
        <p:xfrm>
          <a:off x="1447800" y="4644732"/>
          <a:ext cx="9601200" cy="1537949"/>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pic>
        <p:nvPicPr>
          <p:cNvPr id="13" name="Picture 12" descr="C:\Users\Dr. CS Yadav\Downloads\New logo NIET.jpg"/>
          <p:cNvPicPr/>
          <p:nvPr/>
        </p:nvPicPr>
        <p:blipFill>
          <a:blip r:embed="rId3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393684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47A3B2-03ED-4AC4-ADE7-B82BE5844EF8}" type="datetime1">
              <a:rPr lang="en-US" smtClean="0"/>
              <a:t>7/18/2024</a:t>
            </a:fld>
            <a:endParaRPr lang="en-US" dirty="0"/>
          </a:p>
        </p:txBody>
      </p:sp>
      <p:sp>
        <p:nvSpPr>
          <p:cNvPr id="5" name="Footer Placeholder 4"/>
          <p:cNvSpPr>
            <a:spLocks noGrp="1"/>
          </p:cNvSpPr>
          <p:nvPr>
            <p:ph type="ftr" sz="quarter" idx="11"/>
          </p:nvPr>
        </p:nvSpPr>
        <p:spPr>
          <a:xfrm>
            <a:off x="4165600" y="6356357"/>
            <a:ext cx="5740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Outcomes (POs)</a:t>
            </a:r>
          </a:p>
        </p:txBody>
      </p:sp>
      <p:graphicFrame>
        <p:nvGraphicFramePr>
          <p:cNvPr id="3" name="Diagram 2">
            <a:extLst>
              <a:ext uri="{FF2B5EF4-FFF2-40B4-BE49-F238E27FC236}">
                <a16:creationId xmlns:a16="http://schemas.microsoft.com/office/drawing/2014/main" id="{9639769C-859C-4B3D-A306-7CB7BFEFB437}"/>
              </a:ext>
            </a:extLst>
          </p:cNvPr>
          <p:cNvGraphicFramePr/>
          <p:nvPr>
            <p:extLst>
              <p:ext uri="{D42A27DB-BD31-4B8C-83A1-F6EECF244321}">
                <p14:modId xmlns:p14="http://schemas.microsoft.com/office/powerpoint/2010/main" val="2942743533"/>
              </p:ext>
            </p:extLst>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726987132"/>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1338360237"/>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4117994087"/>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2609242599"/>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97104365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1837845583"/>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pic>
        <p:nvPicPr>
          <p:cNvPr id="13" name="Picture 12" descr="C:\Users\Dr. CS Yadav\Downloads\New logo NIET.jpg"/>
          <p:cNvPicPr/>
          <p:nvPr/>
        </p:nvPicPr>
        <p:blipFill>
          <a:blip r:embed="rId3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69875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6AEE0D-E1B8-4FF7-B58D-420B835B7D5D}" type="datetime1">
              <a:rPr lang="en-US" smtClean="0"/>
              <a:t>7/18/2024</a:t>
            </a:fld>
            <a:endParaRPr lang="en-US" dirty="0"/>
          </a:p>
        </p:txBody>
      </p:sp>
      <p:sp>
        <p:nvSpPr>
          <p:cNvPr id="5" name="Footer Placeholder 4"/>
          <p:cNvSpPr>
            <a:spLocks noGrp="1"/>
          </p:cNvSpPr>
          <p:nvPr>
            <p:ph type="ftr" sz="quarter" idx="11"/>
          </p:nvPr>
        </p:nvSpPr>
        <p:spPr>
          <a:xfrm>
            <a:off x="4165600" y="6356357"/>
            <a:ext cx="558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Outcomes (POs)</a:t>
            </a:r>
          </a:p>
        </p:txBody>
      </p:sp>
      <p:graphicFrame>
        <p:nvGraphicFramePr>
          <p:cNvPr id="3" name="Diagram 2">
            <a:extLst>
              <a:ext uri="{FF2B5EF4-FFF2-40B4-BE49-F238E27FC236}">
                <a16:creationId xmlns:a16="http://schemas.microsoft.com/office/drawing/2014/main" id="{9639769C-859C-4B3D-A306-7CB7BFEFB437}"/>
              </a:ext>
            </a:extLst>
          </p:cNvPr>
          <p:cNvGraphicFramePr/>
          <p:nvPr/>
        </p:nvGraphicFramePr>
        <p:xfrm>
          <a:off x="1447800" y="915993"/>
          <a:ext cx="7620000" cy="6857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82B6EEB3-4F7D-4058-90BF-7686C05591A5}"/>
              </a:ext>
            </a:extLst>
          </p:cNvPr>
          <p:cNvGraphicFramePr/>
          <p:nvPr>
            <p:extLst>
              <p:ext uri="{D42A27DB-BD31-4B8C-83A1-F6EECF244321}">
                <p14:modId xmlns:p14="http://schemas.microsoft.com/office/powerpoint/2010/main" val="1885651136"/>
              </p:ext>
            </p:extLst>
          </p:nvPr>
        </p:nvGraphicFramePr>
        <p:xfrm>
          <a:off x="1447800" y="1676400"/>
          <a:ext cx="7620000" cy="6718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29" name="Diagram 28">
            <a:extLst>
              <a:ext uri="{FF2B5EF4-FFF2-40B4-BE49-F238E27FC236}">
                <a16:creationId xmlns:a16="http://schemas.microsoft.com/office/drawing/2014/main" id="{7DDBDBF2-72B4-47F6-A244-B190878D7661}"/>
              </a:ext>
            </a:extLst>
          </p:cNvPr>
          <p:cNvGraphicFramePr/>
          <p:nvPr>
            <p:extLst>
              <p:ext uri="{D42A27DB-BD31-4B8C-83A1-F6EECF244321}">
                <p14:modId xmlns:p14="http://schemas.microsoft.com/office/powerpoint/2010/main" val="413529852"/>
              </p:ext>
            </p:extLst>
          </p:nvPr>
        </p:nvGraphicFramePr>
        <p:xfrm>
          <a:off x="1447800" y="2438400"/>
          <a:ext cx="7620000" cy="671851"/>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28" name="Diagram 27">
            <a:extLst>
              <a:ext uri="{FF2B5EF4-FFF2-40B4-BE49-F238E27FC236}">
                <a16:creationId xmlns:a16="http://schemas.microsoft.com/office/drawing/2014/main" id="{FF18B9EF-2226-465D-A86F-AEDC37127CE3}"/>
              </a:ext>
            </a:extLst>
          </p:cNvPr>
          <p:cNvGraphicFramePr/>
          <p:nvPr>
            <p:extLst>
              <p:ext uri="{D42A27DB-BD31-4B8C-83A1-F6EECF244321}">
                <p14:modId xmlns:p14="http://schemas.microsoft.com/office/powerpoint/2010/main" val="3456498700"/>
              </p:ext>
            </p:extLst>
          </p:nvPr>
        </p:nvGraphicFramePr>
        <p:xfrm>
          <a:off x="1447800" y="3214349"/>
          <a:ext cx="7620000" cy="671851"/>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graphicFrame>
        <p:nvGraphicFramePr>
          <p:cNvPr id="27" name="Diagram 26">
            <a:extLst>
              <a:ext uri="{FF2B5EF4-FFF2-40B4-BE49-F238E27FC236}">
                <a16:creationId xmlns:a16="http://schemas.microsoft.com/office/drawing/2014/main" id="{9879EC82-C476-479D-8C4F-E39117AEE719}"/>
              </a:ext>
            </a:extLst>
          </p:cNvPr>
          <p:cNvGraphicFramePr/>
          <p:nvPr>
            <p:extLst>
              <p:ext uri="{D42A27DB-BD31-4B8C-83A1-F6EECF244321}">
                <p14:modId xmlns:p14="http://schemas.microsoft.com/office/powerpoint/2010/main" val="693413557"/>
              </p:ext>
            </p:extLst>
          </p:nvPr>
        </p:nvGraphicFramePr>
        <p:xfrm>
          <a:off x="1447799" y="3976349"/>
          <a:ext cx="7619999" cy="671851"/>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graphicFrame>
        <p:nvGraphicFramePr>
          <p:cNvPr id="26" name="Diagram 25">
            <a:extLst>
              <a:ext uri="{FF2B5EF4-FFF2-40B4-BE49-F238E27FC236}">
                <a16:creationId xmlns:a16="http://schemas.microsoft.com/office/drawing/2014/main" id="{E7000E0B-B671-48F3-B4D0-69245DF1D7B7}"/>
              </a:ext>
            </a:extLst>
          </p:cNvPr>
          <p:cNvGraphicFramePr/>
          <p:nvPr>
            <p:extLst>
              <p:ext uri="{D42A27DB-BD31-4B8C-83A1-F6EECF244321}">
                <p14:modId xmlns:p14="http://schemas.microsoft.com/office/powerpoint/2010/main" val="2570014629"/>
              </p:ext>
            </p:extLst>
          </p:nvPr>
        </p:nvGraphicFramePr>
        <p:xfrm>
          <a:off x="1447800" y="4738349"/>
          <a:ext cx="7620000" cy="671851"/>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graphicFrame>
        <p:nvGraphicFramePr>
          <p:cNvPr id="25" name="Diagram 24">
            <a:extLst>
              <a:ext uri="{FF2B5EF4-FFF2-40B4-BE49-F238E27FC236}">
                <a16:creationId xmlns:a16="http://schemas.microsoft.com/office/drawing/2014/main" id="{584BFB67-A290-4345-B380-C21BA1F5C217}"/>
              </a:ext>
            </a:extLst>
          </p:cNvPr>
          <p:cNvGraphicFramePr/>
          <p:nvPr>
            <p:extLst>
              <p:ext uri="{D42A27DB-BD31-4B8C-83A1-F6EECF244321}">
                <p14:modId xmlns:p14="http://schemas.microsoft.com/office/powerpoint/2010/main" val="3778970734"/>
              </p:ext>
            </p:extLst>
          </p:nvPr>
        </p:nvGraphicFramePr>
        <p:xfrm>
          <a:off x="1447800" y="5486400"/>
          <a:ext cx="7620000" cy="671851"/>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pic>
        <p:nvPicPr>
          <p:cNvPr id="13" name="Picture 12" descr="C:\Users\Dr. CS Yadav\Downloads\New logo NIET.jpg"/>
          <p:cNvPicPr/>
          <p:nvPr/>
        </p:nvPicPr>
        <p:blipFill>
          <a:blip r:embed="rId3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9780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8CE921D-8EEB-4602-87E7-6211CDD6CE17}" type="datetime1">
              <a:rPr lang="en-US" smtClean="0"/>
              <a:t>7/18/2024</a:t>
            </a:fld>
            <a:endParaRPr lang="en-US" dirty="0"/>
          </a:p>
        </p:txBody>
      </p:sp>
      <p:sp>
        <p:nvSpPr>
          <p:cNvPr id="5" name="Footer Placeholder 4"/>
          <p:cNvSpPr>
            <a:spLocks noGrp="1"/>
          </p:cNvSpPr>
          <p:nvPr>
            <p:ph type="ftr" sz="quarter" idx="11"/>
          </p:nvPr>
        </p:nvSpPr>
        <p:spPr>
          <a:xfrm>
            <a:off x="4038600" y="6356356"/>
            <a:ext cx="5410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COs - POs  Mapping</a:t>
            </a:r>
          </a:p>
        </p:txBody>
      </p:sp>
      <p:graphicFrame>
        <p:nvGraphicFramePr>
          <p:cNvPr id="11" name="Table 10">
            <a:extLst>
              <a:ext uri="{FF2B5EF4-FFF2-40B4-BE49-F238E27FC236}">
                <a16:creationId xmlns:a16="http://schemas.microsoft.com/office/drawing/2014/main" id="{37BF15CC-9306-4F59-866F-B4B4CD6EC448}"/>
              </a:ext>
            </a:extLst>
          </p:cNvPr>
          <p:cNvGraphicFramePr>
            <a:graphicFrameLocks noGrp="1"/>
          </p:cNvGraphicFramePr>
          <p:nvPr>
            <p:extLst>
              <p:ext uri="{D42A27DB-BD31-4B8C-83A1-F6EECF244321}">
                <p14:modId xmlns:p14="http://schemas.microsoft.com/office/powerpoint/2010/main" val="1163488045"/>
              </p:ext>
            </p:extLst>
          </p:nvPr>
        </p:nvGraphicFramePr>
        <p:xfrm>
          <a:off x="762000" y="1066800"/>
          <a:ext cx="11049006" cy="4876802"/>
        </p:xfrm>
        <a:graphic>
          <a:graphicData uri="http://schemas.openxmlformats.org/drawingml/2006/table">
            <a:tbl>
              <a:tblPr>
                <a:effectLst>
                  <a:outerShdw blurRad="50800" dist="38100" algn="l" rotWithShape="0">
                    <a:prstClr val="black">
                      <a:alpha val="40000"/>
                    </a:prstClr>
                  </a:outerShdw>
                </a:effectLst>
                <a:tableStyleId>{35758FB7-9AC5-4552-8A53-C91805E547FA}</a:tableStyleId>
              </a:tblPr>
              <a:tblGrid>
                <a:gridCol w="1236054">
                  <a:extLst>
                    <a:ext uri="{9D8B030D-6E8A-4147-A177-3AD203B41FA5}">
                      <a16:colId xmlns:a16="http://schemas.microsoft.com/office/drawing/2014/main" val="795970929"/>
                    </a:ext>
                  </a:extLst>
                </a:gridCol>
                <a:gridCol w="817746">
                  <a:extLst>
                    <a:ext uri="{9D8B030D-6E8A-4147-A177-3AD203B41FA5}">
                      <a16:colId xmlns:a16="http://schemas.microsoft.com/office/drawing/2014/main" val="937651517"/>
                    </a:ext>
                  </a:extLst>
                </a:gridCol>
                <a:gridCol w="817746">
                  <a:extLst>
                    <a:ext uri="{9D8B030D-6E8A-4147-A177-3AD203B41FA5}">
                      <a16:colId xmlns:a16="http://schemas.microsoft.com/office/drawing/2014/main" val="2579388657"/>
                    </a:ext>
                  </a:extLst>
                </a:gridCol>
                <a:gridCol w="817746">
                  <a:extLst>
                    <a:ext uri="{9D8B030D-6E8A-4147-A177-3AD203B41FA5}">
                      <a16:colId xmlns:a16="http://schemas.microsoft.com/office/drawing/2014/main" val="4274486272"/>
                    </a:ext>
                  </a:extLst>
                </a:gridCol>
                <a:gridCol w="817746">
                  <a:extLst>
                    <a:ext uri="{9D8B030D-6E8A-4147-A177-3AD203B41FA5}">
                      <a16:colId xmlns:a16="http://schemas.microsoft.com/office/drawing/2014/main" val="117179822"/>
                    </a:ext>
                  </a:extLst>
                </a:gridCol>
                <a:gridCol w="817746">
                  <a:extLst>
                    <a:ext uri="{9D8B030D-6E8A-4147-A177-3AD203B41FA5}">
                      <a16:colId xmlns:a16="http://schemas.microsoft.com/office/drawing/2014/main" val="1944862725"/>
                    </a:ext>
                  </a:extLst>
                </a:gridCol>
                <a:gridCol w="817746">
                  <a:extLst>
                    <a:ext uri="{9D8B030D-6E8A-4147-A177-3AD203B41FA5}">
                      <a16:colId xmlns:a16="http://schemas.microsoft.com/office/drawing/2014/main" val="3301730808"/>
                    </a:ext>
                  </a:extLst>
                </a:gridCol>
                <a:gridCol w="817746">
                  <a:extLst>
                    <a:ext uri="{9D8B030D-6E8A-4147-A177-3AD203B41FA5}">
                      <a16:colId xmlns:a16="http://schemas.microsoft.com/office/drawing/2014/main" val="1019184723"/>
                    </a:ext>
                  </a:extLst>
                </a:gridCol>
                <a:gridCol w="817746">
                  <a:extLst>
                    <a:ext uri="{9D8B030D-6E8A-4147-A177-3AD203B41FA5}">
                      <a16:colId xmlns:a16="http://schemas.microsoft.com/office/drawing/2014/main" val="152610545"/>
                    </a:ext>
                  </a:extLst>
                </a:gridCol>
                <a:gridCol w="817746">
                  <a:extLst>
                    <a:ext uri="{9D8B030D-6E8A-4147-A177-3AD203B41FA5}">
                      <a16:colId xmlns:a16="http://schemas.microsoft.com/office/drawing/2014/main" val="906752748"/>
                    </a:ext>
                  </a:extLst>
                </a:gridCol>
                <a:gridCol w="817746">
                  <a:extLst>
                    <a:ext uri="{9D8B030D-6E8A-4147-A177-3AD203B41FA5}">
                      <a16:colId xmlns:a16="http://schemas.microsoft.com/office/drawing/2014/main" val="1596455435"/>
                    </a:ext>
                  </a:extLst>
                </a:gridCol>
                <a:gridCol w="817746">
                  <a:extLst>
                    <a:ext uri="{9D8B030D-6E8A-4147-A177-3AD203B41FA5}">
                      <a16:colId xmlns:a16="http://schemas.microsoft.com/office/drawing/2014/main" val="2096782459"/>
                    </a:ext>
                  </a:extLst>
                </a:gridCol>
                <a:gridCol w="817746">
                  <a:extLst>
                    <a:ext uri="{9D8B030D-6E8A-4147-A177-3AD203B41FA5}">
                      <a16:colId xmlns:a16="http://schemas.microsoft.com/office/drawing/2014/main" val="590504669"/>
                    </a:ext>
                  </a:extLst>
                </a:gridCol>
              </a:tblGrid>
              <a:tr h="748246">
                <a:tc>
                  <a:txBody>
                    <a:bodyPr/>
                    <a:lstStyle/>
                    <a:p>
                      <a:pPr algn="ctr" fontAlgn="ctr"/>
                      <a:r>
                        <a:rPr lang="en-US" sz="2100" b="1" u="none" strike="noStrike" dirty="0">
                          <a:effectLst/>
                        </a:rPr>
                        <a:t> CO.K</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PO6</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PO7</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PO8</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PO9</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PO10</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1" u="none" strike="noStrike" dirty="0">
                          <a:effectLst/>
                        </a:rPr>
                        <a:t>PO12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199435395"/>
                  </a:ext>
                </a:extLst>
              </a:tr>
              <a:tr h="757048">
                <a:tc>
                  <a:txBody>
                    <a:bodyPr/>
                    <a:lstStyle/>
                    <a:p>
                      <a:pPr algn="ctr" rtl="0" fontAlgn="ctr"/>
                      <a:r>
                        <a:rPr lang="en-US" sz="2100" b="1" u="none" strike="noStrike" dirty="0">
                          <a:effectLst/>
                        </a:rPr>
                        <a:t>CO1</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79903705"/>
                  </a:ext>
                </a:extLst>
              </a:tr>
              <a:tr h="748246">
                <a:tc>
                  <a:txBody>
                    <a:bodyPr/>
                    <a:lstStyle/>
                    <a:p>
                      <a:pPr algn="ctr" rtl="0" fontAlgn="ctr"/>
                      <a:r>
                        <a:rPr lang="en-US" sz="2100" b="1" u="none" strike="noStrike" dirty="0">
                          <a:effectLst/>
                        </a:rPr>
                        <a:t>CO2</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041487185"/>
                  </a:ext>
                </a:extLst>
              </a:tr>
              <a:tr h="748246">
                <a:tc>
                  <a:txBody>
                    <a:bodyPr/>
                    <a:lstStyle/>
                    <a:p>
                      <a:pPr algn="ctr" rtl="0" fontAlgn="ctr"/>
                      <a:r>
                        <a:rPr lang="en-US" sz="2100" b="1" u="none" strike="noStrike" dirty="0">
                          <a:effectLst/>
                        </a:rPr>
                        <a:t>CO3</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 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3230989355"/>
                  </a:ext>
                </a:extLst>
              </a:tr>
              <a:tr h="748246">
                <a:tc>
                  <a:txBody>
                    <a:bodyPr/>
                    <a:lstStyle/>
                    <a:p>
                      <a:pPr algn="ctr" rtl="0" fontAlgn="ctr"/>
                      <a:r>
                        <a:rPr lang="en-US" sz="2100" b="1" u="none" strike="noStrike" dirty="0">
                          <a:effectLst/>
                        </a:rPr>
                        <a:t>CO4</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4294284923"/>
                  </a:ext>
                </a:extLst>
              </a:tr>
              <a:tr h="748246">
                <a:tc>
                  <a:txBody>
                    <a:bodyPr/>
                    <a:lstStyle/>
                    <a:p>
                      <a:pPr algn="ctr" rtl="0" fontAlgn="ctr"/>
                      <a:r>
                        <a:rPr lang="en-US" sz="2100" b="1" u="none" strike="noStrike" dirty="0">
                          <a:effectLst/>
                        </a:rPr>
                        <a:t>CO5</a:t>
                      </a:r>
                      <a:endParaRPr lang="en-US" sz="2100" b="1" i="0" u="none" strike="noStrike" dirty="0">
                        <a:solidFill>
                          <a:srgbClr val="000000"/>
                        </a:solidFill>
                        <a:effectLst/>
                        <a:latin typeface="Calibri" panose="020F050202020403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2</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022190676"/>
                  </a:ext>
                </a:extLst>
              </a:tr>
              <a:tr h="378524">
                <a:tc>
                  <a:txBody>
                    <a:bodyPr/>
                    <a:lstStyle/>
                    <a:p>
                      <a:pPr algn="ctr" fontAlgn="ctr"/>
                      <a:r>
                        <a:rPr lang="en-US" sz="2100" b="1" u="none" strike="noStrike" dirty="0">
                          <a:effectLst/>
                        </a:rPr>
                        <a:t>AVG </a:t>
                      </a:r>
                      <a:endParaRPr lang="en-US" sz="2100" b="1" i="0" u="none" strike="noStrike" dirty="0">
                        <a:solidFill>
                          <a:srgbClr val="000000"/>
                        </a:solidFill>
                        <a:effectLst/>
                        <a:latin typeface="Arial" panose="020B0604020202020204" pitchFamily="34" charset="0"/>
                      </a:endParaRP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2.8</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2.4</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8170" marR="8170" marT="817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blipFill>
                      <a:blip r:embed="rId2"/>
                      <a:tile tx="0" ty="0" sx="100000" sy="100000" flip="none" algn="tl"/>
                    </a:blipFill>
                  </a:tcPr>
                </a:tc>
                <a:extLst>
                  <a:ext uri="{0D108BD9-81ED-4DB2-BD59-A6C34878D82A}">
                    <a16:rowId xmlns:a16="http://schemas.microsoft.com/office/drawing/2014/main" val="1419157533"/>
                  </a:ext>
                </a:extLst>
              </a:tr>
            </a:tbl>
          </a:graphicData>
        </a:graphic>
      </p:graphicFrame>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09371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32AD95E-CED6-4B35-9DB4-6753B6790F44}"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Specific Outcomes(PSOs)</a:t>
            </a:r>
          </a:p>
        </p:txBody>
      </p:sp>
      <p:graphicFrame>
        <p:nvGraphicFramePr>
          <p:cNvPr id="9" name="Table 8"/>
          <p:cNvGraphicFramePr>
            <a:graphicFrameLocks noGrp="1"/>
          </p:cNvGraphicFramePr>
          <p:nvPr>
            <p:extLst>
              <p:ext uri="{D42A27DB-BD31-4B8C-83A1-F6EECF244321}">
                <p14:modId xmlns:p14="http://schemas.microsoft.com/office/powerpoint/2010/main" val="3680027405"/>
              </p:ext>
            </p:extLst>
          </p:nvPr>
        </p:nvGraphicFramePr>
        <p:xfrm>
          <a:off x="1524000" y="785158"/>
          <a:ext cx="10210800" cy="5940677"/>
        </p:xfrm>
        <a:graphic>
          <a:graphicData uri="http://schemas.openxmlformats.org/drawingml/2006/table">
            <a:tbl>
              <a:tblPr firstRow="1" bandRow="1">
                <a:tableStyleId>{5C22544A-7EE6-4342-B048-85BDC9FD1C3A}</a:tableStyleId>
              </a:tblPr>
              <a:tblGrid>
                <a:gridCol w="1789622">
                  <a:extLst>
                    <a:ext uri="{9D8B030D-6E8A-4147-A177-3AD203B41FA5}">
                      <a16:colId xmlns:a16="http://schemas.microsoft.com/office/drawing/2014/main" val="20000"/>
                    </a:ext>
                  </a:extLst>
                </a:gridCol>
                <a:gridCol w="2848341">
                  <a:extLst>
                    <a:ext uri="{9D8B030D-6E8A-4147-A177-3AD203B41FA5}">
                      <a16:colId xmlns:a16="http://schemas.microsoft.com/office/drawing/2014/main" val="20001"/>
                    </a:ext>
                  </a:extLst>
                </a:gridCol>
                <a:gridCol w="5572837">
                  <a:extLst>
                    <a:ext uri="{9D8B030D-6E8A-4147-A177-3AD203B41FA5}">
                      <a16:colId xmlns:a16="http://schemas.microsoft.com/office/drawing/2014/main" val="20002"/>
                    </a:ext>
                  </a:extLst>
                </a:gridCol>
              </a:tblGrid>
              <a:tr h="911477">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 No</a:t>
                      </a:r>
                      <a:r>
                        <a:rPr lang="en-IN" sz="2000" b="0" dirty="0">
                          <a:solidFill>
                            <a:schemeClr val="accent4">
                              <a:lumMod val="50000"/>
                            </a:schemeClr>
                          </a:solidFill>
                          <a:latin typeface="Times New Roman"/>
                          <a:ea typeface="Times New Roman"/>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Specific</a:t>
                      </a:r>
                    </a:p>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Outcomes (PSO)</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114592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Understand  to shows relationships and interactions</a:t>
                      </a:r>
                      <a:r>
                        <a:rPr lang="en-US" sz="2000" b="0" baseline="0" dirty="0">
                          <a:solidFill>
                            <a:schemeClr val="accent4">
                              <a:lumMod val="50000"/>
                            </a:schemeClr>
                          </a:solidFill>
                          <a:latin typeface="+mn-lt"/>
                          <a:ea typeface="Times New Roman"/>
                        </a:rPr>
                        <a:t> </a:t>
                      </a:r>
                      <a:r>
                        <a:rPr lang="en-US" sz="2000" b="0" dirty="0">
                          <a:solidFill>
                            <a:schemeClr val="accent4">
                              <a:lumMod val="50000"/>
                            </a:schemeClr>
                          </a:solidFill>
                          <a:latin typeface="+mn-lt"/>
                          <a:ea typeface="Times New Roman"/>
                        </a:rPr>
                        <a:t>between classes or objects</a:t>
                      </a:r>
                      <a:r>
                        <a:rPr lang="en-US" sz="2000" b="0" baseline="0" dirty="0">
                          <a:solidFill>
                            <a:schemeClr val="accent4">
                              <a:lumMod val="50000"/>
                            </a:schemeClr>
                          </a:solidFill>
                          <a:latin typeface="+mn-lt"/>
                          <a:ea typeface="Times New Roman"/>
                        </a:rPr>
                        <a:t> of a pattern.</a:t>
                      </a:r>
                      <a:endParaRPr lang="en-US" sz="2000" b="0" dirty="0">
                        <a:solidFill>
                          <a:schemeClr val="accent4">
                            <a:lumMod val="50000"/>
                          </a:schemeClr>
                        </a:solidFill>
                        <a:latin typeface="+mn-lt"/>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mn-lt"/>
                          <a:ea typeface="Times New Roman"/>
                        </a:rPr>
                        <a:t> </a:t>
                      </a:r>
                      <a:endParaRPr lang="en-US" sz="2000" b="0" baseline="0" dirty="0">
                        <a:solidFill>
                          <a:schemeClr val="accent4">
                            <a:lumMod val="50000"/>
                          </a:schemeClr>
                        </a:solidFill>
                        <a:latin typeface="+mn-lt"/>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92873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dirty="0">
                          <a:solidFill>
                            <a:schemeClr val="accent4">
                              <a:lumMod val="50000"/>
                            </a:schemeClr>
                          </a:solidFill>
                          <a:latin typeface="Times New Roman"/>
                          <a:ea typeface="Times New Roman"/>
                        </a:rPr>
                        <a:t>Study to speed up the development process by providing well-tested, proven development</a:t>
                      </a: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82895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just">
                        <a:lnSpc>
                          <a:spcPct val="100000"/>
                        </a:lnSpc>
                        <a:spcBef>
                          <a:spcPts val="0"/>
                        </a:spcBef>
                        <a:spcAft>
                          <a:spcPts val="0"/>
                        </a:spcAft>
                      </a:pPr>
                      <a:endParaRPr lang="en-US" sz="2000" b="0" dirty="0">
                        <a:solidFill>
                          <a:schemeClr val="accent4">
                            <a:lumMod val="50000"/>
                          </a:schemeClr>
                        </a:solidFill>
                        <a:latin typeface="Times New Roman"/>
                        <a:ea typeface="Times New Roman"/>
                      </a:endParaRPr>
                    </a:p>
                    <a:p>
                      <a:pPr marL="68580" marR="0" algn="l">
                        <a:lnSpc>
                          <a:spcPct val="100000"/>
                        </a:lnSpc>
                        <a:spcBef>
                          <a:spcPts val="0"/>
                        </a:spcBef>
                        <a:spcAft>
                          <a:spcPts val="0"/>
                        </a:spcAft>
                      </a:pPr>
                      <a:r>
                        <a:rPr lang="en-US" sz="2000" b="0" baseline="0" dirty="0">
                          <a:solidFill>
                            <a:schemeClr val="accent4">
                              <a:lumMod val="50000"/>
                            </a:schemeClr>
                          </a:solidFill>
                          <a:latin typeface="+mn-lt"/>
                          <a:ea typeface="Times New Roman"/>
                        </a:rPr>
                        <a:t>Select a specific design pattern for the solution of a given design problem</a:t>
                      </a:r>
                    </a:p>
                    <a:p>
                      <a:pPr marL="68580"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8580"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94741">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p>
                      <a:pPr marL="67945" marR="0" algn="l">
                        <a:lnSpc>
                          <a:spcPct val="100000"/>
                        </a:lnSpc>
                        <a:spcBef>
                          <a:spcPts val="0"/>
                        </a:spcBef>
                        <a:spcAft>
                          <a:spcPts val="0"/>
                        </a:spcAft>
                      </a:pPr>
                      <a:r>
                        <a:rPr lang="en-US" sz="2000" b="0" dirty="0">
                          <a:solidFill>
                            <a:schemeClr val="accent4">
                              <a:lumMod val="50000"/>
                            </a:schemeClr>
                          </a:solidFill>
                          <a:latin typeface="+mn-lt"/>
                          <a:ea typeface="Times New Roman"/>
                        </a:rPr>
                        <a:t>Create a catalogue entry for a simple design pattern whose purpose and application is understood.</a:t>
                      </a:r>
                    </a:p>
                    <a:p>
                      <a:pPr marL="67945" marR="0" algn="l">
                        <a:lnSpc>
                          <a:spcPts val="1235"/>
                        </a:lnSpc>
                        <a:spcBef>
                          <a:spcPts val="0"/>
                        </a:spcBef>
                        <a:spcAft>
                          <a:spcPts val="0"/>
                        </a:spcAft>
                      </a:pPr>
                      <a:endParaRPr lang="en-US" sz="2000" b="0" dirty="0">
                        <a:solidFill>
                          <a:schemeClr val="accent4">
                            <a:lumMod val="50000"/>
                          </a:schemeClr>
                        </a:solidFill>
                        <a:latin typeface="+mn-lt"/>
                        <a:ea typeface="Times New Roman"/>
                      </a:endParaRPr>
                    </a:p>
                    <a:p>
                      <a:pPr marL="67945" marR="0" algn="just">
                        <a:lnSpc>
                          <a:spcPts val="1235"/>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2981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FC463A-541D-4D5B-8B8B-01A5141BBC4A}"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COs - PSOs  Mapping</a:t>
            </a:r>
          </a:p>
        </p:txBody>
      </p:sp>
      <p:graphicFrame>
        <p:nvGraphicFramePr>
          <p:cNvPr id="9" name="Table 8"/>
          <p:cNvGraphicFramePr>
            <a:graphicFrameLocks noGrp="1"/>
          </p:cNvGraphicFramePr>
          <p:nvPr>
            <p:extLst>
              <p:ext uri="{D42A27DB-BD31-4B8C-83A1-F6EECF244321}">
                <p14:modId xmlns:p14="http://schemas.microsoft.com/office/powerpoint/2010/main" val="1260175664"/>
              </p:ext>
            </p:extLst>
          </p:nvPr>
        </p:nvGraphicFramePr>
        <p:xfrm>
          <a:off x="1447800" y="1219200"/>
          <a:ext cx="9601202" cy="4911361"/>
        </p:xfrm>
        <a:graphic>
          <a:graphicData uri="http://schemas.openxmlformats.org/drawingml/2006/table">
            <a:tbl>
              <a:tblPr firstRow="1" bandRow="1">
                <a:tableStyleId>{5C22544A-7EE6-4342-B048-85BDC9FD1C3A}</a:tableStyleId>
              </a:tblPr>
              <a:tblGrid>
                <a:gridCol w="1640541">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981200">
                  <a:extLst>
                    <a:ext uri="{9D8B030D-6E8A-4147-A177-3AD203B41FA5}">
                      <a16:colId xmlns:a16="http://schemas.microsoft.com/office/drawing/2014/main" val="306484564"/>
                    </a:ext>
                  </a:extLst>
                </a:gridCol>
                <a:gridCol w="1864661">
                  <a:extLst>
                    <a:ext uri="{9D8B030D-6E8A-4147-A177-3AD203B41FA5}">
                      <a16:colId xmlns:a16="http://schemas.microsoft.com/office/drawing/2014/main" val="2204462268"/>
                    </a:ext>
                  </a:extLst>
                </a:gridCol>
              </a:tblGrid>
              <a:tr h="812561">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PSO4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09549">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baseline="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27946">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mn-lt"/>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687725">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r h="886790">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CO5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ctr">
                        <a:lnSpc>
                          <a:spcPts val="1235"/>
                        </a:lnSpc>
                        <a:spcBef>
                          <a:spcPts val="0"/>
                        </a:spcBef>
                        <a:spcAft>
                          <a:spcPts val="0"/>
                        </a:spcAft>
                      </a:pPr>
                      <a:r>
                        <a:rPr lang="en-US" sz="2000" b="0" dirty="0">
                          <a:solidFill>
                            <a:schemeClr val="accent4">
                              <a:lumMod val="50000"/>
                            </a:schemeClr>
                          </a:solidFill>
                          <a:latin typeface="Times New Roman"/>
                          <a:ea typeface="Times New Roman"/>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690596025"/>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52185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315BA2-FFEE-49EC-A6E1-3BE629456317}"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Program Educational Objectives (PEOs)</a:t>
            </a:r>
          </a:p>
        </p:txBody>
      </p:sp>
      <p:graphicFrame>
        <p:nvGraphicFramePr>
          <p:cNvPr id="9" name="Table 8"/>
          <p:cNvGraphicFramePr>
            <a:graphicFrameLocks noGrp="1"/>
          </p:cNvGraphicFramePr>
          <p:nvPr>
            <p:extLst>
              <p:ext uri="{D42A27DB-BD31-4B8C-83A1-F6EECF244321}">
                <p14:modId xmlns:p14="http://schemas.microsoft.com/office/powerpoint/2010/main" val="4023884122"/>
              </p:ext>
            </p:extLst>
          </p:nvPr>
        </p:nvGraphicFramePr>
        <p:xfrm>
          <a:off x="990600" y="1219200"/>
          <a:ext cx="10820400" cy="4388466"/>
        </p:xfrm>
        <a:graphic>
          <a:graphicData uri="http://schemas.openxmlformats.org/drawingml/2006/table">
            <a:tbl>
              <a:tblPr firstRow="1" bandRow="1">
                <a:tableStyleId>{5C22544A-7EE6-4342-B048-85BDC9FD1C3A}</a:tableStyleId>
              </a:tblPr>
              <a:tblGrid>
                <a:gridCol w="2787073">
                  <a:extLst>
                    <a:ext uri="{9D8B030D-6E8A-4147-A177-3AD203B41FA5}">
                      <a16:colId xmlns:a16="http://schemas.microsoft.com/office/drawing/2014/main" val="20001"/>
                    </a:ext>
                  </a:extLst>
                </a:gridCol>
                <a:gridCol w="8033327">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Program Educational</a:t>
                      </a:r>
                      <a:r>
                        <a:rPr lang="en-US" sz="2000" b="0" baseline="0" dirty="0">
                          <a:solidFill>
                            <a:schemeClr val="accent4">
                              <a:lumMod val="50000"/>
                            </a:schemeClr>
                          </a:solidFill>
                          <a:latin typeface="Times New Roman"/>
                          <a:ea typeface="Times New Roman"/>
                        </a:rPr>
                        <a:t> Objectives</a:t>
                      </a:r>
                      <a:r>
                        <a:rPr lang="en-US" sz="2000" b="0" dirty="0">
                          <a:solidFill>
                            <a:schemeClr val="accent4">
                              <a:lumMod val="50000"/>
                            </a:schemeClr>
                          </a:solidFill>
                          <a:latin typeface="Times New Roman"/>
                          <a:ea typeface="Times New Roman"/>
                        </a:rPr>
                        <a:t> (PEOs)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 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excellent scientific and engineering breadth so as to comprehend, analyze, design and provide sustainable solutions for real-life problems using state-of-the-art technologies.</a:t>
                      </a: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r h="88468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 successful career in industries, to pursue higher studies or to support entrepreneurial endeavors and to face the global challenges.</a:t>
                      </a:r>
                      <a:endParaRPr lang="en-US" sz="2000" b="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789632">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an effective communication skills, professional attitude, ethical values and a desire to learn specific knowledge in emerging trends, technologies for research, innovation and product    development and contribution to society.</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947558">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PEOs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7945" marR="0" algn="just">
                        <a:lnSpc>
                          <a:spcPct val="100000"/>
                        </a:lnSpc>
                        <a:spcBef>
                          <a:spcPts val="0"/>
                        </a:spcBef>
                        <a:spcAft>
                          <a:spcPts val="0"/>
                        </a:spcAft>
                      </a:pPr>
                      <a:r>
                        <a:rPr lang="en-US" sz="1800" b="0" i="0" kern="1200" dirty="0">
                          <a:solidFill>
                            <a:schemeClr val="accent4">
                              <a:lumMod val="50000"/>
                            </a:schemeClr>
                          </a:solidFill>
                          <a:effectLst/>
                          <a:latin typeface="+mn-lt"/>
                          <a:ea typeface="+mn-ea"/>
                          <a:cs typeface="+mn-cs"/>
                        </a:rPr>
                        <a:t>To have life-long learning for up-skilling and re-skilling for successful professional career as engineer, scientist, entrepreneur and bureaucrat for betterment of society</a:t>
                      </a:r>
                      <a:r>
                        <a:rPr lang="en-US" sz="1800" b="0" i="0" kern="1200" dirty="0">
                          <a:solidFill>
                            <a:schemeClr val="dk1"/>
                          </a:solidFill>
                          <a:effectLst/>
                          <a:latin typeface="+mn-lt"/>
                          <a:ea typeface="+mn-ea"/>
                          <a:cs typeface="+mn-cs"/>
                        </a:rPr>
                        <a:t>.</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4"/>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81495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CA97F6-88FF-43A0-93D3-55C19779CA4A}"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Result Analysis(Department Result &amp; Subject Result &amp; Individual result</a:t>
            </a:r>
          </a:p>
        </p:txBody>
      </p:sp>
      <p:graphicFrame>
        <p:nvGraphicFramePr>
          <p:cNvPr id="9" name="Table 8"/>
          <p:cNvGraphicFramePr>
            <a:graphicFrameLocks noGrp="1"/>
          </p:cNvGraphicFramePr>
          <p:nvPr>
            <p:extLst>
              <p:ext uri="{D42A27DB-BD31-4B8C-83A1-F6EECF244321}">
                <p14:modId xmlns:p14="http://schemas.microsoft.com/office/powerpoint/2010/main" val="4065272261"/>
              </p:ext>
            </p:extLst>
          </p:nvPr>
        </p:nvGraphicFramePr>
        <p:xfrm>
          <a:off x="1143000" y="1219200"/>
          <a:ext cx="10591801" cy="1733266"/>
        </p:xfrm>
        <a:graphic>
          <a:graphicData uri="http://schemas.openxmlformats.org/drawingml/2006/table">
            <a:tbl>
              <a:tblPr firstRow="1" bandRow="1">
                <a:tableStyleId>{5C22544A-7EE6-4342-B048-85BDC9FD1C3A}</a:tableStyleId>
              </a:tblPr>
              <a:tblGrid>
                <a:gridCol w="2216227">
                  <a:extLst>
                    <a:ext uri="{9D8B030D-6E8A-4147-A177-3AD203B41FA5}">
                      <a16:colId xmlns:a16="http://schemas.microsoft.com/office/drawing/2014/main" val="20001"/>
                    </a:ext>
                  </a:extLst>
                </a:gridCol>
                <a:gridCol w="2297503">
                  <a:extLst>
                    <a:ext uri="{9D8B030D-6E8A-4147-A177-3AD203B41FA5}">
                      <a16:colId xmlns:a16="http://schemas.microsoft.com/office/drawing/2014/main" val="133495037"/>
                    </a:ext>
                  </a:extLst>
                </a:gridCol>
                <a:gridCol w="6078071">
                  <a:extLst>
                    <a:ext uri="{9D8B030D-6E8A-4147-A177-3AD203B41FA5}">
                      <a16:colId xmlns:a16="http://schemas.microsoft.com/office/drawing/2014/main" val="20002"/>
                    </a:ext>
                  </a:extLst>
                </a:gridCol>
              </a:tblGrid>
              <a:tr h="86824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Name</a:t>
                      </a:r>
                      <a:r>
                        <a:rPr lang="en-US" sz="2000" b="0" baseline="0" dirty="0">
                          <a:solidFill>
                            <a:schemeClr val="accent4">
                              <a:lumMod val="50000"/>
                            </a:schemeClr>
                          </a:solidFill>
                          <a:latin typeface="Times New Roman"/>
                          <a:ea typeface="Times New Roman"/>
                        </a:rPr>
                        <a:t> of the faculty </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Subject code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Result</a:t>
                      </a:r>
                      <a:r>
                        <a:rPr lang="en-US" sz="2000" b="0" baseline="0" dirty="0">
                          <a:solidFill>
                            <a:schemeClr val="accent4">
                              <a:lumMod val="50000"/>
                            </a:schemeClr>
                          </a:solidFill>
                          <a:latin typeface="Times New Roman"/>
                          <a:ea typeface="Times New Roman"/>
                        </a:rPr>
                        <a:t> % of clear passed</a:t>
                      </a: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r h="865023">
                <a:tc>
                  <a:txBody>
                    <a:bodyPr/>
                    <a:lstStyle/>
                    <a:p>
                      <a:pPr marL="0" marR="0" algn="ctr">
                        <a:lnSpc>
                          <a:spcPct val="115000"/>
                        </a:lnSpc>
                        <a:spcBef>
                          <a:spcPts val="0"/>
                        </a:spcBef>
                        <a:spcAft>
                          <a:spcPts val="0"/>
                        </a:spcAft>
                      </a:pPr>
                      <a:r>
                        <a:rPr lang="en-US" sz="2000" b="0" dirty="0">
                          <a:solidFill>
                            <a:schemeClr val="accent4">
                              <a:lumMod val="50000"/>
                            </a:schemeClr>
                          </a:solidFill>
                          <a:latin typeface="Times New Roman"/>
                          <a:ea typeface="Times New Roman"/>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algn="ctr">
                        <a:lnSpc>
                          <a:spcPct val="115000"/>
                        </a:lnSpc>
                        <a:spcBef>
                          <a:spcPts val="0"/>
                        </a:spcBef>
                        <a:spcAft>
                          <a:spcPts val="0"/>
                        </a:spcAft>
                      </a:pPr>
                      <a:endParaRPr lang="en-US" sz="2000" b="0" dirty="0">
                        <a:solidFill>
                          <a:schemeClr val="accent4">
                            <a:lumMod val="50000"/>
                          </a:schemeClr>
                        </a:solidFill>
                        <a:latin typeface="Times New Roman"/>
                        <a:ea typeface="Times New 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68580" marR="0" algn="l">
                        <a:lnSpc>
                          <a:spcPct val="100000"/>
                        </a:lnSpc>
                        <a:spcBef>
                          <a:spcPts val="0"/>
                        </a:spcBef>
                        <a:spcAft>
                          <a:spcPts val="0"/>
                        </a:spcAft>
                      </a:pPr>
                      <a:endParaRPr lang="en-US" sz="3600" b="0" baseline="0" dirty="0">
                        <a:solidFill>
                          <a:schemeClr val="accent4">
                            <a:lumMod val="50000"/>
                          </a:schemeClr>
                        </a:solidFill>
                        <a:latin typeface="Times New Roman" panose="02020603050405020304" pitchFamily="18" charset="0"/>
                        <a:ea typeface="Times New Roman"/>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1"/>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9307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7492850-D261-47EA-B8A6-5C93BEEF9DBB}"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0B77B11B-9C15-4679-A934-EBBF86AE34F6}"/>
              </a:ext>
            </a:extLst>
          </p:cNvPr>
          <p:cNvPicPr>
            <a:picLocks noChangeAspect="1"/>
          </p:cNvPicPr>
          <p:nvPr/>
        </p:nvPicPr>
        <p:blipFill>
          <a:blip r:embed="rId2"/>
          <a:stretch>
            <a:fillRect/>
          </a:stretch>
        </p:blipFill>
        <p:spPr>
          <a:xfrm>
            <a:off x="1181100" y="754514"/>
            <a:ext cx="10744200" cy="5533133"/>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43179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CF5E012-4C73-41B6-A9E4-AB92C3D10104}"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9" name="Picture 8">
            <a:extLst>
              <a:ext uri="{FF2B5EF4-FFF2-40B4-BE49-F238E27FC236}">
                <a16:creationId xmlns:a16="http://schemas.microsoft.com/office/drawing/2014/main" id="{F82AF081-83E9-40E3-85C9-062E3E753D2B}"/>
              </a:ext>
            </a:extLst>
          </p:cNvPr>
          <p:cNvPicPr>
            <a:picLocks noChangeAspect="1"/>
          </p:cNvPicPr>
          <p:nvPr/>
        </p:nvPicPr>
        <p:blipFill>
          <a:blip r:embed="rId2"/>
          <a:stretch>
            <a:fillRect/>
          </a:stretch>
        </p:blipFill>
        <p:spPr>
          <a:xfrm>
            <a:off x="1028700" y="793756"/>
            <a:ext cx="11049000" cy="5454649"/>
          </a:xfrm>
          <a:prstGeom prst="rect">
            <a:avLst/>
          </a:prstGeom>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11547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1F60BE-3CA8-42C0-A72E-5E4A7D0C34FA}"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D6AD0FEF-91AB-4622-BD71-AF17C265451A}"/>
              </a:ext>
            </a:extLst>
          </p:cNvPr>
          <p:cNvPicPr>
            <a:picLocks noChangeAspect="1"/>
          </p:cNvPicPr>
          <p:nvPr/>
        </p:nvPicPr>
        <p:blipFill>
          <a:blip r:embed="rId2"/>
          <a:stretch>
            <a:fillRect/>
          </a:stretch>
        </p:blipFill>
        <p:spPr>
          <a:xfrm>
            <a:off x="623047" y="811873"/>
            <a:ext cx="11506200" cy="5346697"/>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91774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93F27F9-1015-4BE4-8DA9-DE3465D448F3}"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9" name="Picture 8">
            <a:extLst>
              <a:ext uri="{FF2B5EF4-FFF2-40B4-BE49-F238E27FC236}">
                <a16:creationId xmlns:a16="http://schemas.microsoft.com/office/drawing/2014/main" id="{8C7C6038-4342-4904-B836-C5BF3F62F169}"/>
              </a:ext>
            </a:extLst>
          </p:cNvPr>
          <p:cNvPicPr>
            <a:picLocks noChangeAspect="1"/>
          </p:cNvPicPr>
          <p:nvPr/>
        </p:nvPicPr>
        <p:blipFill>
          <a:blip r:embed="rId2"/>
          <a:stretch>
            <a:fillRect/>
          </a:stretch>
        </p:blipFill>
        <p:spPr>
          <a:xfrm>
            <a:off x="838200" y="849315"/>
            <a:ext cx="11353800" cy="5343531"/>
          </a:xfrm>
          <a:prstGeom prst="rect">
            <a:avLst/>
          </a:prstGeom>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54875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AED5AF-7566-4849-AA53-1E2327CC1DF8}"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Pattern of Online External Exam Question Paper (100 marks)</a:t>
            </a:r>
          </a:p>
        </p:txBody>
      </p:sp>
      <p:pic>
        <p:nvPicPr>
          <p:cNvPr id="8" name="Picture 7">
            <a:extLst>
              <a:ext uri="{FF2B5EF4-FFF2-40B4-BE49-F238E27FC236}">
                <a16:creationId xmlns:a16="http://schemas.microsoft.com/office/drawing/2014/main" id="{CF080F34-6289-4751-AE3C-849A673B260C}"/>
              </a:ext>
            </a:extLst>
          </p:cNvPr>
          <p:cNvPicPr>
            <a:picLocks noChangeAspect="1"/>
          </p:cNvPicPr>
          <p:nvPr/>
        </p:nvPicPr>
        <p:blipFill>
          <a:blip r:embed="rId2"/>
          <a:stretch>
            <a:fillRect/>
          </a:stretch>
        </p:blipFill>
        <p:spPr>
          <a:xfrm>
            <a:off x="952500" y="757897"/>
            <a:ext cx="11201400" cy="5454649"/>
          </a:xfrm>
          <a:prstGeom prst="rect">
            <a:avLst/>
          </a:prstGeom>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9400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02D8561-B80C-4A85-A98F-2233918F341F}"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Prerequisite / Recap</a:t>
            </a:r>
          </a:p>
        </p:txBody>
      </p:sp>
      <p:sp>
        <p:nvSpPr>
          <p:cNvPr id="9" name="Content Placeholder 2"/>
          <p:cNvSpPr>
            <a:spLocks noGrp="1"/>
          </p:cNvSpPr>
          <p:nvPr>
            <p:ph idx="1"/>
          </p:nvPr>
        </p:nvSpPr>
        <p:spPr>
          <a:xfrm>
            <a:off x="914400" y="1066800"/>
            <a:ext cx="11049000" cy="4525963"/>
          </a:xfrm>
          <a:solidFill>
            <a:schemeClr val="accent1">
              <a:lumMod val="60000"/>
              <a:lumOff val="40000"/>
            </a:schemeClr>
          </a:solidFill>
          <a:ln w="19050">
            <a:solidFill>
              <a:schemeClr val="tx1"/>
            </a:solidFill>
          </a:ln>
        </p:spPr>
        <p:txBody>
          <a:bodyPr>
            <a:normAutofit lnSpcReduction="10000"/>
          </a:bodyPr>
          <a:lstStyle/>
          <a:p>
            <a:pPr algn="just">
              <a:lnSpc>
                <a:spcPct val="200000"/>
              </a:lnSpc>
            </a:pPr>
            <a:r>
              <a:rPr lang="en-US" sz="2800" dirty="0"/>
              <a:t>Student should have knowledge of HTML , CSS    and   JavaScript .</a:t>
            </a:r>
          </a:p>
          <a:p>
            <a:pPr algn="just">
              <a:lnSpc>
                <a:spcPct val="200000"/>
              </a:lnSpc>
            </a:pPr>
            <a:r>
              <a:rPr lang="en-US" sz="2800" dirty="0"/>
              <a:t>Students should have good knowledge of Python Programming and Python coding experience.</a:t>
            </a:r>
          </a:p>
          <a:p>
            <a:pPr algn="just">
              <a:lnSpc>
                <a:spcPct val="200000"/>
              </a:lnSpc>
            </a:pPr>
            <a:r>
              <a:rPr lang="en-US" sz="2800" dirty="0"/>
              <a:t>knowledge of Computer and basic skill. </a:t>
            </a:r>
          </a:p>
          <a:p>
            <a:pPr algn="just">
              <a:lnSpc>
                <a:spcPct val="200000"/>
              </a:lnSpc>
            </a:pPr>
            <a:r>
              <a:rPr lang="en-US" sz="2800" dirty="0"/>
              <a:t>Good problem solving Skill .</a:t>
            </a:r>
          </a:p>
          <a:p>
            <a:pPr marL="0" indent="0" algn="just">
              <a:buNone/>
            </a:pPr>
            <a:endParaRPr lang="en-US" sz="2800" dirty="0"/>
          </a:p>
          <a:p>
            <a:pPr>
              <a:buNone/>
            </a:pP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51111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165D73A-1E3A-4852-99E6-DB1E049A590D}"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Brief Introduction about the Subject with videos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chemeClr val="accent5">
              <a:lumMod val="60000"/>
              <a:lumOff val="40000"/>
            </a:schemeClr>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799673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447800" y="828182"/>
            <a:ext cx="10591800" cy="5311776"/>
          </a:xfrm>
          <a:solidFill>
            <a:schemeClr val="bg2">
              <a:lumMod val="10000"/>
            </a:schemeClr>
          </a:solidFill>
          <a:ln w="19050">
            <a:solidFill>
              <a:schemeClr val="tx1"/>
            </a:solidFill>
          </a:ln>
        </p:spPr>
        <p:txBody>
          <a:bodyPr>
            <a:normAutofit/>
          </a:bodyPr>
          <a:lstStyle/>
          <a:p>
            <a:pPr>
              <a:lnSpc>
                <a:spcPct val="120000"/>
              </a:lnSpc>
            </a:pPr>
            <a:r>
              <a:rPr lang="en-US" dirty="0">
                <a:solidFill>
                  <a:srgbClr val="00B050"/>
                </a:solidFill>
              </a:rPr>
              <a:t>Creating a functional website in Django.</a:t>
            </a:r>
          </a:p>
          <a:p>
            <a:pPr>
              <a:lnSpc>
                <a:spcPct val="120000"/>
              </a:lnSpc>
            </a:pPr>
            <a:r>
              <a:rPr lang="en-US" dirty="0">
                <a:solidFill>
                  <a:srgbClr val="00B050"/>
                </a:solidFill>
              </a:rPr>
              <a:t>Four Important Pillars to Deploy.</a:t>
            </a:r>
          </a:p>
          <a:p>
            <a:pPr>
              <a:lnSpc>
                <a:spcPct val="120000"/>
              </a:lnSpc>
            </a:pPr>
            <a:r>
              <a:rPr lang="en-US" dirty="0">
                <a:solidFill>
                  <a:srgbClr val="00B050"/>
                </a:solidFill>
              </a:rPr>
              <a:t>Registering on Heroku and GitHub, Push project from Local System to GitHub.</a:t>
            </a:r>
          </a:p>
          <a:p>
            <a:pPr>
              <a:lnSpc>
                <a:spcPct val="120000"/>
              </a:lnSpc>
            </a:pPr>
            <a:r>
              <a:rPr lang="en-US" dirty="0">
                <a:solidFill>
                  <a:srgbClr val="00B050"/>
                </a:solidFill>
              </a:rPr>
              <a:t>Working with Django Heroku.</a:t>
            </a:r>
          </a:p>
          <a:p>
            <a:pPr>
              <a:lnSpc>
                <a:spcPct val="120000"/>
              </a:lnSpc>
            </a:pPr>
            <a:r>
              <a:rPr lang="en-US" dirty="0">
                <a:solidFill>
                  <a:srgbClr val="00B050"/>
                </a:solidFill>
              </a:rPr>
              <a:t>Working with Static Root.</a:t>
            </a:r>
          </a:p>
          <a:p>
            <a:pPr>
              <a:lnSpc>
                <a:spcPct val="120000"/>
              </a:lnSpc>
            </a:pPr>
            <a:r>
              <a:rPr lang="en-US" dirty="0">
                <a:solidFill>
                  <a:srgbClr val="00B050"/>
                </a:solidFill>
              </a:rPr>
              <a:t>Handling WSGI with gunicorn.</a:t>
            </a:r>
          </a:p>
          <a:p>
            <a:pPr>
              <a:lnSpc>
                <a:spcPct val="120000"/>
              </a:lnSpc>
            </a:pPr>
            <a:r>
              <a:rPr lang="en-US" dirty="0">
                <a:solidFill>
                  <a:srgbClr val="00B050"/>
                </a:solidFill>
              </a:rPr>
              <a:t>Setting up Database &amp; adding users.</a:t>
            </a:r>
          </a:p>
          <a:p>
            <a:pPr marL="400041" lvl="1" indent="0">
              <a:buNone/>
            </a:pPr>
            <a:endParaRPr lang="en-US" dirty="0"/>
          </a:p>
          <a:p>
            <a:pPr marL="0" indent="0">
              <a:buNone/>
            </a:pPr>
            <a:endParaRPr lang="en-US" sz="400" dirty="0"/>
          </a:p>
        </p:txBody>
      </p:sp>
      <p:sp>
        <p:nvSpPr>
          <p:cNvPr id="6" name="Date Placeholder 5"/>
          <p:cNvSpPr>
            <a:spLocks noGrp="1"/>
          </p:cNvSpPr>
          <p:nvPr>
            <p:ph type="dt" sz="half" idx="10"/>
          </p:nvPr>
        </p:nvSpPr>
        <p:spPr/>
        <p:txBody>
          <a:bodyPr/>
          <a:lstStyle/>
          <a:p>
            <a:fld id="{94F50CA9-BA6A-4C35-AD25-97959CF2B1B8}" type="datetime1">
              <a:rPr lang="en-US" smtClean="0"/>
              <a:t>7/18/2024</a:t>
            </a:fld>
            <a:endParaRPr lang="en-US" dirty="0"/>
          </a:p>
        </p:txBody>
      </p:sp>
      <p:sp>
        <p:nvSpPr>
          <p:cNvPr id="10" name="Footer Placeholder 9"/>
          <p:cNvSpPr>
            <a:spLocks noGrp="1"/>
          </p:cNvSpPr>
          <p:nvPr>
            <p:ph type="ftr" sz="quarter" idx="11"/>
          </p:nvPr>
        </p:nvSpPr>
        <p:spPr>
          <a:xfrm>
            <a:off x="4165600" y="6356357"/>
            <a:ext cx="5816600" cy="365125"/>
          </a:xfrm>
        </p:spPr>
        <p:txBody>
          <a:bodyPr/>
          <a:lstStyle/>
          <a:p>
            <a:r>
              <a:rPr lang="en-US"/>
              <a:t>Ritesh Kumar Singh                Deploying Django Web Application on Cloud           Unit 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Title 1"/>
          <p:cNvSpPr txBox="1">
            <a:spLocks/>
          </p:cNvSpPr>
          <p:nvPr/>
        </p:nvSpPr>
        <p:spPr>
          <a:xfrm>
            <a:off x="1447800" y="7"/>
            <a:ext cx="10668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V Content</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219201"/>
            <a:ext cx="10134600" cy="3276599"/>
          </a:xfrm>
          <a:solidFill>
            <a:schemeClr val="accent5">
              <a:lumMod val="40000"/>
              <a:lumOff val="60000"/>
            </a:schemeClr>
          </a:solidFill>
          <a:ln w="12700">
            <a:solidFill>
              <a:schemeClr val="tx1"/>
            </a:solidFill>
          </a:ln>
        </p:spPr>
        <p:txBody>
          <a:bodyPr>
            <a:normAutofit/>
          </a:bodyPr>
          <a:lstStyle/>
          <a:p>
            <a:pPr marL="0" indent="0" algn="just">
              <a:buNone/>
            </a:pPr>
            <a:r>
              <a:rPr lang="en-US" sz="2800" dirty="0"/>
              <a:t>In Unit V, the students will be able to find</a:t>
            </a:r>
          </a:p>
          <a:p>
            <a:pPr algn="just"/>
            <a:r>
              <a:rPr lang="en-US" sz="2800" dirty="0"/>
              <a:t>Define Four Important Pillars to Deploy.</a:t>
            </a:r>
          </a:p>
          <a:p>
            <a:pPr algn="just"/>
            <a:r>
              <a:rPr lang="en-US" sz="2800" dirty="0"/>
              <a:t>How to Registering on Heroku and GitHub </a:t>
            </a:r>
            <a:r>
              <a:rPr lang="en-IN" sz="2800" dirty="0"/>
              <a:t>.</a:t>
            </a:r>
            <a:endParaRPr lang="en-US" sz="2800" dirty="0"/>
          </a:p>
          <a:p>
            <a:pPr algn="just"/>
            <a:r>
              <a:rPr lang="en-US" sz="2800" dirty="0"/>
              <a:t>Working with Django Heroku.</a:t>
            </a:r>
          </a:p>
          <a:p>
            <a:pPr algn="just"/>
            <a:r>
              <a:rPr lang="en-US" sz="2800" dirty="0"/>
              <a:t>What is WSGI and relationship with gunicorn.</a:t>
            </a:r>
          </a:p>
          <a:p>
            <a:pPr algn="just"/>
            <a:r>
              <a:rPr lang="en-US" sz="2800" dirty="0"/>
              <a:t>Setting up Database &amp; adding users.</a:t>
            </a:r>
          </a:p>
          <a:p>
            <a:pPr algn="just"/>
            <a:endParaRPr lang="en-IN" sz="2800" dirty="0"/>
          </a:p>
          <a:p>
            <a:pPr marL="0" indent="0" algn="just">
              <a:buNone/>
            </a:pPr>
            <a:endParaRPr lang="en-US" sz="2800" dirty="0"/>
          </a:p>
        </p:txBody>
      </p:sp>
      <p:sp>
        <p:nvSpPr>
          <p:cNvPr id="4" name="Date Placeholder 3"/>
          <p:cNvSpPr>
            <a:spLocks noGrp="1"/>
          </p:cNvSpPr>
          <p:nvPr>
            <p:ph type="dt" sz="half" idx="10"/>
          </p:nvPr>
        </p:nvSpPr>
        <p:spPr/>
        <p:txBody>
          <a:bodyPr/>
          <a:lstStyle/>
          <a:p>
            <a:fld id="{A1183D36-C782-47F9-970E-4F22FE41F884}" type="datetime1">
              <a:rPr lang="en-US" smtClean="0"/>
              <a:t>7/18/2024</a:t>
            </a:fld>
            <a:endParaRPr lang="en-US" dirty="0"/>
          </a:p>
        </p:txBody>
      </p:sp>
      <p:sp>
        <p:nvSpPr>
          <p:cNvPr id="5" name="Footer Placeholder 4"/>
          <p:cNvSpPr>
            <a:spLocks noGrp="1"/>
          </p:cNvSpPr>
          <p:nvPr>
            <p:ph type="ftr" sz="quarter" idx="11"/>
          </p:nvPr>
        </p:nvSpPr>
        <p:spPr>
          <a:xfrm>
            <a:off x="4343400" y="6248406"/>
            <a:ext cx="6400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V Objective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11296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00"/>
            <a:ext cx="10363200" cy="3429000"/>
          </a:xfrm>
          <a:solidFill>
            <a:schemeClr val="tx2">
              <a:lumMod val="60000"/>
              <a:lumOff val="40000"/>
            </a:schemeClr>
          </a:solidFill>
          <a:ln w="19050">
            <a:solidFill>
              <a:schemeClr val="tx1"/>
            </a:solidFill>
          </a:ln>
        </p:spPr>
        <p:txBody>
          <a:bodyPr>
            <a:normAutofit/>
          </a:bodyPr>
          <a:lstStyle/>
          <a:p>
            <a:pPr marL="0" indent="0" algn="just">
              <a:buNone/>
            </a:pPr>
            <a:r>
              <a:rPr lang="en-US" sz="2800" dirty="0"/>
              <a:t>Topic </a:t>
            </a:r>
            <a:r>
              <a:rPr lang="en-US" sz="2800" dirty="0">
                <a:solidFill>
                  <a:schemeClr val="bg2">
                    <a:lumMod val="10000"/>
                  </a:schemeClr>
                </a:solidFill>
              </a:rPr>
              <a:t>: Collection— Creating a functional website in Django</a:t>
            </a:r>
          </a:p>
          <a:p>
            <a:pPr marL="0" indent="0" algn="just">
              <a:buNone/>
            </a:pPr>
            <a:endParaRPr lang="en-US" sz="2800" dirty="0"/>
          </a:p>
          <a:p>
            <a:pPr algn="just"/>
            <a:r>
              <a:rPr lang="en-US" sz="2800" dirty="0"/>
              <a:t>In this topic, the students will gain , The idea of Having a website helps grow an online presence, whether that be your personal blog or business, by connecting you with a broader audience. A website can also become a platform for sharing your opinions and skills, creating opportunities for personal or work-related projects.</a:t>
            </a:r>
          </a:p>
          <a:p>
            <a:pPr marL="0" indent="0" algn="just">
              <a:buNone/>
            </a:pPr>
            <a:endParaRPr lang="en-US" sz="2800" dirty="0"/>
          </a:p>
        </p:txBody>
      </p:sp>
      <p:sp>
        <p:nvSpPr>
          <p:cNvPr id="4" name="Date Placeholder 3"/>
          <p:cNvSpPr>
            <a:spLocks noGrp="1"/>
          </p:cNvSpPr>
          <p:nvPr>
            <p:ph type="dt" sz="half" idx="10"/>
          </p:nvPr>
        </p:nvSpPr>
        <p:spPr/>
        <p:txBody>
          <a:bodyPr/>
          <a:lstStyle/>
          <a:p>
            <a:fld id="{02D41F7B-FCDD-4CF8-BC7D-21C27FE30786}" type="datetime1">
              <a:rPr lang="en-US" smtClean="0"/>
              <a:t>7/18/2024</a:t>
            </a:fld>
            <a:endParaRPr lang="en-US" dirty="0"/>
          </a:p>
        </p:txBody>
      </p:sp>
      <p:sp>
        <p:nvSpPr>
          <p:cNvPr id="5" name="Footer Placeholder 4"/>
          <p:cNvSpPr>
            <a:spLocks noGrp="1"/>
          </p:cNvSpPr>
          <p:nvPr>
            <p:ph type="ftr" sz="quarter" idx="11"/>
          </p:nvPr>
        </p:nvSpPr>
        <p:spPr>
          <a:xfrm>
            <a:off x="3742508" y="6336763"/>
            <a:ext cx="7382691"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Topic Objective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605079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269277"/>
            <a:ext cx="2844800" cy="365125"/>
          </a:xfrm>
        </p:spPr>
        <p:txBody>
          <a:bodyPr/>
          <a:lstStyle/>
          <a:p>
            <a:fld id="{84006C3F-C9FA-4E8C-8CE4-021753C3D853}" type="datetime1">
              <a:rPr lang="en-US" smtClean="0"/>
              <a:t>7/18/2024</a:t>
            </a:fld>
            <a:endParaRPr lang="en-US" dirty="0"/>
          </a:p>
        </p:txBody>
      </p:sp>
      <p:sp>
        <p:nvSpPr>
          <p:cNvPr id="5" name="Footer Placeholder 4"/>
          <p:cNvSpPr>
            <a:spLocks noGrp="1"/>
          </p:cNvSpPr>
          <p:nvPr>
            <p:ph type="ftr" sz="quarter" idx="11"/>
          </p:nvPr>
        </p:nvSpPr>
        <p:spPr>
          <a:xfrm>
            <a:off x="4343400" y="6248406"/>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Creating a functional website in Django</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51163" y="998409"/>
            <a:ext cx="12089674" cy="5262979"/>
          </a:xfrm>
          <a:prstGeom prst="rect">
            <a:avLst/>
          </a:prstGeom>
          <a:solidFill>
            <a:schemeClr val="tx2">
              <a:lumMod val="60000"/>
              <a:lumOff val="40000"/>
            </a:schemeClr>
          </a:solidFill>
          <a:ln w="19050">
            <a:solidFill>
              <a:schemeClr val="tx1"/>
            </a:solidFill>
          </a:ln>
        </p:spPr>
        <p:txBody>
          <a:bodyPr wrap="square">
            <a:spAutoFit/>
          </a:bodyPr>
          <a:lstStyle/>
          <a:p>
            <a:pPr marL="342900" indent="-342900">
              <a:buFont typeface="Wingdings" panose="05000000000000000000" pitchFamily="2" charset="2"/>
              <a:buChar char="Ø"/>
            </a:pPr>
            <a:r>
              <a:rPr lang="en-US" sz="2800" dirty="0"/>
              <a:t>Having a website helps grow an online presence, whether that be your personal blog or business, by connecting you with a broader audience. A website can also become a platform for sharing your opinions and skills, creating opportunities for personal or work-related projects.</a:t>
            </a:r>
          </a:p>
          <a:p>
            <a:endParaRPr lang="en-US" sz="2800" dirty="0"/>
          </a:p>
          <a:p>
            <a:pPr marL="342900" indent="-342900">
              <a:buFont typeface="Wingdings" panose="05000000000000000000" pitchFamily="2" charset="2"/>
              <a:buChar char="Ø"/>
            </a:pPr>
            <a:r>
              <a:rPr lang="en-US" sz="2800" dirty="0"/>
              <a:t>This lecture will help you turn your website idea into a fully-functional website – pick a suitable platform, get a web hosting plan, and </a:t>
            </a:r>
            <a:r>
              <a:rPr lang="en-US" sz="3200" dirty="0"/>
              <a:t>cho</a:t>
            </a:r>
            <a:r>
              <a:rPr lang="en-US" sz="2800" dirty="0"/>
              <a:t>ose a memorable domain name. We’ll also give you tips on how to optimize it.</a:t>
            </a:r>
            <a:endParaRPr lang="en-US" sz="2400" dirty="0"/>
          </a:p>
          <a:p>
            <a:endParaRPr lang="en-US" sz="2400" dirty="0"/>
          </a:p>
          <a:p>
            <a:pPr marL="342900" indent="-342900">
              <a:buFont typeface="Wingdings" panose="05000000000000000000" pitchFamily="2" charset="2"/>
              <a:buChar char="Ø"/>
            </a:pPr>
            <a:r>
              <a:rPr lang="en-US" sz="2800" dirty="0"/>
              <a:t>Before creating your first website, you need to understand these three essential elements – what’s a website building platform, web hosting, and a domain name.</a:t>
            </a:r>
            <a:endParaRPr lang="en-US" sz="2400"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13929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8368653-4D82-4278-9358-4454812B736B}" type="datetime1">
              <a:rPr lang="en-US" smtClean="0"/>
              <a:t>7/18/2024</a:t>
            </a:fld>
            <a:endParaRPr lang="en-US" dirty="0"/>
          </a:p>
        </p:txBody>
      </p:sp>
      <p:sp>
        <p:nvSpPr>
          <p:cNvPr id="5" name="Footer Placeholder 4"/>
          <p:cNvSpPr>
            <a:spLocks noGrp="1"/>
          </p:cNvSpPr>
          <p:nvPr>
            <p:ph type="ftr" sz="quarter" idx="11"/>
          </p:nvPr>
        </p:nvSpPr>
        <p:spPr>
          <a:xfrm>
            <a:off x="4343400" y="6248406"/>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Creating a functional website in Django</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603455" y="1106889"/>
            <a:ext cx="10974591" cy="5033566"/>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80529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E5022AD-4B75-48D1-8025-552942D7766A}" type="datetime1">
              <a:rPr lang="en-US" smtClean="0"/>
              <a:t>7/18/2024</a:t>
            </a:fld>
            <a:endParaRPr lang="en-US" dirty="0"/>
          </a:p>
        </p:txBody>
      </p:sp>
      <p:sp>
        <p:nvSpPr>
          <p:cNvPr id="5" name="Footer Placeholder 4"/>
          <p:cNvSpPr>
            <a:spLocks noGrp="1"/>
          </p:cNvSpPr>
          <p:nvPr>
            <p:ph type="ftr" sz="quarter" idx="11"/>
          </p:nvPr>
        </p:nvSpPr>
        <p:spPr>
          <a:xfrm>
            <a:off x="4343400" y="6248406"/>
            <a:ext cx="6781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1051560" y="858814"/>
            <a:ext cx="10617926" cy="5324535"/>
          </a:xfrm>
          <a:prstGeom prst="rect">
            <a:avLst/>
          </a:prstGeom>
          <a:solidFill>
            <a:schemeClr val="tx2">
              <a:lumMod val="60000"/>
              <a:lumOff val="40000"/>
            </a:schemeClr>
          </a:solidFill>
          <a:ln w="9525">
            <a:solidFill>
              <a:schemeClr val="tx1"/>
            </a:solidFill>
          </a:ln>
        </p:spPr>
        <p:txBody>
          <a:bodyPr wrap="square">
            <a:spAutoFit/>
          </a:bodyPr>
          <a:lstStyle/>
          <a:p>
            <a:pPr algn="ctr"/>
            <a:r>
              <a:rPr lang="en-US" sz="3200" b="1" u="sng" dirty="0"/>
              <a:t>Pillar One: Technology </a:t>
            </a:r>
          </a:p>
          <a:p>
            <a:pPr marL="457200" indent="-457200">
              <a:buFont typeface="Wingdings" panose="05000000000000000000" pitchFamily="2" charset="2"/>
              <a:buChar char="Ø"/>
            </a:pPr>
            <a:r>
              <a:rPr lang="en-US" sz="2800" dirty="0"/>
              <a:t>Front and backend development processes can drastically affect the overall performance of your site. Visitors are mostly affected by frontend site performance, e.g. the way that your site performs when a user goes to the homepage or clicks on an internal link. It’s the most visible indicator of site performance, because it’s pretty obvious if a user is staring at a blank screen for 5-10 seconds, that a site isn’t performing at its peak. </a:t>
            </a:r>
          </a:p>
          <a:p>
            <a:pPr marL="457200" indent="-457200">
              <a:buFont typeface="Wingdings" panose="05000000000000000000" pitchFamily="2" charset="2"/>
              <a:buChar char="Ø"/>
            </a:pPr>
            <a:r>
              <a:rPr lang="en-US" sz="2800" dirty="0"/>
              <a:t>When you change a piece of tech, add a new feature, or even update an existing plugin, you should always test your performance to see if it was negatively impacted. That way you can continue to upgrade your tech, while also improving overall performance.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177686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A09725-F5DC-4A8E-A8D4-D43A21BCB459}" type="datetime1">
              <a:rPr lang="en-US" smtClean="0"/>
              <a:t>7/18/2024</a:t>
            </a:fld>
            <a:endParaRPr lang="en-US" dirty="0"/>
          </a:p>
        </p:txBody>
      </p:sp>
      <p:sp>
        <p:nvSpPr>
          <p:cNvPr id="5" name="Footer Placeholder 4"/>
          <p:cNvSpPr>
            <a:spLocks noGrp="1"/>
          </p:cNvSpPr>
          <p:nvPr>
            <p:ph type="ftr" sz="quarter" idx="11"/>
          </p:nvPr>
        </p:nvSpPr>
        <p:spPr>
          <a:xfrm>
            <a:off x="4343400" y="6248406"/>
            <a:ext cx="6934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Rectangle 7"/>
          <p:cNvSpPr/>
          <p:nvPr/>
        </p:nvSpPr>
        <p:spPr>
          <a:xfrm>
            <a:off x="609600" y="1274312"/>
            <a:ext cx="11255829" cy="4493538"/>
          </a:xfrm>
          <a:prstGeom prst="rect">
            <a:avLst/>
          </a:prstGeom>
          <a:solidFill>
            <a:schemeClr val="tx2">
              <a:lumMod val="60000"/>
              <a:lumOff val="40000"/>
            </a:schemeClr>
          </a:solidFill>
          <a:ln w="9525">
            <a:solidFill>
              <a:schemeClr val="tx1"/>
            </a:solidFill>
          </a:ln>
        </p:spPr>
        <p:txBody>
          <a:bodyPr wrap="square">
            <a:spAutoFit/>
          </a:bodyPr>
          <a:lstStyle/>
          <a:p>
            <a:pPr marL="457200" indent="-457200">
              <a:buFont typeface="Wingdings" panose="05000000000000000000" pitchFamily="2" charset="2"/>
              <a:buChar char="Ø"/>
            </a:pPr>
            <a:r>
              <a:rPr lang="en-US" sz="2600" dirty="0"/>
              <a:t>Where you host your site also has a huge impact on frontend  and backend performance. Check what kind of performance-enhancing features your host might offer, like caching or a global CDN. Having these kinds of features with your host can really take the burden off of your internal development team.</a:t>
            </a:r>
          </a:p>
          <a:p>
            <a:pPr marL="457200" indent="-457200">
              <a:buFont typeface="Wingdings" panose="05000000000000000000" pitchFamily="2" charset="2"/>
              <a:buChar char="Ø"/>
            </a:pPr>
            <a:endParaRPr lang="en-US" sz="2600" dirty="0"/>
          </a:p>
          <a:p>
            <a:pPr marL="457200" indent="-457200">
              <a:buFont typeface="Wingdings" panose="05000000000000000000" pitchFamily="2" charset="2"/>
              <a:buChar char="Ø"/>
            </a:pPr>
            <a:r>
              <a:rPr lang="en-US" sz="2600" dirty="0"/>
              <a:t>While a lot of updates add new functions or improve the performance of their particular piece of software, we’re all familiar with how one seemingly miniscule update can bring even the most immaculately maintained site to its knees. This, of course, will have terrible effects on your site performance. As you continue to update individual pieces of your site, you need to remember to maintain the whole, or find a partner to perform regular site maintenance.</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93749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980E55-8AA7-4294-94CA-1BB53721163A}" type="datetime1">
              <a:rPr lang="en-US" smtClean="0"/>
              <a:t>7/18/2024</a:t>
            </a:fld>
            <a:endParaRPr lang="en-US" dirty="0"/>
          </a:p>
        </p:txBody>
      </p:sp>
      <p:sp>
        <p:nvSpPr>
          <p:cNvPr id="5" name="Footer Placeholder 4"/>
          <p:cNvSpPr>
            <a:spLocks noGrp="1"/>
          </p:cNvSpPr>
          <p:nvPr>
            <p:ph type="ftr" sz="quarter" idx="11"/>
          </p:nvPr>
        </p:nvSpPr>
        <p:spPr>
          <a:xfrm>
            <a:off x="4343400" y="6248406"/>
            <a:ext cx="67056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381000" y="1170012"/>
            <a:ext cx="11430000" cy="4955203"/>
          </a:xfrm>
          <a:prstGeom prst="rect">
            <a:avLst/>
          </a:prstGeom>
          <a:solidFill>
            <a:schemeClr val="tx2">
              <a:lumMod val="60000"/>
              <a:lumOff val="40000"/>
            </a:schemeClr>
          </a:solidFill>
          <a:ln w="12700">
            <a:solidFill>
              <a:schemeClr val="tx1"/>
            </a:solidFill>
          </a:ln>
        </p:spPr>
        <p:txBody>
          <a:bodyPr wrap="square">
            <a:spAutoFit/>
          </a:bodyPr>
          <a:lstStyle/>
          <a:p>
            <a:pPr algn="ctr"/>
            <a:r>
              <a:rPr lang="en-US" sz="3200" b="1" u="sng" dirty="0"/>
              <a:t>Pillar Two: UX and Usability </a:t>
            </a:r>
          </a:p>
          <a:p>
            <a:pPr algn="ctr"/>
            <a:endParaRPr lang="en-US" sz="3200" b="1" u="sng" dirty="0"/>
          </a:p>
          <a:p>
            <a:pPr marL="457200" indent="-457200">
              <a:buFont typeface="Wingdings" panose="05000000000000000000" pitchFamily="2" charset="2"/>
              <a:buChar char="Ø"/>
            </a:pPr>
            <a:r>
              <a:rPr lang="en-US" sz="2800" dirty="0"/>
              <a:t>The basic goal of UX work is to reduce friction, i.e. to make the experience feel as seamless and smooth as possible. Believe it or not, friction is actually a measurable datapoint.</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There are plenty of frameworks that exist to measure friction. One of the easiest ways is to observe users interacting with your site. Perform an evaluation on your site to see where exactly users are experiencing friction, and where you can improve. Some of the most common areas of friction are:</a:t>
            </a:r>
            <a:endParaRPr lang="en-US" sz="4400" b="1" u="sng"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185126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F5010F-8C30-4456-B4BF-DA19AFDE4632}" type="datetime1">
              <a:rPr lang="en-US" smtClean="0"/>
              <a:t>7/18/2024</a:t>
            </a:fld>
            <a:endParaRPr lang="en-US" dirty="0"/>
          </a:p>
        </p:txBody>
      </p:sp>
      <p:sp>
        <p:nvSpPr>
          <p:cNvPr id="5" name="Footer Placeholder 4"/>
          <p:cNvSpPr>
            <a:spLocks noGrp="1"/>
          </p:cNvSpPr>
          <p:nvPr>
            <p:ph type="ftr" sz="quarter" idx="11"/>
          </p:nvPr>
        </p:nvSpPr>
        <p:spPr>
          <a:xfrm>
            <a:off x="4267200" y="6332583"/>
            <a:ext cx="6934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457200" y="1028091"/>
            <a:ext cx="11582400" cy="4985980"/>
          </a:xfrm>
          <a:prstGeom prst="rect">
            <a:avLst/>
          </a:prstGeom>
          <a:solidFill>
            <a:schemeClr val="tx2">
              <a:lumMod val="60000"/>
              <a:lumOff val="40000"/>
            </a:schemeClr>
          </a:solidFill>
          <a:ln w="12700">
            <a:solidFill>
              <a:schemeClr val="tx1"/>
            </a:solidFill>
          </a:ln>
        </p:spPr>
        <p:txBody>
          <a:bodyPr wrap="square">
            <a:spAutoFit/>
          </a:bodyPr>
          <a:lstStyle/>
          <a:p>
            <a:pPr marL="457200" indent="-457200">
              <a:buFont typeface="Wingdings" panose="05000000000000000000" pitchFamily="2" charset="2"/>
              <a:buChar char="Ø"/>
            </a:pPr>
            <a:r>
              <a:rPr lang="en-US" sz="2800" dirty="0">
                <a:solidFill>
                  <a:srgbClr val="000000"/>
                </a:solidFill>
              </a:rPr>
              <a:t>Page speed is a huge indicator for how happy a user will be on your site. After all, if a page never loads, how can you ever see if it actually converts?</a:t>
            </a:r>
          </a:p>
          <a:p>
            <a:pPr marL="457200" indent="-457200">
              <a:buFont typeface="Wingdings" panose="05000000000000000000" pitchFamily="2" charset="2"/>
              <a:buChar char="Ø"/>
            </a:pPr>
            <a:endParaRPr lang="en-US" sz="2800" dirty="0">
              <a:solidFill>
                <a:srgbClr val="000000"/>
              </a:solidFill>
            </a:endParaRPr>
          </a:p>
          <a:p>
            <a:pPr marL="457200" indent="-457200">
              <a:buFont typeface="Wingdings" panose="05000000000000000000" pitchFamily="2" charset="2"/>
              <a:buChar char="Ø"/>
            </a:pPr>
            <a:r>
              <a:rPr lang="en-US" sz="2800" dirty="0"/>
              <a:t>Constantly getting sold and marketed to has made users numb to the sales-centric copywriting of days past.</a:t>
            </a:r>
          </a:p>
          <a:p>
            <a:pPr marL="457200" indent="-457200">
              <a:buFont typeface="Wingdings" panose="05000000000000000000" pitchFamily="2" charset="2"/>
              <a:buChar char="Ø"/>
            </a:pPr>
            <a:endParaRPr lang="en-US" sz="2800" dirty="0"/>
          </a:p>
          <a:p>
            <a:pPr marL="457200" indent="-457200">
              <a:buFont typeface="Wingdings" panose="05000000000000000000" pitchFamily="2" charset="2"/>
              <a:buChar char="Ø"/>
            </a:pPr>
            <a:r>
              <a:rPr lang="en-US" sz="2800" dirty="0"/>
              <a:t>Now users just want the information they’re looking for explained clearly and concisely. Try combing through your site and look for ways to improve CTAs, menus, and headers. You’d be surprised at the impact a seemingly tiny change can have.</a:t>
            </a:r>
          </a:p>
          <a:p>
            <a:endParaRPr lang="en-US" sz="2000" dirty="0"/>
          </a:p>
          <a:p>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666621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F55CCB-4FD1-431B-9EBA-D01A869F4DAC}" type="datetime1">
              <a:rPr lang="en-US" smtClean="0"/>
              <a:t>7/18/2024</a:t>
            </a:fld>
            <a:endParaRPr lang="en-US" dirty="0"/>
          </a:p>
        </p:txBody>
      </p:sp>
      <p:sp>
        <p:nvSpPr>
          <p:cNvPr id="5" name="Footer Placeholder 4"/>
          <p:cNvSpPr>
            <a:spLocks noGrp="1"/>
          </p:cNvSpPr>
          <p:nvPr>
            <p:ph type="ftr" sz="quarter" idx="11"/>
          </p:nvPr>
        </p:nvSpPr>
        <p:spPr>
          <a:xfrm>
            <a:off x="4267200" y="6332583"/>
            <a:ext cx="6934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800100" y="914400"/>
            <a:ext cx="10934700" cy="5139869"/>
          </a:xfrm>
          <a:prstGeom prst="rect">
            <a:avLst/>
          </a:prstGeom>
          <a:solidFill>
            <a:schemeClr val="tx2">
              <a:lumMod val="60000"/>
              <a:lumOff val="40000"/>
            </a:schemeClr>
          </a:solidFill>
          <a:ln w="12700">
            <a:solidFill>
              <a:schemeClr val="tx1"/>
            </a:solidFill>
          </a:ln>
        </p:spPr>
        <p:txBody>
          <a:bodyPr wrap="square">
            <a:spAutoFit/>
          </a:bodyPr>
          <a:lstStyle/>
          <a:p>
            <a:pPr algn="ctr"/>
            <a:r>
              <a:rPr lang="en-US" sz="3200" b="1" dirty="0"/>
              <a:t>Pillar Three: Conversions</a:t>
            </a:r>
          </a:p>
          <a:p>
            <a:pPr algn="ctr"/>
            <a:endParaRPr lang="en-US" sz="3200" b="1" dirty="0"/>
          </a:p>
          <a:p>
            <a:pPr marL="342900" indent="-342900">
              <a:buFont typeface="Wingdings" panose="05000000000000000000" pitchFamily="2" charset="2"/>
              <a:buChar char="Ø"/>
            </a:pPr>
            <a:r>
              <a:rPr lang="en-US" sz="2400" dirty="0"/>
              <a:t>Conversion can mean a lot of different things. Is your site converting visitors into leads? Leads into customers? Are users converting from one page to another? Filling out a form? There are plenty of ways to define conversions. Put plainly, if your site isn’t converting, is it really performing the way it should? </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That wasn’t a rhetorical question. Of course it’s not! Every pillar of performance is connected, and if users aren’t converting, your technology or user experience is probably lacking. So what can you do? Make some changes! Of course, those changes don’t mean anything if you’re not…</a:t>
            </a:r>
          </a:p>
          <a:p>
            <a:endParaRPr lang="en-US" sz="2400" dirty="0"/>
          </a:p>
          <a:p>
            <a:pPr marL="342900" indent="-342900">
              <a:buFont typeface="Wingdings" panose="05000000000000000000" pitchFamily="2" charset="2"/>
              <a:buChar char="Ø"/>
            </a:pPr>
            <a:r>
              <a:rPr lang="en-US" sz="2400" dirty="0"/>
              <a:t>(Always Be Testing)</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47225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4CFE885-9646-4F89-B6F9-773AF9EBBE93}" type="datetime1">
              <a:rPr lang="en-US" smtClean="0"/>
              <a:t>7/18/2024</a:t>
            </a:fld>
            <a:endParaRPr lang="en-US" dirty="0"/>
          </a:p>
        </p:txBody>
      </p:sp>
      <p:sp>
        <p:nvSpPr>
          <p:cNvPr id="5" name="Footer Placeholder 4"/>
          <p:cNvSpPr>
            <a:spLocks noGrp="1"/>
          </p:cNvSpPr>
          <p:nvPr>
            <p:ph type="ftr" sz="quarter" idx="11"/>
          </p:nvPr>
        </p:nvSpPr>
        <p:spPr>
          <a:xfrm>
            <a:off x="4267200" y="6332583"/>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Four Important Pillars to Deploy</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Rectangle 7"/>
          <p:cNvSpPr/>
          <p:nvPr/>
        </p:nvSpPr>
        <p:spPr>
          <a:xfrm>
            <a:off x="914400" y="951147"/>
            <a:ext cx="10853057" cy="5139869"/>
          </a:xfrm>
          <a:prstGeom prst="rect">
            <a:avLst/>
          </a:prstGeom>
          <a:solidFill>
            <a:schemeClr val="tx2">
              <a:lumMod val="60000"/>
              <a:lumOff val="40000"/>
            </a:schemeClr>
          </a:solidFill>
          <a:ln w="9525">
            <a:solidFill>
              <a:schemeClr val="tx1"/>
            </a:solidFill>
          </a:ln>
        </p:spPr>
        <p:txBody>
          <a:bodyPr wrap="square">
            <a:spAutoFit/>
          </a:bodyPr>
          <a:lstStyle/>
          <a:p>
            <a:pPr algn="ctr"/>
            <a:r>
              <a:rPr lang="en-US" sz="3200" b="1" u="sng" dirty="0"/>
              <a:t>Pillar Four: Retention</a:t>
            </a:r>
          </a:p>
          <a:p>
            <a:pPr algn="ctr"/>
            <a:endParaRPr lang="en-US" sz="3200" b="1" u="sng" dirty="0"/>
          </a:p>
          <a:p>
            <a:pPr marL="342900" indent="-342900">
              <a:buFont typeface="Wingdings" panose="05000000000000000000" pitchFamily="2" charset="2"/>
              <a:buChar char="Ø"/>
            </a:pPr>
            <a:r>
              <a:rPr lang="en-US" sz="2400" dirty="0"/>
              <a:t>Which costs more? Attracting a new customer, or reselling to an existing one? Not surprisingly, keeping existing customers happy is a lot less expensive than attracting new ones. A large part of keeping existing customers happy depends on your platform and how it performs, not just when the initial sale gets made, but as customers continue to interact with your business. </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Retention and churn are often seen as an issue of platform or service, but in reality churn can be attributed to something much more simple: attracting the wrong customer. When you spend your time creating a great user experience, speedy website, testing changes, and collecting data, you attract the right customer to your product. This means less churn and more long-term customer success.</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650556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E5A1AA-9703-44F1-AA52-3E14A9BF6916}" type="datetime1">
              <a:rPr lang="en-US" smtClean="0"/>
              <a:t>7/18/2024</a:t>
            </a:fld>
            <a:endParaRPr lang="en-US" dirty="0"/>
          </a:p>
        </p:txBody>
      </p:sp>
      <p:sp>
        <p:nvSpPr>
          <p:cNvPr id="5" name="Footer Placeholder 4"/>
          <p:cNvSpPr>
            <a:spLocks noGrp="1"/>
          </p:cNvSpPr>
          <p:nvPr>
            <p:ph type="ftr" sz="quarter" idx="11"/>
          </p:nvPr>
        </p:nvSpPr>
        <p:spPr>
          <a:xfrm>
            <a:off x="4267200" y="6332583"/>
            <a:ext cx="7010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156210" y="1094149"/>
            <a:ext cx="11879580" cy="4832092"/>
          </a:xfrm>
          <a:prstGeom prst="rect">
            <a:avLst/>
          </a:prstGeom>
          <a:solidFill>
            <a:schemeClr val="tx2">
              <a:lumMod val="40000"/>
              <a:lumOff val="60000"/>
            </a:schemeClr>
          </a:solidFill>
        </p:spPr>
        <p:txBody>
          <a:bodyPr wrap="square">
            <a:spAutoFit/>
          </a:bodyPr>
          <a:lstStyle/>
          <a:p>
            <a:pPr marL="285750" indent="-285750">
              <a:buFont typeface="Wingdings" panose="05000000000000000000" pitchFamily="2" charset="2"/>
              <a:buChar char="Ø"/>
            </a:pPr>
            <a:r>
              <a:rPr lang="en-US" sz="2800" dirty="0"/>
              <a:t>You’ve got a new software project in mind – maybe it’s a mobile app, an internal tool, or a way to completely transform the way you run your business. As you start to share the idea and gather feedback, people start hitting you with a ton of questions that you may not know the answer to. How are you going to manage the infrastructure? How are you going to handle storage, networking, monitoring, and everything else you need to run this new project?</a:t>
            </a:r>
          </a:p>
          <a:p>
            <a:pPr marL="285750" indent="-285750">
              <a:buFont typeface="Wingdings" panose="05000000000000000000" pitchFamily="2" charset="2"/>
              <a:buChar char="Ø"/>
            </a:pPr>
            <a:endParaRPr lang="en-US" sz="2800" dirty="0"/>
          </a:p>
          <a:p>
            <a:pPr marL="285750" indent="-285750">
              <a:buFont typeface="Wingdings" panose="05000000000000000000" pitchFamily="2" charset="2"/>
              <a:buChar char="Ø"/>
            </a:pPr>
            <a:r>
              <a:rPr lang="en-US" sz="2800" dirty="0"/>
              <a:t>You’re looking for an answer to your prayers when you stumble on Heroku. What is Heroku you ask? Apparently it’s a Platform as a Service that can handle all of these things for you. This is great, but you still don’t understand exactly how it works.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936937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E6838F-428A-4DCD-9D63-4E77B38E02A4}" type="datetime1">
              <a:rPr lang="en-US" smtClean="0"/>
              <a:t>7/18/2024</a:t>
            </a:fld>
            <a:endParaRPr lang="en-US" dirty="0"/>
          </a:p>
        </p:txBody>
      </p:sp>
      <p:sp>
        <p:nvSpPr>
          <p:cNvPr id="5" name="Footer Placeholder 4"/>
          <p:cNvSpPr>
            <a:spLocks noGrp="1"/>
          </p:cNvSpPr>
          <p:nvPr>
            <p:ph type="ftr" sz="quarter" idx="11"/>
          </p:nvPr>
        </p:nvSpPr>
        <p:spPr>
          <a:xfrm>
            <a:off x="4267200" y="6332583"/>
            <a:ext cx="7010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Rectangle 7"/>
          <p:cNvSpPr/>
          <p:nvPr/>
        </p:nvSpPr>
        <p:spPr>
          <a:xfrm>
            <a:off x="609600" y="828036"/>
            <a:ext cx="11506200" cy="5386090"/>
          </a:xfrm>
          <a:prstGeom prst="rect">
            <a:avLst/>
          </a:prstGeom>
          <a:solidFill>
            <a:schemeClr val="tx2">
              <a:lumMod val="40000"/>
              <a:lumOff val="60000"/>
            </a:schemeClr>
          </a:solidFill>
          <a:ln w="12700">
            <a:solidFill>
              <a:schemeClr val="tx1"/>
            </a:solidFill>
          </a:ln>
        </p:spPr>
        <p:txBody>
          <a:bodyPr wrap="square">
            <a:spAutoFit/>
          </a:bodyPr>
          <a:lstStyle/>
          <a:p>
            <a:r>
              <a:rPr lang="en-US" sz="2800" b="1" u="sng" dirty="0"/>
              <a:t>So, what is Heroku and how does it work?</a:t>
            </a:r>
          </a:p>
          <a:p>
            <a:endParaRPr lang="en-US" sz="2800" b="1" u="sng" dirty="0"/>
          </a:p>
          <a:p>
            <a:r>
              <a:rPr lang="en-US" sz="2400" dirty="0"/>
              <a:t>Heroku is known for running apps in dynos – which are really just virtual computers that can be powered up or down based on how big your application is. Think of dynos as malleable building blocks for running your app.</a:t>
            </a:r>
          </a:p>
          <a:p>
            <a:endParaRPr lang="en-US" sz="2400" dirty="0"/>
          </a:p>
          <a:p>
            <a:r>
              <a:rPr lang="en-US" sz="2400" dirty="0"/>
              <a:t>If you want to process more data or run more complex tasks, you are going to need to add more blocks(what is called scaling horizontally) or increase the size of the blocks (what is called scaling vertically). Heroku then charges you a monthly fee based on the number of dynos that you have and the size of each dyno.</a:t>
            </a:r>
          </a:p>
          <a:p>
            <a:endParaRPr lang="en-US" sz="2400" dirty="0"/>
          </a:p>
          <a:p>
            <a:r>
              <a:rPr lang="en-US" sz="2400" dirty="0"/>
              <a:t>Although Heroku charges you by the dyno, they aren’t actually hosting your app. In fact, the entire Heroku platform, as well as every app built on Heroku is deployed to Amazon Web Services(AWS).</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477341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442DD1-1A48-41D6-9723-5F10813D9915}" type="datetime1">
              <a:rPr lang="en-US" smtClean="0"/>
              <a:t>7/18/2024</a:t>
            </a:fld>
            <a:endParaRPr lang="en-US" dirty="0"/>
          </a:p>
        </p:txBody>
      </p:sp>
      <p:sp>
        <p:nvSpPr>
          <p:cNvPr id="5" name="Footer Placeholder 4"/>
          <p:cNvSpPr>
            <a:spLocks noGrp="1"/>
          </p:cNvSpPr>
          <p:nvPr>
            <p:ph type="ftr" sz="quarter" idx="11"/>
          </p:nvPr>
        </p:nvSpPr>
        <p:spPr>
          <a:xfrm>
            <a:off x="4267200" y="6332583"/>
            <a:ext cx="4724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133350" y="770853"/>
            <a:ext cx="11925300" cy="6063198"/>
          </a:xfrm>
          <a:prstGeom prst="rect">
            <a:avLst/>
          </a:prstGeom>
          <a:solidFill>
            <a:schemeClr val="tx2">
              <a:lumMod val="40000"/>
              <a:lumOff val="60000"/>
            </a:schemeClr>
          </a:solidFill>
          <a:ln w="12700">
            <a:solidFill>
              <a:schemeClr val="tx1"/>
            </a:solidFill>
          </a:ln>
        </p:spPr>
        <p:txBody>
          <a:bodyPr wrap="square">
            <a:spAutoFit/>
          </a:bodyPr>
          <a:lstStyle/>
          <a:p>
            <a:r>
              <a:rPr lang="en-US" sz="2800" b="1" u="sng" dirty="0"/>
              <a:t>Why use Heroku when AWS is present?</a:t>
            </a:r>
          </a:p>
          <a:p>
            <a:endParaRPr lang="en-US" sz="2400" b="1" u="sng" dirty="0"/>
          </a:p>
          <a:p>
            <a:pPr marL="285750" indent="-285750">
              <a:buFont typeface="Wingdings" panose="05000000000000000000" pitchFamily="2" charset="2"/>
              <a:buChar char="Ø"/>
            </a:pPr>
            <a:r>
              <a:rPr lang="en-US" sz="2400" dirty="0"/>
              <a:t>To understand what Heroku is, we’re going to start with what it’s not. You may have realized that Heroku runs on Amazon Web Services (AWS), and now you’re asking yourself why you don’t deploy to AWS and bypass Heroku entirely. First of all, Heroku and AWS are not the same things.</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AWS is an Infrastructure as a Service(IaaS) provider, meaning they are responsible for managing large, shared data centers. These data centers are what we call “the cloud”. Companies like AWS, Azure, and Google have all created IaaS so that developers can pay to host their applications in these data centers instead of building servers themselves.</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This is a great trade-off but due to the nature of their business, IaaS providers are more concerned with running the data centers than the developer’s experience working with them. This means there is a high level of knowledge of AWS is required to keep your apps running, especially at scale.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493338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543347-3FAD-4602-89AB-0C8F29929C41}" type="datetime1">
              <a:rPr lang="en-US" smtClean="0"/>
              <a:t>7/18/2024</a:t>
            </a:fld>
            <a:endParaRPr lang="en-US" dirty="0"/>
          </a:p>
        </p:txBody>
      </p:sp>
      <p:sp>
        <p:nvSpPr>
          <p:cNvPr id="5" name="Footer Placeholder 4"/>
          <p:cNvSpPr>
            <a:spLocks noGrp="1"/>
          </p:cNvSpPr>
          <p:nvPr>
            <p:ph type="ftr" sz="quarter" idx="11"/>
          </p:nvPr>
        </p:nvSpPr>
        <p:spPr>
          <a:xfrm>
            <a:off x="4267200" y="6332583"/>
            <a:ext cx="6629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Rectangle 7"/>
          <p:cNvSpPr/>
          <p:nvPr/>
        </p:nvSpPr>
        <p:spPr>
          <a:xfrm>
            <a:off x="312964" y="990600"/>
            <a:ext cx="11566072" cy="4832092"/>
          </a:xfrm>
          <a:prstGeom prst="rect">
            <a:avLst/>
          </a:prstGeom>
          <a:solidFill>
            <a:schemeClr val="tx2">
              <a:lumMod val="40000"/>
              <a:lumOff val="60000"/>
            </a:schemeClr>
          </a:solidFill>
          <a:ln w="12700">
            <a:solidFill>
              <a:schemeClr val="tx1"/>
            </a:solidFill>
          </a:ln>
        </p:spPr>
        <p:txBody>
          <a:bodyPr wrap="square">
            <a:spAutoFit/>
          </a:bodyPr>
          <a:lstStyle/>
          <a:p>
            <a:pPr marL="342900" indent="-342900">
              <a:buFont typeface="Wingdings" panose="05000000000000000000" pitchFamily="2" charset="2"/>
              <a:buChar char="Ø"/>
            </a:pPr>
            <a:r>
              <a:rPr lang="en-US" sz="2800" dirty="0"/>
              <a:t>Heroku, on the other hand, is a Platform as a Service that sits on top of AWS to provide an experience that is specifically designed to make developers lives easier. For example, in order to keep an application running at scale on Heroku, it only takes knowledge of a few commands on the Heroku CLI and Dashboard. </a:t>
            </a:r>
          </a:p>
          <a:p>
            <a:endParaRPr lang="en-US" sz="2800" dirty="0"/>
          </a:p>
          <a:p>
            <a:pPr marL="342900" indent="-342900">
              <a:buFont typeface="Wingdings" panose="05000000000000000000" pitchFamily="2" charset="2"/>
              <a:buChar char="Ø"/>
            </a:pPr>
            <a:r>
              <a:rPr lang="en-US" sz="2800" dirty="0"/>
              <a:t>These commands can easily be found in Heroku’s documentation. Again, Heroku was built by developers for developers. The experience is easy to navigate, developers know exactly what they need to do when they log in, and they know exactly how their application is running every second the platform.</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00836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ED8BA4F-92E5-43F1-9AA3-B02984B7224C}" type="datetime1">
              <a:rPr lang="en-US" smtClean="0"/>
              <a:t>7/18/2024</a:t>
            </a:fld>
            <a:endParaRPr lang="en-US" dirty="0"/>
          </a:p>
        </p:txBody>
      </p:sp>
      <p:sp>
        <p:nvSpPr>
          <p:cNvPr id="5" name="Footer Placeholder 4"/>
          <p:cNvSpPr>
            <a:spLocks noGrp="1"/>
          </p:cNvSpPr>
          <p:nvPr>
            <p:ph type="ftr" sz="quarter" idx="11"/>
          </p:nvPr>
        </p:nvSpPr>
        <p:spPr>
          <a:xfrm>
            <a:off x="4191000" y="6379902"/>
            <a:ext cx="6629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709580"/>
            <a:ext cx="11430000" cy="5693866"/>
          </a:xfrm>
          <a:prstGeom prst="rect">
            <a:avLst/>
          </a:prstGeom>
          <a:solidFill>
            <a:schemeClr val="tx2">
              <a:lumMod val="40000"/>
              <a:lumOff val="60000"/>
            </a:schemeClr>
          </a:solidFill>
          <a:ln w="12700">
            <a:solidFill>
              <a:schemeClr val="tx1"/>
            </a:solidFill>
          </a:ln>
        </p:spPr>
        <p:txBody>
          <a:bodyPr wrap="square">
            <a:spAutoFit/>
          </a:bodyPr>
          <a:lstStyle/>
          <a:p>
            <a:r>
              <a:rPr lang="en-US" sz="2800" b="1" u="sng" dirty="0">
                <a:solidFill>
                  <a:srgbClr val="272C37"/>
                </a:solidFill>
              </a:rPr>
              <a:t>What is GitHub And How To Use It?</a:t>
            </a:r>
          </a:p>
          <a:p>
            <a:endParaRPr lang="en-US" sz="2800" b="1" u="sng" dirty="0">
              <a:solidFill>
                <a:srgbClr val="272C37"/>
              </a:solidFill>
            </a:endParaRPr>
          </a:p>
          <a:p>
            <a:pPr marL="457200" indent="-457200">
              <a:buFont typeface="Wingdings" panose="05000000000000000000" pitchFamily="2" charset="2"/>
              <a:buChar char="Ø"/>
            </a:pPr>
            <a:r>
              <a:rPr lang="en-US" sz="2800" dirty="0"/>
              <a:t>GitHub is an increasingly popular programming resource used for code sharing. It's a social networking site for programmers that many companies and organizations use to facilitate project management and collaboration. </a:t>
            </a:r>
          </a:p>
          <a:p>
            <a:endParaRPr lang="en-US" sz="2800" dirty="0"/>
          </a:p>
          <a:p>
            <a:pPr marL="457200" indent="-457200">
              <a:buFont typeface="Wingdings" panose="05000000000000000000" pitchFamily="2" charset="2"/>
              <a:buChar char="Ø"/>
            </a:pPr>
            <a:r>
              <a:rPr lang="en-US" sz="2800" dirty="0"/>
              <a:t>According to </a:t>
            </a:r>
            <a:r>
              <a:rPr lang="en-US" sz="2800" dirty="0">
                <a:hlinkClick r:id="rId2" tooltip="statistics collected in October 2020"/>
              </a:rPr>
              <a:t>statistics collected in October 2020</a:t>
            </a:r>
            <a:r>
              <a:rPr lang="en-US" sz="2800" dirty="0"/>
              <a:t>, it is the most prominent source code host, with over 60 million new repositories created in 2020 and boasting over 56 million total developers.</a:t>
            </a:r>
          </a:p>
          <a:p>
            <a:endParaRPr lang="en-US" sz="2800" dirty="0"/>
          </a:p>
          <a:p>
            <a:pPr marL="457200" indent="-457200">
              <a:buFont typeface="Wingdings" panose="05000000000000000000" pitchFamily="2" charset="2"/>
              <a:buChar char="Ø"/>
            </a:pPr>
            <a:r>
              <a:rPr lang="en-US" sz="2800" dirty="0">
                <a:solidFill>
                  <a:srgbClr val="272C37"/>
                </a:solidFill>
              </a:rPr>
              <a:t>GitHub is a Git repository hosting service that provides a web-based graphical interface. It is the world’s largest coding community. </a:t>
            </a:r>
            <a:endParaRPr lang="en-US" sz="2800" b="0" i="0" dirty="0">
              <a:solidFill>
                <a:srgbClr val="272C37"/>
              </a:solidFill>
              <a:effectLst/>
            </a:endParaRP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2321657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42E7C1-CAC6-4917-9184-2336B2850300}" type="datetime1">
              <a:rPr lang="en-US" smtClean="0"/>
              <a:t>7/18/2024</a:t>
            </a:fld>
            <a:endParaRPr lang="en-US" dirty="0"/>
          </a:p>
        </p:txBody>
      </p:sp>
      <p:sp>
        <p:nvSpPr>
          <p:cNvPr id="5" name="Footer Placeholder 4"/>
          <p:cNvSpPr>
            <a:spLocks noGrp="1"/>
          </p:cNvSpPr>
          <p:nvPr>
            <p:ph type="ftr" sz="quarter" idx="11"/>
          </p:nvPr>
        </p:nvSpPr>
        <p:spPr>
          <a:xfrm>
            <a:off x="4191000" y="6379902"/>
            <a:ext cx="6553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Registering on Heroku and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457200" y="747591"/>
            <a:ext cx="11734800" cy="5632311"/>
          </a:xfrm>
          <a:prstGeom prst="rect">
            <a:avLst/>
          </a:prstGeom>
          <a:solidFill>
            <a:schemeClr val="tx2">
              <a:lumMod val="40000"/>
              <a:lumOff val="60000"/>
            </a:schemeClr>
          </a:solidFill>
          <a:ln w="12700">
            <a:solidFill>
              <a:schemeClr val="tx1"/>
            </a:solidFill>
          </a:ln>
        </p:spPr>
        <p:txBody>
          <a:bodyPr wrap="square">
            <a:spAutoFit/>
          </a:bodyPr>
          <a:lstStyle/>
          <a:p>
            <a:pPr marL="342900" indent="-342900">
              <a:buFont typeface="Wingdings" panose="05000000000000000000" pitchFamily="2" charset="2"/>
              <a:buChar char="§"/>
            </a:pPr>
            <a:r>
              <a:rPr lang="en-US" sz="2400" dirty="0"/>
              <a:t>GitHub helps every team member work together on a project from any location while facilitating collaboration. You can also review previous versions created at an earlier point in time.</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So now we know what Git and GitHub are. Time to gain a better understanding of the importance and relevance of what is GitHub by exploring its features.</a:t>
            </a:r>
          </a:p>
          <a:p>
            <a:r>
              <a:rPr lang="en-US" sz="2400" dirty="0"/>
              <a:t>1. Easy Project Management</a:t>
            </a:r>
          </a:p>
          <a:p>
            <a:r>
              <a:rPr lang="en-US" sz="2400" dirty="0"/>
              <a:t>GitHub is a place where project managers and developers come together to coordinate, track, and update their work so that projects are transparent and stay on schedule.</a:t>
            </a:r>
          </a:p>
          <a:p>
            <a:r>
              <a:rPr lang="en-US" sz="2400" dirty="0"/>
              <a:t>2. Increased Safety With Packages</a:t>
            </a:r>
          </a:p>
          <a:p>
            <a:r>
              <a:rPr lang="en-US" sz="2400" dirty="0"/>
              <a:t>Packages can be published privately, within the team, or publicly to the open-source community. The packages can be used or reused by downloading them from GitHub.</a:t>
            </a:r>
          </a:p>
          <a:p>
            <a:r>
              <a:rPr lang="en-US" sz="2400" dirty="0"/>
              <a:t>3. Effective Team Management</a:t>
            </a:r>
          </a:p>
          <a:p>
            <a:r>
              <a:rPr lang="en-US" sz="2400" dirty="0"/>
              <a:t>GitHub helps all the team members stay on the same page and organized. Moderation tools like Issue and Pull Request Locking help the team to focus on the code.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95061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5022D98-6273-4370-8339-7D2CB9F7B618}" type="datetime1">
              <a:rPr lang="en-US" smtClean="0"/>
              <a:t>7/18/2024</a:t>
            </a:fld>
            <a:endParaRPr lang="en-US" dirty="0"/>
          </a:p>
        </p:txBody>
      </p:sp>
      <p:sp>
        <p:nvSpPr>
          <p:cNvPr id="5" name="Footer Placeholder 4"/>
          <p:cNvSpPr>
            <a:spLocks noGrp="1"/>
          </p:cNvSpPr>
          <p:nvPr>
            <p:ph type="ftr" sz="quarter" idx="11"/>
          </p:nvPr>
        </p:nvSpPr>
        <p:spPr>
          <a:xfrm>
            <a:off x="4191000" y="6379902"/>
            <a:ext cx="6781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Push project from Local System to GitHub</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032000" y="987628"/>
            <a:ext cx="8379495" cy="5334586"/>
          </a:xfrm>
          <a:prstGeom prst="rect">
            <a:avLst/>
          </a:prstGeom>
          <a:solidFill>
            <a:schemeClr val="tx2">
              <a:lumMod val="40000"/>
              <a:lumOff val="60000"/>
            </a:schemeClr>
          </a:solidFill>
          <a:ln w="28575">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0424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3BD1DC3-3C41-4A7C-91C0-6611445C2FC7}" type="datetime1">
              <a:rPr lang="en-US" smtClean="0"/>
              <a:t>7/18/2024</a:t>
            </a:fld>
            <a:endParaRPr lang="en-US" dirty="0"/>
          </a:p>
        </p:txBody>
      </p:sp>
      <p:sp>
        <p:nvSpPr>
          <p:cNvPr id="5" name="Footer Placeholder 4"/>
          <p:cNvSpPr>
            <a:spLocks noGrp="1"/>
          </p:cNvSpPr>
          <p:nvPr>
            <p:ph type="ftr" sz="quarter" idx="11"/>
          </p:nvPr>
        </p:nvSpPr>
        <p:spPr>
          <a:xfrm>
            <a:off x="4191000" y="6379902"/>
            <a:ext cx="6781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Django Heroku</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635726" y="843425"/>
            <a:ext cx="11395166" cy="5262979"/>
          </a:xfrm>
          <a:prstGeom prst="rect">
            <a:avLst/>
          </a:prstGeom>
          <a:solidFill>
            <a:schemeClr val="tx2">
              <a:lumMod val="40000"/>
              <a:lumOff val="60000"/>
            </a:schemeClr>
          </a:solidFill>
          <a:ln w="12700">
            <a:solidFill>
              <a:schemeClr val="tx1"/>
            </a:solidFill>
          </a:ln>
        </p:spPr>
        <p:txBody>
          <a:bodyPr wrap="square">
            <a:spAutoFit/>
          </a:bodyPr>
          <a:lstStyle/>
          <a:p>
            <a:r>
              <a:rPr lang="en-US" sz="2800" b="1" u="sng" dirty="0"/>
              <a:t>How to Deploy Django application on Heroku ?</a:t>
            </a:r>
          </a:p>
          <a:p>
            <a:r>
              <a:rPr lang="en-US" sz="2800" dirty="0"/>
              <a:t>Django is an MVT web framework used to build web applications. It is robust, simple, and helps web developers to write clean, efficient, and powerful code. In this lecture, we will learn how to deploy a Django project on Heroku in simple steps. For this, a Django project should be ready.</a:t>
            </a:r>
          </a:p>
          <a:p>
            <a:r>
              <a:rPr lang="en-US" sz="2800" dirty="0"/>
              <a:t>Heroku account</a:t>
            </a:r>
          </a:p>
          <a:p>
            <a:endParaRPr lang="en-US" sz="2800" dirty="0"/>
          </a:p>
          <a:p>
            <a:r>
              <a:rPr lang="en-US" sz="2800" dirty="0"/>
              <a:t>1. Install your Heroku </a:t>
            </a:r>
            <a:r>
              <a:rPr lang="en-US" sz="2800" dirty="0" err="1"/>
              <a:t>toolbelt</a:t>
            </a:r>
            <a:r>
              <a:rPr lang="en-US" sz="2800" dirty="0"/>
              <a:t> which you can find here: https://toolbelt.heroku.com</a:t>
            </a:r>
          </a:p>
          <a:p>
            <a:r>
              <a:rPr lang="en-US" sz="2800" dirty="0"/>
              <a:t>2. Authenticate your Heroku account either running the below command in </a:t>
            </a:r>
            <a:r>
              <a:rPr lang="en-US" sz="2800" dirty="0" err="1"/>
              <a:t>cmd</a:t>
            </a:r>
            <a:r>
              <a:rPr lang="en-US" sz="2800" dirty="0"/>
              <a:t> or </a:t>
            </a:r>
            <a:r>
              <a:rPr lang="en-US" sz="2800" dirty="0" err="1"/>
              <a:t>gitbash</a:t>
            </a:r>
            <a:endParaRPr lang="en-US" sz="2800" dirty="0"/>
          </a:p>
          <a:p>
            <a:r>
              <a:rPr lang="en-US" sz="2800" dirty="0"/>
              <a:t>$</a:t>
            </a:r>
            <a:r>
              <a:rPr lang="en-US" sz="2800" dirty="0" err="1"/>
              <a:t>heroku</a:t>
            </a:r>
            <a:r>
              <a:rPr lang="en-US" sz="2800" dirty="0"/>
              <a:t> login</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67292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70BCBF-45FF-4CA4-8631-E3D1AA2F21CE}" type="datetime1">
              <a:rPr lang="en-US" smtClean="0"/>
              <a:t>7/18/2024</a:t>
            </a:fld>
            <a:endParaRPr lang="en-US" dirty="0"/>
          </a:p>
        </p:txBody>
      </p:sp>
      <p:sp>
        <p:nvSpPr>
          <p:cNvPr id="5" name="Footer Placeholder 4"/>
          <p:cNvSpPr>
            <a:spLocks noGrp="1"/>
          </p:cNvSpPr>
          <p:nvPr>
            <p:ph type="ftr" sz="quarter" idx="11"/>
          </p:nvPr>
        </p:nvSpPr>
        <p:spPr>
          <a:xfrm>
            <a:off x="4191000" y="6379902"/>
            <a:ext cx="67056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Django Heroku</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2209800" y="886979"/>
            <a:ext cx="8072862" cy="5268205"/>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892178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700175-BAFD-4E46-9338-EF4378475655}" type="datetime1">
              <a:rPr lang="en-US" smtClean="0"/>
              <a:t>7/18/2024</a:t>
            </a:fld>
            <a:endParaRPr lang="en-US" dirty="0"/>
          </a:p>
        </p:txBody>
      </p:sp>
      <p:sp>
        <p:nvSpPr>
          <p:cNvPr id="5" name="Footer Placeholder 4"/>
          <p:cNvSpPr>
            <a:spLocks noGrp="1"/>
          </p:cNvSpPr>
          <p:nvPr>
            <p:ph type="ftr" sz="quarter" idx="11"/>
          </p:nvPr>
        </p:nvSpPr>
        <p:spPr>
          <a:xfrm>
            <a:off x="4190999" y="6379902"/>
            <a:ext cx="6518809"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1482191" y="793511"/>
            <a:ext cx="9227618" cy="5507392"/>
          </a:xfrm>
          <a:prstGeom prst="rect">
            <a:avLst/>
          </a:prstGeom>
          <a:ln w="19050">
            <a:solidFill>
              <a:schemeClr val="tx1"/>
            </a:solidFill>
          </a:ln>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693418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02C64A-F241-4B2B-BE6E-057D7DB68FE0}" type="datetime1">
              <a:rPr lang="en-US" smtClean="0"/>
              <a:t>7/18/2024</a:t>
            </a:fld>
            <a:endParaRPr lang="en-US" dirty="0"/>
          </a:p>
        </p:txBody>
      </p:sp>
      <p:sp>
        <p:nvSpPr>
          <p:cNvPr id="5" name="Footer Placeholder 4"/>
          <p:cNvSpPr>
            <a:spLocks noGrp="1"/>
          </p:cNvSpPr>
          <p:nvPr>
            <p:ph type="ftr" sz="quarter" idx="11"/>
          </p:nvPr>
        </p:nvSpPr>
        <p:spPr>
          <a:xfrm>
            <a:off x="4191000" y="6379902"/>
            <a:ext cx="6781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762000" y="960995"/>
            <a:ext cx="11315887" cy="5120173"/>
          </a:xfrm>
          <a:prstGeom prst="rect">
            <a:avLst/>
          </a:prstGeom>
          <a:ln w="1270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32118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1D0779-84DC-4413-BC10-DAA8FDC96ACF}" type="datetime1">
              <a:rPr lang="en-US" smtClean="0"/>
              <a:t>7/18/2024</a:t>
            </a:fld>
            <a:endParaRPr lang="en-US" dirty="0"/>
          </a:p>
        </p:txBody>
      </p:sp>
      <p:sp>
        <p:nvSpPr>
          <p:cNvPr id="5" name="Footer Placeholder 4"/>
          <p:cNvSpPr>
            <a:spLocks noGrp="1"/>
          </p:cNvSpPr>
          <p:nvPr>
            <p:ph type="ftr" sz="quarter" idx="11"/>
          </p:nvPr>
        </p:nvSpPr>
        <p:spPr>
          <a:xfrm>
            <a:off x="4191000" y="6379902"/>
            <a:ext cx="7010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1066800" y="997083"/>
            <a:ext cx="10311861" cy="5087185"/>
          </a:xfrm>
          <a:prstGeom prst="rect">
            <a:avLst/>
          </a:prstGeom>
          <a:ln w="12700">
            <a:solidFill>
              <a:schemeClr val="tx1"/>
            </a:solidFill>
          </a:ln>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42495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BC924E-C8B9-42CD-B417-2AB52028AB2C}" type="datetime1">
              <a:rPr lang="en-US" smtClean="0"/>
              <a:t>7/18/2024</a:t>
            </a:fld>
            <a:endParaRPr lang="en-US" dirty="0"/>
          </a:p>
        </p:txBody>
      </p:sp>
      <p:sp>
        <p:nvSpPr>
          <p:cNvPr id="5" name="Footer Placeholder 4"/>
          <p:cNvSpPr>
            <a:spLocks noGrp="1"/>
          </p:cNvSpPr>
          <p:nvPr>
            <p:ph type="ftr" sz="quarter" idx="11"/>
          </p:nvPr>
        </p:nvSpPr>
        <p:spPr>
          <a:xfrm>
            <a:off x="4191000" y="6379902"/>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546708" y="988810"/>
            <a:ext cx="11098583" cy="5064542"/>
          </a:xfrm>
          <a:prstGeom prst="rect">
            <a:avLst/>
          </a:prstGeom>
          <a:ln w="28575">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879525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11FF014-FB07-47E8-986E-08F06A40B1EE}" type="datetime1">
              <a:rPr lang="en-US" smtClean="0"/>
              <a:t>7/18/2024</a:t>
            </a:fld>
            <a:endParaRPr lang="en-US" dirty="0"/>
          </a:p>
        </p:txBody>
      </p:sp>
      <p:sp>
        <p:nvSpPr>
          <p:cNvPr id="5" name="Footer Placeholder 4"/>
          <p:cNvSpPr>
            <a:spLocks noGrp="1"/>
          </p:cNvSpPr>
          <p:nvPr>
            <p:ph type="ftr" sz="quarter" idx="11"/>
          </p:nvPr>
        </p:nvSpPr>
        <p:spPr>
          <a:xfrm>
            <a:off x="4191000" y="6379902"/>
            <a:ext cx="70104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587829" y="1143000"/>
            <a:ext cx="11379805" cy="4419600"/>
          </a:xfrm>
          <a:prstGeom prst="rect">
            <a:avLst/>
          </a:prstGeom>
          <a:ln w="28575">
            <a:solidFill>
              <a:schemeClr val="tx1"/>
            </a:solidFill>
          </a:ln>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4919406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EE1F39-4880-4F08-BE3C-93AA4F6742A0}" type="datetime1">
              <a:rPr lang="en-US" smtClean="0"/>
              <a:t>7/18/2024</a:t>
            </a:fld>
            <a:endParaRPr lang="en-US" dirty="0"/>
          </a:p>
        </p:txBody>
      </p:sp>
      <p:sp>
        <p:nvSpPr>
          <p:cNvPr id="5" name="Footer Placeholder 4"/>
          <p:cNvSpPr>
            <a:spLocks noGrp="1"/>
          </p:cNvSpPr>
          <p:nvPr>
            <p:ph type="ftr" sz="quarter" idx="11"/>
          </p:nvPr>
        </p:nvSpPr>
        <p:spPr>
          <a:xfrm>
            <a:off x="4191000" y="6379902"/>
            <a:ext cx="6934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447800" y="990600"/>
            <a:ext cx="10585151" cy="4644786"/>
          </a:xfrm>
          <a:prstGeom prst="rect">
            <a:avLst/>
          </a:prstGeom>
          <a:ln w="19050">
            <a:solidFill>
              <a:schemeClr val="tx1"/>
            </a:solidFill>
          </a:ln>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78748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E11232-B85B-40B2-B347-3AF8EC15DE50}" type="datetime1">
              <a:rPr lang="en-US" smtClean="0"/>
              <a:t>7/18/2024</a:t>
            </a:fld>
            <a:endParaRPr lang="en-US" dirty="0"/>
          </a:p>
        </p:txBody>
      </p:sp>
      <p:sp>
        <p:nvSpPr>
          <p:cNvPr id="5" name="Footer Placeholder 4"/>
          <p:cNvSpPr>
            <a:spLocks noGrp="1"/>
          </p:cNvSpPr>
          <p:nvPr>
            <p:ph type="ftr" sz="quarter" idx="11"/>
          </p:nvPr>
        </p:nvSpPr>
        <p:spPr>
          <a:xfrm>
            <a:off x="4191000" y="6379902"/>
            <a:ext cx="6781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Working with Static Root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8" name="Picture 7"/>
          <p:cNvPicPr>
            <a:picLocks noChangeAspect="1"/>
          </p:cNvPicPr>
          <p:nvPr/>
        </p:nvPicPr>
        <p:blipFill>
          <a:blip r:embed="rId2"/>
          <a:stretch>
            <a:fillRect/>
          </a:stretch>
        </p:blipFill>
        <p:spPr>
          <a:xfrm>
            <a:off x="929385" y="978427"/>
            <a:ext cx="10333230" cy="5085309"/>
          </a:xfrm>
          <a:prstGeom prst="rect">
            <a:avLst/>
          </a:prstGeom>
          <a:ln w="12700">
            <a:solidFill>
              <a:schemeClr val="tx1"/>
            </a:solidFill>
          </a:ln>
        </p:spPr>
      </p:pic>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395599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3CC46A-A1E1-4169-812B-9B6208BF2968}" type="datetime1">
              <a:rPr lang="en-US" smtClean="0"/>
              <a:t>7/18/2024</a:t>
            </a:fld>
            <a:endParaRPr lang="en-US" dirty="0"/>
          </a:p>
        </p:txBody>
      </p:sp>
      <p:sp>
        <p:nvSpPr>
          <p:cNvPr id="5" name="Footer Placeholder 4"/>
          <p:cNvSpPr>
            <a:spLocks noGrp="1"/>
          </p:cNvSpPr>
          <p:nvPr>
            <p:ph type="ftr" sz="quarter" idx="11"/>
          </p:nvPr>
        </p:nvSpPr>
        <p:spPr>
          <a:xfrm>
            <a:off x="4191000" y="6379902"/>
            <a:ext cx="71628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Handling WSGI with gunicorn</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10" name="Rectangle 9"/>
          <p:cNvSpPr/>
          <p:nvPr/>
        </p:nvSpPr>
        <p:spPr>
          <a:xfrm>
            <a:off x="801189" y="1066800"/>
            <a:ext cx="10809514" cy="5035097"/>
          </a:xfrm>
          <a:prstGeom prst="rect">
            <a:avLst/>
          </a:prstGeom>
          <a:solidFill>
            <a:schemeClr val="tx2">
              <a:lumMod val="40000"/>
              <a:lumOff val="60000"/>
            </a:schemeClr>
          </a:solidFill>
          <a:ln w="19050">
            <a:solidFill>
              <a:schemeClr val="tx1"/>
            </a:solidFill>
          </a:ln>
        </p:spPr>
        <p:txBody>
          <a:bodyPr wrap="square">
            <a:spAutoFit/>
          </a:bodyPr>
          <a:lstStyle/>
          <a:p>
            <a:r>
              <a:rPr lang="en-US" sz="2800" b="1" u="sng" dirty="0"/>
              <a:t>Gunicorn - WSGI server:-</a:t>
            </a:r>
          </a:p>
          <a:p>
            <a:endParaRPr lang="en-US" sz="2400" b="1" u="sng" dirty="0"/>
          </a:p>
          <a:p>
            <a:r>
              <a:rPr lang="en-US" sz="2400" dirty="0"/>
              <a:t>Gunicorn ‘Green Unicorn’ is a Python WSGI HTTP Server for UNIX. It’s a pre-fork worker model ported from Ruby’s Unicorn project. The Gunicorn server is broadly compatible with various web frameworks, simply implemented, light on server resources, and fairly speedy.</a:t>
            </a:r>
          </a:p>
          <a:p>
            <a:r>
              <a:rPr lang="en-US" sz="2400" dirty="0"/>
              <a:t>Features</a:t>
            </a:r>
          </a:p>
          <a:p>
            <a:r>
              <a:rPr lang="en-US" sz="2400" dirty="0"/>
              <a:t>Natively supports WSGI, Django, and </a:t>
            </a:r>
            <a:r>
              <a:rPr lang="en-US" sz="2400" dirty="0" err="1"/>
              <a:t>Paster</a:t>
            </a:r>
            <a:endParaRPr lang="en-US" sz="2400" dirty="0"/>
          </a:p>
          <a:p>
            <a:r>
              <a:rPr lang="en-US" sz="2400" dirty="0"/>
              <a:t>Automatic worker process management</a:t>
            </a:r>
          </a:p>
          <a:p>
            <a:r>
              <a:rPr lang="en-US" sz="2400" dirty="0"/>
              <a:t>Simple Python configuration</a:t>
            </a:r>
          </a:p>
          <a:p>
            <a:r>
              <a:rPr lang="en-US" sz="2400" dirty="0"/>
              <a:t>Multiple worker configurations</a:t>
            </a:r>
          </a:p>
          <a:p>
            <a:r>
              <a:rPr lang="en-US" sz="2400" dirty="0"/>
              <a:t>Various server hooks for extensibility</a:t>
            </a:r>
          </a:p>
          <a:p>
            <a:r>
              <a:rPr lang="en-US" sz="2400" dirty="0"/>
              <a:t>Compatible with Python 3.x &gt;= 3.5</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22203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39877FE-2A28-4120-8269-313CB9F82F36}" type="datetime1">
              <a:rPr lang="en-US" smtClean="0"/>
              <a:t>7/18/2024</a:t>
            </a:fld>
            <a:endParaRPr lang="en-US" dirty="0"/>
          </a:p>
        </p:txBody>
      </p:sp>
      <p:sp>
        <p:nvSpPr>
          <p:cNvPr id="5" name="Footer Placeholder 4"/>
          <p:cNvSpPr>
            <a:spLocks noGrp="1"/>
          </p:cNvSpPr>
          <p:nvPr>
            <p:ph type="ftr" sz="quarter" idx="11"/>
          </p:nvPr>
        </p:nvSpPr>
        <p:spPr>
          <a:xfrm>
            <a:off x="4191000" y="6379902"/>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Handling WSGI with gunicorn</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8" name="Rectangle 7"/>
          <p:cNvSpPr/>
          <p:nvPr/>
        </p:nvSpPr>
        <p:spPr>
          <a:xfrm>
            <a:off x="609600" y="969876"/>
            <a:ext cx="11349446" cy="5093702"/>
          </a:xfrm>
          <a:prstGeom prst="rect">
            <a:avLst/>
          </a:prstGeom>
          <a:solidFill>
            <a:schemeClr val="tx2">
              <a:lumMod val="40000"/>
              <a:lumOff val="60000"/>
            </a:schemeClr>
          </a:solidFill>
          <a:ln w="19050">
            <a:solidFill>
              <a:schemeClr val="tx1"/>
            </a:solidFill>
          </a:ln>
        </p:spPr>
        <p:txBody>
          <a:bodyPr wrap="square">
            <a:spAutoFit/>
          </a:bodyPr>
          <a:lstStyle/>
          <a:p>
            <a:pPr marL="342900" indent="-342900">
              <a:buFont typeface="Wingdings" panose="05000000000000000000" pitchFamily="2" charset="2"/>
              <a:buChar char="Ø"/>
            </a:pPr>
            <a:r>
              <a:rPr lang="en-US" sz="2500" dirty="0"/>
              <a:t>Gunicorn is a stand-alone WSGI web application server which offers a lot of functionality. It natively supports various frameworks with its adapters, making it an extremely easy to use drop-in replacement for many development servers that are used during development.</a:t>
            </a:r>
          </a:p>
          <a:p>
            <a:pPr marL="342900" indent="-342900">
              <a:buFont typeface="Wingdings" panose="05000000000000000000" pitchFamily="2" charset="2"/>
              <a:buChar char="Ø"/>
            </a:pPr>
            <a:endParaRPr lang="en-US" sz="2500" dirty="0"/>
          </a:p>
          <a:p>
            <a:pPr marL="342900" indent="-342900">
              <a:buFont typeface="Wingdings" panose="05000000000000000000" pitchFamily="2" charset="2"/>
              <a:buChar char="Ø"/>
            </a:pPr>
            <a:r>
              <a:rPr lang="en-US" sz="2500" dirty="0"/>
              <a:t>Technically, the way Gunicorn works is very similar to the successful Unicorn web server for Ruby applications. They both use what’s referred to as the pre-fork model. This, in essence, tasks the central [Gunicorn] master process to handle the management of workers, creation of sockets and bindings, etc.</a:t>
            </a:r>
          </a:p>
          <a:p>
            <a:endParaRPr lang="en-US" sz="2500" dirty="0"/>
          </a:p>
          <a:p>
            <a:pPr marL="342900" indent="-342900">
              <a:buFont typeface="Wingdings" panose="05000000000000000000" pitchFamily="2" charset="2"/>
              <a:buChar char="Ø"/>
            </a:pPr>
            <a:r>
              <a:rPr lang="en-US" sz="2500" dirty="0"/>
              <a:t>Nginx is a very high performant web server / (reverse)-proxy. It has reached its current popularity due to being light weight, relatively easy to work with, and easy to extend (with add-ons / plug-ins).</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9543510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21B8A6B-6795-4C86-A21D-2B4F848B7F08}" type="datetime1">
              <a:rPr lang="en-US" smtClean="0"/>
              <a:t>7/18/2024</a:t>
            </a:fld>
            <a:endParaRPr lang="en-US" dirty="0"/>
          </a:p>
        </p:txBody>
      </p:sp>
      <p:sp>
        <p:nvSpPr>
          <p:cNvPr id="5" name="Footer Placeholder 4"/>
          <p:cNvSpPr>
            <a:spLocks noGrp="1"/>
          </p:cNvSpPr>
          <p:nvPr>
            <p:ph type="ftr" sz="quarter" idx="11"/>
          </p:nvPr>
        </p:nvSpPr>
        <p:spPr>
          <a:xfrm>
            <a:off x="4191000" y="6379902"/>
            <a:ext cx="6858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Setting up Database &amp; adding users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9" name="Rectangle 8"/>
          <p:cNvSpPr/>
          <p:nvPr/>
        </p:nvSpPr>
        <p:spPr>
          <a:xfrm>
            <a:off x="723900" y="1155739"/>
            <a:ext cx="10744200" cy="4893647"/>
          </a:xfrm>
          <a:prstGeom prst="rect">
            <a:avLst/>
          </a:prstGeom>
          <a:solidFill>
            <a:schemeClr val="tx2">
              <a:lumMod val="40000"/>
              <a:lumOff val="60000"/>
            </a:schemeClr>
          </a:solidFill>
          <a:ln w="19050">
            <a:solidFill>
              <a:schemeClr val="tx1"/>
            </a:solidFill>
          </a:ln>
        </p:spPr>
        <p:txBody>
          <a:bodyPr wrap="square">
            <a:spAutoFit/>
          </a:bodyPr>
          <a:lstStyle/>
          <a:p>
            <a:pPr marL="342900" indent="-342900">
              <a:buFont typeface="Wingdings" panose="05000000000000000000" pitchFamily="2" charset="2"/>
              <a:buChar char="Ø"/>
            </a:pPr>
            <a:r>
              <a:rPr lang="en-US" sz="2400" dirty="0"/>
              <a:t>There are several ways to extend the the default Django User model. Perhaps one of the most common way (and also less intrusive) is to extend the User model using a one-to-one link. </a:t>
            </a:r>
          </a:p>
          <a:p>
            <a:endParaRPr lang="en-US" sz="2400" dirty="0"/>
          </a:p>
          <a:p>
            <a:pPr marL="342900" indent="-342900">
              <a:buFont typeface="Wingdings" panose="05000000000000000000" pitchFamily="2" charset="2"/>
              <a:buChar char="Ø"/>
            </a:pPr>
            <a:r>
              <a:rPr lang="en-US" sz="2400" dirty="0"/>
              <a:t>This strategy is also known as User Profile. One of the challenges of this particular strategy, if you are using Django Admin, is how to display the profile data in the User edit page. And that’s what this tutorial is about.</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US" sz="2400" dirty="0"/>
              <a:t>Then a very important thing, we need to override the get_inline_instances method, so to display the inlines only in the edit form. Otherwise we might get some problems because of how the Signals work. Remember that the Signal is responsible for creating the Profile instance.</a:t>
            </a:r>
          </a:p>
          <a:p>
            <a:endParaRPr lang="en-US" sz="2400"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23535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4A363E5-C960-4149-A63A-E3F9A461ADBA}" type="datetime1">
              <a:rPr lang="en-US" smtClean="0"/>
              <a:t>7/18/2024</a:t>
            </a:fld>
            <a:endParaRPr lang="en-US" dirty="0"/>
          </a:p>
        </p:txBody>
      </p:sp>
      <p:sp>
        <p:nvSpPr>
          <p:cNvPr id="5" name="Footer Placeholder 4"/>
          <p:cNvSpPr>
            <a:spLocks noGrp="1"/>
          </p:cNvSpPr>
          <p:nvPr>
            <p:ph type="ftr" sz="quarter" idx="11"/>
          </p:nvPr>
        </p:nvSpPr>
        <p:spPr>
          <a:xfrm>
            <a:off x="4191000" y="6379902"/>
            <a:ext cx="6934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Setting up Database &amp; adding users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pic>
        <p:nvPicPr>
          <p:cNvPr id="3" name="Picture 2"/>
          <p:cNvPicPr>
            <a:picLocks noChangeAspect="1"/>
          </p:cNvPicPr>
          <p:nvPr/>
        </p:nvPicPr>
        <p:blipFill>
          <a:blip r:embed="rId2"/>
          <a:stretch>
            <a:fillRect/>
          </a:stretch>
        </p:blipFill>
        <p:spPr>
          <a:xfrm>
            <a:off x="1447800" y="848967"/>
            <a:ext cx="9144000" cy="5344228"/>
          </a:xfrm>
          <a:prstGeom prst="rect">
            <a:avLst/>
          </a:prstGeom>
        </p:spPr>
      </p:pic>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742455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0A6354-64C2-4EFF-BE6F-C519822DD699}"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447800" y="1"/>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Daily Quiz</a:t>
            </a:r>
          </a:p>
        </p:txBody>
      </p:sp>
      <p:sp>
        <p:nvSpPr>
          <p:cNvPr id="11" name="Content Placeholder 10"/>
          <p:cNvSpPr>
            <a:spLocks noGrp="1"/>
          </p:cNvSpPr>
          <p:nvPr>
            <p:ph idx="1"/>
          </p:nvPr>
        </p:nvSpPr>
        <p:spPr>
          <a:xfrm>
            <a:off x="1454331" y="1401074"/>
            <a:ext cx="10058400" cy="4450449"/>
          </a:xfrm>
          <a:prstGeom prst="rect">
            <a:avLst/>
          </a:prstGeom>
          <a:solidFill>
            <a:schemeClr val="tx2">
              <a:lumMod val="40000"/>
              <a:lumOff val="60000"/>
            </a:schemeClr>
          </a:solidFill>
          <a:ln w="9525">
            <a:solidFill>
              <a:schemeClr val="tx1"/>
            </a:solidFill>
          </a:ln>
        </p:spPr>
        <p:txBody>
          <a:bodyPr wrap="square">
            <a:spAutoFit/>
          </a:bodyPr>
          <a:lstStyle/>
          <a:p>
            <a:pPr marL="457200" indent="-457200">
              <a:buFont typeface="+mj-lt"/>
              <a:buAutoNum type="arabicPeriod"/>
            </a:pPr>
            <a:r>
              <a:rPr lang="en-US" sz="2400" dirty="0"/>
              <a:t>Discuss Four Important Pillars to website.</a:t>
            </a:r>
          </a:p>
          <a:p>
            <a:pPr marL="457200" indent="-457200">
              <a:buFont typeface="+mj-lt"/>
              <a:buAutoNum type="arabicPeriod"/>
            </a:pPr>
            <a:r>
              <a:rPr lang="en-US" sz="2400" dirty="0"/>
              <a:t>What is the role of frameworks in python.</a:t>
            </a:r>
          </a:p>
          <a:p>
            <a:pPr marL="457200" indent="-457200">
              <a:buFont typeface="+mj-lt"/>
              <a:buAutoNum type="arabicPeriod"/>
            </a:pPr>
            <a:r>
              <a:rPr lang="en-US" sz="2400" dirty="0"/>
              <a:t>Discuss any three frameworks.</a:t>
            </a:r>
          </a:p>
          <a:p>
            <a:pPr marL="457200" indent="-457200">
              <a:buFont typeface="+mj-lt"/>
              <a:buAutoNum type="arabicPeriod"/>
            </a:pPr>
            <a:r>
              <a:rPr lang="en-US" sz="2400" dirty="0"/>
              <a:t>What is Heroku, explain its architecture.</a:t>
            </a:r>
          </a:p>
          <a:p>
            <a:pPr marL="457200" indent="-457200">
              <a:buFont typeface="+mj-lt"/>
              <a:buAutoNum type="arabicPeriod"/>
            </a:pPr>
            <a:r>
              <a:rPr lang="en-US" sz="2400" dirty="0"/>
              <a:t>Discuss WSGI .</a:t>
            </a:r>
          </a:p>
          <a:p>
            <a:pPr marL="457200" indent="-457200">
              <a:buFont typeface="+mj-lt"/>
              <a:buAutoNum type="arabicPeriod"/>
            </a:pPr>
            <a:r>
              <a:rPr lang="en-US" sz="2400" dirty="0"/>
              <a:t>Explain gunicorn .</a:t>
            </a:r>
          </a:p>
          <a:p>
            <a:pPr marL="457200" indent="-457200">
              <a:buFont typeface="+mj-lt"/>
              <a:buAutoNum type="arabicPeriod"/>
            </a:pPr>
            <a:r>
              <a:rPr lang="en-US" sz="2400" dirty="0"/>
              <a:t>Discuss the role of Git .</a:t>
            </a:r>
          </a:p>
          <a:p>
            <a:pPr marL="457200" indent="-457200">
              <a:buFont typeface="+mj-lt"/>
              <a:buAutoNum type="arabicPeriod"/>
            </a:pPr>
            <a:r>
              <a:rPr lang="en-US" sz="2400" dirty="0"/>
              <a:t>Discuss the architecture of Git.</a:t>
            </a:r>
          </a:p>
          <a:p>
            <a:pPr marL="457200" indent="-457200">
              <a:buFont typeface="+mj-lt"/>
              <a:buAutoNum type="arabicPeriod"/>
            </a:pPr>
            <a:r>
              <a:rPr lang="en-US" sz="2400" dirty="0"/>
              <a:t>Discuss about the Request Http methods in Python.</a:t>
            </a:r>
          </a:p>
          <a:p>
            <a:pPr marL="457200" indent="-457200">
              <a:buFont typeface="+mj-lt"/>
              <a:buAutoNum type="arabicPeriod"/>
            </a:pPr>
            <a:r>
              <a:rPr lang="en-US" sz="2400" dirty="0"/>
              <a:t>Discuss about Flask application.</a:t>
            </a:r>
            <a:endParaRPr lang="en-US" dirty="0"/>
          </a:p>
        </p:txBody>
      </p:sp>
      <p:sp>
        <p:nvSpPr>
          <p:cNvPr id="9" name="Footer Placeholder 12"/>
          <p:cNvSpPr>
            <a:spLocks noGrp="1"/>
          </p:cNvSpPr>
          <p:nvPr>
            <p:ph type="ftr" sz="quarter" idx="11"/>
          </p:nvPr>
        </p:nvSpPr>
        <p:spPr>
          <a:xfrm>
            <a:off x="3810000" y="6019801"/>
            <a:ext cx="5029200" cy="623910"/>
          </a:xfrm>
        </p:spPr>
        <p:txBody>
          <a:bodyPr/>
          <a:lstStyle/>
          <a:p>
            <a:r>
              <a:rPr lang="en-US"/>
              <a:t>Ritesh Kumar Singh                Deploying Django Web Application on Cloud           Unit 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58064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8A21797-23F8-4425-A9A9-245E3261136F}"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300" dirty="0"/>
              <a:t>Weekly Assignment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2554545"/>
          </a:xfrm>
          <a:prstGeom prst="rect">
            <a:avLst/>
          </a:prstGeom>
          <a:solidFill>
            <a:schemeClr val="tx2">
              <a:lumMod val="40000"/>
              <a:lumOff val="60000"/>
            </a:schemeClr>
          </a:solidFill>
          <a:ln w="28575">
            <a:solidFill>
              <a:schemeClr val="tx1"/>
            </a:solidFill>
          </a:ln>
        </p:spPr>
        <p:txBody>
          <a:bodyPr wrap="square">
            <a:spAutoFit/>
          </a:bodyPr>
          <a:lstStyle/>
          <a:p>
            <a:pPr marL="457200" indent="-457200" algn="just">
              <a:buFont typeface="+mj-lt"/>
              <a:buAutoNum type="arabicPeriod"/>
            </a:pPr>
            <a:r>
              <a:rPr lang="en-US" sz="3200" dirty="0">
                <a:latin typeface="+mj-lt"/>
              </a:rPr>
              <a:t>What are the most important pillar of website .</a:t>
            </a:r>
          </a:p>
          <a:p>
            <a:pPr marL="457200" indent="-457200" algn="just">
              <a:buFont typeface="+mj-lt"/>
              <a:buAutoNum type="arabicPeriod"/>
            </a:pPr>
            <a:r>
              <a:rPr lang="en-US" sz="3200" dirty="0">
                <a:latin typeface="+mj-lt"/>
              </a:rPr>
              <a:t>What are the disadvantages of Django?</a:t>
            </a:r>
          </a:p>
          <a:p>
            <a:pPr marL="457200" indent="-457200" algn="just">
              <a:buFont typeface="+mj-lt"/>
              <a:buAutoNum type="arabicPeriod"/>
            </a:pPr>
            <a:r>
              <a:rPr lang="en-US" sz="3200" dirty="0"/>
              <a:t>What are the different data types used in Django.</a:t>
            </a:r>
          </a:p>
          <a:p>
            <a:pPr marL="457200" indent="-457200" algn="just">
              <a:buFont typeface="+mj-lt"/>
              <a:buAutoNum type="arabicPeriod"/>
            </a:pPr>
            <a:r>
              <a:rPr lang="en-US" sz="3200" dirty="0"/>
              <a:t>What are the salient features of Django.</a:t>
            </a:r>
          </a:p>
          <a:p>
            <a:pPr marL="457200" indent="-457200" algn="just">
              <a:buFont typeface="+mj-lt"/>
              <a:buAutoNum type="arabicPeriod"/>
            </a:pPr>
            <a:r>
              <a:rPr lang="en-US" sz="3200" dirty="0"/>
              <a:t>What are some of the technical features that Django includes</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Deploying Django Web Application on Cloud           Unit V</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708488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6E75DA-4B52-49FE-A0C1-8E22CF43FFE1}" type="datetime1">
              <a:rPr lang="en-US" smtClean="0"/>
              <a:t>7/18/2024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Topic Link ( YouTube &amp; NPTEL Video Links)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chemeClr val="tx2">
              <a:lumMod val="75000"/>
            </a:schemeClr>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740923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9A8EC5-8C0E-40CD-B647-D572CBE9A90F}" type="datetime1">
              <a:rPr lang="en-US" smtClean="0"/>
              <a:t>7/18/2024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4010231441"/>
              </p:ext>
            </p:extLst>
          </p:nvPr>
        </p:nvGraphicFramePr>
        <p:xfrm>
          <a:off x="76200" y="762000"/>
          <a:ext cx="12115800" cy="6106312"/>
        </p:xfrm>
        <a:graphic>
          <a:graphicData uri="http://schemas.openxmlformats.org/drawingml/2006/table">
            <a:tbl>
              <a:tblPr firstRow="1" bandRow="1">
                <a:tableStyleId>{3B4B98B0-60AC-42C2-AFA5-B58CD77FA1E5}</a:tableStyleId>
              </a:tblPr>
              <a:tblGrid>
                <a:gridCol w="6057900">
                  <a:extLst>
                    <a:ext uri="{9D8B030D-6E8A-4147-A177-3AD203B41FA5}">
                      <a16:colId xmlns:a16="http://schemas.microsoft.com/office/drawing/2014/main" val="3349441241"/>
                    </a:ext>
                  </a:extLst>
                </a:gridCol>
                <a:gridCol w="6057900">
                  <a:extLst>
                    <a:ext uri="{9D8B030D-6E8A-4147-A177-3AD203B41FA5}">
                      <a16:colId xmlns:a16="http://schemas.microsoft.com/office/drawing/2014/main" val="4272054345"/>
                    </a:ext>
                  </a:extLst>
                </a:gridCol>
              </a:tblGrid>
              <a:tr h="20230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1. What is a </a:t>
                      </a:r>
                      <a:r>
                        <a:rPr lang="en-US" sz="2000" b="0" dirty="0" err="1"/>
                        <a:t>Django</a:t>
                      </a:r>
                      <a:r>
                        <a:rPr lang="en-US" sz="2000" b="0" dirty="0"/>
                        <a:t> App?</a:t>
                      </a:r>
                    </a:p>
                    <a:p>
                      <a:pPr algn="just"/>
                      <a:r>
                        <a:rPr lang="en-US" sz="2000" b="0" dirty="0"/>
                        <a:t> </a:t>
                      </a:r>
                      <a:r>
                        <a:rPr lang="en-US" sz="2000" b="0" dirty="0" err="1"/>
                        <a:t>ADjango</a:t>
                      </a:r>
                      <a:r>
                        <a:rPr lang="en-US" sz="2000" b="0" dirty="0"/>
                        <a:t> app is an extended package with base package is </a:t>
                      </a:r>
                      <a:r>
                        <a:rPr lang="en-US" sz="2000" b="0" dirty="0" err="1"/>
                        <a:t>Django</a:t>
                      </a:r>
                      <a:r>
                        <a:rPr lang="en-US" sz="2000" b="0" dirty="0"/>
                        <a:t> </a:t>
                      </a:r>
                    </a:p>
                    <a:p>
                      <a:pPr algn="just"/>
                      <a:r>
                        <a:rPr lang="en-US" sz="2000" b="0" dirty="0"/>
                        <a:t> B. </a:t>
                      </a:r>
                      <a:r>
                        <a:rPr lang="en-US" sz="2000" b="0" dirty="0" err="1"/>
                        <a:t>Django</a:t>
                      </a:r>
                      <a:r>
                        <a:rPr lang="en-US" sz="2000" b="0" dirty="0"/>
                        <a:t> app is a python package with its own components. </a:t>
                      </a:r>
                    </a:p>
                    <a:p>
                      <a:pPr algn="just"/>
                      <a:r>
                        <a:rPr lang="en-US" sz="2000" b="0" dirty="0"/>
                        <a:t> C. Both 1 &amp; 2 Option </a:t>
                      </a:r>
                    </a:p>
                    <a:p>
                      <a:pPr algn="just"/>
                      <a:r>
                        <a:rPr lang="en-US" sz="2000" b="0" dirty="0"/>
                        <a:t> D. All of the above </a:t>
                      </a:r>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2. </a:t>
                      </a:r>
                      <a:r>
                        <a:rPr lang="en-US" sz="2000" b="0" dirty="0" err="1"/>
                        <a:t>Django</a:t>
                      </a:r>
                      <a:r>
                        <a:rPr lang="en-US" sz="2000" b="0" dirty="0"/>
                        <a:t> was introduced by </a:t>
                      </a:r>
                    </a:p>
                    <a:p>
                      <a:pPr algn="just"/>
                      <a:endParaRPr lang="en-US" sz="2000" b="0" dirty="0"/>
                    </a:p>
                    <a:p>
                      <a:pPr algn="just"/>
                      <a:r>
                        <a:rPr lang="en-US" sz="2000" b="0" dirty="0"/>
                        <a:t> A. Adrian </a:t>
                      </a:r>
                      <a:r>
                        <a:rPr lang="en-US" sz="2000" b="0" dirty="0" err="1"/>
                        <a:t>Holovaty</a:t>
                      </a:r>
                      <a:endParaRPr lang="en-US" sz="2000" b="0" dirty="0"/>
                    </a:p>
                    <a:p>
                      <a:pPr algn="just"/>
                      <a:r>
                        <a:rPr lang="en-US" sz="2000" b="0" dirty="0"/>
                        <a:t> B. Bill Gates </a:t>
                      </a:r>
                    </a:p>
                    <a:p>
                      <a:pPr algn="just"/>
                      <a:r>
                        <a:rPr lang="en-US" sz="2000" b="0" dirty="0"/>
                        <a:t> C. </a:t>
                      </a:r>
                      <a:r>
                        <a:rPr lang="en-US" sz="2000" b="0" dirty="0" err="1"/>
                        <a:t>Rasmus</a:t>
                      </a:r>
                      <a:r>
                        <a:rPr lang="en-US" sz="2000" b="0" dirty="0"/>
                        <a:t> </a:t>
                      </a:r>
                      <a:r>
                        <a:rPr lang="en-US" sz="2000" b="0" dirty="0" err="1"/>
                        <a:t>Lerdorf</a:t>
                      </a:r>
                      <a:r>
                        <a:rPr lang="en-US" sz="2000" b="0" dirty="0"/>
                        <a:t> </a:t>
                      </a:r>
                    </a:p>
                    <a:p>
                      <a:pPr algn="just"/>
                      <a:r>
                        <a:rPr lang="en-US" sz="2000" b="0" dirty="0"/>
                        <a:t> D. Tim Berners-Lee </a:t>
                      </a:r>
                    </a:p>
                  </a:txBody>
                  <a:tcPr>
                    <a:solidFill>
                      <a:schemeClr val="tx2">
                        <a:lumMod val="40000"/>
                        <a:lumOff val="60000"/>
                      </a:schemeClr>
                    </a:solidFill>
                  </a:tcPr>
                </a:tc>
                <a:extLst>
                  <a:ext uri="{0D108BD9-81ED-4DB2-BD59-A6C34878D82A}">
                    <a16:rowId xmlns:a16="http://schemas.microsoft.com/office/drawing/2014/main" val="2536190218"/>
                  </a:ext>
                </a:extLst>
              </a:tr>
              <a:tr h="226583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3. What are Migrations in </a:t>
                      </a:r>
                      <a:r>
                        <a:rPr lang="en-US" sz="2000" b="0" dirty="0" err="1"/>
                        <a:t>Django</a:t>
                      </a:r>
                      <a:endParaRPr lang="en-US" sz="2000" b="0" dirty="0"/>
                    </a:p>
                    <a:p>
                      <a:pPr algn="just"/>
                      <a:r>
                        <a:rPr lang="en-US" sz="2000" b="0" dirty="0"/>
                        <a:t> A.</a:t>
                      </a:r>
                      <a:r>
                        <a:rPr lang="en-US" sz="2000" dirty="0"/>
                        <a:t> They are files saved in migrations directory. </a:t>
                      </a:r>
                      <a:r>
                        <a:rPr lang="en-US" sz="2000" b="0" dirty="0"/>
                        <a:t> </a:t>
                      </a:r>
                      <a:endParaRPr lang="en-US" sz="2000" b="1" dirty="0"/>
                    </a:p>
                    <a:p>
                      <a:pPr algn="just"/>
                      <a:r>
                        <a:rPr lang="en-US" sz="2000" b="0" dirty="0"/>
                        <a:t> B. </a:t>
                      </a:r>
                      <a:r>
                        <a:rPr lang="en-US" sz="2000" dirty="0"/>
                        <a:t>They are created when you run make migrations command. </a:t>
                      </a:r>
                      <a:endParaRPr lang="en-US" sz="2000" b="0" dirty="0"/>
                    </a:p>
                    <a:p>
                      <a:pPr algn="just"/>
                      <a:r>
                        <a:rPr lang="en-US" sz="2000" b="0" dirty="0"/>
                        <a:t> C. </a:t>
                      </a:r>
                      <a:r>
                        <a:rPr lang="en-US" sz="2000" dirty="0"/>
                        <a:t>Migrations are files where </a:t>
                      </a:r>
                      <a:r>
                        <a:rPr lang="en-US" sz="2000" dirty="0" err="1"/>
                        <a:t>Django</a:t>
                      </a:r>
                      <a:r>
                        <a:rPr lang="en-US" sz="2000" dirty="0"/>
                        <a:t> stores changes to your models. </a:t>
                      </a:r>
                      <a:endParaRPr lang="en-US" sz="2000" b="0" dirty="0"/>
                    </a:p>
                    <a:p>
                      <a:pPr algn="just"/>
                      <a:r>
                        <a:rPr lang="en-US" sz="2000" b="0" dirty="0"/>
                        <a:t> D. </a:t>
                      </a:r>
                      <a:r>
                        <a:rPr lang="en-US" sz="2000" dirty="0"/>
                        <a:t>All of the above </a:t>
                      </a:r>
                      <a:endParaRPr lang="en-US" sz="2000" b="0" dirty="0"/>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dirty="0"/>
                    </a:p>
                  </a:txBody>
                  <a:tcPr>
                    <a:solidFill>
                      <a:schemeClr val="tx2">
                        <a:lumMod val="40000"/>
                        <a:lumOff val="60000"/>
                      </a:schemeClr>
                    </a:solidFill>
                  </a:tcPr>
                </a:tc>
                <a:extLst>
                  <a:ext uri="{0D108BD9-81ED-4DB2-BD59-A6C34878D82A}">
                    <a16:rowId xmlns:a16="http://schemas.microsoft.com/office/drawing/2014/main" val="2601322747"/>
                  </a:ext>
                </a:extLst>
              </a:tr>
              <a:tr h="1537529">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4. Which architectural pattern does </a:t>
                      </a:r>
                      <a:r>
                        <a:rPr lang="en-US" sz="2000" b="0" dirty="0" err="1"/>
                        <a:t>django</a:t>
                      </a:r>
                      <a:r>
                        <a:rPr lang="en-US" sz="2000" b="0" dirty="0"/>
                        <a:t> follow</a:t>
                      </a:r>
                    </a:p>
                    <a:p>
                      <a:pPr algn="just"/>
                      <a:r>
                        <a:rPr lang="en-US" sz="2000" b="0" dirty="0"/>
                        <a:t> A</a:t>
                      </a:r>
                      <a:r>
                        <a:rPr lang="en-US" sz="2000" dirty="0"/>
                        <a:t>PHP</a:t>
                      </a:r>
                      <a:endParaRPr lang="en-US" sz="2000" b="0" dirty="0"/>
                    </a:p>
                    <a:p>
                      <a:pPr algn="just"/>
                      <a:r>
                        <a:rPr lang="en-US" sz="2000" b="0" dirty="0"/>
                        <a:t> B. </a:t>
                      </a:r>
                      <a:r>
                        <a:rPr lang="en-US" sz="2000" dirty="0"/>
                        <a:t>MVT</a:t>
                      </a:r>
                      <a:endParaRPr lang="en-US" sz="2000" b="0" dirty="0"/>
                    </a:p>
                    <a:p>
                      <a:pPr algn="just"/>
                      <a:r>
                        <a:rPr lang="en-US" sz="2000" b="0" dirty="0"/>
                        <a:t> C. </a:t>
                      </a:r>
                      <a:r>
                        <a:rPr lang="en-US" sz="2000" dirty="0"/>
                        <a:t>HTML</a:t>
                      </a:r>
                      <a:endParaRPr lang="en-US" sz="2000" b="1" dirty="0"/>
                    </a:p>
                    <a:p>
                      <a:pPr algn="just"/>
                      <a:r>
                        <a:rPr lang="en-US" sz="2000" b="0" dirty="0"/>
                        <a:t> D. </a:t>
                      </a:r>
                      <a:r>
                        <a:rPr lang="en-US" sz="2000" dirty="0"/>
                        <a:t>None of the above </a:t>
                      </a:r>
                      <a:endParaRPr lang="en-US" sz="2000" b="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Deploying Django Web Application on Cloud           Unit 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210895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1"/>
            <a:ext cx="11353800" cy="4495799"/>
          </a:xfrm>
          <a:solidFill>
            <a:schemeClr val="tx2">
              <a:lumMod val="40000"/>
              <a:lumOff val="60000"/>
            </a:schemeClr>
          </a:solidFill>
          <a:ln w="6350">
            <a:solidFill>
              <a:schemeClr val="tx1"/>
            </a:solidFill>
          </a:ln>
        </p:spPr>
        <p:txBody>
          <a:bodyPr>
            <a:normAutofit fontScale="92500" lnSpcReduction="20000"/>
          </a:bodyPr>
          <a:lstStyle/>
          <a:p>
            <a:pPr marL="0" indent="0" algn="just">
              <a:spcBef>
                <a:spcPts val="0"/>
              </a:spcBef>
              <a:buNone/>
              <a:defRPr/>
            </a:pPr>
            <a:r>
              <a:rPr lang="en-US" sz="4300" dirty="0"/>
              <a:t> </a:t>
            </a:r>
            <a:r>
              <a:rPr lang="en-US" sz="2600" dirty="0"/>
              <a:t>which of these is not a valid backend for caching in </a:t>
            </a:r>
            <a:r>
              <a:rPr lang="en-US" sz="2600" dirty="0" err="1"/>
              <a:t>django</a:t>
            </a:r>
            <a:endParaRPr lang="en-US" sz="2600" dirty="0"/>
          </a:p>
          <a:p>
            <a:pPr algn="just">
              <a:buNone/>
            </a:pPr>
            <a:r>
              <a:rPr lang="en-US" sz="2600" dirty="0"/>
              <a:t> A. </a:t>
            </a:r>
            <a:r>
              <a:rPr lang="en-US" sz="2600" dirty="0" err="1"/>
              <a:t>Django.core.cache.backends.sys.memory</a:t>
            </a:r>
            <a:r>
              <a:rPr lang="en-US" sz="2600" dirty="0"/>
              <a:t> </a:t>
            </a:r>
          </a:p>
          <a:p>
            <a:pPr algn="just">
              <a:buNone/>
            </a:pPr>
            <a:r>
              <a:rPr lang="en-US" sz="2600" dirty="0"/>
              <a:t> B. </a:t>
            </a:r>
            <a:r>
              <a:rPr lang="en-US" sz="2600" dirty="0" err="1"/>
              <a:t>django.core.cache.backends.db.DatabaseCache</a:t>
            </a:r>
            <a:r>
              <a:rPr lang="en-US" sz="2600" dirty="0"/>
              <a:t> </a:t>
            </a:r>
          </a:p>
          <a:p>
            <a:pPr algn="just">
              <a:buNone/>
            </a:pPr>
            <a:r>
              <a:rPr lang="en-US" sz="2600" dirty="0"/>
              <a:t>C</a:t>
            </a:r>
            <a:r>
              <a:rPr lang="en-US" sz="2600" b="1" dirty="0"/>
              <a:t>.</a:t>
            </a:r>
            <a:r>
              <a:rPr lang="en-US" sz="2600" dirty="0"/>
              <a:t> </a:t>
            </a:r>
            <a:r>
              <a:rPr lang="en-US" sz="2600" dirty="0" err="1"/>
              <a:t>django.core.cache.backends.locmem.LocMemCache</a:t>
            </a:r>
            <a:r>
              <a:rPr lang="en-US" sz="2600" dirty="0"/>
              <a:t> </a:t>
            </a:r>
          </a:p>
          <a:p>
            <a:pPr algn="just">
              <a:buNone/>
            </a:pPr>
            <a:r>
              <a:rPr lang="en-US" sz="2600" dirty="0"/>
              <a:t>D</a:t>
            </a:r>
            <a:r>
              <a:rPr lang="en-US" sz="2600" b="1" dirty="0"/>
              <a:t>.</a:t>
            </a:r>
            <a:r>
              <a:rPr lang="en-US" sz="2600" dirty="0"/>
              <a:t> None of the above </a:t>
            </a:r>
            <a:endParaRPr lang="en-US" sz="2600" b="1" dirty="0"/>
          </a:p>
          <a:p>
            <a:pPr marL="0" indent="0" algn="just">
              <a:spcBef>
                <a:spcPts val="0"/>
              </a:spcBef>
              <a:buNone/>
              <a:defRPr/>
            </a:pPr>
            <a:endParaRPr lang="en-US" sz="2600" dirty="0"/>
          </a:p>
          <a:p>
            <a:pPr marL="0" indent="0" algn="just">
              <a:spcBef>
                <a:spcPts val="0"/>
              </a:spcBef>
              <a:buNone/>
              <a:defRPr/>
            </a:pPr>
            <a:r>
              <a:rPr lang="en-US" sz="2600" dirty="0"/>
              <a:t>5. Which architectural pattern does </a:t>
            </a:r>
            <a:r>
              <a:rPr lang="en-US" sz="2600" dirty="0" err="1"/>
              <a:t>django</a:t>
            </a:r>
            <a:r>
              <a:rPr lang="en-US" sz="2600" dirty="0"/>
              <a:t> follow</a:t>
            </a:r>
          </a:p>
          <a:p>
            <a:pPr algn="just">
              <a:buNone/>
            </a:pPr>
            <a:r>
              <a:rPr lang="en-US" sz="2600" dirty="0"/>
              <a:t> A.PHP</a:t>
            </a:r>
          </a:p>
          <a:p>
            <a:pPr algn="just">
              <a:buNone/>
            </a:pPr>
            <a:r>
              <a:rPr lang="en-US" sz="2600" dirty="0"/>
              <a:t> B. MVT</a:t>
            </a:r>
          </a:p>
          <a:p>
            <a:pPr algn="just">
              <a:buNone/>
            </a:pPr>
            <a:r>
              <a:rPr lang="en-US" sz="2600" dirty="0"/>
              <a:t> C. HTML</a:t>
            </a:r>
            <a:endParaRPr lang="en-US" sz="2600" b="1" dirty="0"/>
          </a:p>
          <a:p>
            <a:pPr algn="just">
              <a:buNone/>
            </a:pPr>
            <a:r>
              <a:rPr lang="en-US" sz="2600" dirty="0"/>
              <a:t> D. None of the above </a:t>
            </a:r>
          </a:p>
          <a:p>
            <a:pPr>
              <a:buNone/>
            </a:pPr>
            <a:endParaRPr lang="en-US" sz="1800" dirty="0"/>
          </a:p>
        </p:txBody>
      </p:sp>
      <p:sp>
        <p:nvSpPr>
          <p:cNvPr id="4" name="Date Placeholder 3"/>
          <p:cNvSpPr>
            <a:spLocks noGrp="1"/>
          </p:cNvSpPr>
          <p:nvPr>
            <p:ph type="dt" sz="half" idx="10"/>
          </p:nvPr>
        </p:nvSpPr>
        <p:spPr/>
        <p:txBody>
          <a:bodyPr/>
          <a:lstStyle/>
          <a:p>
            <a:fld id="{685CA593-FA79-4887-976C-1B6A473BB23B}" type="datetime1">
              <a:rPr lang="en-US" smtClean="0"/>
              <a:t>7/18/2024</a:t>
            </a:fld>
            <a:endParaRPr lang="en-US" dirty="0"/>
          </a:p>
        </p:txBody>
      </p:sp>
      <p:sp>
        <p:nvSpPr>
          <p:cNvPr id="5" name="Footer Placeholder 4"/>
          <p:cNvSpPr>
            <a:spLocks noGrp="1"/>
          </p:cNvSpPr>
          <p:nvPr>
            <p:ph type="ftr" sz="quarter" idx="11"/>
          </p:nvPr>
        </p:nvSpPr>
        <p:spPr>
          <a:xfrm>
            <a:off x="4165600" y="6356357"/>
            <a:ext cx="63500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noGrp="1"/>
          </p:cNvSpPr>
          <p:nvPr>
            <p:ph type="title"/>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defTabSz="914400">
              <a:defRPr/>
            </a:pPr>
            <a:r>
              <a:rPr lang="en-US" sz="3200" dirty="0"/>
              <a:t>MCQ 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94943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4FF898-97F2-4F74-88D3-399256B8DA3B}" type="datetime1">
              <a:rPr lang="en-US" smtClean="0"/>
              <a:t>7/18/2024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1650871838"/>
              </p:ext>
            </p:extLst>
          </p:nvPr>
        </p:nvGraphicFramePr>
        <p:xfrm>
          <a:off x="304800" y="792480"/>
          <a:ext cx="11582400" cy="6065520"/>
        </p:xfrm>
        <a:graphic>
          <a:graphicData uri="http://schemas.openxmlformats.org/drawingml/2006/table">
            <a:tbl>
              <a:tblPr firstRow="1" bandRow="1">
                <a:tableStyleId>{3B4B98B0-60AC-42C2-AFA5-B58CD77FA1E5}</a:tableStyleId>
              </a:tblPr>
              <a:tblGrid>
                <a:gridCol w="5791200">
                  <a:extLst>
                    <a:ext uri="{9D8B030D-6E8A-4147-A177-3AD203B41FA5}">
                      <a16:colId xmlns:a16="http://schemas.microsoft.com/office/drawing/2014/main" val="3349441241"/>
                    </a:ext>
                  </a:extLst>
                </a:gridCol>
                <a:gridCol w="5791200">
                  <a:extLst>
                    <a:ext uri="{9D8B030D-6E8A-4147-A177-3AD203B41FA5}">
                      <a16:colId xmlns:a16="http://schemas.microsoft.com/office/drawing/2014/main" val="4272054345"/>
                    </a:ext>
                  </a:extLst>
                </a:gridCol>
              </a:tblGrid>
              <a:tr h="1908651">
                <a:tc>
                  <a:txBody>
                    <a:bodyPr/>
                    <a:lstStyle/>
                    <a:p>
                      <a:pPr marL="342900" indent="-342900" algn="just">
                        <a:buFont typeface="+mj-lt"/>
                        <a:buNone/>
                      </a:pPr>
                      <a:r>
                        <a:rPr lang="en-US" sz="2000" b="0" dirty="0"/>
                        <a:t>6.</a:t>
                      </a:r>
                      <a:r>
                        <a:rPr lang="en-US" sz="2000" b="1" dirty="0"/>
                        <a:t> </a:t>
                      </a:r>
                      <a:r>
                        <a:rPr lang="en-US" sz="2000" b="0" dirty="0"/>
                        <a:t>Python is a :</a:t>
                      </a:r>
                    </a:p>
                    <a:p>
                      <a:pPr>
                        <a:buFont typeface="Wingdings" pitchFamily="2" charset="2"/>
                        <a:buChar char="§"/>
                      </a:pPr>
                      <a:r>
                        <a:rPr lang="en-US" sz="2000" b="0" dirty="0"/>
                        <a:t>Development environment</a:t>
                      </a:r>
                    </a:p>
                    <a:p>
                      <a:pPr>
                        <a:buFont typeface="Wingdings" pitchFamily="2" charset="2"/>
                        <a:buChar char="§"/>
                      </a:pPr>
                      <a:r>
                        <a:rPr lang="en-US" sz="2000" b="0" dirty="0"/>
                        <a:t>Set of editing tools</a:t>
                      </a:r>
                    </a:p>
                    <a:p>
                      <a:pPr>
                        <a:buFont typeface="Wingdings" pitchFamily="2" charset="2"/>
                        <a:buChar char="§"/>
                      </a:pPr>
                      <a:r>
                        <a:rPr lang="en-US" sz="2000" b="0" u="none" dirty="0"/>
                        <a:t>Programming Language</a:t>
                      </a:r>
                    </a:p>
                  </a:txBody>
                  <a:tcPr>
                    <a:solidFill>
                      <a:schemeClr val="tx2">
                        <a:lumMod val="40000"/>
                        <a:lumOff val="60000"/>
                      </a:schemeClr>
                    </a:solidFill>
                  </a:tcPr>
                </a:tc>
                <a:tc>
                  <a:txBody>
                    <a:bodyPr/>
                    <a:lstStyle/>
                    <a:p>
                      <a:pPr marL="342900" indent="-342900" algn="just">
                        <a:buFont typeface="+mj-lt"/>
                        <a:buAutoNum type="arabicPeriod" startAt="7"/>
                      </a:pPr>
                      <a:r>
                        <a:rPr lang="en-US" sz="2000" b="0" dirty="0"/>
                        <a:t>Python is Case Sensitive when dealing with Identifiers?</a:t>
                      </a:r>
                    </a:p>
                    <a:p>
                      <a:pPr>
                        <a:buFont typeface="Wingdings" pitchFamily="2" charset="2"/>
                        <a:buChar char="§"/>
                      </a:pPr>
                      <a:r>
                        <a:rPr lang="en-US" sz="2000" b="0" u="none" dirty="0"/>
                        <a:t>Yes</a:t>
                      </a:r>
                    </a:p>
                    <a:p>
                      <a:pPr>
                        <a:buFont typeface="Wingdings" pitchFamily="2" charset="2"/>
                        <a:buChar char="§"/>
                      </a:pPr>
                      <a:r>
                        <a:rPr lang="en-US" sz="2000" b="0" dirty="0"/>
                        <a:t>No</a:t>
                      </a:r>
                    </a:p>
                    <a:p>
                      <a:pPr>
                        <a:buFont typeface="Wingdings" pitchFamily="2" charset="2"/>
                        <a:buChar char="§"/>
                      </a:pPr>
                      <a:r>
                        <a:rPr lang="en-US" sz="2000" b="0" dirty="0"/>
                        <a:t>Sometimes Only</a:t>
                      </a:r>
                    </a:p>
                    <a:p>
                      <a:pPr>
                        <a:buFont typeface="Wingdings" pitchFamily="2" charset="2"/>
                        <a:buChar char="§"/>
                      </a:pPr>
                      <a:r>
                        <a:rPr lang="en-US" sz="2000" b="0" dirty="0"/>
                        <a:t>None Of the Above</a:t>
                      </a:r>
                    </a:p>
                    <a:p>
                      <a:pPr marL="342900" indent="-342900" algn="just">
                        <a:buFont typeface="+mj-lt"/>
                        <a:buNone/>
                      </a:pPr>
                      <a:endParaRPr lang="en-US" sz="2000" b="0" dirty="0"/>
                    </a:p>
                  </a:txBody>
                  <a:tcPr>
                    <a:solidFill>
                      <a:schemeClr val="tx2">
                        <a:lumMod val="40000"/>
                        <a:lumOff val="60000"/>
                      </a:schemeClr>
                    </a:solidFill>
                  </a:tcPr>
                </a:tc>
                <a:extLst>
                  <a:ext uri="{0D108BD9-81ED-4DB2-BD59-A6C34878D82A}">
                    <a16:rowId xmlns:a16="http://schemas.microsoft.com/office/drawing/2014/main" val="2536190218"/>
                  </a:ext>
                </a:extLst>
              </a:tr>
              <a:tr h="2170110">
                <a:tc>
                  <a:txBody>
                    <a:bodyPr/>
                    <a:lstStyle/>
                    <a:p>
                      <a:pPr marL="342900" indent="-342900" algn="just">
                        <a:buFont typeface="+mj-lt"/>
                        <a:buAutoNum type="arabicPeriod" startAt="8"/>
                      </a:pPr>
                      <a:r>
                        <a:rPr lang="en-US" sz="2000" b="0" dirty="0"/>
                        <a:t>What is the OUTPUT of the following Statement?</a:t>
                      </a:r>
                      <a:br>
                        <a:rPr lang="en-US" sz="2000" b="0" dirty="0"/>
                      </a:br>
                      <a:r>
                        <a:rPr lang="en-US" sz="2000" b="0" dirty="0"/>
                        <a:t>print 0xA + 0xB + 0xC :</a:t>
                      </a:r>
                    </a:p>
                    <a:p>
                      <a:pPr>
                        <a:buFont typeface="Wingdings" pitchFamily="2" charset="2"/>
                        <a:buChar char="§"/>
                      </a:pPr>
                      <a:r>
                        <a:rPr lang="en-US" sz="2000" dirty="0"/>
                        <a:t>0xA0xB0xC</a:t>
                      </a:r>
                    </a:p>
                    <a:p>
                      <a:pPr>
                        <a:buFont typeface="Wingdings" pitchFamily="2" charset="2"/>
                        <a:buChar char="§"/>
                      </a:pPr>
                      <a:r>
                        <a:rPr lang="en-US" sz="2000" b="0" u="none" dirty="0"/>
                        <a:t>33</a:t>
                      </a:r>
                    </a:p>
                    <a:p>
                      <a:pPr>
                        <a:buFont typeface="Wingdings" pitchFamily="2" charset="2"/>
                        <a:buChar char="§"/>
                      </a:pPr>
                      <a:r>
                        <a:rPr lang="en-US" sz="2000" dirty="0"/>
                        <a:t>ABC</a:t>
                      </a:r>
                    </a:p>
                    <a:p>
                      <a:pPr>
                        <a:buFont typeface="Wingdings" pitchFamily="2" charset="2"/>
                        <a:buChar char="§"/>
                      </a:pPr>
                      <a:r>
                        <a:rPr lang="en-US" sz="2000" dirty="0"/>
                        <a:t>000XXXABC</a:t>
                      </a:r>
                    </a:p>
                    <a:p>
                      <a:pPr marL="342900" indent="-342900" algn="just">
                        <a:buFont typeface="+mj-lt"/>
                        <a:buNone/>
                      </a:pPr>
                      <a:endParaRPr lang="en-US" sz="2000" b="0" dirty="0"/>
                    </a:p>
                  </a:txBody>
                  <a:tcPr>
                    <a:solidFill>
                      <a:schemeClr val="tx2">
                        <a:lumMod val="40000"/>
                        <a:lumOff val="60000"/>
                      </a:schemeClr>
                    </a:solidFill>
                  </a:tcPr>
                </a:tc>
                <a:tc>
                  <a:txBody>
                    <a:bodyPr/>
                    <a:lstStyle/>
                    <a:p>
                      <a:pPr marL="342900" indent="-342900" algn="just">
                        <a:buFont typeface="+mj-lt"/>
                        <a:buAutoNum type="arabicPeriod" startAt="9"/>
                      </a:pPr>
                      <a:r>
                        <a:rPr lang="en-US" sz="2000" b="0" dirty="0"/>
                        <a:t>What is the OUTPUT when the following Statement is executed?</a:t>
                      </a:r>
                      <a:br>
                        <a:rPr lang="en-US" sz="2000" b="0" dirty="0"/>
                      </a:br>
                      <a:r>
                        <a:rPr lang="en-US" sz="2000" b="0" dirty="0"/>
                        <a:t>“</a:t>
                      </a:r>
                      <a:r>
                        <a:rPr lang="en-US" sz="2000" b="0" dirty="0" err="1"/>
                        <a:t>abc</a:t>
                      </a:r>
                      <a:r>
                        <a:rPr lang="en-US" sz="2000" b="0" dirty="0"/>
                        <a:t>”+”xyz”</a:t>
                      </a:r>
                    </a:p>
                    <a:p>
                      <a:pPr>
                        <a:buFont typeface="Wingdings" pitchFamily="2" charset="2"/>
                        <a:buChar char="§"/>
                      </a:pPr>
                      <a:r>
                        <a:rPr lang="en-US" sz="2000" dirty="0" err="1"/>
                        <a:t>abc</a:t>
                      </a:r>
                      <a:endParaRPr lang="en-US" sz="2000" dirty="0"/>
                    </a:p>
                    <a:p>
                      <a:pPr>
                        <a:buFont typeface="Wingdings" pitchFamily="2" charset="2"/>
                        <a:buChar char="§"/>
                      </a:pPr>
                      <a:r>
                        <a:rPr lang="en-US" sz="2000" u="sng" dirty="0" err="1"/>
                        <a:t>abcxyz</a:t>
                      </a:r>
                      <a:endParaRPr lang="en-US" sz="2000" dirty="0"/>
                    </a:p>
                    <a:p>
                      <a:pPr>
                        <a:buFont typeface="Wingdings" pitchFamily="2" charset="2"/>
                        <a:buChar char="§"/>
                      </a:pPr>
                      <a:r>
                        <a:rPr lang="en-US" sz="2000" dirty="0" err="1"/>
                        <a:t>abcz</a:t>
                      </a:r>
                      <a:endParaRPr lang="en-US" sz="2000" dirty="0"/>
                    </a:p>
                    <a:p>
                      <a:pPr>
                        <a:buFont typeface="Wingdings" pitchFamily="2" charset="2"/>
                        <a:buChar char="§"/>
                      </a:pPr>
                      <a:r>
                        <a:rPr lang="en-US" sz="2000" dirty="0" err="1"/>
                        <a:t>abcxy</a:t>
                      </a:r>
                      <a:endParaRPr lang="en-US" sz="2000" dirty="0"/>
                    </a:p>
                    <a:p>
                      <a:pPr marL="342900" indent="-342900" algn="just">
                        <a:buFont typeface="+mj-lt"/>
                        <a:buNone/>
                      </a:pPr>
                      <a:endParaRPr lang="en-US" sz="2000" b="0" kern="1200" dirty="0">
                        <a:solidFill>
                          <a:schemeClr val="tx1"/>
                        </a:solidFill>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2601322747"/>
                  </a:ext>
                </a:extLst>
              </a:tr>
              <a:tr h="1124274">
                <a:tc gridSpan="2">
                  <a:txBody>
                    <a:bodyPr/>
                    <a:lstStyle/>
                    <a:p>
                      <a:pPr marL="342900" indent="-342900" algn="l">
                        <a:buFont typeface="+mj-lt"/>
                        <a:buAutoNum type="arabicPeriod" startAt="10"/>
                      </a:pPr>
                      <a:r>
                        <a:rPr lang="en-US" sz="2000" b="0" dirty="0"/>
                        <a:t>what is the type of a?</a:t>
                      </a:r>
                      <a:r>
                        <a:rPr lang="en-US" sz="2000" b="0" baseline="0" dirty="0"/>
                        <a:t> </a:t>
                      </a:r>
                      <a:r>
                        <a:rPr lang="en-US" sz="2000" b="0" dirty="0"/>
                        <a:t>a={1,2:3</a:t>
                      </a:r>
                      <a:r>
                        <a:rPr lang="en-US" sz="2000" b="1" dirty="0"/>
                        <a:t>}</a:t>
                      </a:r>
                      <a:r>
                        <a:rPr lang="en-US" sz="2000" b="1" baseline="0" dirty="0"/>
                        <a:t> </a:t>
                      </a:r>
                      <a:r>
                        <a:rPr lang="en-US" sz="2000" dirty="0"/>
                        <a:t>list</a:t>
                      </a:r>
                    </a:p>
                    <a:p>
                      <a:r>
                        <a:rPr lang="en-US" sz="2000" dirty="0"/>
                        <a:t>set</a:t>
                      </a:r>
                    </a:p>
                    <a:p>
                      <a:r>
                        <a:rPr lang="en-US" sz="2000" dirty="0" err="1"/>
                        <a:t>dict</a:t>
                      </a:r>
                      <a:endParaRPr lang="en-US" sz="2000" dirty="0"/>
                    </a:p>
                    <a:p>
                      <a:r>
                        <a:rPr lang="en-US" sz="2000" u="sng" dirty="0"/>
                        <a:t>syntax error</a:t>
                      </a:r>
                      <a:endParaRPr lang="en-US" sz="200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5029200" cy="365125"/>
          </a:xfrm>
        </p:spPr>
        <p:txBody>
          <a:bodyPr/>
          <a:lstStyle/>
          <a:p>
            <a:r>
              <a:rPr lang="en-US"/>
              <a:t>Ritesh Kumar Singh                Deploying Django Web Application on Cloud           Unit 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496647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CCB520B-79CF-4A18-A3F7-6947312A37D1}"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Glossary Questions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5283200" cy="365125"/>
          </a:xfrm>
        </p:spPr>
        <p:txBody>
          <a:bodyPr/>
          <a:lstStyle/>
          <a:p>
            <a:r>
              <a:rPr lang="en-US"/>
              <a:t>Ritesh Kumar Singh                Deploying Django Web Application on Cloud           Unit 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0625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8E4BEB-FE69-4A05-A8A9-F52EC528DFED}"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Expected Questions for University Exam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4978400" cy="365125"/>
          </a:xfrm>
        </p:spPr>
        <p:txBody>
          <a:bodyPr/>
          <a:lstStyle/>
          <a:p>
            <a:r>
              <a:rPr lang="en-US"/>
              <a:t>Ritesh Kumar Singh                Deploying Django Web Application on Cloud           Unit V</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168787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D909EB-6136-4F29-8F9C-1FA903C404F7}"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Summary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08461" y="917035"/>
            <a:ext cx="11775078" cy="5262979"/>
          </a:xfrm>
          <a:prstGeom prst="rect">
            <a:avLst/>
          </a:prstGeom>
          <a:solidFill>
            <a:schemeClr val="tx2">
              <a:lumMod val="40000"/>
              <a:lumOff val="60000"/>
            </a:schemeClr>
          </a:solidFill>
          <a:ln w="28575">
            <a:solidFill>
              <a:schemeClr val="tx1"/>
            </a:solidFill>
          </a:ln>
        </p:spPr>
        <p:txBody>
          <a:bodyPr wrap="square">
            <a:spAutoFit/>
          </a:bodyPr>
          <a:lstStyle/>
          <a:p>
            <a:r>
              <a:rPr lang="en-US" sz="2800" b="1" dirty="0">
                <a:latin typeface="+mj-lt"/>
              </a:rPr>
              <a:t>Till Now we understand </a:t>
            </a:r>
            <a:r>
              <a:rPr lang="en-US" sz="2800" dirty="0"/>
              <a:t>The idea of Having a website helps grow an online presence, whether that be your personal blog or business, by connecting you with a broader audience. A website can also become a platform for sharing your opinions and skills, creating opportunities for personal or work-related projects.</a:t>
            </a:r>
          </a:p>
          <a:p>
            <a:r>
              <a:rPr lang="en-US" sz="2800" dirty="0">
                <a:solidFill>
                  <a:schemeClr val="bg2">
                    <a:lumMod val="10000"/>
                  </a:schemeClr>
                </a:solidFill>
              </a:rPr>
              <a:t>Four Important Pillars to Deploy i.e Technology, UX and usability ,conversation and Retention. </a:t>
            </a:r>
            <a:r>
              <a:rPr lang="en-US" sz="2800" dirty="0"/>
              <a:t>Django is an MVT web framework used to build web </a:t>
            </a:r>
            <a:r>
              <a:rPr lang="en-US" sz="2800" dirty="0" err="1"/>
              <a:t>aplications</a:t>
            </a:r>
            <a:r>
              <a:rPr lang="en-US" sz="2800" dirty="0"/>
              <a:t>. It is robust, simple, and helps web developers to write clean, efficient, and powerful code. In this lecture, we will learn how to deploy a Django project on Heroku in simple steps. GitHub is an increasingly popular programming resource used for code sharing. It's a social networking site for programmers that many companies and organizations use to facilitate project management and collaboration</a:t>
            </a:r>
            <a:r>
              <a:rPr lang="en-US" sz="2800" dirty="0">
                <a:solidFill>
                  <a:schemeClr val="bg2">
                    <a:lumMod val="10000"/>
                  </a:schemeClr>
                </a:solidFill>
              </a:rPr>
              <a:t>.</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Deploying Django Web Application on Cloud           Unit V</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65206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E7839D-1021-49C7-BE77-638FD787D22F}" type="datetime1">
              <a:rPr lang="en-US" smtClean="0"/>
              <a:t>7/18/2024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References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Footer Placeholder 2"/>
          <p:cNvSpPr>
            <a:spLocks noGrp="1"/>
          </p:cNvSpPr>
          <p:nvPr>
            <p:ph type="ftr" sz="quarter" idx="11"/>
          </p:nvPr>
        </p:nvSpPr>
        <p:spPr>
          <a:xfrm>
            <a:off x="3911600" y="6356356"/>
            <a:ext cx="5816600" cy="365125"/>
          </a:xfrm>
        </p:spPr>
        <p:txBody>
          <a:bodyPr/>
          <a:lstStyle/>
          <a:p>
            <a:r>
              <a:rPr lang="en-US"/>
              <a:t>Ritesh Kumar Singh                Deploying Django Web Application on Cloud           Unit V</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901399830"/>
              </p:ext>
            </p:extLst>
          </p:nvPr>
        </p:nvGraphicFramePr>
        <p:xfrm>
          <a:off x="533400" y="991662"/>
          <a:ext cx="11353800" cy="5058839"/>
        </p:xfrm>
        <a:graphic>
          <a:graphicData uri="http://schemas.openxmlformats.org/drawingml/2006/table">
            <a:tbl>
              <a:tblPr firstRow="1" firstCol="1" lastRow="1" lastCol="1" bandRow="1" bandCol="1">
                <a:tableStyleId>{5C22544A-7EE6-4342-B048-85BDC9FD1C3A}</a:tableStyleId>
              </a:tblPr>
              <a:tblGrid>
                <a:gridCol w="11353800">
                  <a:extLst>
                    <a:ext uri="{9D8B030D-6E8A-4147-A177-3AD203B41FA5}">
                      <a16:colId xmlns:a16="http://schemas.microsoft.com/office/drawing/2014/main" val="3372635850"/>
                    </a:ext>
                  </a:extLst>
                </a:gridCol>
              </a:tblGrid>
              <a:tr h="1273635">
                <a:tc>
                  <a:txBody>
                    <a:bodyPr/>
                    <a:lstStyle/>
                    <a:p>
                      <a:pPr marL="0" marR="0" algn="just">
                        <a:lnSpc>
                          <a:spcPct val="115000"/>
                        </a:lnSpc>
                        <a:spcBef>
                          <a:spcPts val="0"/>
                        </a:spcBef>
                        <a:spcAft>
                          <a:spcPts val="0"/>
                        </a:spcAft>
                      </a:pPr>
                      <a:r>
                        <a:rPr lang="en-US" sz="2400" dirty="0">
                          <a:effectLst/>
                        </a:rPr>
                        <a:t>(1)</a:t>
                      </a:r>
                      <a:r>
                        <a:rPr lang="en-US" sz="1800" dirty="0">
                          <a:effectLst/>
                        </a:rPr>
                        <a:t> </a:t>
                      </a:r>
                      <a:r>
                        <a:rPr lang="en-US" sz="2400" dirty="0">
                          <a:effectLst/>
                        </a:rPr>
                        <a:t>Tom </a:t>
                      </a:r>
                      <a:r>
                        <a:rPr lang="en-US" sz="2400" dirty="0" err="1">
                          <a:effectLst/>
                        </a:rPr>
                        <a:t>Aratyn</a:t>
                      </a:r>
                      <a:r>
                        <a:rPr lang="en-US" sz="2400" dirty="0">
                          <a:effectLst/>
                        </a:rPr>
                        <a:t>,</a:t>
                      </a:r>
                      <a:r>
                        <a:rPr lang="en-US" sz="1800" dirty="0">
                          <a:effectLst/>
                        </a:rPr>
                        <a:t> “</a:t>
                      </a:r>
                      <a:r>
                        <a:rPr lang="en-US" sz="2400" dirty="0">
                          <a:effectLst/>
                        </a:rPr>
                        <a:t>Building Django 2.0 Web Applications: Create enterprise-grade, scalable Python web applications easily with Django 2.0”, 2</a:t>
                      </a:r>
                      <a:r>
                        <a:rPr lang="en-US" sz="2400" baseline="30000" dirty="0">
                          <a:effectLst/>
                        </a:rPr>
                        <a:t>nd</a:t>
                      </a:r>
                      <a:r>
                        <a:rPr lang="en-US" sz="2400" dirty="0">
                          <a:effectLst/>
                        </a:rPr>
                        <a:t> Edition 2018, </a:t>
                      </a:r>
                      <a:r>
                        <a:rPr lang="en-US" sz="2400" dirty="0" err="1">
                          <a:effectLst/>
                        </a:rPr>
                        <a:t>Packt</a:t>
                      </a:r>
                      <a:r>
                        <a:rPr lang="en-US" sz="2400" dirty="0">
                          <a:effectLst/>
                        </a:rPr>
                        <a:t> Publishing.</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2810108072"/>
                  </a:ext>
                </a:extLst>
              </a:tr>
              <a:tr h="1243074">
                <a:tc>
                  <a:txBody>
                    <a:bodyPr/>
                    <a:lstStyle/>
                    <a:p>
                      <a:pPr marL="0" marR="0" algn="just">
                        <a:lnSpc>
                          <a:spcPct val="115000"/>
                        </a:lnSpc>
                        <a:spcBef>
                          <a:spcPts val="0"/>
                        </a:spcBef>
                        <a:spcAft>
                          <a:spcPts val="0"/>
                        </a:spcAft>
                      </a:pPr>
                      <a:r>
                        <a:rPr lang="en-US" sz="2400" dirty="0">
                          <a:effectLst/>
                        </a:rPr>
                        <a:t>(2) Nigel George, “Build a website with Django”, 1</a:t>
                      </a:r>
                      <a:r>
                        <a:rPr lang="en-US" sz="2400" baseline="30000" dirty="0">
                          <a:effectLst/>
                        </a:rPr>
                        <a:t>st</a:t>
                      </a:r>
                      <a:r>
                        <a:rPr lang="en-US" sz="2400" dirty="0">
                          <a:effectLst/>
                        </a:rPr>
                        <a:t>  Edition 2019, GNW Independent Publishing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490192612"/>
                  </a:ext>
                </a:extLst>
              </a:tr>
              <a:tr h="1243074">
                <a:tc>
                  <a:txBody>
                    <a:bodyPr/>
                    <a:lstStyle/>
                    <a:p>
                      <a:pPr marL="0" marR="0" algn="just">
                        <a:lnSpc>
                          <a:spcPct val="115000"/>
                        </a:lnSpc>
                        <a:spcBef>
                          <a:spcPts val="205"/>
                        </a:spcBef>
                        <a:spcAft>
                          <a:spcPts val="0"/>
                        </a:spcAft>
                      </a:pPr>
                      <a:r>
                        <a:rPr lang="en-US" sz="2400" dirty="0">
                          <a:effectLst/>
                        </a:rPr>
                        <a:t>(3) Ray Yao,”</a:t>
                      </a:r>
                      <a:r>
                        <a:rPr lang="en-US" sz="1800" dirty="0">
                          <a:effectLst/>
                        </a:rPr>
                        <a:t> </a:t>
                      </a:r>
                      <a:r>
                        <a:rPr lang="en-US" sz="2400" dirty="0">
                          <a:effectLst/>
                        </a:rPr>
                        <a:t>Django in 8 Hours: For Beginners, Learn Coding Fast!, 2</a:t>
                      </a:r>
                      <a:r>
                        <a:rPr lang="en-US" sz="2400" baseline="30000" dirty="0">
                          <a:effectLst/>
                        </a:rPr>
                        <a:t>nd</a:t>
                      </a:r>
                      <a:r>
                        <a:rPr lang="en-US" sz="2400" dirty="0">
                          <a:effectLst/>
                        </a:rPr>
                        <a:t> Edition 2020,</a:t>
                      </a:r>
                      <a:r>
                        <a:rPr lang="en-US" sz="1800" dirty="0">
                          <a:effectLst/>
                        </a:rPr>
                        <a:t> </a:t>
                      </a:r>
                      <a:r>
                        <a:rPr lang="en-US" sz="2400" dirty="0">
                          <a:effectLst/>
                        </a:rPr>
                        <a:t>Independently published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617959602"/>
                  </a:ext>
                </a:extLst>
              </a:tr>
              <a:tr h="1299056">
                <a:tc>
                  <a:txBody>
                    <a:bodyPr/>
                    <a:lstStyle/>
                    <a:p>
                      <a:pPr marL="0" marR="0" algn="just">
                        <a:lnSpc>
                          <a:spcPct val="115000"/>
                        </a:lnSpc>
                        <a:spcBef>
                          <a:spcPts val="0"/>
                        </a:spcBef>
                        <a:spcAft>
                          <a:spcPts val="0"/>
                        </a:spcAft>
                      </a:pPr>
                      <a:r>
                        <a:rPr lang="en-US" sz="2400" dirty="0">
                          <a:effectLst/>
                        </a:rPr>
                        <a:t>(4) Harry Percival,</a:t>
                      </a:r>
                      <a:r>
                        <a:rPr lang="en-US" sz="1800" dirty="0">
                          <a:effectLst/>
                        </a:rPr>
                        <a:t> “</a:t>
                      </a:r>
                      <a:r>
                        <a:rPr lang="en-US" sz="2400" dirty="0">
                          <a:effectLst/>
                        </a:rPr>
                        <a:t>Test-Driven Development with Python: Obey the Testing Goat: Using Django, Selenium, and JavaScript”, 2nd Edition 2019, Kindle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145187608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165679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DF3BE29-6AE8-4243-ADA9-4AE327BD885D}" type="datetime1">
              <a:rPr lang="en-US" smtClean="0"/>
              <a:t>7/18/2024</a:t>
            </a:fld>
            <a:endParaRPr lang="en-US"/>
          </a:p>
        </p:txBody>
      </p:sp>
      <p:sp>
        <p:nvSpPr>
          <p:cNvPr id="5" name="Footer Placeholder 4"/>
          <p:cNvSpPr>
            <a:spLocks noGrp="1"/>
          </p:cNvSpPr>
          <p:nvPr>
            <p:ph type="ftr" sz="quarter" idx="11"/>
          </p:nvPr>
        </p:nvSpPr>
        <p:spPr>
          <a:xfrm>
            <a:off x="3733800" y="6356356"/>
            <a:ext cx="5562600" cy="365125"/>
          </a:xfrm>
        </p:spPr>
        <p:txBody>
          <a:bodyPr/>
          <a:lstStyle/>
          <a:p>
            <a:r>
              <a:rPr lang="en-US"/>
              <a:t>Ritesh Kumar Singh                Deploying Django Web Application on Cloud           Unit 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600200" y="1"/>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dirty="0"/>
          </a:p>
        </p:txBody>
      </p:sp>
      <p:sp>
        <p:nvSpPr>
          <p:cNvPr id="10" name="Rectangle 9">
            <a:extLst>
              <a:ext uri="{FF2B5EF4-FFF2-40B4-BE49-F238E27FC236}">
                <a16:creationId xmlns:a16="http://schemas.microsoft.com/office/drawing/2014/main" id="{6C347AEB-0CE8-4933-B463-5582E57CBB68}"/>
              </a:ext>
            </a:extLst>
          </p:cNvPr>
          <p:cNvSpPr/>
          <p:nvPr/>
        </p:nvSpPr>
        <p:spPr>
          <a:xfrm>
            <a:off x="2819400" y="2286000"/>
            <a:ext cx="5918200"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7069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37543</TotalTime>
  <Words>5620</Words>
  <Application>Microsoft Office PowerPoint</Application>
  <PresentationFormat>Widescreen</PresentationFormat>
  <Paragraphs>743</Paragraphs>
  <Slides>67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Arial</vt:lpstr>
      <vt:lpstr>Calibri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MCQ 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Ritesh Kumar Singh</cp:lastModifiedBy>
  <cp:revision>1225</cp:revision>
  <dcterms:created xsi:type="dcterms:W3CDTF">2006-08-16T00:00:00Z</dcterms:created>
  <dcterms:modified xsi:type="dcterms:W3CDTF">2024-07-18T11:12:10Z</dcterms:modified>
</cp:coreProperties>
</file>