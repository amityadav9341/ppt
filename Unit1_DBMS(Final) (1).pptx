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0" Type="http://schemas.openxmlformats.org/officeDocument/2006/relationships/slide" Target="slides/slide18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94786" y="103377"/>
            <a:ext cx="4240530" cy="545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53" y="102081"/>
            <a:ext cx="1129004" cy="6774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2644" y="18552"/>
            <a:ext cx="7801356" cy="7297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8072" y="0"/>
            <a:ext cx="7805928" cy="78790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9116" y="0"/>
            <a:ext cx="7834883" cy="83362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752600"/>
            <a:ext cx="9144000" cy="14767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53" y="102081"/>
            <a:ext cx="1129004" cy="6774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2644" y="18552"/>
            <a:ext cx="7801356" cy="7297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8072" y="0"/>
            <a:ext cx="7805928" cy="78790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9116" y="0"/>
            <a:ext cx="7834883" cy="8336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53" y="102081"/>
            <a:ext cx="1129004" cy="6774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2644" y="18552"/>
            <a:ext cx="7801356" cy="7297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8297" y="8077"/>
            <a:ext cx="7728584" cy="667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267" y="1546733"/>
            <a:ext cx="8394700" cy="4447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826835" y="6389319"/>
            <a:ext cx="6772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40597" y="6461252"/>
            <a:ext cx="32257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://www.youtube.com/watch?v=3EJlovevfcA&amp;t=436s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://i1.wp.com/www.edugrabs.com/wp-content/uploads/2015/07/Database-SystemCOmponents-of-Database.jpg" TargetMode="External"/><Relationship Id="rId5" Type="http://schemas.openxmlformats.org/officeDocument/2006/relationships/image" Target="../media/image17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8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9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0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1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2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7.jp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8.jp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9.jp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1.jp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4.jpg"/><Relationship Id="rId5" Type="http://schemas.openxmlformats.org/officeDocument/2006/relationships/image" Target="../media/image35.pn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6.jp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8.jp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9.jpg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40.jp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42.jpg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44.jpg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5" Type="http://schemas.openxmlformats.org/officeDocument/2006/relationships/image" Target="../media/image46.jpg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7.png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8.jp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0.jpg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1.pn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2.jp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mailto:abc@gmail.com" TargetMode="External"/><Relationship Id="rId5" Type="http://schemas.openxmlformats.org/officeDocument/2006/relationships/hyperlink" Target="mailto:xyz@gmail.com" TargetMode="External"/><Relationship Id="rId6" Type="http://schemas.openxmlformats.org/officeDocument/2006/relationships/hyperlink" Target="mailto:mno@yahoo.com" TargetMode="Externa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3.jpg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mailto:abc@gmail.com" TargetMode="External"/><Relationship Id="rId5" Type="http://schemas.openxmlformats.org/officeDocument/2006/relationships/hyperlink" Target="mailto:xyz@gmail.com" TargetMode="External"/><Relationship Id="rId6" Type="http://schemas.openxmlformats.org/officeDocument/2006/relationships/hyperlink" Target="mailto:mno@yahoo.com" TargetMode="External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mailto:abc@gmail.com" TargetMode="External"/><Relationship Id="rId5" Type="http://schemas.openxmlformats.org/officeDocument/2006/relationships/hyperlink" Target="mailto:xyz@gmail.com" TargetMode="External"/><Relationship Id="rId6" Type="http://schemas.openxmlformats.org/officeDocument/2006/relationships/hyperlink" Target="mailto:mno@yahoo.com" TargetMode="External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4.png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5.jpg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6.jpg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7.png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8.jpg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9.jpg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0.jpg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1.jpg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2.png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3.png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4.png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5.png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6.png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7.png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8.png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9.jpg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0.jpg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jpg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jpg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3.jpg"/></Relationships>
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4.jpg"/></Relationships>
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5.jpg"/></Relationships>
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6.jpg"/></Relationships>
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7.jpg"/></Relationships>
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youtu.be/M4qZ5i1LL2o?si=M-YvPZ1Vp9KZK5Kn" TargetMode="External"/><Relationship Id="rId5" Type="http://schemas.openxmlformats.org/officeDocument/2006/relationships/hyperlink" Target="https://youtu.be/010_f2HKzJY?si=82Z1Qleud-bBduii" TargetMode="External"/><Relationship Id="rId6" Type="http://schemas.openxmlformats.org/officeDocument/2006/relationships/image" Target="../media/image78.jpg"/></Relationships>
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youtu.be/M4qZ5i1LL2o?si=M-YvPZ1Vp9KZK5Kn" TargetMode="External"/><Relationship Id="rId5" Type="http://schemas.openxmlformats.org/officeDocument/2006/relationships/hyperlink" Target="https://youtu.be/010_f2HKzJY?si=82Z1Qleud-bBduii" TargetMode="External"/></Relationships>
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www.geeksforgeeks.org/last-minute-notes-dbms/" TargetMode="External"/><Relationship Id="rId5" Type="http://schemas.openxmlformats.org/officeDocument/2006/relationships/hyperlink" Target="https://www.geeksforgeeks.org/quiz-corner-gq/" TargetMode="External"/><Relationship Id="rId6" Type="http://schemas.openxmlformats.org/officeDocument/2006/relationships/hyperlink" Target="https://www.geeksforgeeks.org/commonly-asked-dbms-interview-questions/" TargetMode="External"/><Relationship Id="rId7" Type="http://schemas.openxmlformats.org/officeDocument/2006/relationships/hyperlink" Target="https://www.geeksforgeeks.org/commonly-asked-dbms-interview-questions-set-2/" TargetMode="External"/></Relationships>
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://www.aktuonline.com/papers/btech-cs-5-sem-data-base-management-system-rcs501-2020.pdf" TargetMode="External"/><Relationship Id="rId5" Type="http://schemas.openxmlformats.org/officeDocument/2006/relationships/hyperlink" Target="http://www.aktuonline.com/papers/btech-cs-5-sem-database-management-system-rcs-501-2018-19.pdf" TargetMode="External"/><Relationship Id="rId6" Type="http://schemas.openxmlformats.org/officeDocument/2006/relationships/hyperlink" Target="http://www.aktuonline.com/papers/btech-cs-5-sem-database-management-system-ncs-502-2017-18.pdf" TargetMode="External"/><Relationship Id="rId7" Type="http://schemas.openxmlformats.org/officeDocument/2006/relationships/hyperlink" Target="http://www.aktuonline.com/papers/btech-cs-5-sem-database-management-system-ncs-502-2016-17.pdf" TargetMode="External"/></Relationships>
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95400" y="4572"/>
            <a:ext cx="7848600" cy="833755"/>
            <a:chOff x="1295400" y="4572"/>
            <a:chExt cx="7848600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4572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5880" y="4572"/>
              <a:ext cx="7812024" cy="7863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Noida</a:t>
            </a:r>
            <a:r>
              <a:rPr dirty="0" sz="2400" spc="-110"/>
              <a:t> </a:t>
            </a:r>
            <a:r>
              <a:rPr dirty="0" sz="2400"/>
              <a:t>Institute</a:t>
            </a:r>
            <a:r>
              <a:rPr dirty="0" sz="2400" spc="-35"/>
              <a:t> </a:t>
            </a:r>
            <a:r>
              <a:rPr dirty="0" sz="2400"/>
              <a:t>of</a:t>
            </a:r>
            <a:r>
              <a:rPr dirty="0" sz="2400" spc="-95"/>
              <a:t> </a:t>
            </a:r>
            <a:r>
              <a:rPr dirty="0" sz="2400" spc="-10"/>
              <a:t>Engineering</a:t>
            </a:r>
            <a:r>
              <a:rPr dirty="0" sz="2400" spc="-80"/>
              <a:t> </a:t>
            </a:r>
            <a:r>
              <a:rPr dirty="0" sz="2400"/>
              <a:t>and</a:t>
            </a:r>
            <a:r>
              <a:rPr dirty="0" sz="2400" spc="-75"/>
              <a:t> </a:t>
            </a:r>
            <a:r>
              <a:rPr dirty="0" sz="2400" spc="-40"/>
              <a:t>Technology,</a:t>
            </a:r>
            <a:r>
              <a:rPr dirty="0" sz="2400" spc="-95"/>
              <a:t> </a:t>
            </a:r>
            <a:r>
              <a:rPr dirty="0" sz="2400" spc="-10"/>
              <a:t>Greater</a:t>
            </a:r>
            <a:r>
              <a:rPr dirty="0" sz="2400" spc="-90"/>
              <a:t> </a:t>
            </a:r>
            <a:r>
              <a:rPr dirty="0" sz="2400" spc="-10"/>
              <a:t>Noida</a:t>
            </a:r>
            <a:endParaRPr sz="2400"/>
          </a:p>
        </p:txBody>
      </p:sp>
      <p:sp>
        <p:nvSpPr>
          <p:cNvPr id="6" name="object 6" descr=""/>
          <p:cNvSpPr txBox="1"/>
          <p:nvPr/>
        </p:nvSpPr>
        <p:spPr>
          <a:xfrm>
            <a:off x="1905761" y="1764029"/>
            <a:ext cx="5257800" cy="429895"/>
          </a:xfrm>
          <a:prstGeom prst="rect">
            <a:avLst/>
          </a:prstGeom>
          <a:ln w="25907">
            <a:solidFill>
              <a:srgbClr val="C050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3275"/>
              </a:lnSpc>
            </a:pPr>
            <a:r>
              <a:rPr dirty="0" sz="2800" spc="-10">
                <a:latin typeface="Arial MT"/>
                <a:cs typeface="Arial MT"/>
              </a:rPr>
              <a:t>Introduction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20561" y="4025646"/>
            <a:ext cx="2286000" cy="1016635"/>
          </a:xfrm>
          <a:prstGeom prst="rect">
            <a:avLst/>
          </a:prstGeom>
          <a:ln w="25907">
            <a:solidFill>
              <a:srgbClr val="C0504D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latin typeface="Calibri"/>
                <a:cs typeface="Calibri"/>
              </a:rPr>
              <a:t>Neeti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Taneja</a:t>
            </a:r>
            <a:endParaRPr sz="1800">
              <a:latin typeface="Calibri"/>
              <a:cs typeface="Calibri"/>
            </a:endParaRPr>
          </a:p>
          <a:p>
            <a:pPr algn="ctr" marL="62230" marR="44450">
              <a:lnSpc>
                <a:spcPct val="120000"/>
              </a:lnSpc>
              <a:spcBef>
                <a:spcPts val="95"/>
              </a:spcBef>
            </a:pPr>
            <a:r>
              <a:rPr dirty="0" sz="1800">
                <a:latin typeface="Calibri"/>
                <a:cs typeface="Calibri"/>
              </a:rPr>
              <a:t>AssistantProfessor</a:t>
            </a:r>
            <a:r>
              <a:rPr dirty="0" sz="1800" spc="42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CSE </a:t>
            </a:r>
            <a:r>
              <a:rPr dirty="0" sz="1800" spc="-10"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2470" y="6392671"/>
            <a:ext cx="5251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878787"/>
                </a:solidFill>
                <a:latin typeface="Arial MT"/>
                <a:cs typeface="Arial MT"/>
              </a:rPr>
              <a:t>6/15/2024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17052" y="6357620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3148" sz="180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dirty="0" baseline="-23148" sz="1800" spc="-89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878787"/>
                </a:solidFill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7274" y="3030473"/>
            <a:ext cx="1009015" cy="307975"/>
          </a:xfrm>
          <a:prstGeom prst="rect">
            <a:avLst/>
          </a:prstGeom>
          <a:ln w="25907">
            <a:solidFill>
              <a:srgbClr val="C0504D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14"/>
              </a:spcBef>
            </a:pPr>
            <a:r>
              <a:rPr dirty="0" sz="1850">
                <a:latin typeface="Arial MT"/>
                <a:cs typeface="Arial MT"/>
              </a:rPr>
              <a:t>Unit:</a:t>
            </a:r>
            <a:r>
              <a:rPr dirty="0" sz="1850" spc="10">
                <a:latin typeface="Arial MT"/>
                <a:cs typeface="Arial MT"/>
              </a:rPr>
              <a:t> </a:t>
            </a:r>
            <a:r>
              <a:rPr dirty="0" sz="1850" spc="-50">
                <a:latin typeface="Arial MT"/>
                <a:cs typeface="Arial MT"/>
              </a:rPr>
              <a:t>1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6793" y="3670553"/>
            <a:ext cx="3144520" cy="447040"/>
          </a:xfrm>
          <a:prstGeom prst="rect">
            <a:avLst/>
          </a:prstGeom>
          <a:ln w="25907">
            <a:solidFill>
              <a:srgbClr val="C0504D"/>
            </a:solidFill>
          </a:ln>
        </p:spPr>
        <p:txBody>
          <a:bodyPr wrap="square" lIns="0" tIns="184150" rIns="0" bIns="0" rtlCol="0" vert="horz">
            <a:spAutoFit/>
          </a:bodyPr>
          <a:lstStyle/>
          <a:p>
            <a:pPr marL="880744">
              <a:lnSpc>
                <a:spcPct val="100000"/>
              </a:lnSpc>
              <a:spcBef>
                <a:spcPts val="1450"/>
              </a:spcBef>
            </a:pPr>
            <a:r>
              <a:rPr dirty="0" sz="1600">
                <a:latin typeface="Calibri"/>
                <a:cs typeface="Calibri"/>
              </a:rPr>
              <a:t>DBMS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ACSE0506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6793" y="4540758"/>
            <a:ext cx="3144520" cy="760730"/>
          </a:xfrm>
          <a:prstGeom prst="rect">
            <a:avLst/>
          </a:prstGeom>
          <a:ln w="25907">
            <a:solidFill>
              <a:srgbClr val="C0504D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 marL="912494" marR="906144" indent="69850">
              <a:lnSpc>
                <a:spcPct val="100000"/>
              </a:lnSpc>
              <a:spcBef>
                <a:spcPts val="65"/>
              </a:spcBef>
            </a:pPr>
            <a:r>
              <a:rPr dirty="0" sz="1600" spc="-20">
                <a:latin typeface="Calibri"/>
                <a:cs typeface="Calibri"/>
              </a:rPr>
              <a:t>Course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Details </a:t>
            </a:r>
            <a:r>
              <a:rPr dirty="0" sz="1600">
                <a:latin typeface="Calibri"/>
                <a:cs typeface="Calibri"/>
              </a:rPr>
              <a:t>(B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85">
                <a:latin typeface="Calibri"/>
                <a:cs typeface="Calibri"/>
              </a:rPr>
              <a:t>Tech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</a:t>
            </a:r>
            <a:r>
              <a:rPr dirty="0" baseline="20833" sz="1800">
                <a:latin typeface="Calibri"/>
                <a:cs typeface="Calibri"/>
              </a:rPr>
              <a:t>th</a:t>
            </a:r>
            <a:r>
              <a:rPr dirty="0" baseline="20833" sz="1800" spc="112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Sem)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3619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650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9084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35854" y="61988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914" y="1436926"/>
            <a:ext cx="7965037" cy="444221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98447" y="4572"/>
            <a:ext cx="7840980" cy="833755"/>
            <a:chOff x="1298447" y="4572"/>
            <a:chExt cx="7840980" cy="83375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4572"/>
              <a:ext cx="7840980" cy="83362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7403" y="4572"/>
              <a:ext cx="7812024" cy="78638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588" rIns="0" bIns="0" rtlCol="0" vert="horz">
            <a:spAutoFit/>
          </a:bodyPr>
          <a:lstStyle/>
          <a:p>
            <a:pPr marL="238125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Evaluation</a:t>
            </a:r>
            <a:r>
              <a:rPr dirty="0" spc="-5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Scheme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442452" y="6461252"/>
            <a:ext cx="1028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33345" y="6541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36429" y="6541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79888" y="6541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07254" y="6541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87" y="1295400"/>
            <a:ext cx="8325611" cy="48768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98447" y="4572"/>
            <a:ext cx="7840980" cy="833755"/>
            <a:chOff x="1298447" y="4572"/>
            <a:chExt cx="7840980" cy="83375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4572"/>
              <a:ext cx="7840980" cy="83362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7403" y="4572"/>
              <a:ext cx="7812024" cy="78638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680" rIns="0" bIns="0" rtlCol="0" vert="horz">
            <a:spAutoFit/>
          </a:bodyPr>
          <a:lstStyle/>
          <a:p>
            <a:pPr marL="300228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Syllabus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857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888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32288" y="6465519"/>
            <a:ext cx="6502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62627" y="6465519"/>
            <a:ext cx="41402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1143000"/>
            <a:ext cx="8465820" cy="48768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98447" y="4572"/>
            <a:ext cx="7840980" cy="833755"/>
            <a:chOff x="1298447" y="4572"/>
            <a:chExt cx="7840980" cy="83375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4572"/>
              <a:ext cx="7840980" cy="83362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7403" y="4572"/>
              <a:ext cx="7812024" cy="78638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591" rIns="0" bIns="0" rtlCol="0" vert="horz">
            <a:spAutoFit/>
          </a:bodyPr>
          <a:lstStyle/>
          <a:p>
            <a:pPr marL="302069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Syllabus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124326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127410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70869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98235" y="64655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98447" y="4572"/>
            <a:ext cx="7846059" cy="833755"/>
            <a:chOff x="1298447" y="4572"/>
            <a:chExt cx="7846059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8447" y="4572"/>
              <a:ext cx="7840980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7403" y="4572"/>
              <a:ext cx="7812024" cy="786383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26160" y="1892045"/>
            <a:ext cx="8006715" cy="940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5778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8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1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8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fields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Railway </a:t>
            </a:r>
            <a:r>
              <a:rPr dirty="0" sz="2000">
                <a:latin typeface="Calibri"/>
                <a:cs typeface="Calibri"/>
              </a:rPr>
              <a:t>Reservation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System,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Library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System,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Banking,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Universities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colleges,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Credit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card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etc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143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174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608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882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Branch</a:t>
            </a:r>
            <a:r>
              <a:rPr dirty="0" spc="-120"/>
              <a:t> </a:t>
            </a:r>
            <a:r>
              <a:rPr dirty="0"/>
              <a:t>wise</a:t>
            </a:r>
            <a:r>
              <a:rPr dirty="0" spc="-30"/>
              <a:t> </a:t>
            </a:r>
            <a:r>
              <a:rPr dirty="0" spc="-10"/>
              <a:t>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98447" y="4572"/>
            <a:ext cx="7846059" cy="833755"/>
            <a:chOff x="1298447" y="4572"/>
            <a:chExt cx="7846059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8447" y="4572"/>
              <a:ext cx="7840980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7403" y="4572"/>
              <a:ext cx="7812024" cy="786383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12444" y="1133094"/>
            <a:ext cx="8159750" cy="515302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objective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course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present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introduction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 </a:t>
            </a:r>
            <a:r>
              <a:rPr dirty="0" sz="2150">
                <a:latin typeface="Calibri"/>
                <a:cs typeface="Calibri"/>
              </a:rPr>
              <a:t>management</a:t>
            </a:r>
            <a:r>
              <a:rPr dirty="0" sz="2150" spc="2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systems,</a:t>
            </a:r>
            <a:r>
              <a:rPr dirty="0" sz="2150" spc="2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2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5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emphasis</a:t>
            </a:r>
            <a:r>
              <a:rPr dirty="0" sz="2150" spc="25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on</a:t>
            </a:r>
            <a:r>
              <a:rPr dirty="0" sz="2150" spc="2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how</a:t>
            </a:r>
            <a:r>
              <a:rPr dirty="0" sz="2150" spc="2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70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organize, </a:t>
            </a:r>
            <a:r>
              <a:rPr dirty="0" sz="2150">
                <a:latin typeface="Calibri"/>
                <a:cs typeface="Calibri"/>
              </a:rPr>
              <a:t>maintain</a:t>
            </a:r>
            <a:r>
              <a:rPr dirty="0" sz="2150" spc="1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70">
                <a:latin typeface="Calibri"/>
                <a:cs typeface="Calibri"/>
              </a:rPr>
              <a:t>  </a:t>
            </a:r>
            <a:r>
              <a:rPr dirty="0" sz="2150" spc="-20">
                <a:latin typeface="Calibri"/>
                <a:cs typeface="Calibri"/>
              </a:rPr>
              <a:t>retrieve-</a:t>
            </a:r>
            <a:r>
              <a:rPr dirty="0" sz="2150">
                <a:latin typeface="Calibri"/>
                <a:cs typeface="Calibri"/>
              </a:rPr>
              <a:t>efficiently,</a:t>
            </a:r>
            <a:r>
              <a:rPr dirty="0" sz="2150" spc="1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effectively</a:t>
            </a:r>
            <a:r>
              <a:rPr dirty="0" sz="2150" spc="1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–information</a:t>
            </a:r>
            <a:r>
              <a:rPr dirty="0" sz="2150" spc="17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in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non-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algn="just" marL="355600" marR="162560" indent="-342900">
              <a:lnSpc>
                <a:spcPct val="103699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List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explain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fundamental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concepts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 system</a:t>
            </a:r>
            <a:endParaRPr sz="2150">
              <a:latin typeface="Calibri"/>
              <a:cs typeface="Calibri"/>
            </a:endParaRPr>
          </a:p>
          <a:p>
            <a:pPr algn="just" marL="356235" indent="-34353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2150">
                <a:latin typeface="Calibri"/>
                <a:cs typeface="Calibri"/>
              </a:rPr>
              <a:t>Knowledge</a:t>
            </a:r>
            <a:r>
              <a:rPr dirty="0" sz="2150" spc="290">
                <a:latin typeface="Calibri"/>
                <a:cs typeface="Calibri"/>
              </a:rPr>
              <a:t>  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520">
                <a:latin typeface="Calibri"/>
                <a:cs typeface="Calibri"/>
              </a:rPr>
              <a:t>   </a:t>
            </a:r>
            <a:r>
              <a:rPr dirty="0" sz="2150">
                <a:latin typeface="Calibri"/>
                <a:cs typeface="Calibri"/>
              </a:rPr>
              <a:t>DBMS,</a:t>
            </a:r>
            <a:r>
              <a:rPr dirty="0" sz="2150" spc="520">
                <a:latin typeface="Calibri"/>
                <a:cs typeface="Calibri"/>
              </a:rPr>
              <a:t>   </a:t>
            </a:r>
            <a:r>
              <a:rPr dirty="0" sz="2150">
                <a:latin typeface="Calibri"/>
                <a:cs typeface="Calibri"/>
              </a:rPr>
              <a:t>both</a:t>
            </a:r>
            <a:r>
              <a:rPr dirty="0" sz="2150" spc="520">
                <a:latin typeface="Calibri"/>
                <a:cs typeface="Calibri"/>
              </a:rPr>
              <a:t> 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05">
                <a:latin typeface="Calibri"/>
                <a:cs typeface="Calibri"/>
              </a:rPr>
              <a:t>   </a:t>
            </a:r>
            <a:r>
              <a:rPr dirty="0" sz="2150">
                <a:latin typeface="Calibri"/>
                <a:cs typeface="Calibri"/>
              </a:rPr>
              <a:t>terms</a:t>
            </a:r>
            <a:r>
              <a:rPr dirty="0" sz="2150" spc="525">
                <a:latin typeface="Calibri"/>
                <a:cs typeface="Calibri"/>
              </a:rPr>
              <a:t> 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515">
                <a:latin typeface="Calibri"/>
                <a:cs typeface="Calibri"/>
              </a:rPr>
              <a:t>   </a:t>
            </a:r>
            <a:r>
              <a:rPr dirty="0" sz="2150">
                <a:latin typeface="Calibri"/>
                <a:cs typeface="Calibri"/>
              </a:rPr>
              <a:t>use</a:t>
            </a:r>
            <a:r>
              <a:rPr dirty="0" sz="2150" spc="505">
                <a:latin typeface="Calibri"/>
                <a:cs typeface="Calibri"/>
              </a:rPr>
              <a:t>   </a:t>
            </a:r>
            <a:r>
              <a:rPr dirty="0" sz="2150" spc="-25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sz="2150" spc="-10">
                <a:latin typeface="Calibri"/>
                <a:cs typeface="Calibri"/>
              </a:rPr>
              <a:t>implementation/design.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Experience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SQL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Manipulate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SQL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Increased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proficiency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programming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language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C++.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Experience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working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team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Experience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analysis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dirty="0" sz="2150">
                <a:latin typeface="Calibri"/>
                <a:cs typeface="Calibri"/>
              </a:rPr>
              <a:t>design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(DB)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software</a:t>
            </a:r>
            <a:endParaRPr sz="2150">
              <a:latin typeface="Calibri"/>
              <a:cs typeface="Calibri"/>
            </a:endParaRPr>
          </a:p>
          <a:p>
            <a:pPr marL="355600" marR="92710" indent="-342900">
              <a:lnSpc>
                <a:spcPct val="101899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  <a:tab pos="1289685" algn="l"/>
                <a:tab pos="1871980" algn="l"/>
                <a:tab pos="2844165" algn="l"/>
                <a:tab pos="3482975" algn="l"/>
                <a:tab pos="4199255" algn="l"/>
                <a:tab pos="4638040" algn="l"/>
                <a:tab pos="5238750" algn="l"/>
                <a:tab pos="5667375" algn="l"/>
                <a:tab pos="6372860" algn="l"/>
                <a:tab pos="7632065" algn="l"/>
              </a:tabLst>
            </a:pPr>
            <a:r>
              <a:rPr dirty="0" sz="2150" spc="-10">
                <a:latin typeface="Calibri"/>
                <a:cs typeface="Calibri"/>
              </a:rPr>
              <a:t>Assess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quality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ease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use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data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modeling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>
                <a:latin typeface="Calibri"/>
                <a:cs typeface="Calibri"/>
              </a:rPr>
              <a:t>diagramming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tools.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381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12054" y="64655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50"/>
              <a:t>6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875" rIns="0" bIns="0" rtlCol="0" vert="horz">
            <a:spAutoFit/>
          </a:bodyPr>
          <a:lstStyle/>
          <a:p>
            <a:pPr marL="2299335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dirty="0" spc="-140"/>
              <a:t> </a:t>
            </a:r>
            <a:r>
              <a:rPr dirty="0" spc="-10"/>
              <a:t>Objective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98447" y="4572"/>
            <a:ext cx="7846059" cy="833755"/>
            <a:chOff x="1298447" y="4572"/>
            <a:chExt cx="7846059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8447" y="4572"/>
              <a:ext cx="7840980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7403" y="4572"/>
              <a:ext cx="7812024" cy="786383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47" y="1447800"/>
            <a:ext cx="8833104" cy="3962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9529" rIns="0" bIns="0" rtlCol="0" vert="horz">
            <a:spAutoFit/>
          </a:bodyPr>
          <a:lstStyle/>
          <a:p>
            <a:pPr marL="2355215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dirty="0" spc="-145"/>
              <a:t> </a:t>
            </a:r>
            <a:r>
              <a:rPr dirty="0" spc="-10"/>
              <a:t>Outcomes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442452" y="64231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143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174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60888" y="6275019"/>
            <a:ext cx="65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91227" y="6275019"/>
            <a:ext cx="414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4572"/>
            <a:ext cx="7842884" cy="833755"/>
            <a:chOff x="1301496" y="4572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4572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4572"/>
              <a:ext cx="7812024" cy="78790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460044" y="1069086"/>
            <a:ext cx="39147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Calibri"/>
                <a:cs typeface="Calibri"/>
              </a:rPr>
              <a:t>Engineering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Graduates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73367" y="1546733"/>
          <a:ext cx="8394700" cy="4447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05800"/>
              </a:tblGrid>
              <a:tr h="984885">
                <a:tc>
                  <a:txBody>
                    <a:bodyPr/>
                    <a:lstStyle/>
                    <a:p>
                      <a:pPr marL="91440" marR="541020">
                        <a:lnSpc>
                          <a:spcPct val="103000"/>
                        </a:lnSpc>
                        <a:spcBef>
                          <a:spcPts val="55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1.</a:t>
                      </a:r>
                      <a:r>
                        <a:rPr dirty="0" sz="185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knowledge:</a:t>
                      </a:r>
                      <a:r>
                        <a:rPr dirty="0" sz="185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Apply</a:t>
                      </a:r>
                      <a:r>
                        <a:rPr dirty="0" sz="18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knowledge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mathematics,</a:t>
                      </a:r>
                      <a:r>
                        <a:rPr dirty="0" sz="1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science,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fundamentals,</a:t>
                      </a:r>
                      <a:r>
                        <a:rPr dirty="0" sz="18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specialization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solution</a:t>
                      </a:r>
                      <a:r>
                        <a:rPr dirty="0" sz="18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complex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problems.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 marL="91440" marR="458470">
                        <a:lnSpc>
                          <a:spcPct val="103000"/>
                        </a:lnSpc>
                        <a:spcBef>
                          <a:spcPts val="70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2.</a:t>
                      </a:r>
                      <a:r>
                        <a:rPr dirty="0" sz="185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Problem</a:t>
                      </a:r>
                      <a:r>
                        <a:rPr dirty="0" sz="1850" spc="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analysis:</a:t>
                      </a:r>
                      <a:r>
                        <a:rPr dirty="0" sz="1850" spc="1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Identify,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formulate,</a:t>
                      </a:r>
                      <a:r>
                        <a:rPr dirty="0" sz="18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review research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literature,</a:t>
                      </a:r>
                      <a:r>
                        <a:rPr dirty="0" sz="18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analyze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complex</a:t>
                      </a:r>
                      <a:r>
                        <a:rPr dirty="0" sz="18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problems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reaching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substantiated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conclusions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first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principles</a:t>
                      </a:r>
                      <a:r>
                        <a:rPr dirty="0" sz="18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mathematics,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natural</a:t>
                      </a:r>
                      <a:r>
                        <a:rPr dirty="0" sz="18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sciences,</a:t>
                      </a:r>
                      <a:r>
                        <a:rPr dirty="0" sz="18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22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sciences.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1280795">
                <a:tc>
                  <a:txBody>
                    <a:bodyPr/>
                    <a:lstStyle/>
                    <a:p>
                      <a:pPr marL="91440" marR="530860">
                        <a:lnSpc>
                          <a:spcPct val="103099"/>
                        </a:lnSpc>
                        <a:spcBef>
                          <a:spcPts val="95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3.</a:t>
                      </a:r>
                      <a:r>
                        <a:rPr dirty="0" sz="185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Design/development</a:t>
                      </a:r>
                      <a:r>
                        <a:rPr dirty="0" sz="1850" spc="2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of solutions:</a:t>
                      </a:r>
                      <a:r>
                        <a:rPr dirty="0" sz="1850" spc="2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solutions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complex</a:t>
                      </a:r>
                      <a:r>
                        <a:rPr dirty="0" sz="18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engineering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problems</a:t>
                      </a:r>
                      <a:r>
                        <a:rPr dirty="0" sz="18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8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components</a:t>
                      </a:r>
                      <a:r>
                        <a:rPr dirty="0" sz="18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processes</a:t>
                      </a:r>
                      <a:r>
                        <a:rPr dirty="0" sz="18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meet</a:t>
                      </a:r>
                      <a:r>
                        <a:rPr dirty="0" sz="18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specified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needs</a:t>
                      </a:r>
                      <a:r>
                        <a:rPr dirty="0" sz="185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appropriate</a:t>
                      </a:r>
                      <a:r>
                        <a:rPr dirty="0" sz="1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consideration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5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public health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35">
                          <a:latin typeface="Calibri"/>
                          <a:cs typeface="Calibri"/>
                        </a:rPr>
                        <a:t>safety,</a:t>
                      </a:r>
                      <a:r>
                        <a:rPr dirty="0" sz="185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cultural,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societal, and</a:t>
                      </a:r>
                      <a:r>
                        <a:rPr dirty="0" sz="18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environmental</a:t>
                      </a:r>
                      <a:r>
                        <a:rPr dirty="0" sz="18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considerations.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 marL="91440" marR="178435">
                        <a:lnSpc>
                          <a:spcPct val="103000"/>
                        </a:lnSpc>
                        <a:spcBef>
                          <a:spcPts val="95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4.</a:t>
                      </a:r>
                      <a:r>
                        <a:rPr dirty="0" sz="185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0" b="1">
                          <a:latin typeface="Calibri"/>
                          <a:cs typeface="Calibri"/>
                        </a:rPr>
                        <a:t>Conduct</a:t>
                      </a:r>
                      <a:r>
                        <a:rPr dirty="0" sz="185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investigations</a:t>
                      </a:r>
                      <a:r>
                        <a:rPr dirty="0" sz="185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 b="1">
                          <a:latin typeface="Calibri"/>
                          <a:cs typeface="Calibri"/>
                        </a:rPr>
                        <a:t>complex</a:t>
                      </a:r>
                      <a:r>
                        <a:rPr dirty="0" sz="185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problems:</a:t>
                      </a:r>
                      <a:r>
                        <a:rPr dirty="0" sz="1850" spc="3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research-based</a:t>
                      </a:r>
                      <a:r>
                        <a:rPr dirty="0" sz="18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knowledge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research methods</a:t>
                      </a:r>
                      <a:r>
                        <a:rPr dirty="0" sz="18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including</a:t>
                      </a:r>
                      <a:r>
                        <a:rPr dirty="0" sz="18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experiments,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analysis</a:t>
                      </a:r>
                      <a:r>
                        <a:rPr dirty="0" sz="18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interpretation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data,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synthesis</a:t>
                      </a:r>
                      <a:r>
                        <a:rPr dirty="0" sz="18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dirty="0" sz="18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provide</a:t>
                      </a:r>
                      <a:r>
                        <a:rPr dirty="0" sz="18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conclusions.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049" rIns="0" bIns="0" rtlCol="0" vert="horz">
            <a:spAutoFit/>
          </a:bodyPr>
          <a:lstStyle/>
          <a:p>
            <a:pPr marL="1951989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Program</a:t>
            </a:r>
            <a:r>
              <a:rPr dirty="0" spc="-17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Outcomes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442452" y="64231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57145" y="6351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60229" y="6351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03688" y="6351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31054" y="63512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4572"/>
            <a:ext cx="7842884" cy="833755"/>
            <a:chOff x="1301496" y="4572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4572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4572"/>
              <a:ext cx="7812024" cy="78790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460044" y="1069086"/>
            <a:ext cx="39147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Calibri"/>
                <a:cs typeface="Calibri"/>
              </a:rPr>
              <a:t>Engineering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Graduates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73367" y="1546733"/>
          <a:ext cx="8394700" cy="4447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05800"/>
              </a:tblGrid>
              <a:tr h="1159510">
                <a:tc>
                  <a:txBody>
                    <a:bodyPr/>
                    <a:lstStyle/>
                    <a:p>
                      <a:pPr algn="just" marL="91440" marR="412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5.</a:t>
                      </a:r>
                      <a:r>
                        <a:rPr dirty="0" sz="1850" spc="135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Modern</a:t>
                      </a:r>
                      <a:r>
                        <a:rPr dirty="0" sz="1850" spc="145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tool</a:t>
                      </a:r>
                      <a:r>
                        <a:rPr dirty="0" sz="1850" spc="140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usage:</a:t>
                      </a:r>
                      <a:r>
                        <a:rPr dirty="0" sz="1850" spc="135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Create,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select,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apply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appropriate</a:t>
                      </a:r>
                      <a:r>
                        <a:rPr dirty="0" sz="1850" spc="14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techniques,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resources,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modern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tools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including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prediction</a:t>
                      </a:r>
                      <a:r>
                        <a:rPr dirty="0" sz="1850" spc="14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modeling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12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complex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activities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50" spc="13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understanding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limitations.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 marL="91440" marR="5422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6.</a:t>
                      </a:r>
                      <a:r>
                        <a:rPr dirty="0" sz="1850" spc="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engineer</a:t>
                      </a:r>
                      <a:r>
                        <a:rPr dirty="0" sz="1850" spc="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society:</a:t>
                      </a:r>
                      <a:r>
                        <a:rPr dirty="0" sz="1850" spc="1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Apply</a:t>
                      </a:r>
                      <a:r>
                        <a:rPr dirty="0" sz="18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reasoning</a:t>
                      </a:r>
                      <a:r>
                        <a:rPr dirty="0" sz="18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informed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contextual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knowledge</a:t>
                      </a:r>
                      <a:r>
                        <a:rPr dirty="0" sz="18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assess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societal,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health,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safety,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legal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cultural</a:t>
                      </a:r>
                      <a:r>
                        <a:rPr dirty="0" sz="18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issues</a:t>
                      </a:r>
                      <a:r>
                        <a:rPr dirty="0" sz="18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7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consequent</a:t>
                      </a:r>
                      <a:r>
                        <a:rPr dirty="0" sz="18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responsibilities</a:t>
                      </a:r>
                      <a:r>
                        <a:rPr dirty="0" sz="1850" spc="1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relevant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professional</a:t>
                      </a:r>
                      <a:r>
                        <a:rPr dirty="0" sz="18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3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practice.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1280795">
                <a:tc>
                  <a:txBody>
                    <a:bodyPr/>
                    <a:lstStyle/>
                    <a:p>
                      <a:pPr marL="91440" marR="3530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7.</a:t>
                      </a:r>
                      <a:r>
                        <a:rPr dirty="0" sz="1850" spc="10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dirty="0" sz="1850" spc="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sustainability:</a:t>
                      </a:r>
                      <a:r>
                        <a:rPr dirty="0" sz="1850" spc="1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dirty="0" sz="1850" spc="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impact</a:t>
                      </a:r>
                      <a:r>
                        <a:rPr dirty="0" sz="18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professional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solutions</a:t>
                      </a:r>
                      <a:r>
                        <a:rPr dirty="0" sz="1850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societal</a:t>
                      </a:r>
                      <a:r>
                        <a:rPr dirty="0" sz="1850" spc="1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environmental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contexts,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demonstrate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knowledge</a:t>
                      </a:r>
                      <a:r>
                        <a:rPr dirty="0" sz="18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of,</a:t>
                      </a:r>
                      <a:r>
                        <a:rPr dirty="0" sz="18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need</a:t>
                      </a:r>
                      <a:r>
                        <a:rPr dirty="0" sz="18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sustainable</a:t>
                      </a:r>
                      <a:r>
                        <a:rPr dirty="0" sz="18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development.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 marL="91440" marR="11449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8.</a:t>
                      </a:r>
                      <a:r>
                        <a:rPr dirty="0" sz="1850" spc="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Ethics:</a:t>
                      </a:r>
                      <a:r>
                        <a:rPr dirty="0" sz="1850" spc="1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Apply</a:t>
                      </a:r>
                      <a:r>
                        <a:rPr dirty="0" sz="18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ethical</a:t>
                      </a:r>
                      <a:r>
                        <a:rPr dirty="0" sz="18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principles</a:t>
                      </a:r>
                      <a:r>
                        <a:rPr dirty="0" sz="18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commit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professional</a:t>
                      </a:r>
                      <a:r>
                        <a:rPr dirty="0" sz="185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ethics</a:t>
                      </a:r>
                      <a:r>
                        <a:rPr dirty="0" sz="18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responsibilities</a:t>
                      </a:r>
                      <a:r>
                        <a:rPr dirty="0" sz="18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norms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practice.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049" rIns="0" bIns="0" rtlCol="0" vert="horz">
            <a:spAutoFit/>
          </a:bodyPr>
          <a:lstStyle/>
          <a:p>
            <a:pPr marL="1951989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Program</a:t>
            </a:r>
            <a:r>
              <a:rPr dirty="0" spc="-17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Outcomes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442452" y="642315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905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936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37088" y="6275019"/>
            <a:ext cx="65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67680" y="6275019"/>
            <a:ext cx="414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4572"/>
            <a:ext cx="7842884" cy="833755"/>
            <a:chOff x="1301496" y="4572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4572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4572"/>
              <a:ext cx="7812024" cy="78790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460044" y="1069086"/>
            <a:ext cx="39147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Calibri"/>
                <a:cs typeface="Calibri"/>
              </a:rPr>
              <a:t>Engineering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Graduates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73367" y="1546733"/>
          <a:ext cx="8394700" cy="4447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05800"/>
              </a:tblGrid>
              <a:tr h="984885">
                <a:tc>
                  <a:txBody>
                    <a:bodyPr/>
                    <a:lstStyle/>
                    <a:p>
                      <a:pPr marL="91440" marR="906780">
                        <a:lnSpc>
                          <a:spcPct val="101099"/>
                        </a:lnSpc>
                        <a:spcBef>
                          <a:spcPts val="110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9.</a:t>
                      </a:r>
                      <a:r>
                        <a:rPr dirty="0" sz="185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Individual</a:t>
                      </a:r>
                      <a:r>
                        <a:rPr dirty="0" sz="1850" spc="1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team</a:t>
                      </a:r>
                      <a:r>
                        <a:rPr dirty="0" sz="185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work:</a:t>
                      </a:r>
                      <a:r>
                        <a:rPr dirty="0" sz="1850" spc="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Function</a:t>
                      </a:r>
                      <a:r>
                        <a:rPr dirty="0" sz="18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effectively</a:t>
                      </a:r>
                      <a:r>
                        <a:rPr dirty="0" sz="1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 individual,</a:t>
                      </a:r>
                      <a:r>
                        <a:rPr dirty="0" sz="185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 as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5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member</a:t>
                      </a:r>
                      <a:r>
                        <a:rPr dirty="0" sz="18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leader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diverse</a:t>
                      </a:r>
                      <a:r>
                        <a:rPr dirty="0" sz="18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teams,</a:t>
                      </a:r>
                      <a:r>
                        <a:rPr dirty="0" sz="18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multidisciplinary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settings.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1196975">
                <a:tc>
                  <a:txBody>
                    <a:bodyPr/>
                    <a:lstStyle/>
                    <a:p>
                      <a:pPr marL="91440" marR="172720">
                        <a:lnSpc>
                          <a:spcPct val="103099"/>
                        </a:lnSpc>
                        <a:spcBef>
                          <a:spcPts val="80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10.</a:t>
                      </a:r>
                      <a:r>
                        <a:rPr dirty="0" sz="1850" spc="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0" b="1">
                          <a:latin typeface="Calibri"/>
                          <a:cs typeface="Calibri"/>
                        </a:rPr>
                        <a:t>Communication:</a:t>
                      </a:r>
                      <a:r>
                        <a:rPr dirty="0" sz="185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Communicate</a:t>
                      </a:r>
                      <a:r>
                        <a:rPr dirty="0" sz="18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effectively</a:t>
                      </a:r>
                      <a:r>
                        <a:rPr dirty="0" sz="185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8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complex</a:t>
                      </a:r>
                      <a:r>
                        <a:rPr dirty="0" sz="18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activities</a:t>
                      </a:r>
                      <a:r>
                        <a:rPr dirty="0" sz="18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community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society</a:t>
                      </a:r>
                      <a:r>
                        <a:rPr dirty="0" sz="18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large,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such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as,</a:t>
                      </a:r>
                      <a:r>
                        <a:rPr dirty="0" sz="18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being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able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comprehend</a:t>
                      </a:r>
                      <a:r>
                        <a:rPr dirty="0" sz="18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effective</a:t>
                      </a:r>
                      <a:r>
                        <a:rPr dirty="0" sz="185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reports</a:t>
                      </a:r>
                      <a:r>
                        <a:rPr dirty="0" sz="18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documentation,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make</a:t>
                      </a:r>
                      <a:r>
                        <a:rPr dirty="0" sz="1850" spc="2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effective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presentations,</a:t>
                      </a:r>
                      <a:r>
                        <a:rPr dirty="0" sz="1850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give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receive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clear</a:t>
                      </a:r>
                      <a:r>
                        <a:rPr dirty="0" sz="18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instructions.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1280795">
                <a:tc>
                  <a:txBody>
                    <a:bodyPr/>
                    <a:lstStyle/>
                    <a:p>
                      <a:pPr marL="91440" marR="316230">
                        <a:lnSpc>
                          <a:spcPct val="103099"/>
                        </a:lnSpc>
                        <a:spcBef>
                          <a:spcPts val="95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11.</a:t>
                      </a:r>
                      <a:r>
                        <a:rPr dirty="0" sz="1850" spc="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185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185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finance:</a:t>
                      </a:r>
                      <a:r>
                        <a:rPr dirty="0" sz="1850" spc="-8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Demonstrate</a:t>
                      </a:r>
                      <a:r>
                        <a:rPr dirty="0" sz="18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knowledge</a:t>
                      </a:r>
                      <a:r>
                        <a:rPr dirty="0" sz="18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understanding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dirty="0" sz="1850" spc="1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18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principles</a:t>
                      </a:r>
                      <a:r>
                        <a:rPr dirty="0" sz="18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 apply</a:t>
                      </a:r>
                      <a:r>
                        <a:rPr dirty="0" sz="18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these</a:t>
                      </a:r>
                      <a:r>
                        <a:rPr dirty="0" sz="18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one’s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own</a:t>
                      </a:r>
                      <a:r>
                        <a:rPr dirty="0" sz="18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work,</a:t>
                      </a:r>
                      <a:r>
                        <a:rPr dirty="0" sz="18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5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member</a:t>
                      </a:r>
                      <a:r>
                        <a:rPr dirty="0" sz="1850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leader</a:t>
                      </a:r>
                      <a:r>
                        <a:rPr dirty="0" sz="18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 team,</a:t>
                      </a:r>
                      <a:r>
                        <a:rPr dirty="0" sz="18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manage</a:t>
                      </a:r>
                      <a:r>
                        <a:rPr dirty="0" sz="18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projects</a:t>
                      </a:r>
                      <a:r>
                        <a:rPr dirty="0" sz="18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in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multidisciplinary</a:t>
                      </a:r>
                      <a:r>
                        <a:rPr dirty="0" sz="1850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environments.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 marL="91440" marR="178435">
                        <a:lnSpc>
                          <a:spcPct val="103000"/>
                        </a:lnSpc>
                        <a:spcBef>
                          <a:spcPts val="100"/>
                        </a:spcBef>
                      </a:pPr>
                      <a:r>
                        <a:rPr dirty="0" sz="1850" b="1">
                          <a:latin typeface="Calibri"/>
                          <a:cs typeface="Calibri"/>
                        </a:rPr>
                        <a:t>12.</a:t>
                      </a:r>
                      <a:r>
                        <a:rPr dirty="0" sz="185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 b="1">
                          <a:latin typeface="Calibri"/>
                          <a:cs typeface="Calibri"/>
                        </a:rPr>
                        <a:t>Life-</a:t>
                      </a:r>
                      <a:r>
                        <a:rPr dirty="0" sz="1850" b="1">
                          <a:latin typeface="Calibri"/>
                          <a:cs typeface="Calibri"/>
                        </a:rPr>
                        <a:t>long learning:</a:t>
                      </a:r>
                      <a:r>
                        <a:rPr dirty="0" sz="185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Recognize</a:t>
                      </a:r>
                      <a:r>
                        <a:rPr dirty="0" sz="18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need</a:t>
                      </a:r>
                      <a:r>
                        <a:rPr dirty="0" sz="18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35">
                          <a:latin typeface="Calibri"/>
                          <a:cs typeface="Calibri"/>
                        </a:rPr>
                        <a:t>for,</a:t>
                      </a:r>
                      <a:r>
                        <a:rPr dirty="0" sz="185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preparation and</a:t>
                      </a:r>
                      <a:r>
                        <a:rPr dirty="0" sz="1850" spc="3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ability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engage</a:t>
                      </a:r>
                      <a:r>
                        <a:rPr dirty="0" sz="18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independent</a:t>
                      </a:r>
                      <a:r>
                        <a:rPr dirty="0" sz="185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life-long</a:t>
                      </a:r>
                      <a:r>
                        <a:rPr dirty="0" sz="18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learning</a:t>
                      </a:r>
                      <a:r>
                        <a:rPr dirty="0" sz="18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broadest</a:t>
                      </a:r>
                      <a:r>
                        <a:rPr dirty="0" sz="1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context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50">
                          <a:latin typeface="Calibri"/>
                          <a:cs typeface="Calibri"/>
                        </a:rPr>
                        <a:t>technological</a:t>
                      </a:r>
                      <a:r>
                        <a:rPr dirty="0" sz="18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50" spc="-10">
                          <a:latin typeface="Calibri"/>
                          <a:cs typeface="Calibri"/>
                        </a:rPr>
                        <a:t>change.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>
                        <a:alpha val="3097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049" rIns="0" bIns="0" rtlCol="0" vert="horz">
            <a:spAutoFit/>
          </a:bodyPr>
          <a:lstStyle/>
          <a:p>
            <a:pPr marL="1951989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Program</a:t>
            </a:r>
            <a:r>
              <a:rPr dirty="0" spc="-17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Outcomes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09545" y="6351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12629" y="6351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756088" y="6351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83454" y="63512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4572"/>
            <a:ext cx="7842884" cy="833755"/>
            <a:chOff x="1301496" y="4572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4572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4572"/>
              <a:ext cx="7812024" cy="78790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049" rIns="0" bIns="0" rtlCol="0" vert="horz">
            <a:spAutoFit/>
          </a:bodyPr>
          <a:lstStyle/>
          <a:p>
            <a:pPr marL="1806575">
              <a:lnSpc>
                <a:spcPct val="100000"/>
              </a:lnSpc>
              <a:spcBef>
                <a:spcPts val="100"/>
              </a:spcBef>
            </a:pPr>
            <a:r>
              <a:rPr dirty="0"/>
              <a:t>COs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POsMapping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2217" y="2959607"/>
            <a:ext cx="5894832" cy="2706624"/>
          </a:xfrm>
          <a:prstGeom prst="rect">
            <a:avLst/>
          </a:prstGeom>
        </p:spPr>
      </p:pic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358900" y="1479550"/>
          <a:ext cx="6871334" cy="4178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6460"/>
                <a:gridCol w="469265"/>
                <a:gridCol w="469264"/>
                <a:gridCol w="469264"/>
                <a:gridCol w="469264"/>
                <a:gridCol w="469264"/>
                <a:gridCol w="469264"/>
                <a:gridCol w="469264"/>
                <a:gridCol w="469264"/>
                <a:gridCol w="469264"/>
                <a:gridCol w="557529"/>
                <a:gridCol w="557529"/>
                <a:gridCol w="557529"/>
              </a:tblGrid>
              <a:tr h="929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R="3175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KCS501.1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8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KCS501.2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7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KCS501.3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KCS501.4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0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KCS501.5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0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2.40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2742945" y="63131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46029" y="63131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89488" y="63131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16854" y="63131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380491" y="1501266"/>
            <a:ext cx="8333740" cy="41776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  <a:tabLst>
                <a:tab pos="413384" algn="l"/>
                <a:tab pos="1471295" algn="l"/>
                <a:tab pos="2664460" algn="l"/>
                <a:tab pos="4112260" algn="l"/>
              </a:tabLst>
            </a:pPr>
            <a:r>
              <a:rPr dirty="0" sz="1800" spc="-25">
                <a:latin typeface="Calibri"/>
                <a:cs typeface="Calibri"/>
              </a:rPr>
              <a:t>On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successful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completion</a:t>
            </a:r>
            <a:r>
              <a:rPr dirty="0" sz="1800">
                <a:latin typeface="Calibri"/>
                <a:cs typeface="Calibri"/>
              </a:rPr>
              <a:t>	of</a:t>
            </a:r>
            <a:r>
              <a:rPr dirty="0" sz="1800" spc="80">
                <a:latin typeface="Calibri"/>
                <a:cs typeface="Calibri"/>
              </a:rPr>
              <a:t>  </a:t>
            </a:r>
            <a:r>
              <a:rPr dirty="0" sz="1800" spc="-10">
                <a:latin typeface="Calibri"/>
                <a:cs typeface="Calibri"/>
              </a:rPr>
              <a:t>graduation</a:t>
            </a:r>
            <a:r>
              <a:rPr dirty="0" sz="1800">
                <a:latin typeface="Calibri"/>
                <a:cs typeface="Calibri"/>
              </a:rPr>
              <a:t>	degree</a:t>
            </a:r>
            <a:r>
              <a:rPr dirty="0" sz="1800" spc="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Computer</a:t>
            </a:r>
            <a:r>
              <a:rPr dirty="0" sz="1800" spc="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Science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Engineering </a:t>
            </a:r>
            <a:r>
              <a:rPr dirty="0" sz="1800" spc="-25">
                <a:latin typeface="Calibri"/>
                <a:cs typeface="Calibri"/>
              </a:rPr>
              <a:t>graduates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alibri"/>
                <a:cs typeface="Calibri"/>
              </a:rPr>
              <a:t>PSO1:</a:t>
            </a:r>
            <a:endParaRPr sz="1800">
              <a:latin typeface="Calibri"/>
              <a:cs typeface="Calibri"/>
            </a:endParaRPr>
          </a:p>
          <a:p>
            <a:pPr marL="32766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Design 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develop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25">
                <a:latin typeface="Calibri"/>
                <a:cs typeface="Calibri"/>
              </a:rPr>
              <a:t>Hardware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Software</a:t>
            </a:r>
            <a:r>
              <a:rPr dirty="0" sz="1800" spc="-1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dirty="0" sz="1800" spc="-10" b="1">
                <a:latin typeface="Calibri"/>
                <a:cs typeface="Calibri"/>
              </a:rPr>
              <a:t>PSO2:</a:t>
            </a:r>
            <a:endParaRPr sz="1800">
              <a:latin typeface="Calibri"/>
              <a:cs typeface="Calibri"/>
            </a:endParaRPr>
          </a:p>
          <a:p>
            <a:pPr marL="12700" marR="254635" indent="314960">
              <a:lnSpc>
                <a:spcPts val="2180"/>
              </a:lnSpc>
              <a:spcBef>
                <a:spcPts val="30"/>
              </a:spcBef>
            </a:pPr>
            <a:r>
              <a:rPr dirty="0" sz="1800" spc="-20">
                <a:latin typeface="Calibri"/>
                <a:cs typeface="Calibri"/>
              </a:rPr>
              <a:t>Understand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interdisciplinary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computing</a:t>
            </a:r>
            <a:r>
              <a:rPr dirty="0" sz="1800" spc="-1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techniques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ability</a:t>
            </a:r>
            <a:r>
              <a:rPr dirty="0" sz="1800" spc="-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apply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them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 advanced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computing.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75"/>
              </a:lnSpc>
            </a:pPr>
            <a:r>
              <a:rPr dirty="0" sz="1800" spc="-10" b="1">
                <a:latin typeface="Calibri"/>
                <a:cs typeface="Calibri"/>
              </a:rPr>
              <a:t>PSO3:</a:t>
            </a:r>
            <a:endParaRPr sz="1800">
              <a:latin typeface="Calibri"/>
              <a:cs typeface="Calibri"/>
            </a:endParaRPr>
          </a:p>
          <a:p>
            <a:pPr marL="12700" marR="5080" indent="314960">
              <a:lnSpc>
                <a:spcPts val="2170"/>
              </a:lnSpc>
              <a:spcBef>
                <a:spcPts val="40"/>
              </a:spcBef>
            </a:pPr>
            <a:r>
              <a:rPr dirty="0" sz="1800" spc="-10">
                <a:latin typeface="Calibri"/>
                <a:cs typeface="Calibri"/>
              </a:rPr>
              <a:t>Understand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programming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methodology,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software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development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paradigms,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design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analysis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Algorithms,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Operating</a:t>
            </a:r>
            <a:r>
              <a:rPr dirty="0" sz="1800" spc="-1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Systems,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Digital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Logic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Design,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Theory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15"/>
              </a:lnSpc>
            </a:pPr>
            <a:r>
              <a:rPr dirty="0" sz="1800">
                <a:latin typeface="Calibri"/>
                <a:cs typeface="Calibri"/>
              </a:rPr>
              <a:t>Computation,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Discrete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Mathematics,</a:t>
            </a:r>
            <a:r>
              <a:rPr dirty="0" sz="1800" spc="-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Compiler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spc="-10" b="1">
                <a:latin typeface="Calibri"/>
                <a:cs typeface="Calibri"/>
              </a:rPr>
              <a:t>PSO4:</a:t>
            </a:r>
            <a:endParaRPr sz="1800">
              <a:latin typeface="Calibri"/>
              <a:cs typeface="Calibri"/>
            </a:endParaRPr>
          </a:p>
          <a:p>
            <a:pPr marL="12700" marR="506730" indent="314960">
              <a:lnSpc>
                <a:spcPts val="2100"/>
              </a:lnSpc>
              <a:spcBef>
                <a:spcPts val="265"/>
              </a:spcBef>
            </a:pPr>
            <a:r>
              <a:rPr dirty="0" sz="1800" spc="-11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integrate</a:t>
            </a:r>
            <a:r>
              <a:rPr dirty="0" sz="1800" spc="-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various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phases/components</a:t>
            </a:r>
            <a:r>
              <a:rPr dirty="0" sz="1800" spc="-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software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development projects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society.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571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02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03688" y="6236919"/>
            <a:ext cx="6502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34027" y="6236919"/>
            <a:ext cx="41402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0794" rIns="0" bIns="0" rtlCol="0" vert="horz">
            <a:spAutoFit/>
          </a:bodyPr>
          <a:lstStyle/>
          <a:p>
            <a:pPr marL="1237615">
              <a:lnSpc>
                <a:spcPct val="100000"/>
              </a:lnSpc>
              <a:spcBef>
                <a:spcPts val="95"/>
              </a:spcBef>
            </a:pPr>
            <a:r>
              <a:rPr dirty="0" sz="2800" spc="-30"/>
              <a:t>Program</a:t>
            </a:r>
            <a:r>
              <a:rPr dirty="0" sz="2800" spc="-114"/>
              <a:t> </a:t>
            </a:r>
            <a:r>
              <a:rPr dirty="0" sz="2800"/>
              <a:t>Specific</a:t>
            </a:r>
            <a:r>
              <a:rPr dirty="0" sz="2800" spc="-160"/>
              <a:t> </a:t>
            </a:r>
            <a:r>
              <a:rPr dirty="0" sz="2800"/>
              <a:t>Outcomes</a:t>
            </a:r>
            <a:r>
              <a:rPr dirty="0" sz="2800" spc="-135"/>
              <a:t> </a:t>
            </a:r>
            <a:r>
              <a:rPr dirty="0" sz="2800" spc="-10"/>
              <a:t>(PSOs)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1709" y="3062604"/>
            <a:ext cx="4571999" cy="2237231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390903" y="1328038"/>
          <a:ext cx="6784975" cy="3964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4075"/>
                <a:gridCol w="1187450"/>
                <a:gridCol w="1187450"/>
                <a:gridCol w="1098550"/>
                <a:gridCol w="1098550"/>
              </a:tblGrid>
              <a:tr h="7283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494155">
                        <a:lnSpc>
                          <a:spcPts val="1630"/>
                        </a:lnSpc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Program</a:t>
                      </a:r>
                      <a:r>
                        <a:rPr dirty="0" sz="1400" spc="-1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r>
                        <a:rPr dirty="0" sz="1400" spc="-1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Outcomes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06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PSO1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639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PSO2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PSO3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639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PSO4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>
                        <a:alpha val="79998"/>
                      </a:srgbClr>
                    </a:solidFill>
                  </a:tcPr>
                </a:tc>
              </a:tr>
              <a:tr h="55816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KCS-501.1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KCS-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501.2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KCS-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501.3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2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KCS-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501.4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KCS-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501.5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79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3.00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1.00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ct val="100000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3.00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0795">
                        <a:lnSpc>
                          <a:spcPct val="100000"/>
                        </a:lnSpc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1.00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956" rIns="0" bIns="0" rtlCol="0" vert="horz">
            <a:spAutoFit/>
          </a:bodyPr>
          <a:lstStyle/>
          <a:p>
            <a:pPr marL="1803400">
              <a:lnSpc>
                <a:spcPct val="100000"/>
              </a:lnSpc>
              <a:spcBef>
                <a:spcPts val="100"/>
              </a:spcBef>
            </a:pPr>
            <a:r>
              <a:rPr dirty="0"/>
              <a:t>COs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/>
              <a:t>PSOs</a:t>
            </a:r>
            <a:r>
              <a:rPr dirty="0" spc="-20"/>
              <a:t> </a:t>
            </a:r>
            <a:r>
              <a:rPr dirty="0" spc="-10"/>
              <a:t>Mapping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5143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174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608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88254" y="61607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32891" y="1670126"/>
            <a:ext cx="7993380" cy="308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PEO1: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Able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 apply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sound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knowledge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field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information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technology</a:t>
            </a:r>
            <a:r>
              <a:rPr dirty="0" sz="1800" spc="-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fulfill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industry.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Calibri"/>
              <a:cs typeface="Calibri"/>
            </a:endParaRPr>
          </a:p>
          <a:p>
            <a:pPr marL="12700" marR="981075">
              <a:lnSpc>
                <a:spcPct val="101699"/>
              </a:lnSpc>
            </a:pPr>
            <a:r>
              <a:rPr dirty="0" sz="1800" b="1">
                <a:latin typeface="Calibri"/>
                <a:cs typeface="Calibri"/>
              </a:rPr>
              <a:t>PEO2: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Able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innovative</a:t>
            </a:r>
            <a:r>
              <a:rPr dirty="0" sz="1800" spc="-1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interdisciplinary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30">
                <a:latin typeface="Calibri"/>
                <a:cs typeface="Calibri"/>
              </a:rPr>
              <a:t>systems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through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latest </a:t>
            </a:r>
            <a:r>
              <a:rPr dirty="0" sz="1800">
                <a:latin typeface="Calibri"/>
                <a:cs typeface="Calibri"/>
              </a:rPr>
              <a:t>digital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technologies.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800">
              <a:latin typeface="Calibri"/>
              <a:cs typeface="Calibri"/>
            </a:endParaRPr>
          </a:p>
          <a:p>
            <a:pPr marL="12700" marR="131445">
              <a:lnSpc>
                <a:spcPts val="2100"/>
              </a:lnSpc>
            </a:pPr>
            <a:r>
              <a:rPr dirty="0" sz="1800" b="1">
                <a:latin typeface="Calibri"/>
                <a:cs typeface="Calibri"/>
              </a:rPr>
              <a:t>PEO3: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inculcate</a:t>
            </a:r>
            <a:r>
              <a:rPr dirty="0" sz="1800" spc="-1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professional</a:t>
            </a:r>
            <a:r>
              <a:rPr dirty="0" sz="1800" spc="-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ethics,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team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work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leadership</a:t>
            </a:r>
            <a:r>
              <a:rPr dirty="0" sz="1800" spc="-1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for</a:t>
            </a:r>
            <a:r>
              <a:rPr dirty="0" sz="1800">
                <a:latin typeface="Calibri"/>
                <a:cs typeface="Calibri"/>
              </a:rPr>
              <a:t> serving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society.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1964"/>
              </a:spcBef>
            </a:pPr>
            <a:r>
              <a:rPr dirty="0" sz="1800" b="1">
                <a:latin typeface="Calibri"/>
                <a:cs typeface="Calibri"/>
              </a:rPr>
              <a:t>PEO4: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Able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inculcate</a:t>
            </a:r>
            <a:r>
              <a:rPr dirty="0" sz="1800" spc="-1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lifelong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learning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field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computing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successful career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organizations</a:t>
            </a:r>
            <a:r>
              <a:rPr dirty="0" sz="1800" spc="-1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R&amp;D </a:t>
            </a:r>
            <a:r>
              <a:rPr dirty="0" sz="1800" spc="-10">
                <a:latin typeface="Calibri"/>
                <a:cs typeface="Calibri"/>
              </a:rPr>
              <a:t>sectors.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571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02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03688" y="6236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31054" y="62369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595" rIns="0" bIns="0" rtlCol="0" vert="horz">
            <a:spAutoFit/>
          </a:bodyPr>
          <a:lstStyle/>
          <a:p>
            <a:pPr marL="1232535">
              <a:lnSpc>
                <a:spcPct val="100000"/>
              </a:lnSpc>
              <a:spcBef>
                <a:spcPts val="95"/>
              </a:spcBef>
            </a:pPr>
            <a:r>
              <a:rPr dirty="0" sz="2800" spc="-30"/>
              <a:t>Program </a:t>
            </a:r>
            <a:r>
              <a:rPr dirty="0" sz="2800" spc="-25"/>
              <a:t>Educational</a:t>
            </a:r>
            <a:r>
              <a:rPr dirty="0" sz="2800" spc="-185"/>
              <a:t> </a:t>
            </a:r>
            <a:r>
              <a:rPr dirty="0" sz="2800"/>
              <a:t>Objectives</a:t>
            </a:r>
            <a:r>
              <a:rPr dirty="0" sz="2800" spc="-145"/>
              <a:t> </a:t>
            </a:r>
            <a:r>
              <a:rPr dirty="0" sz="2800" spc="-10"/>
              <a:t>(PEOs)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266" y="1240690"/>
            <a:ext cx="8222226" cy="507292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5488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Result</a:t>
            </a:r>
            <a:r>
              <a:rPr dirty="0" sz="4000" spc="-225"/>
              <a:t> </a:t>
            </a:r>
            <a:r>
              <a:rPr dirty="0" sz="4000" spc="-10"/>
              <a:t>Analysis</a:t>
            </a:r>
            <a:endParaRPr sz="4000"/>
          </a:p>
        </p:txBody>
      </p:sp>
      <p:sp>
        <p:nvSpPr>
          <p:cNvPr id="7" name="object 7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90545" y="6427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93629" y="6427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37088" y="6427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64454" y="64274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891" y="1373423"/>
            <a:ext cx="8226552" cy="463865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55" rIns="0" bIns="0" rtlCol="0" vert="horz">
            <a:spAutoFit/>
          </a:bodyPr>
          <a:lstStyle/>
          <a:p>
            <a:pPr marL="1908175">
              <a:lnSpc>
                <a:spcPct val="100000"/>
              </a:lnSpc>
              <a:spcBef>
                <a:spcPts val="100"/>
              </a:spcBef>
            </a:pPr>
            <a:r>
              <a:rPr dirty="0"/>
              <a:t>Question</a:t>
            </a:r>
            <a:r>
              <a:rPr dirty="0" spc="-210"/>
              <a:t> </a:t>
            </a:r>
            <a:r>
              <a:rPr dirty="0" spc="-10"/>
              <a:t>Paper</a:t>
            </a:r>
            <a:r>
              <a:rPr dirty="0" spc="-110"/>
              <a:t> </a:t>
            </a:r>
            <a:r>
              <a:rPr dirty="0" spc="-585"/>
              <a:t>T</a:t>
            </a:r>
            <a:r>
              <a:rPr dirty="0" spc="50"/>
              <a:t>e</a:t>
            </a:r>
            <a:r>
              <a:rPr dirty="0" spc="30"/>
              <a:t>m</a:t>
            </a:r>
            <a:r>
              <a:rPr dirty="0" spc="25"/>
              <a:t>p</a:t>
            </a:r>
            <a:r>
              <a:rPr dirty="0" spc="50"/>
              <a:t>l</a:t>
            </a:r>
            <a:r>
              <a:rPr dirty="0" spc="-15"/>
              <a:t>a</a:t>
            </a:r>
            <a:r>
              <a:rPr dirty="0" spc="-80"/>
              <a:t>t</a:t>
            </a:r>
            <a:r>
              <a:rPr dirty="0" spc="20"/>
              <a:t>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09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840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274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54854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0452" y="0"/>
              <a:ext cx="781354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32280">
              <a:lnSpc>
                <a:spcPct val="100000"/>
              </a:lnSpc>
              <a:spcBef>
                <a:spcPts val="105"/>
              </a:spcBef>
            </a:pPr>
            <a:r>
              <a:rPr dirty="0"/>
              <a:t>Question</a:t>
            </a:r>
            <a:r>
              <a:rPr dirty="0" spc="-215"/>
              <a:t> </a:t>
            </a:r>
            <a:r>
              <a:rPr dirty="0"/>
              <a:t>Paper</a:t>
            </a:r>
            <a:r>
              <a:rPr dirty="0" spc="-60"/>
              <a:t> </a:t>
            </a:r>
            <a:r>
              <a:rPr dirty="0" spc="-20"/>
              <a:t>Template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442452" y="6432296"/>
            <a:ext cx="207645" cy="207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baseline="-11574" sz="1800" spc="-419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dirty="0" sz="1200" spc="-28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dirty="0" baseline="-11574" sz="1800" spc="-419">
                <a:solidFill>
                  <a:srgbClr val="878787"/>
                </a:solidFill>
                <a:latin typeface="Calibri"/>
                <a:cs typeface="Calibri"/>
              </a:rPr>
              <a:t>7</a:t>
            </a:r>
            <a:r>
              <a:rPr dirty="0" sz="1200" spc="-280">
                <a:solidFill>
                  <a:srgbClr val="878787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571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602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036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31054" y="64655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298450" y="1030732"/>
          <a:ext cx="8521065" cy="5180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705"/>
                <a:gridCol w="549275"/>
                <a:gridCol w="5852795"/>
                <a:gridCol w="933450"/>
                <a:gridCol w="664845"/>
              </a:tblGrid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635"/>
                        </a:lnSpc>
                      </a:pPr>
                      <a:r>
                        <a:rPr dirty="0" sz="700" b="1"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sz="700" spc="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7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50" b="1">
                          <a:latin typeface="Calibri"/>
                          <a:cs typeface="Calibri"/>
                        </a:rPr>
                        <a:t>A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635"/>
                        </a:lnSpc>
                      </a:pPr>
                      <a:r>
                        <a:rPr dirty="0" sz="700" spc="-25" b="1">
                          <a:latin typeface="Calibri"/>
                          <a:cs typeface="Calibri"/>
                        </a:rPr>
                        <a:t>CO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500" spc="-25">
                          <a:latin typeface="Calibri"/>
                          <a:cs typeface="Calibri"/>
                        </a:rPr>
                        <a:t>1.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84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Attempt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7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parts-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840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[10×1=10]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c.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d.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e.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f.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g.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h.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i.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j.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(1)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00" spc="-25">
                          <a:latin typeface="Calibri"/>
                          <a:cs typeface="Calibri"/>
                        </a:rPr>
                        <a:t>2.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Attempt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7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parts-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600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[5×2=10]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CO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2-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(2)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2-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(2)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2-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c.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(2)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2-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d.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(2)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 spc="-15">
                          <a:latin typeface="Calibri"/>
                          <a:cs typeface="Calibri"/>
                        </a:rPr>
                        <a:t>2-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e.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0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(2)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 gridSpan="3">
                  <a:txBody>
                    <a:bodyPr/>
                    <a:lstStyle/>
                    <a:p>
                      <a:pPr algn="ctr" marL="3810">
                        <a:lnSpc>
                          <a:spcPts val="66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sz="7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7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50">
                          <a:latin typeface="Calibri"/>
                          <a:cs typeface="Calibri"/>
                        </a:rPr>
                        <a:t>B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66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CO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1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500" spc="-25">
                          <a:latin typeface="Calibri"/>
                          <a:cs typeface="Calibri"/>
                        </a:rPr>
                        <a:t>3.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66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Answer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7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five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 of</a:t>
                      </a:r>
                      <a:r>
                        <a:rPr dirty="0" sz="7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 following-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66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[5×6=30]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6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6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(6)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7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(6)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c.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7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(6)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d.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7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(6)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 spc="-15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e.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7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(6)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f.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7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(6)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g.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5280">
                        <a:lnSpc>
                          <a:spcPts val="67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(6)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0452" y="0"/>
              <a:ext cx="7813548" cy="787908"/>
            </a:xfrm>
            <a:prstGeom prst="rect">
              <a:avLst/>
            </a:prstGeom>
          </p:spPr>
        </p:pic>
      </p:grp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79933" y="1435100"/>
          <a:ext cx="8237220" cy="4112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"/>
                <a:gridCol w="530860"/>
                <a:gridCol w="5655945"/>
                <a:gridCol w="902334"/>
                <a:gridCol w="642620"/>
              </a:tblGrid>
              <a:tr h="172085">
                <a:tc gridSpan="3">
                  <a:txBody>
                    <a:bodyPr/>
                    <a:lstStyle/>
                    <a:p>
                      <a:pPr algn="ctr" marL="4445">
                        <a:lnSpc>
                          <a:spcPts val="670"/>
                        </a:lnSpc>
                      </a:pPr>
                      <a:r>
                        <a:rPr dirty="0" sz="700" b="1"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sz="700" spc="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7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50" b="1">
                          <a:latin typeface="Calibri"/>
                          <a:cs typeface="Calibri"/>
                        </a:rPr>
                        <a:t>C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670"/>
                        </a:lnSpc>
                      </a:pPr>
                      <a:r>
                        <a:rPr dirty="0" sz="700" spc="-25" b="1">
                          <a:latin typeface="Calibri"/>
                          <a:cs typeface="Calibri"/>
                        </a:rPr>
                        <a:t>CO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00" spc="-50">
                          <a:latin typeface="Calibri"/>
                          <a:cs typeface="Calibri"/>
                        </a:rPr>
                        <a:t>4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Answer</a:t>
                      </a:r>
                      <a:r>
                        <a:rPr dirty="0" sz="7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u="sng" sz="700" spc="4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7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7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thefollowing-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[5×10=50]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0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4-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590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4-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590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28575">
                        <a:lnSpc>
                          <a:spcPts val="59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5.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59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Answer</a:t>
                      </a:r>
                      <a:r>
                        <a:rPr dirty="0" sz="7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7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7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thefollowing-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5-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595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5-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595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6.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Answer</a:t>
                      </a:r>
                      <a:r>
                        <a:rPr dirty="0" sz="7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7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7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7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thefollowing-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6-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59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595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6-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8770">
                        <a:lnSpc>
                          <a:spcPts val="600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7.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Answer</a:t>
                      </a:r>
                      <a:r>
                        <a:rPr dirty="0" sz="7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7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7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7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thefollowing-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7-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605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7-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0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605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28575">
                        <a:lnSpc>
                          <a:spcPts val="61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8.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61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Answer</a:t>
                      </a:r>
                      <a:r>
                        <a:rPr dirty="0" sz="7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7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7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thefollowing-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10"/>
                        </a:lnSpc>
                      </a:pPr>
                      <a:r>
                        <a:rPr dirty="0" sz="700" spc="-10">
                          <a:latin typeface="Calibri"/>
                          <a:cs typeface="Calibri"/>
                        </a:rPr>
                        <a:t>8-</a:t>
                      </a:r>
                      <a:r>
                        <a:rPr dirty="0" sz="700" spc="-35">
                          <a:latin typeface="Calibri"/>
                          <a:cs typeface="Calibri"/>
                        </a:rPr>
                        <a:t>a.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10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610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1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8-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b.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15"/>
                        </a:lnSpc>
                      </a:pP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ts val="615"/>
                        </a:lnSpc>
                      </a:pPr>
                      <a:r>
                        <a:rPr dirty="0" sz="700" spc="-20">
                          <a:latin typeface="Calibri"/>
                          <a:cs typeface="Calibri"/>
                        </a:rPr>
                        <a:t>(10)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32280">
              <a:lnSpc>
                <a:spcPct val="100000"/>
              </a:lnSpc>
              <a:spcBef>
                <a:spcPts val="105"/>
              </a:spcBef>
            </a:pPr>
            <a:r>
              <a:rPr dirty="0"/>
              <a:t>Question</a:t>
            </a:r>
            <a:r>
              <a:rPr dirty="0" spc="-215"/>
              <a:t> </a:t>
            </a:r>
            <a:r>
              <a:rPr dirty="0"/>
              <a:t>Paper</a:t>
            </a:r>
            <a:r>
              <a:rPr dirty="0" spc="-60"/>
              <a:t> </a:t>
            </a:r>
            <a:r>
              <a:rPr dirty="0" spc="-20"/>
              <a:t>Template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1333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364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798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07254" y="61226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0452" y="0"/>
              <a:ext cx="781354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32280">
              <a:lnSpc>
                <a:spcPct val="100000"/>
              </a:lnSpc>
              <a:spcBef>
                <a:spcPts val="105"/>
              </a:spcBef>
            </a:pPr>
            <a:r>
              <a:rPr dirty="0"/>
              <a:t>Prerequisite</a:t>
            </a:r>
            <a:r>
              <a:rPr dirty="0" spc="90"/>
              <a:t> </a:t>
            </a:r>
            <a:r>
              <a:rPr dirty="0"/>
              <a:t>and</a:t>
            </a:r>
            <a:r>
              <a:rPr dirty="0" spc="70"/>
              <a:t> </a:t>
            </a:r>
            <a:r>
              <a:rPr dirty="0" spc="-10"/>
              <a:t>Recap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34085" y="1124788"/>
            <a:ext cx="8101965" cy="941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1790" marR="5080" indent="-33909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prerequisite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learning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scratch</a:t>
            </a:r>
            <a:r>
              <a:rPr dirty="0" sz="2000" spc="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although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having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basic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knowledge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discrete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mathematics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added 	advantage.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5344" y="2678049"/>
            <a:ext cx="63931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06575" algn="l"/>
                <a:tab pos="3265170" algn="l"/>
                <a:tab pos="4323080" algn="l"/>
                <a:tab pos="5648960" algn="l"/>
              </a:tabLst>
            </a:pPr>
            <a:r>
              <a:rPr dirty="0" sz="2000" spc="-10">
                <a:latin typeface="Calibri"/>
                <a:cs typeface="Calibri"/>
              </a:rPr>
              <a:t>DIFFERENCE,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AVERAGE,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MEAN,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MEDIAN,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MODE,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2444" y="2215362"/>
            <a:ext cx="7550150" cy="79375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2711450" algn="l"/>
                <a:tab pos="3216275" algn="l"/>
                <a:tab pos="4094479" algn="l"/>
                <a:tab pos="5963285" algn="l"/>
                <a:tab pos="6630670" algn="l"/>
                <a:tab pos="6973570" algn="l"/>
              </a:tabLst>
            </a:pPr>
            <a:r>
              <a:rPr dirty="0" sz="2000" spc="-20">
                <a:latin typeface="Calibri"/>
                <a:cs typeface="Calibri"/>
              </a:rPr>
              <a:t>Having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knowledge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of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basic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mathematics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like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SUM,</a:t>
            </a:r>
            <a:endParaRPr sz="2000">
              <a:latin typeface="Calibri"/>
              <a:cs typeface="Calibri"/>
            </a:endParaRPr>
          </a:p>
          <a:p>
            <a:pPr marL="7069455">
              <a:lnSpc>
                <a:spcPct val="100000"/>
              </a:lnSpc>
              <a:spcBef>
                <a:spcPts val="625"/>
              </a:spcBef>
            </a:pPr>
            <a:r>
              <a:rPr dirty="0" sz="2000" spc="-25">
                <a:latin typeface="Calibri"/>
                <a:cs typeface="Calibri"/>
              </a:rPr>
              <a:t>etc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51697" y="2678049"/>
            <a:ext cx="3721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latin typeface="Calibri"/>
                <a:cs typeface="Calibri"/>
              </a:rPr>
              <a:t>will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2444" y="2919845"/>
            <a:ext cx="7694930" cy="158940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695"/>
              </a:spcBef>
            </a:pPr>
            <a:r>
              <a:rPr dirty="0" sz="2000" spc="-10">
                <a:latin typeface="Calibri"/>
                <a:cs typeface="Calibri"/>
              </a:rPr>
              <a:t>definitely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plus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point.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Having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knowledge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Theory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help.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21000"/>
              </a:lnSpc>
              <a:spcBef>
                <a:spcPts val="5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proper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understanding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structures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(B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B+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trees)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help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understand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-10">
                <a:latin typeface="Calibri"/>
                <a:cs typeface="Calibri"/>
              </a:rPr>
              <a:t> quickly.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619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3650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084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35854" y="61226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0452" y="0"/>
              <a:ext cx="781354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777240">
              <a:lnSpc>
                <a:spcPct val="100000"/>
              </a:lnSpc>
              <a:spcBef>
                <a:spcPts val="105"/>
              </a:spcBef>
            </a:pPr>
            <a:r>
              <a:rPr dirty="0"/>
              <a:t>Brief</a:t>
            </a:r>
            <a:r>
              <a:rPr dirty="0" spc="-70"/>
              <a:t> </a:t>
            </a:r>
            <a:r>
              <a:rPr dirty="0"/>
              <a:t>Introduction</a:t>
            </a:r>
            <a:r>
              <a:rPr dirty="0" spc="-110"/>
              <a:t> </a:t>
            </a:r>
            <a:r>
              <a:rPr dirty="0"/>
              <a:t>about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Subject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599946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030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464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73854" y="64655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63016" y="1343406"/>
            <a:ext cx="7794625" cy="48437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7995" marR="5080" indent="-45529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(DBMS)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refers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technology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for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creating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managing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databases.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software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tool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organize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(create,</a:t>
            </a:r>
            <a:r>
              <a:rPr dirty="0" sz="2000" spc="-10">
                <a:latin typeface="Calibri"/>
                <a:cs typeface="Calibri"/>
              </a:rPr>
              <a:t> retrieve,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update,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manage)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algn="just" marL="467359" marR="6985" indent="-454659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aim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supply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way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retrieve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both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convenient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efficient.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facts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recorded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embedded 	meaning.</a:t>
            </a:r>
            <a:endParaRPr sz="2000">
              <a:latin typeface="Calibri"/>
              <a:cs typeface="Calibri"/>
            </a:endParaRPr>
          </a:p>
          <a:p>
            <a:pPr algn="just" marL="467359" marR="7620" indent="-454659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2000" spc="-30">
                <a:latin typeface="Calibri"/>
                <a:cs typeface="Calibri"/>
              </a:rPr>
              <a:t>Usually,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people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DBASE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IV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55">
                <a:latin typeface="Calibri"/>
                <a:cs typeface="Calibri"/>
              </a:rPr>
              <a:t>V,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Microsoft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ACCESS,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EXCEL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database.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datum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unit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3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Meaningful</a:t>
            </a:r>
            <a:r>
              <a:rPr dirty="0" sz="2000" spc="3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combined</a:t>
            </a:r>
            <a:r>
              <a:rPr dirty="0" sz="2000" spc="3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form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information.</a:t>
            </a:r>
            <a:r>
              <a:rPr dirty="0" sz="2000" spc="29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Hence,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interpreted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provided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semantics.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MS.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3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3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3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common</a:t>
            </a:r>
            <a:r>
              <a:rPr dirty="0" sz="2000" spc="3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examples</a:t>
            </a:r>
            <a:r>
              <a:rPr dirty="0" sz="2000" spc="3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35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database 	management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software.</a:t>
            </a:r>
            <a:endParaRPr sz="2000">
              <a:latin typeface="Calibri"/>
              <a:cs typeface="Calibri"/>
            </a:endParaRPr>
          </a:p>
          <a:p>
            <a:pPr algn="ctr" marR="5629910">
              <a:lnSpc>
                <a:spcPct val="100000"/>
              </a:lnSpc>
              <a:spcBef>
                <a:spcPts val="2410"/>
              </a:spcBef>
            </a:pPr>
            <a:r>
              <a:rPr dirty="0" sz="1800" b="1">
                <a:latin typeface="Calibri"/>
                <a:cs typeface="Calibri"/>
              </a:rPr>
              <a:t>Video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Link:</a:t>
            </a:r>
            <a:endParaRPr sz="1800">
              <a:latin typeface="Calibri"/>
              <a:cs typeface="Calibri"/>
            </a:endParaRPr>
          </a:p>
          <a:p>
            <a:pPr algn="ctr" marR="248285">
              <a:lnSpc>
                <a:spcPct val="100000"/>
              </a:lnSpc>
            </a:pPr>
            <a:r>
              <a:rPr dirty="0" u="sng" sz="18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www.youtube.com/watch?v=3EJlovevfcA&amp;t=436s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1889125">
              <a:lnSpc>
                <a:spcPct val="100000"/>
              </a:lnSpc>
              <a:spcBef>
                <a:spcPts val="100"/>
              </a:spcBef>
            </a:pPr>
            <a:r>
              <a:rPr dirty="0"/>
              <a:t>Content</a:t>
            </a:r>
            <a:r>
              <a:rPr dirty="0" spc="-125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Unit</a:t>
            </a:r>
            <a:r>
              <a:rPr dirty="0" spc="-50"/>
              <a:t> 1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2140" y="1632331"/>
            <a:ext cx="4272915" cy="69151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355600" marR="5080" indent="-342900">
              <a:lnSpc>
                <a:spcPct val="103299"/>
              </a:lnSpc>
              <a:spcBef>
                <a:spcPts val="10"/>
              </a:spcBef>
              <a:buFont typeface="Arial MT"/>
              <a:buChar char="•"/>
              <a:tabLst>
                <a:tab pos="355600" algn="l"/>
                <a:tab pos="1539875" algn="l"/>
                <a:tab pos="2039620" algn="l"/>
                <a:tab pos="2481580" algn="l"/>
                <a:tab pos="2569845" algn="l"/>
                <a:tab pos="2894330" algn="l"/>
                <a:tab pos="3424554" algn="l"/>
                <a:tab pos="3818254" algn="l"/>
              </a:tabLst>
            </a:pPr>
            <a:r>
              <a:rPr dirty="0" sz="2150" spc="-10">
                <a:latin typeface="Calibri"/>
                <a:cs typeface="Calibri"/>
              </a:rPr>
              <a:t>Introduction: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</a:t>
            </a:r>
            <a:r>
              <a:rPr dirty="0" sz="2150">
                <a:latin typeface="Calibri"/>
                <a:cs typeface="Calibri"/>
              </a:rPr>
              <a:t>		</a:t>
            </a:r>
            <a:r>
              <a:rPr dirty="0" sz="2150" spc="-10">
                <a:latin typeface="Calibri"/>
                <a:cs typeface="Calibri"/>
              </a:rPr>
              <a:t>overview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 </a:t>
            </a:r>
            <a:r>
              <a:rPr dirty="0" sz="2150" spc="-10">
                <a:latin typeface="Calibri"/>
                <a:cs typeface="Calibri"/>
              </a:rPr>
              <a:t>database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system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Vs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file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30">
                <a:latin typeface="Calibri"/>
                <a:cs typeface="Calibri"/>
              </a:rPr>
              <a:t>system,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67783" y="1632331"/>
            <a:ext cx="3830320" cy="69151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78435" marR="5080" indent="-166370">
              <a:lnSpc>
                <a:spcPct val="103299"/>
              </a:lnSpc>
              <a:spcBef>
                <a:spcPts val="10"/>
              </a:spcBef>
              <a:tabLst>
                <a:tab pos="1259205" algn="l"/>
                <a:tab pos="1393190" algn="l"/>
                <a:tab pos="2326005" algn="l"/>
                <a:tab pos="2972435" algn="l"/>
                <a:tab pos="3397250" algn="l"/>
              </a:tabLst>
            </a:pPr>
            <a:r>
              <a:rPr dirty="0" sz="2150" spc="-10">
                <a:latin typeface="Calibri"/>
                <a:cs typeface="Calibri"/>
              </a:rPr>
              <a:t>database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management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system, </a:t>
            </a:r>
            <a:r>
              <a:rPr dirty="0" sz="2150" spc="-10">
                <a:latin typeface="Calibri"/>
                <a:cs typeface="Calibri"/>
              </a:rPr>
              <a:t>Database</a:t>
            </a:r>
            <a:r>
              <a:rPr dirty="0" sz="2150">
                <a:latin typeface="Calibri"/>
                <a:cs typeface="Calibri"/>
              </a:rPr>
              <a:t>		</a:t>
            </a:r>
            <a:r>
              <a:rPr dirty="0" sz="2150" spc="-10">
                <a:latin typeface="Calibri"/>
                <a:cs typeface="Calibri"/>
              </a:rPr>
              <a:t>system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concept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55039" y="2307158"/>
            <a:ext cx="7737475" cy="102870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12700" marR="5080">
              <a:lnSpc>
                <a:spcPct val="103099"/>
              </a:lnSpc>
              <a:spcBef>
                <a:spcPts val="20"/>
              </a:spcBef>
            </a:pPr>
            <a:r>
              <a:rPr dirty="0" sz="2150">
                <a:latin typeface="Calibri"/>
                <a:cs typeface="Calibri"/>
              </a:rPr>
              <a:t>architecture,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model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instances,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independence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5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language</a:t>
            </a:r>
            <a:r>
              <a:rPr dirty="0" sz="2150" spc="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interfaces,</a:t>
            </a:r>
            <a:r>
              <a:rPr dirty="0" sz="2150" spc="5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5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definitions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language, </a:t>
            </a:r>
            <a:r>
              <a:rPr dirty="0" sz="2150" spc="-20">
                <a:latin typeface="Calibri"/>
                <a:cs typeface="Calibri"/>
              </a:rPr>
              <a:t>DML.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2140" y="3389757"/>
            <a:ext cx="795591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1051560" algn="l"/>
                <a:tab pos="2281555" algn="l"/>
                <a:tab pos="3034665" algn="l"/>
                <a:tab pos="3569335" algn="l"/>
                <a:tab pos="4389755" algn="l"/>
                <a:tab pos="5934075" algn="l"/>
                <a:tab pos="6897370" algn="l"/>
              </a:tabLst>
            </a:pPr>
            <a:r>
              <a:rPr dirty="0" sz="2150" spc="-20">
                <a:latin typeface="Calibri"/>
                <a:cs typeface="Calibri"/>
              </a:rPr>
              <a:t>Data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Modeling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using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Model:</a:t>
            </a:r>
            <a:r>
              <a:rPr dirty="0" sz="2150">
                <a:latin typeface="Calibri"/>
                <a:cs typeface="Calibri"/>
              </a:rPr>
              <a:t>	ER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5039" y="3594430"/>
            <a:ext cx="7738745" cy="159385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65"/>
              </a:spcBef>
            </a:pPr>
            <a:r>
              <a:rPr dirty="0" sz="2150">
                <a:latin typeface="Calibri"/>
                <a:cs typeface="Calibri"/>
              </a:rPr>
              <a:t>concepts,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notation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3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4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diagram,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mapping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constraints,</a:t>
            </a:r>
            <a:endParaRPr sz="2150">
              <a:latin typeface="Calibri"/>
              <a:cs typeface="Calibri"/>
            </a:endParaRPr>
          </a:p>
          <a:p>
            <a:pPr algn="just" marL="12700" marR="5080">
              <a:lnSpc>
                <a:spcPct val="101899"/>
              </a:lnSpc>
              <a:spcBef>
                <a:spcPts val="915"/>
              </a:spcBef>
            </a:pPr>
            <a:r>
              <a:rPr dirty="0" sz="2150">
                <a:latin typeface="Calibri"/>
                <a:cs typeface="Calibri"/>
              </a:rPr>
              <a:t>Concepts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Super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Key,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key,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key,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Generalization, </a:t>
            </a:r>
            <a:r>
              <a:rPr dirty="0" sz="2150">
                <a:latin typeface="Calibri"/>
                <a:cs typeface="Calibri"/>
              </a:rPr>
              <a:t>aggregation,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reduction</a:t>
            </a:r>
            <a:r>
              <a:rPr dirty="0" sz="2150" spc="5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diagrams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tables,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extended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ER </a:t>
            </a:r>
            <a:r>
              <a:rPr dirty="0" sz="2150">
                <a:latin typeface="Calibri"/>
                <a:cs typeface="Calibri"/>
              </a:rPr>
              <a:t>model,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higher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degree.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2095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126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7560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683454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1889125">
              <a:lnSpc>
                <a:spcPct val="100000"/>
              </a:lnSpc>
              <a:spcBef>
                <a:spcPts val="100"/>
              </a:spcBef>
            </a:pPr>
            <a:r>
              <a:rPr dirty="0"/>
              <a:t>Unit</a:t>
            </a:r>
            <a:r>
              <a:rPr dirty="0" spc="-90"/>
              <a:t> </a:t>
            </a:r>
            <a:r>
              <a:rPr dirty="0" spc="-10"/>
              <a:t>Objective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834948" y="1487551"/>
            <a:ext cx="7505700" cy="3974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4965" algn="l"/>
                <a:tab pos="887094" algn="l"/>
                <a:tab pos="1558290" algn="l"/>
                <a:tab pos="2733040" algn="l"/>
                <a:tab pos="3093085" algn="l"/>
                <a:tab pos="4178300" algn="l"/>
                <a:tab pos="5696585" algn="l"/>
                <a:tab pos="6551295" algn="l"/>
                <a:tab pos="7032625" algn="l"/>
              </a:tabLst>
            </a:pPr>
            <a:r>
              <a:rPr dirty="0" sz="2000" spc="-25">
                <a:latin typeface="Calibri"/>
                <a:cs typeface="Calibri"/>
              </a:rPr>
              <a:t>The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main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objectives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of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management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are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spc="-40">
                <a:latin typeface="Calibri"/>
                <a:cs typeface="Calibri"/>
              </a:rPr>
              <a:t>availability,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40">
                <a:latin typeface="Calibri"/>
                <a:cs typeface="Calibri"/>
              </a:rPr>
              <a:t>integrity,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security,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independence.</a:t>
            </a:r>
            <a:endParaRPr sz="2000">
              <a:latin typeface="Calibri"/>
              <a:cs typeface="Calibri"/>
            </a:endParaRPr>
          </a:p>
          <a:p>
            <a:pPr algn="just" marL="353695" marR="5080" indent="-340995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stands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Language.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DML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stands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Manipulation</a:t>
            </a:r>
            <a:r>
              <a:rPr dirty="0" sz="2000" spc="3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Language.</a:t>
            </a:r>
            <a:r>
              <a:rPr dirty="0" sz="2000" spc="3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3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statements</a:t>
            </a:r>
            <a:r>
              <a:rPr dirty="0" sz="2000" spc="3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3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3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25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create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database,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schema,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constraints,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users,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etc.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DML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statement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insert,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update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delete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records.</a:t>
            </a:r>
            <a:endParaRPr sz="2000">
              <a:latin typeface="Calibri"/>
              <a:cs typeface="Calibri"/>
            </a:endParaRPr>
          </a:p>
          <a:p>
            <a:pPr algn="just" marL="353695" marR="6350" indent="-340995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ER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diagrams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4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analyze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existing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databases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resolve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problems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logic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deployment.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Drawing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4">
                <a:latin typeface="Calibri"/>
                <a:cs typeface="Calibri"/>
              </a:rPr>
              <a:t>   </a:t>
            </a:r>
            <a:r>
              <a:rPr dirty="0" sz="2000" spc="-10">
                <a:latin typeface="Calibri"/>
                <a:cs typeface="Calibri"/>
              </a:rPr>
              <a:t>diagram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reveal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it's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going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wrong.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systems: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diagrams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analyze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relational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databases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905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936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70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64454" y="61988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87451" y="1380870"/>
            <a:ext cx="7915909" cy="3162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766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000" b="1">
                <a:latin typeface="Calibri"/>
                <a:cs typeface="Calibri"/>
              </a:rPr>
              <a:t>What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Data?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: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raw</a:t>
            </a:r>
            <a:r>
              <a:rPr dirty="0" sz="2000" spc="-5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facts</a:t>
            </a:r>
            <a:r>
              <a:rPr dirty="0" sz="2000" spc="-4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figures.</a:t>
            </a:r>
            <a:r>
              <a:rPr dirty="0" sz="20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dirty="0" sz="20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represented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dirty="0" sz="2000" spc="-4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help</a:t>
            </a:r>
            <a:r>
              <a:rPr dirty="0" sz="20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of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characters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like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alphabets(A-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Z),</a:t>
            </a:r>
            <a:r>
              <a:rPr dirty="0" sz="2000" spc="-2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digits(0-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9)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special</a:t>
            </a:r>
            <a:r>
              <a:rPr dirty="0" sz="2000" spc="-3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characters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(+,-,/,*,&lt;,&gt;,= etc.)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Example</a:t>
            </a:r>
            <a:r>
              <a:rPr dirty="0" sz="2000" spc="-3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r>
              <a:rPr dirty="0" sz="2000" spc="409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26</a:t>
            </a:r>
            <a:r>
              <a:rPr dirty="0" sz="2000" spc="-2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,</a:t>
            </a:r>
            <a:r>
              <a:rPr dirty="0" sz="2000" spc="-1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AF50"/>
                </a:solidFill>
                <a:latin typeface="Calibri"/>
                <a:cs typeface="Calibri"/>
              </a:rPr>
              <a:t>Rohit,</a:t>
            </a:r>
            <a:endParaRPr sz="2000">
              <a:latin typeface="Calibri"/>
              <a:cs typeface="Calibri"/>
            </a:endParaRPr>
          </a:p>
          <a:p>
            <a:pPr marL="367665" indent="-3429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000" b="1">
                <a:latin typeface="Calibri"/>
                <a:cs typeface="Calibri"/>
              </a:rPr>
              <a:t>What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Information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r>
              <a:rPr dirty="0" sz="2000" spc="37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Processed</a:t>
            </a:r>
            <a:r>
              <a:rPr dirty="0" sz="2000" spc="-2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dirty="0" sz="2000" spc="-3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called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information.</a:t>
            </a:r>
            <a:endParaRPr sz="2000">
              <a:latin typeface="Calibri"/>
              <a:cs typeface="Calibri"/>
            </a:endParaRPr>
          </a:p>
          <a:p>
            <a:pPr marL="12700" marR="449580" indent="55880">
              <a:lnSpc>
                <a:spcPct val="100000"/>
              </a:lnSpc>
            </a:pPr>
            <a:r>
              <a:rPr dirty="0" sz="2000" b="1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dirty="0" sz="2000" spc="400" b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dirty="0" sz="2000" spc="39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dirty="0" sz="2000" spc="-3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set</a:t>
            </a:r>
            <a:r>
              <a:rPr dirty="0" sz="2000" spc="-1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dirty="0" sz="20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organized</a:t>
            </a:r>
            <a:r>
              <a:rPr dirty="0" sz="20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dirty="0" sz="2000" spc="-2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classified</a:t>
            </a:r>
            <a:r>
              <a:rPr dirty="0" sz="2000" spc="-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dirty="0" sz="2000" spc="-2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so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dirty="0" sz="20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6F2F9F"/>
                </a:solidFill>
                <a:latin typeface="Calibri"/>
                <a:cs typeface="Calibri"/>
              </a:rPr>
              <a:t>some</a:t>
            </a:r>
            <a:r>
              <a:rPr dirty="0" sz="2000" spc="-2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6F2F9F"/>
                </a:solidFill>
                <a:latin typeface="Calibri"/>
                <a:cs typeface="Calibri"/>
              </a:rPr>
              <a:t>meaningful values.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Example</a:t>
            </a:r>
            <a:r>
              <a:rPr dirty="0" sz="2000" spc="-4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r>
              <a:rPr dirty="0" sz="2000" spc="39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Age</a:t>
            </a:r>
            <a:r>
              <a:rPr dirty="0" sz="2000" spc="-1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26</a:t>
            </a:r>
            <a:r>
              <a:rPr dirty="0" sz="2000" spc="38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dirty="0" sz="2000" spc="-4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information,</a:t>
            </a:r>
            <a:r>
              <a:rPr dirty="0" sz="2000" spc="37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Name</a:t>
            </a:r>
            <a:r>
              <a:rPr dirty="0" sz="2000" spc="-5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dirty="0" sz="2000" spc="-3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Person</a:t>
            </a:r>
            <a:r>
              <a:rPr dirty="0" sz="2000" spc="-3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dirty="0" sz="2000" spc="-2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AF50"/>
                </a:solidFill>
                <a:latin typeface="Calibri"/>
                <a:cs typeface="Calibri"/>
              </a:rPr>
              <a:t>Rohit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22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1755139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 spc="-10"/>
              <a:t>Information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4381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12054" y="60464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18764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Database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130604" y="1119764"/>
            <a:ext cx="7874634" cy="3342004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423545" indent="-39878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423545" algn="l"/>
              </a:tabLst>
            </a:pPr>
            <a:r>
              <a:rPr dirty="0" sz="2000" b="1">
                <a:latin typeface="Calibri"/>
                <a:cs typeface="Calibri"/>
              </a:rPr>
              <a:t>What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Database?</a:t>
            </a:r>
            <a:endParaRPr sz="2000">
              <a:latin typeface="Calibri"/>
              <a:cs typeface="Calibri"/>
            </a:endParaRPr>
          </a:p>
          <a:p>
            <a:pPr marL="367665" marR="327660" indent="-3429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term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‘Database’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made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separate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words,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i.e.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base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base</a:t>
            </a:r>
            <a:r>
              <a:rPr dirty="0" sz="20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20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67665" marR="142875" indent="-3429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collection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retrieve, </a:t>
            </a:r>
            <a:r>
              <a:rPr dirty="0" sz="2000">
                <a:latin typeface="Calibri"/>
                <a:cs typeface="Calibri"/>
              </a:rPr>
              <a:t>insert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efficiently.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organize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report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329565" marR="780415" indent="-3175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actually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piece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operations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performed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college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organizes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admin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staff, </a:t>
            </a:r>
            <a:r>
              <a:rPr dirty="0" sz="2000">
                <a:latin typeface="Calibri"/>
                <a:cs typeface="Calibri"/>
              </a:rPr>
              <a:t>student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faculty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571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02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036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31054" y="61988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dirty="0" spc="-75"/>
              <a:t> </a:t>
            </a:r>
            <a:r>
              <a:rPr dirty="0"/>
              <a:t>Management</a:t>
            </a:r>
            <a:r>
              <a:rPr dirty="0" spc="-55"/>
              <a:t> </a:t>
            </a:r>
            <a:r>
              <a:rPr dirty="0" spc="-10"/>
              <a:t>System(DBMS)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130604" y="1207973"/>
            <a:ext cx="7876540" cy="3990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collection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17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enables</a:t>
            </a:r>
            <a:endParaRPr sz="20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create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maintain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algn="just" marL="12700" marR="5715" indent="34226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general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purpose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10">
                <a:latin typeface="Calibri"/>
                <a:cs typeface="Calibri"/>
              </a:rPr>
              <a:t> system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10">
                <a:latin typeface="Calibri"/>
                <a:cs typeface="Calibri"/>
              </a:rPr>
              <a:t> facilitate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i="1">
                <a:solidFill>
                  <a:srgbClr val="001F5F"/>
                </a:solidFill>
                <a:latin typeface="Calibri"/>
                <a:cs typeface="Calibri"/>
              </a:rPr>
              <a:t>defining</a:t>
            </a:r>
            <a:r>
              <a:rPr dirty="0" sz="2000" spc="90" i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,</a:t>
            </a:r>
            <a:r>
              <a:rPr dirty="0" sz="2000" spc="110" i="1"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001F5F"/>
                </a:solidFill>
                <a:latin typeface="Calibri"/>
                <a:cs typeface="Calibri"/>
              </a:rPr>
              <a:t>constructing</a:t>
            </a:r>
            <a:r>
              <a:rPr dirty="0" sz="2000" spc="105" i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001F5F"/>
                </a:solidFill>
                <a:latin typeface="Calibri"/>
                <a:cs typeface="Calibri"/>
              </a:rPr>
              <a:t>,</a:t>
            </a:r>
            <a:r>
              <a:rPr dirty="0" sz="2000" spc="95" i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001F5F"/>
                </a:solidFill>
                <a:latin typeface="Calibri"/>
                <a:cs typeface="Calibri"/>
              </a:rPr>
              <a:t>manipulating</a:t>
            </a:r>
            <a:r>
              <a:rPr dirty="0" sz="2000" spc="90" i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dirty="0" sz="2000" spc="100" i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001F5F"/>
                </a:solidFill>
                <a:latin typeface="Calibri"/>
                <a:cs typeface="Calibri"/>
              </a:rPr>
              <a:t>sharing</a:t>
            </a:r>
            <a:r>
              <a:rPr dirty="0" sz="2000" spc="110" i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among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various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applications.</a:t>
            </a:r>
            <a:endParaRPr sz="2000">
              <a:latin typeface="Calibri"/>
              <a:cs typeface="Calibri"/>
            </a:endParaRPr>
          </a:p>
          <a:p>
            <a:pPr marL="238760" indent="-233045">
              <a:lnSpc>
                <a:spcPct val="100000"/>
              </a:lnSpc>
              <a:buSzPct val="92500"/>
              <a:buFont typeface="Wingdings"/>
              <a:buChar char=""/>
              <a:tabLst>
                <a:tab pos="238760" algn="l"/>
              </a:tabLst>
            </a:pPr>
            <a:r>
              <a:rPr dirty="0" sz="2000" b="1">
                <a:solidFill>
                  <a:srgbClr val="001F5F"/>
                </a:solidFill>
                <a:latin typeface="Calibri"/>
                <a:cs typeface="Calibri"/>
              </a:rPr>
              <a:t>Defining</a:t>
            </a:r>
            <a:r>
              <a:rPr dirty="0" sz="2000" spc="30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involves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specifying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types,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structures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constraints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12700" marR="5080" indent="-6985">
              <a:lnSpc>
                <a:spcPct val="100000"/>
              </a:lnSpc>
              <a:buSzPct val="92500"/>
              <a:buFont typeface="Wingdings"/>
              <a:buChar char=""/>
              <a:tabLst>
                <a:tab pos="239395" algn="l"/>
              </a:tabLst>
            </a:pPr>
            <a:r>
              <a:rPr dirty="0" sz="2000" b="1">
                <a:solidFill>
                  <a:srgbClr val="001F5F"/>
                </a:solidFill>
                <a:latin typeface="Calibri"/>
                <a:cs typeface="Calibri"/>
              </a:rPr>
              <a:t>	</a:t>
            </a:r>
            <a:r>
              <a:rPr dirty="0" sz="2000" b="1">
                <a:solidFill>
                  <a:srgbClr val="001F5F"/>
                </a:solidFill>
                <a:latin typeface="Calibri"/>
                <a:cs typeface="Calibri"/>
              </a:rPr>
              <a:t>Constructing</a:t>
            </a:r>
            <a:r>
              <a:rPr dirty="0" sz="2000" spc="35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storing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itself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medium.</a:t>
            </a:r>
            <a:endParaRPr sz="2000">
              <a:latin typeface="Calibri"/>
              <a:cs typeface="Calibri"/>
            </a:endParaRPr>
          </a:p>
          <a:p>
            <a:pPr marL="239395" indent="-233679">
              <a:lnSpc>
                <a:spcPct val="100000"/>
              </a:lnSpc>
              <a:buSzPct val="92500"/>
              <a:buFont typeface="Wingdings"/>
              <a:buChar char=""/>
              <a:tabLst>
                <a:tab pos="239395" algn="l"/>
              </a:tabLst>
            </a:pPr>
            <a:r>
              <a:rPr dirty="0" sz="2000" b="1">
                <a:solidFill>
                  <a:srgbClr val="001F5F"/>
                </a:solidFill>
                <a:latin typeface="Calibri"/>
                <a:cs typeface="Calibri"/>
              </a:rPr>
              <a:t>Manipulating</a:t>
            </a:r>
            <a:r>
              <a:rPr dirty="0" sz="2000" spc="1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includes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querying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retrieve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information,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generating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report.</a:t>
            </a:r>
            <a:endParaRPr sz="2000">
              <a:latin typeface="Calibri"/>
              <a:cs typeface="Calibri"/>
            </a:endParaRPr>
          </a:p>
          <a:p>
            <a:pPr marL="12700" marR="5715" indent="-6985">
              <a:lnSpc>
                <a:spcPct val="100000"/>
              </a:lnSpc>
              <a:spcBef>
                <a:spcPts val="5"/>
              </a:spcBef>
              <a:buSzPct val="92500"/>
              <a:buFont typeface="Wingdings"/>
              <a:buChar char=""/>
              <a:tabLst>
                <a:tab pos="239395" algn="l"/>
              </a:tabLst>
            </a:pPr>
            <a:r>
              <a:rPr dirty="0" sz="2000" b="1">
                <a:solidFill>
                  <a:srgbClr val="1F487C"/>
                </a:solidFill>
                <a:latin typeface="Calibri"/>
                <a:cs typeface="Calibri"/>
              </a:rPr>
              <a:t>	</a:t>
            </a:r>
            <a:r>
              <a:rPr dirty="0" sz="2000" b="1">
                <a:solidFill>
                  <a:srgbClr val="1F487C"/>
                </a:solidFill>
                <a:latin typeface="Calibri"/>
                <a:cs typeface="Calibri"/>
              </a:rPr>
              <a:t>S</a:t>
            </a:r>
            <a:r>
              <a:rPr dirty="0" sz="2000" b="1">
                <a:solidFill>
                  <a:srgbClr val="001F5F"/>
                </a:solidFill>
                <a:latin typeface="Calibri"/>
                <a:cs typeface="Calibri"/>
              </a:rPr>
              <a:t>haring</a:t>
            </a:r>
            <a:r>
              <a:rPr dirty="0" sz="2000" spc="37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concurrently.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285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316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750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302454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187642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20"/>
              <a:t> </a:t>
            </a:r>
            <a:r>
              <a:rPr dirty="0"/>
              <a:t>is</a:t>
            </a:r>
            <a:r>
              <a:rPr dirty="0" spc="20"/>
              <a:t> </a:t>
            </a:r>
            <a:r>
              <a:rPr dirty="0" spc="-20"/>
              <a:t>DBMS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99643" y="1293088"/>
            <a:ext cx="5588635" cy="157416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very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large,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integrated </a:t>
            </a:r>
            <a:r>
              <a:rPr dirty="0" sz="2000">
                <a:latin typeface="Calibri"/>
                <a:cs typeface="Calibri"/>
              </a:rPr>
              <a:t>collection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related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Models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real-</a:t>
            </a:r>
            <a:r>
              <a:rPr dirty="0" sz="2000">
                <a:latin typeface="Calibri"/>
                <a:cs typeface="Calibri"/>
              </a:rPr>
              <a:t>world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u="heavy" sz="20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enterprise.</a:t>
            </a:r>
            <a:endParaRPr sz="2000">
              <a:latin typeface="Calibri"/>
              <a:cs typeface="Calibri"/>
            </a:endParaRPr>
          </a:p>
          <a:p>
            <a:pPr lvl="1" marL="822960" indent="-353695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–"/>
              <a:tabLst>
                <a:tab pos="822960" algn="l"/>
              </a:tabLst>
            </a:pP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(e.g.,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students,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courses)</a:t>
            </a:r>
            <a:endParaRPr sz="2000">
              <a:latin typeface="Calibri"/>
              <a:cs typeface="Calibri"/>
            </a:endParaRPr>
          </a:p>
          <a:p>
            <a:pPr lvl="1" marL="822960" indent="-353695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–"/>
              <a:tabLst>
                <a:tab pos="822960" algn="l"/>
              </a:tabLst>
            </a:pPr>
            <a:r>
              <a:rPr dirty="0" sz="2000">
                <a:latin typeface="Calibri"/>
                <a:cs typeface="Calibri"/>
              </a:rPr>
              <a:t>Relationships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(e.g.,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Madonna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CS564)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9643" y="2916758"/>
            <a:ext cx="6950075" cy="10312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650875" algn="l"/>
                <a:tab pos="1862455" algn="l"/>
                <a:tab pos="3531870" algn="l"/>
                <a:tab pos="5447665" algn="l"/>
                <a:tab pos="5754370" algn="l"/>
                <a:tab pos="6021070" algn="l"/>
              </a:tabLst>
            </a:pP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u="heavy" sz="20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Database</a:t>
            </a:r>
            <a:r>
              <a:rPr dirty="0" u="heavy" sz="20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dirty="0" u="heavy" sz="20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</a:t>
            </a:r>
            <a:r>
              <a:rPr dirty="0" u="heavy" sz="20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System</a:t>
            </a:r>
            <a:r>
              <a:rPr dirty="0" u="heavy" sz="2000" spc="37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(DBMS)</a:t>
            </a: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is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software</a:t>
            </a:r>
            <a:endParaRPr sz="20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10"/>
              </a:spcBef>
            </a:pPr>
            <a:r>
              <a:rPr dirty="0" sz="2000">
                <a:latin typeface="Calibri"/>
                <a:cs typeface="Calibri"/>
              </a:rPr>
              <a:t>designed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define,construct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manipulate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System=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733156" y="2916758"/>
            <a:ext cx="8750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Calibri"/>
                <a:cs typeface="Calibri"/>
              </a:rPr>
              <a:t>package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857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888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322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59654" y="60464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DBMS</a:t>
            </a:r>
            <a:r>
              <a:rPr dirty="0" spc="-20"/>
              <a:t> </a:t>
            </a:r>
            <a:r>
              <a:rPr dirty="0" spc="-10"/>
              <a:t>Software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451" y="1380870"/>
            <a:ext cx="8117840" cy="940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package/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facilitate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creation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maintenance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 spc="-10">
                <a:latin typeface="Calibri"/>
                <a:cs typeface="Calibri"/>
              </a:rPr>
              <a:t>computerized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Calibri"/>
                <a:cs typeface="Calibri"/>
              </a:rPr>
              <a:t>Example</a:t>
            </a:r>
            <a:r>
              <a:rPr dirty="0" sz="2000" spc="-10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50" b="1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2438400"/>
            <a:ext cx="7620000" cy="374446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4381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412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846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12054" y="64655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100"/>
              </a:spcBef>
            </a:pPr>
            <a:r>
              <a:rPr dirty="0"/>
              <a:t>Need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Database</a:t>
            </a:r>
            <a:r>
              <a:rPr dirty="0" spc="-60"/>
              <a:t> </a:t>
            </a:r>
            <a:r>
              <a:rPr dirty="0"/>
              <a:t>Management</a:t>
            </a:r>
            <a:r>
              <a:rPr dirty="0" spc="-45"/>
              <a:t> </a:t>
            </a:r>
            <a:r>
              <a:rPr dirty="0" spc="-10"/>
              <a:t>System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6761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6792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22688" y="6236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50054" y="62369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2364994" y="2708224"/>
            <a:ext cx="1160145" cy="1398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4F81BC"/>
                </a:solidFill>
                <a:latin typeface="Calibri"/>
                <a:cs typeface="Calibri"/>
              </a:rPr>
              <a:t>Data </a:t>
            </a:r>
            <a:r>
              <a:rPr dirty="0" sz="1800" spc="-10" b="1">
                <a:solidFill>
                  <a:srgbClr val="4F81BC"/>
                </a:solidFill>
                <a:latin typeface="Calibri"/>
                <a:cs typeface="Calibri"/>
              </a:rPr>
              <a:t>Information Knowledge Judgment Decision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08828" y="2708224"/>
            <a:ext cx="1160780" cy="1398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F81BC"/>
                </a:solidFill>
                <a:latin typeface="Calibri"/>
                <a:cs typeface="Calibri"/>
              </a:rPr>
              <a:t>Information Knowledge Judgment Decision Success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64994" y="4362069"/>
            <a:ext cx="2050414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F81BC"/>
                </a:solidFill>
                <a:latin typeface="Calibri"/>
                <a:cs typeface="Calibri"/>
              </a:rPr>
              <a:t>provided</a:t>
            </a:r>
            <a:r>
              <a:rPr dirty="0" sz="1800" spc="-7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F81BC"/>
                </a:solidFill>
                <a:latin typeface="Calibri"/>
                <a:cs typeface="Calibri"/>
              </a:rPr>
              <a:t>that</a:t>
            </a:r>
            <a:r>
              <a:rPr dirty="0" sz="1800" spc="-3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F81BC"/>
                </a:solidFill>
                <a:latin typeface="Calibri"/>
                <a:cs typeface="Calibri"/>
              </a:rPr>
              <a:t>data</a:t>
            </a:r>
            <a:r>
              <a:rPr dirty="0" sz="1800" spc="-5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4F81BC"/>
                </a:solidFill>
                <a:latin typeface="Calibri"/>
                <a:cs typeface="Calibri"/>
              </a:rPr>
              <a:t>is:</a:t>
            </a:r>
            <a:endParaRPr sz="1800">
              <a:latin typeface="Calibri"/>
              <a:cs typeface="Calibri"/>
            </a:endParaRPr>
          </a:p>
          <a:p>
            <a:pPr marL="126364" indent="-120650">
              <a:lnSpc>
                <a:spcPct val="100000"/>
              </a:lnSpc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dirty="0" sz="1800" spc="-10" b="1">
                <a:solidFill>
                  <a:srgbClr val="C0504D"/>
                </a:solidFill>
                <a:latin typeface="Calibri"/>
                <a:cs typeface="Calibri"/>
              </a:rPr>
              <a:t>complete</a:t>
            </a:r>
            <a:endParaRPr sz="1800">
              <a:latin typeface="Calibri"/>
              <a:cs typeface="Calibri"/>
            </a:endParaRPr>
          </a:p>
          <a:p>
            <a:pPr marL="126364" indent="-120650">
              <a:lnSpc>
                <a:spcPct val="100000"/>
              </a:lnSpc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dirty="0" sz="1800" spc="-10" b="1">
                <a:solidFill>
                  <a:srgbClr val="C0504D"/>
                </a:solidFill>
                <a:latin typeface="Calibri"/>
                <a:cs typeface="Calibri"/>
              </a:rPr>
              <a:t>accurate</a:t>
            </a:r>
            <a:endParaRPr sz="1800">
              <a:latin typeface="Calibri"/>
              <a:cs typeface="Calibri"/>
            </a:endParaRPr>
          </a:p>
          <a:p>
            <a:pPr marL="126364" indent="-120650">
              <a:lnSpc>
                <a:spcPct val="100000"/>
              </a:lnSpc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dirty="0" sz="1800" spc="-10" b="1">
                <a:solidFill>
                  <a:srgbClr val="C0504D"/>
                </a:solidFill>
                <a:latin typeface="Calibri"/>
                <a:cs typeface="Calibri"/>
              </a:rPr>
              <a:t>timely</a:t>
            </a:r>
            <a:endParaRPr sz="1800">
              <a:latin typeface="Calibri"/>
              <a:cs typeface="Calibri"/>
            </a:endParaRPr>
          </a:p>
          <a:p>
            <a:pPr marL="126364" indent="-120650">
              <a:lnSpc>
                <a:spcPct val="100000"/>
              </a:lnSpc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dirty="0" sz="1800" b="1">
                <a:solidFill>
                  <a:srgbClr val="C0504D"/>
                </a:solidFill>
                <a:latin typeface="Calibri"/>
                <a:cs typeface="Calibri"/>
              </a:rPr>
              <a:t>easily</a:t>
            </a:r>
            <a:r>
              <a:rPr dirty="0" sz="1800" spc="-35" b="1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C0504D"/>
                </a:solidFill>
                <a:latin typeface="Calibri"/>
                <a:cs typeface="Calibri"/>
              </a:rPr>
              <a:t>available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35985" y="1388110"/>
            <a:ext cx="441325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6F2F9F"/>
                </a:solidFill>
                <a:latin typeface="Calibri"/>
                <a:cs typeface="Calibri"/>
              </a:rPr>
              <a:t>Good</a:t>
            </a:r>
            <a:r>
              <a:rPr dirty="0" sz="22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dirty="0" sz="22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6F2F9F"/>
                </a:solidFill>
                <a:latin typeface="Calibri"/>
                <a:cs typeface="Calibri"/>
              </a:rPr>
              <a:t>management</a:t>
            </a:r>
            <a:r>
              <a:rPr dirty="0" sz="2200" spc="-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dirty="0" sz="22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dirty="0" sz="22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6F2F9F"/>
                </a:solidFill>
                <a:latin typeface="Calibri"/>
                <a:cs typeface="Calibri"/>
              </a:rPr>
              <a:t>essential</a:t>
            </a:r>
            <a:endParaRPr sz="22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2200" spc="-10">
                <a:solidFill>
                  <a:srgbClr val="6F2F9F"/>
                </a:solidFill>
                <a:latin typeface="Calibri"/>
                <a:cs typeface="Calibri"/>
              </a:rPr>
              <a:t>prerequisite</a:t>
            </a:r>
            <a:r>
              <a:rPr dirty="0" sz="2200" spc="-6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dirty="0" sz="22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6F2F9F"/>
                </a:solidFill>
                <a:latin typeface="Calibri"/>
                <a:cs typeface="Calibri"/>
              </a:rPr>
              <a:t>corporate</a:t>
            </a:r>
            <a:r>
              <a:rPr dirty="0" sz="2200" spc="-5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6F2F9F"/>
                </a:solidFill>
                <a:latin typeface="Calibri"/>
                <a:cs typeface="Calibri"/>
              </a:rPr>
              <a:t>success.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187642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35"/>
              <a:t> </a:t>
            </a:r>
            <a:r>
              <a:rPr dirty="0"/>
              <a:t>use</a:t>
            </a:r>
            <a:r>
              <a:rPr dirty="0" spc="55"/>
              <a:t> </a:t>
            </a:r>
            <a:r>
              <a:rPr dirty="0" spc="-20"/>
              <a:t>DBMS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9047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078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512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3786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338199" y="1730476"/>
            <a:ext cx="4753610" cy="1955164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independence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efficient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access.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Reduced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development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integrity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security.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Uniform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administration.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Concurrent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access,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recovery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10">
                <a:latin typeface="Calibri"/>
                <a:cs typeface="Calibri"/>
              </a:rPr>
              <a:t> crashes.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207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maintain</a:t>
            </a:r>
            <a:r>
              <a:rPr dirty="0" spc="-35"/>
              <a:t> </a:t>
            </a:r>
            <a:r>
              <a:rPr dirty="0"/>
              <a:t>database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real</a:t>
            </a:r>
            <a:r>
              <a:rPr dirty="0" spc="-20"/>
              <a:t> life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857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888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322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59654" y="64655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49300" y="1207973"/>
            <a:ext cx="7796530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Database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real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life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maintained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two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ways</a:t>
            </a:r>
            <a:endParaRPr sz="2000">
              <a:latin typeface="Calibri"/>
              <a:cs typeface="Calibri"/>
            </a:endParaRPr>
          </a:p>
          <a:p>
            <a:pPr marL="266065" indent="-253365">
              <a:lnSpc>
                <a:spcPct val="100000"/>
              </a:lnSpc>
              <a:spcBef>
                <a:spcPts val="2405"/>
              </a:spcBef>
              <a:buAutoNum type="arabicPeriod"/>
              <a:tabLst>
                <a:tab pos="266065" algn="l"/>
              </a:tabLst>
            </a:pPr>
            <a:r>
              <a:rPr dirty="0" sz="2000" b="1">
                <a:latin typeface="Calibri"/>
                <a:cs typeface="Calibri"/>
              </a:rPr>
              <a:t>Manually</a:t>
            </a:r>
            <a:r>
              <a:rPr dirty="0" sz="2000">
                <a:latin typeface="Calibri"/>
                <a:cs typeface="Calibri"/>
              </a:rPr>
              <a:t>:-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Human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Register,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paper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273685" indent="-260985">
              <a:lnSpc>
                <a:spcPct val="100000"/>
              </a:lnSpc>
              <a:spcBef>
                <a:spcPts val="2400"/>
              </a:spcBef>
              <a:buAutoNum type="arabicPeriod"/>
              <a:tabLst>
                <a:tab pos="273685" algn="l"/>
                <a:tab pos="1707514" algn="l"/>
              </a:tabLst>
            </a:pPr>
            <a:r>
              <a:rPr dirty="0" sz="2000" b="1">
                <a:latin typeface="Calibri"/>
                <a:cs typeface="Calibri"/>
              </a:rPr>
              <a:t>Automatic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:-</a:t>
            </a:r>
            <a:r>
              <a:rPr dirty="0" sz="2000">
                <a:latin typeface="Calibri"/>
                <a:cs typeface="Calibri"/>
              </a:rPr>
              <a:t>	By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Computerized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Spread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sheet,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Flat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system,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tools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 sz="2000" b="1">
                <a:latin typeface="Calibri"/>
                <a:cs typeface="Calibri"/>
              </a:rPr>
              <a:t>Example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:-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Student,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University,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Company,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Government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86840">
              <a:lnSpc>
                <a:spcPct val="100000"/>
              </a:lnSpc>
              <a:spcBef>
                <a:spcPts val="100"/>
              </a:spcBef>
            </a:pPr>
            <a:r>
              <a:rPr dirty="0"/>
              <a:t>Purpose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Database</a:t>
            </a:r>
            <a:r>
              <a:rPr dirty="0" spc="-160"/>
              <a:t> </a:t>
            </a:r>
            <a:r>
              <a:rPr dirty="0" spc="-10"/>
              <a:t>Systems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962100"/>
            <a:ext cx="8070850" cy="5057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290" marR="72390" indent="-276225">
              <a:lnSpc>
                <a:spcPct val="105100"/>
              </a:lnSpc>
              <a:spcBef>
                <a:spcPts val="100"/>
              </a:spcBef>
              <a:buClr>
                <a:srgbClr val="9BB957"/>
              </a:buClr>
              <a:buFont typeface="Segoe UI Symbol"/>
              <a:buChar char="⚫"/>
              <a:tabLst>
                <a:tab pos="28956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early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days,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applications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were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built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directly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top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of </a:t>
            </a:r>
            <a:r>
              <a:rPr dirty="0" sz="2150" spc="-25">
                <a:latin typeface="Calibri"/>
                <a:cs typeface="Calibri"/>
              </a:rPr>
              <a:t>	</a:t>
            </a:r>
            <a:r>
              <a:rPr dirty="0" sz="2150">
                <a:latin typeface="Calibri"/>
                <a:cs typeface="Calibri"/>
              </a:rPr>
              <a:t>file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systems</a:t>
            </a:r>
            <a:endParaRPr sz="2150">
              <a:latin typeface="Calibri"/>
              <a:cs typeface="Calibri"/>
            </a:endParaRPr>
          </a:p>
          <a:p>
            <a:pPr marL="288925" indent="-276225">
              <a:lnSpc>
                <a:spcPct val="100000"/>
              </a:lnSpc>
              <a:spcBef>
                <a:spcPts val="705"/>
              </a:spcBef>
              <a:buClr>
                <a:srgbClr val="9BB957"/>
              </a:buClr>
              <a:buFont typeface="Segoe UI Symbol"/>
              <a:buChar char="⚫"/>
              <a:tabLst>
                <a:tab pos="288925" algn="l"/>
              </a:tabLst>
            </a:pPr>
            <a:r>
              <a:rPr dirty="0" sz="2150">
                <a:latin typeface="Calibri"/>
                <a:cs typeface="Calibri"/>
              </a:rPr>
              <a:t>Drawbacks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file</a:t>
            </a:r>
            <a:r>
              <a:rPr dirty="0" sz="2150" spc="-1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store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data:</a:t>
            </a:r>
            <a:endParaRPr sz="2150">
              <a:latin typeface="Calibri"/>
              <a:cs typeface="Calibri"/>
            </a:endParaRPr>
          </a:p>
          <a:p>
            <a:pPr lvl="1" marL="652145" indent="-248285">
              <a:lnSpc>
                <a:spcPct val="100000"/>
              </a:lnSpc>
              <a:spcBef>
                <a:spcPts val="605"/>
              </a:spcBef>
              <a:buFont typeface="Segoe UI Symbol"/>
              <a:buChar char="⚫"/>
              <a:tabLst>
                <a:tab pos="652145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redundancy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inconsistency</a:t>
            </a:r>
            <a:endParaRPr sz="2150">
              <a:latin typeface="Calibri"/>
              <a:cs typeface="Calibri"/>
            </a:endParaRPr>
          </a:p>
          <a:p>
            <a:pPr lvl="2" marL="1156970" marR="86995" indent="-248920">
              <a:lnSpc>
                <a:spcPct val="104200"/>
              </a:lnSpc>
              <a:spcBef>
                <a:spcPts val="490"/>
              </a:spcBef>
              <a:buFont typeface="Segoe UI Symbol"/>
              <a:buChar char="⚫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Multiple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file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formats,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duplication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information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different files</a:t>
            </a:r>
            <a:endParaRPr sz="2150">
              <a:latin typeface="Calibri"/>
              <a:cs typeface="Calibri"/>
            </a:endParaRPr>
          </a:p>
          <a:p>
            <a:pPr lvl="1" marL="651510" indent="-247650">
              <a:lnSpc>
                <a:spcPct val="100000"/>
              </a:lnSpc>
              <a:spcBef>
                <a:spcPts val="600"/>
              </a:spcBef>
              <a:buFont typeface="Segoe UI Symbol"/>
              <a:buChar char="⚫"/>
              <a:tabLst>
                <a:tab pos="651510" algn="l"/>
              </a:tabLst>
            </a:pPr>
            <a:r>
              <a:rPr dirty="0" sz="2150">
                <a:latin typeface="Calibri"/>
                <a:cs typeface="Calibri"/>
              </a:rPr>
              <a:t>Difficulty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accessing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</a:t>
            </a:r>
            <a:endParaRPr sz="2150">
              <a:latin typeface="Calibri"/>
              <a:cs typeface="Calibri"/>
            </a:endParaRPr>
          </a:p>
          <a:p>
            <a:pPr lvl="2" marL="1156970" indent="-248285">
              <a:lnSpc>
                <a:spcPct val="100000"/>
              </a:lnSpc>
              <a:spcBef>
                <a:spcPts val="605"/>
              </a:spcBef>
              <a:buFont typeface="Segoe UI Symbol"/>
              <a:buChar char="⚫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Need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write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new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program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carry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out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new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task</a:t>
            </a:r>
            <a:endParaRPr sz="2150">
              <a:latin typeface="Calibri"/>
              <a:cs typeface="Calibri"/>
            </a:endParaRPr>
          </a:p>
          <a:p>
            <a:pPr lvl="1" marL="652145" indent="-248285">
              <a:lnSpc>
                <a:spcPct val="100000"/>
              </a:lnSpc>
              <a:spcBef>
                <a:spcPts val="600"/>
              </a:spcBef>
              <a:buFont typeface="Segoe UI Symbol"/>
              <a:buChar char="⚫"/>
              <a:tabLst>
                <a:tab pos="652145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isolation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—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multiple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files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formats</a:t>
            </a:r>
            <a:endParaRPr sz="2150">
              <a:latin typeface="Calibri"/>
              <a:cs typeface="Calibri"/>
            </a:endParaRPr>
          </a:p>
          <a:p>
            <a:pPr lvl="1" marL="652145" indent="-248285">
              <a:lnSpc>
                <a:spcPct val="100000"/>
              </a:lnSpc>
              <a:spcBef>
                <a:spcPts val="695"/>
              </a:spcBef>
              <a:buFont typeface="Segoe UI Symbol"/>
              <a:buChar char="⚫"/>
              <a:tabLst>
                <a:tab pos="652145" algn="l"/>
              </a:tabLst>
            </a:pPr>
            <a:r>
              <a:rPr dirty="0" sz="2150">
                <a:latin typeface="Calibri"/>
                <a:cs typeface="Calibri"/>
              </a:rPr>
              <a:t>Integrity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problems</a:t>
            </a:r>
            <a:endParaRPr sz="2150">
              <a:latin typeface="Calibri"/>
              <a:cs typeface="Calibri"/>
            </a:endParaRPr>
          </a:p>
          <a:p>
            <a:pPr lvl="2" marL="1156970" marR="5080" indent="-248920">
              <a:lnSpc>
                <a:spcPct val="103699"/>
              </a:lnSpc>
              <a:spcBef>
                <a:spcPts val="505"/>
              </a:spcBef>
              <a:buFont typeface="Segoe UI Symbol"/>
              <a:buChar char="⚫"/>
              <a:tabLst>
                <a:tab pos="1156970" algn="l"/>
                <a:tab pos="2252980" algn="l"/>
                <a:tab pos="3778885" algn="l"/>
                <a:tab pos="4427855" algn="l"/>
                <a:tab pos="5467350" algn="l"/>
                <a:tab pos="6497955" algn="l"/>
                <a:tab pos="6773545" algn="l"/>
                <a:tab pos="7145655" algn="l"/>
              </a:tabLst>
            </a:pPr>
            <a:r>
              <a:rPr dirty="0" sz="2150" spc="-10">
                <a:latin typeface="Calibri"/>
                <a:cs typeface="Calibri"/>
              </a:rPr>
              <a:t>Integrity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constraints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(e.g.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account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balance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&gt;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0)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become </a:t>
            </a:r>
            <a:r>
              <a:rPr dirty="0" sz="2150">
                <a:latin typeface="Calibri"/>
                <a:cs typeface="Calibri"/>
              </a:rPr>
              <a:t>“buried”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program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code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rather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than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being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stated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explicitly</a:t>
            </a:r>
            <a:endParaRPr sz="2150">
              <a:latin typeface="Calibri"/>
              <a:cs typeface="Calibri"/>
            </a:endParaRPr>
          </a:p>
          <a:p>
            <a:pPr lvl="2" marL="1156970" indent="-248285">
              <a:lnSpc>
                <a:spcPct val="100000"/>
              </a:lnSpc>
              <a:spcBef>
                <a:spcPts val="600"/>
              </a:spcBef>
              <a:buFont typeface="Segoe UI Symbol"/>
              <a:buChar char="⚫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Hard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add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new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constraints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existing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ones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92480">
              <a:lnSpc>
                <a:spcPct val="100000"/>
              </a:lnSpc>
              <a:spcBef>
                <a:spcPts val="100"/>
              </a:spcBef>
            </a:pPr>
            <a:r>
              <a:rPr dirty="0"/>
              <a:t>Purpose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Database</a:t>
            </a:r>
            <a:r>
              <a:rPr dirty="0" spc="-155"/>
              <a:t> </a:t>
            </a:r>
            <a:r>
              <a:rPr dirty="0" spc="-10"/>
              <a:t>Systems</a:t>
            </a:r>
            <a:r>
              <a:rPr dirty="0" spc="-140"/>
              <a:t> </a:t>
            </a:r>
            <a:r>
              <a:rPr dirty="0" spc="-10"/>
              <a:t>(Cont.)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066622"/>
            <a:ext cx="8080375" cy="556514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Drawbacks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file</a:t>
            </a:r>
            <a:r>
              <a:rPr dirty="0" sz="2150" spc="-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(cont.)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Atomicity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updates</a:t>
            </a:r>
            <a:endParaRPr sz="2150">
              <a:latin typeface="Calibri"/>
              <a:cs typeface="Calibri"/>
            </a:endParaRPr>
          </a:p>
          <a:p>
            <a:pPr lvl="2" marL="1156970" marR="5080" indent="-228600">
              <a:lnSpc>
                <a:spcPts val="2510"/>
              </a:lnSpc>
              <a:spcBef>
                <a:spcPts val="360"/>
              </a:spcBef>
              <a:buFont typeface="Arial MT"/>
              <a:buChar char="•"/>
              <a:tabLst>
                <a:tab pos="1156970" algn="l"/>
                <a:tab pos="2149475" algn="l"/>
                <a:tab pos="2759075" algn="l"/>
                <a:tab pos="3482975" algn="l"/>
                <a:tab pos="4638040" algn="l"/>
                <a:tab pos="4980940" algn="l"/>
                <a:tab pos="5391150" algn="l"/>
                <a:tab pos="6878955" algn="l"/>
                <a:tab pos="7575550" algn="l"/>
              </a:tabLst>
            </a:pPr>
            <a:r>
              <a:rPr dirty="0" sz="2150" spc="-10">
                <a:latin typeface="Calibri"/>
                <a:cs typeface="Calibri"/>
              </a:rPr>
              <a:t>Failures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may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leave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database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inconsistent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state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with </a:t>
            </a:r>
            <a:r>
              <a:rPr dirty="0" sz="2150">
                <a:latin typeface="Calibri"/>
                <a:cs typeface="Calibri"/>
              </a:rPr>
              <a:t>partial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updates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carried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out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ts val="2545"/>
              </a:lnSpc>
              <a:spcBef>
                <a:spcPts val="235"/>
              </a:spcBef>
              <a:buFont typeface="Arial MT"/>
              <a:buChar char="•"/>
              <a:tabLst>
                <a:tab pos="1156970" algn="l"/>
                <a:tab pos="2320290" algn="l"/>
                <a:tab pos="3368675" algn="l"/>
                <a:tab pos="3731260" algn="l"/>
                <a:tab pos="4495165" algn="l"/>
                <a:tab pos="5189855" algn="l"/>
                <a:tab pos="5754370" algn="l"/>
                <a:tab pos="6783070" algn="l"/>
                <a:tab pos="7154545" algn="l"/>
              </a:tabLst>
            </a:pPr>
            <a:r>
              <a:rPr dirty="0" sz="2150" spc="-10">
                <a:latin typeface="Calibri"/>
                <a:cs typeface="Calibri"/>
              </a:rPr>
              <a:t>Example: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Transfer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funds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from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one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account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to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another</a:t>
            </a:r>
            <a:endParaRPr sz="2150">
              <a:latin typeface="Calibri"/>
              <a:cs typeface="Calibri"/>
            </a:endParaRPr>
          </a:p>
          <a:p>
            <a:pPr marL="1156970">
              <a:lnSpc>
                <a:spcPts val="2545"/>
              </a:lnSpc>
            </a:pPr>
            <a:r>
              <a:rPr dirty="0" sz="2150">
                <a:latin typeface="Calibri"/>
                <a:cs typeface="Calibri"/>
              </a:rPr>
              <a:t>should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either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complete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happen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all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spc="-10">
                <a:latin typeface="Calibri"/>
                <a:cs typeface="Calibri"/>
              </a:rPr>
              <a:t>Concurrent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multiple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users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1156970" algn="l"/>
              </a:tabLst>
            </a:pPr>
            <a:r>
              <a:rPr dirty="0" sz="2150" spc="-10">
                <a:latin typeface="Calibri"/>
                <a:cs typeface="Calibri"/>
              </a:rPr>
              <a:t>Concurrent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needed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-10">
                <a:latin typeface="Calibri"/>
                <a:cs typeface="Calibri"/>
              </a:rPr>
              <a:t> performance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Uncontrolled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concurrent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accesses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lead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inconsistencies</a:t>
            </a:r>
            <a:endParaRPr sz="2150">
              <a:latin typeface="Calibri"/>
              <a:cs typeface="Calibri"/>
            </a:endParaRPr>
          </a:p>
          <a:p>
            <a:pPr marL="1614170" marR="56515" indent="-229235">
              <a:lnSpc>
                <a:spcPts val="2480"/>
              </a:lnSpc>
              <a:spcBef>
                <a:spcPts val="409"/>
              </a:spcBef>
            </a:pPr>
            <a:r>
              <a:rPr dirty="0" sz="2150">
                <a:latin typeface="Arial MT"/>
                <a:cs typeface="Arial MT"/>
              </a:rPr>
              <a:t>–</a:t>
            </a:r>
            <a:r>
              <a:rPr dirty="0" sz="2150" spc="-30">
                <a:latin typeface="Arial MT"/>
                <a:cs typeface="Arial MT"/>
              </a:rPr>
              <a:t> </a:t>
            </a:r>
            <a:r>
              <a:rPr dirty="0" sz="2150">
                <a:latin typeface="Calibri"/>
                <a:cs typeface="Calibri"/>
              </a:rPr>
              <a:t>Example: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people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reading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balance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updating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it </a:t>
            </a:r>
            <a:r>
              <a:rPr dirty="0" sz="2150">
                <a:latin typeface="Calibri"/>
                <a:cs typeface="Calibri"/>
              </a:rPr>
              <a:t>at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same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time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33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Security</a:t>
            </a:r>
            <a:r>
              <a:rPr dirty="0" sz="2150" spc="-10">
                <a:latin typeface="Calibri"/>
                <a:cs typeface="Calibri"/>
              </a:rPr>
              <a:t> problems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Hard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provide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some,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but not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all,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systems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offer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solutions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above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problems</a:t>
            </a:r>
            <a:endParaRPr sz="2150">
              <a:latin typeface="Calibri"/>
              <a:cs typeface="Calibri"/>
            </a:endParaRPr>
          </a:p>
          <a:p>
            <a:pPr marL="1685925">
              <a:lnSpc>
                <a:spcPct val="100000"/>
              </a:lnSpc>
              <a:spcBef>
                <a:spcPts val="875"/>
              </a:spcBef>
              <a:tabLst>
                <a:tab pos="2688590" algn="l"/>
                <a:tab pos="3232150" algn="l"/>
                <a:tab pos="4159250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algn="r" marR="74295">
              <a:lnSpc>
                <a:spcPct val="100000"/>
              </a:lnSpc>
              <a:spcBef>
                <a:spcPts val="325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041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dirty="0" spc="-60"/>
              <a:t> </a:t>
            </a:r>
            <a:r>
              <a:rPr dirty="0"/>
              <a:t>System</a:t>
            </a:r>
            <a:r>
              <a:rPr dirty="0" spc="-45"/>
              <a:t> </a:t>
            </a:r>
            <a:r>
              <a:rPr dirty="0"/>
              <a:t>Vs.</a:t>
            </a:r>
            <a:r>
              <a:rPr dirty="0" spc="-35"/>
              <a:t> </a:t>
            </a:r>
            <a:r>
              <a:rPr dirty="0"/>
              <a:t>File</a:t>
            </a:r>
            <a:r>
              <a:rPr dirty="0" spc="-25"/>
              <a:t> </a:t>
            </a:r>
            <a:r>
              <a:rPr dirty="0" spc="-10"/>
              <a:t>System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7429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460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894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216854" y="64655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00252" y="1117219"/>
            <a:ext cx="8119109" cy="5208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advantages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compared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traditional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approach.</a:t>
            </a:r>
            <a:endParaRPr sz="2000">
              <a:latin typeface="Calibri"/>
              <a:cs typeface="Calibri"/>
            </a:endParaRPr>
          </a:p>
          <a:p>
            <a:pPr algn="just" marL="266065" indent="-253365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dirty="0" sz="2000" spc="-10" b="1">
                <a:latin typeface="Calibri"/>
                <a:cs typeface="Calibri"/>
              </a:rPr>
              <a:t>Controlling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10" b="1">
                <a:latin typeface="Calibri"/>
                <a:cs typeface="Calibri"/>
              </a:rPr>
              <a:t> Redundancy</a:t>
            </a:r>
            <a:endParaRPr sz="2000">
              <a:latin typeface="Calibri"/>
              <a:cs typeface="Calibri"/>
            </a:endParaRPr>
          </a:p>
          <a:p>
            <a:pPr algn="just" marL="12700" marR="5715" indent="28638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non-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private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files.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case,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duplicated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copies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places.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DBMS,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organization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integrated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file.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duplicated.</a:t>
            </a:r>
            <a:endParaRPr sz="2000">
              <a:latin typeface="Calibri"/>
              <a:cs typeface="Calibri"/>
            </a:endParaRPr>
          </a:p>
          <a:p>
            <a:pPr algn="just" marL="209550" indent="-209550">
              <a:lnSpc>
                <a:spcPct val="100000"/>
              </a:lnSpc>
              <a:spcBef>
                <a:spcPts val="2400"/>
              </a:spcBef>
              <a:buSzPct val="95000"/>
              <a:buAutoNum type="arabicPeriod" startAt="2"/>
              <a:tabLst>
                <a:tab pos="209550" algn="l"/>
              </a:tabLst>
            </a:pP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Consistency</a:t>
            </a:r>
            <a:endParaRPr sz="2000">
              <a:latin typeface="Calibri"/>
              <a:cs typeface="Calibri"/>
            </a:endParaRPr>
          </a:p>
          <a:p>
            <a:pPr algn="just" marL="12700" marR="5080" indent="34417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controlling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redundancy,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consistency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obtained.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appears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once,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only </a:t>
            </a:r>
            <a:r>
              <a:rPr dirty="0" sz="2000">
                <a:latin typeface="Calibri"/>
                <a:cs typeface="Calibri"/>
              </a:rPr>
              <a:t>once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immediately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available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users.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DBMS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controlled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redundancy,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enforces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consistency.</a:t>
            </a:r>
            <a:endParaRPr sz="2000">
              <a:latin typeface="Calibri"/>
              <a:cs typeface="Calibri"/>
            </a:endParaRPr>
          </a:p>
          <a:p>
            <a:pPr algn="just" marL="12700" marR="5080" indent="292735">
              <a:lnSpc>
                <a:spcPct val="99800"/>
              </a:lnSpc>
              <a:spcBef>
                <a:spcPts val="2420"/>
              </a:spcBef>
              <a:buFont typeface="Times New Roman"/>
              <a:buAutoNum type="arabicPeriod" startAt="3"/>
              <a:tabLst>
                <a:tab pos="305435" algn="l"/>
              </a:tabLst>
            </a:pP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Isolation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problem</a:t>
            </a:r>
            <a:r>
              <a:rPr dirty="0" sz="2000">
                <a:latin typeface="Calibri"/>
                <a:cs typeface="Calibri"/>
              </a:rPr>
              <a:t>:-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scattered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various </a:t>
            </a:r>
            <a:r>
              <a:rPr dirty="0" sz="2000">
                <a:latin typeface="Calibri"/>
                <a:cs typeface="Calibri"/>
              </a:rPr>
              <a:t>files,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formats.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retrieve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appropriate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difficult.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041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dirty="0" spc="-60"/>
              <a:t> </a:t>
            </a:r>
            <a:r>
              <a:rPr dirty="0"/>
              <a:t>System</a:t>
            </a:r>
            <a:r>
              <a:rPr dirty="0" spc="-45"/>
              <a:t> </a:t>
            </a:r>
            <a:r>
              <a:rPr dirty="0"/>
              <a:t>Vs.</a:t>
            </a:r>
            <a:r>
              <a:rPr dirty="0" spc="-35"/>
              <a:t> </a:t>
            </a:r>
            <a:r>
              <a:rPr dirty="0"/>
              <a:t>File</a:t>
            </a:r>
            <a:r>
              <a:rPr dirty="0" spc="-25"/>
              <a:t> </a:t>
            </a:r>
            <a:r>
              <a:rPr dirty="0" spc="-10"/>
              <a:t>System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7429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460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894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216854" y="64655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00252" y="865377"/>
            <a:ext cx="8408035" cy="5513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66065" indent="-253365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266065" algn="l"/>
              </a:tabLst>
            </a:pPr>
            <a:r>
              <a:rPr dirty="0" sz="2000" b="1">
                <a:latin typeface="Calibri"/>
                <a:cs typeface="Calibri"/>
              </a:rPr>
              <a:t>Sharing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Data</a:t>
            </a:r>
            <a:endParaRPr sz="2000">
              <a:latin typeface="Calibri"/>
              <a:cs typeface="Calibri"/>
            </a:endParaRPr>
          </a:p>
          <a:p>
            <a:pPr algn="just" marL="12700" marR="5080" indent="28638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DBMS,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shared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authorized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organization.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administrator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rights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3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3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authorized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piece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simultaneously.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remote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 Similarly,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 programs.</a:t>
            </a:r>
            <a:endParaRPr sz="2000">
              <a:latin typeface="Calibri"/>
              <a:cs typeface="Calibri"/>
            </a:endParaRPr>
          </a:p>
          <a:p>
            <a:pPr algn="just" marL="323850" indent="-31115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323850" algn="l"/>
              </a:tabLst>
            </a:pPr>
            <a:r>
              <a:rPr dirty="0" sz="2000" spc="-10" b="1">
                <a:latin typeface="Calibri"/>
                <a:cs typeface="Calibri"/>
              </a:rPr>
              <a:t>Atomicity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Problem</a:t>
            </a:r>
            <a:endParaRPr sz="2000">
              <a:latin typeface="Calibri"/>
              <a:cs typeface="Calibri"/>
            </a:endParaRPr>
          </a:p>
          <a:p>
            <a:pPr algn="just" marL="297180" marR="30353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crucial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failure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occur,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restored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consistent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existed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failure.</a:t>
            </a:r>
            <a:endParaRPr sz="2000">
              <a:latin typeface="Calibri"/>
              <a:cs typeface="Calibri"/>
            </a:endParaRPr>
          </a:p>
          <a:p>
            <a:pPr algn="just" marL="29718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Atomicity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means:-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either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0">
                <a:latin typeface="Calibri"/>
                <a:cs typeface="Calibri"/>
              </a:rPr>
              <a:t> all.</a:t>
            </a:r>
            <a:endParaRPr sz="2000">
              <a:latin typeface="Calibri"/>
              <a:cs typeface="Calibri"/>
            </a:endParaRPr>
          </a:p>
          <a:p>
            <a:pPr algn="just" marL="266065" indent="-253365">
              <a:lnSpc>
                <a:spcPct val="100000"/>
              </a:lnSpc>
              <a:buAutoNum type="arabicPeriod" startAt="6"/>
              <a:tabLst>
                <a:tab pos="266065" algn="l"/>
              </a:tabLst>
            </a:pP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Over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Concurrency</a:t>
            </a:r>
            <a:endParaRPr sz="2000">
              <a:latin typeface="Calibri"/>
              <a:cs typeface="Calibri"/>
            </a:endParaRPr>
          </a:p>
          <a:p>
            <a:pPr algn="just" marL="12700" marR="5080" indent="40068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system,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allowed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>
                <a:latin typeface="Calibri"/>
                <a:cs typeface="Calibri"/>
              </a:rPr>
              <a:t>simultaneously,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possible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8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interfere</a:t>
            </a:r>
            <a:r>
              <a:rPr dirty="0" sz="2000" spc="8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other.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example,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attempt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record,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overwrite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values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recorded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other.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database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sub-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concurrency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 spc="-10">
                <a:latin typeface="Calibri"/>
                <a:cs typeface="Calibri"/>
              </a:rPr>
              <a:t>transactions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always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recorded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accuracy.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041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dirty="0" spc="-60"/>
              <a:t> </a:t>
            </a:r>
            <a:r>
              <a:rPr dirty="0"/>
              <a:t>System</a:t>
            </a:r>
            <a:r>
              <a:rPr dirty="0" spc="-45"/>
              <a:t> </a:t>
            </a:r>
            <a:r>
              <a:rPr dirty="0"/>
              <a:t>Vs.</a:t>
            </a:r>
            <a:r>
              <a:rPr dirty="0" spc="-35"/>
              <a:t> </a:t>
            </a:r>
            <a:r>
              <a:rPr dirty="0"/>
              <a:t>File</a:t>
            </a:r>
            <a:r>
              <a:rPr dirty="0" spc="-25"/>
              <a:t> </a:t>
            </a:r>
            <a:r>
              <a:rPr dirty="0" spc="-10"/>
              <a:t>System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236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2369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00252" y="1399158"/>
            <a:ext cx="8406130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7.Backup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Recovery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Procedures</a:t>
            </a:r>
            <a:endParaRPr sz="2000">
              <a:latin typeface="Calibri"/>
              <a:cs typeface="Calibri"/>
            </a:endParaRPr>
          </a:p>
          <a:p>
            <a:pPr algn="just" marL="12700" marR="5080" indent="40068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file-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system,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backup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>
                <a:latin typeface="Calibri"/>
                <a:cs typeface="Calibri"/>
              </a:rPr>
              <a:t>regularly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protect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valuable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damage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due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failures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program.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very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consuming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method,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if </a:t>
            </a:r>
            <a:r>
              <a:rPr dirty="0" sz="2000">
                <a:latin typeface="Calibri"/>
                <a:cs typeface="Calibri"/>
              </a:rPr>
              <a:t>amount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large.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DBMSs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'backup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recovery' sub-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automatically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backup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restore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if </a:t>
            </a:r>
            <a:r>
              <a:rPr dirty="0" sz="2000" spc="-10">
                <a:latin typeface="Calibri"/>
                <a:cs typeface="Calibri"/>
              </a:rPr>
              <a:t>required.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964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Advantages</a:t>
            </a:r>
            <a:r>
              <a:rPr dirty="0" spc="-120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20"/>
              <a:t>DBMS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236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2369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54786" y="1480184"/>
            <a:ext cx="463486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There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advantages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DBMS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are:-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redundancy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Sharing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Easy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maintenance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Backup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Recovery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Multiuser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interface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8204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Disadvantages</a:t>
            </a:r>
            <a:r>
              <a:rPr dirty="0" spc="-135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 spc="-20"/>
              <a:t>DBMS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236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2369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54786" y="1207973"/>
            <a:ext cx="4935220" cy="1856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There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disadvantages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DBMS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are:-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Cost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Software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Complexity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Backup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recovery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Cost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Staff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training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Cost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conversion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Higher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impact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failure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82040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dirty="0" spc="-75"/>
              <a:t> </a:t>
            </a:r>
            <a:r>
              <a:rPr dirty="0" spc="-10"/>
              <a:t>Applications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211986" y="1177493"/>
            <a:ext cx="5714365" cy="2800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examples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applications:-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ts val="2280"/>
              </a:lnSpc>
              <a:spcBef>
                <a:spcPts val="1925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b="1">
                <a:latin typeface="Calibri"/>
                <a:cs typeface="Calibri"/>
              </a:rPr>
              <a:t>Banking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transactions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ts val="216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b="1">
                <a:latin typeface="Calibri"/>
                <a:cs typeface="Calibri"/>
              </a:rPr>
              <a:t>Airlines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reservations,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schedules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ts val="216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b="1">
                <a:latin typeface="Calibri"/>
                <a:cs typeface="Calibri"/>
              </a:rPr>
              <a:t>Universities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registration,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grades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ts val="216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b="1">
                <a:latin typeface="Calibri"/>
                <a:cs typeface="Calibri"/>
              </a:rPr>
              <a:t>Sales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customers,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products,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purchases</a:t>
            </a:r>
            <a:endParaRPr sz="2000">
              <a:latin typeface="Calibri"/>
              <a:cs typeface="Calibri"/>
            </a:endParaRPr>
          </a:p>
          <a:p>
            <a:pPr marL="212725" indent="-204470">
              <a:lnSpc>
                <a:spcPts val="2160"/>
              </a:lnSpc>
              <a:buSzPct val="95000"/>
              <a:buFont typeface="Wingdings"/>
              <a:buChar char=""/>
              <a:tabLst>
                <a:tab pos="212725" algn="l"/>
              </a:tabLst>
            </a:pPr>
            <a:r>
              <a:rPr dirty="0" sz="2000" spc="-10" b="1">
                <a:latin typeface="Calibri"/>
                <a:cs typeface="Calibri"/>
              </a:rPr>
              <a:t>Manufacturing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production,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inventory, </a:t>
            </a:r>
            <a:r>
              <a:rPr dirty="0" sz="2000">
                <a:latin typeface="Calibri"/>
                <a:cs typeface="Calibri"/>
              </a:rPr>
              <a:t>orders,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supply</a:t>
            </a:r>
            <a:endParaRPr sz="2000">
              <a:latin typeface="Calibri"/>
              <a:cs typeface="Calibri"/>
            </a:endParaRPr>
          </a:p>
          <a:p>
            <a:pPr marL="182880">
              <a:lnSpc>
                <a:spcPts val="2160"/>
              </a:lnSpc>
            </a:pPr>
            <a:r>
              <a:rPr dirty="0" sz="2000" spc="-10">
                <a:latin typeface="Calibri"/>
                <a:cs typeface="Calibri"/>
              </a:rPr>
              <a:t>chain</a:t>
            </a:r>
            <a:endParaRPr sz="2000">
              <a:latin typeface="Calibri"/>
              <a:cs typeface="Calibri"/>
            </a:endParaRPr>
          </a:p>
          <a:p>
            <a:pPr marL="212725" marR="297180" indent="-205104">
              <a:lnSpc>
                <a:spcPts val="2160"/>
              </a:lnSpc>
              <a:spcBef>
                <a:spcPts val="150"/>
              </a:spcBef>
              <a:buSzPct val="95000"/>
              <a:buFont typeface="Wingdings"/>
              <a:buChar char=""/>
              <a:tabLst>
                <a:tab pos="240665" algn="l"/>
              </a:tabLst>
            </a:pPr>
            <a:r>
              <a:rPr dirty="0" sz="2000" b="1">
                <a:latin typeface="Calibri"/>
                <a:cs typeface="Calibri"/>
              </a:rPr>
              <a:t>Human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employee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salaries,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tax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deductions.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20"/>
              <a:t>DBMS</a:t>
            </a:r>
          </a:p>
        </p:txBody>
      </p:sp>
      <p:pic>
        <p:nvPicPr>
          <p:cNvPr id="6" name="object 6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50820" y="1642753"/>
            <a:ext cx="5402580" cy="439387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374394" y="1084834"/>
            <a:ext cx="4813300" cy="17932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involves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four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major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components</a:t>
            </a:r>
            <a:endParaRPr sz="18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2150"/>
              </a:spcBef>
              <a:buAutoNum type="romanUcPeriod"/>
              <a:tabLst>
                <a:tab pos="527685" algn="l"/>
              </a:tabLst>
            </a:pPr>
            <a:r>
              <a:rPr dirty="0" sz="2000" spc="-20" b="1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AutoNum type="romanUcPeriod"/>
              <a:tabLst>
                <a:tab pos="527685" algn="l"/>
              </a:tabLst>
            </a:pPr>
            <a:r>
              <a:rPr dirty="0" sz="2000" spc="-10" b="1">
                <a:latin typeface="Calibri"/>
                <a:cs typeface="Calibri"/>
              </a:rPr>
              <a:t>Hardwar</a:t>
            </a:r>
            <a:r>
              <a:rPr dirty="0" sz="2000" spc="-10" b="1">
                <a:latin typeface="Calibri"/>
                <a:cs typeface="Calibri"/>
                <a:hlinkClick r:id="rId4"/>
              </a:rPr>
              <a:t>e</a:t>
            </a:r>
            <a:endParaRPr sz="20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527685" algn="l"/>
              </a:tabLst>
            </a:pPr>
            <a:r>
              <a:rPr dirty="0" sz="2000" spc="-10" b="1">
                <a:latin typeface="Calibri"/>
                <a:cs typeface="Calibri"/>
              </a:rPr>
              <a:t>Softwar</a:t>
            </a:r>
            <a:r>
              <a:rPr dirty="0" sz="2000" spc="-10" b="1">
                <a:latin typeface="Calibri"/>
                <a:cs typeface="Calibri"/>
                <a:hlinkClick r:id="rId4"/>
              </a:rPr>
              <a:t>e</a:t>
            </a:r>
            <a:endParaRPr sz="20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AutoNum type="romanUcPeriod"/>
              <a:tabLst>
                <a:tab pos="527685" algn="l"/>
              </a:tabLst>
            </a:pPr>
            <a:r>
              <a:rPr dirty="0" sz="2000" spc="-10" b="1">
                <a:latin typeface="Calibri"/>
                <a:cs typeface="Calibri"/>
              </a:rPr>
              <a:t>Users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dirty="0" spc="-35"/>
              <a:t> </a:t>
            </a:r>
            <a:r>
              <a:rPr dirty="0"/>
              <a:t>Views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Data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450594" y="1389634"/>
            <a:ext cx="7235190" cy="386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-317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viewed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different</a:t>
            </a:r>
            <a:r>
              <a:rPr dirty="0" sz="1800" spc="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abstraction</a:t>
            </a:r>
            <a:r>
              <a:rPr dirty="0" sz="1800" spc="1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reveal </a:t>
            </a:r>
            <a:r>
              <a:rPr dirty="0" sz="1800">
                <a:latin typeface="Calibri"/>
                <a:cs typeface="Calibri"/>
              </a:rPr>
              <a:t>different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details.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bottom-</a:t>
            </a:r>
            <a:r>
              <a:rPr dirty="0" sz="1800">
                <a:latin typeface="Calibri"/>
                <a:cs typeface="Calibri"/>
              </a:rPr>
              <a:t>up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manner,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find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there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abstraction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views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algn="just" marL="12700" marR="5080" indent="233045">
              <a:lnSpc>
                <a:spcPct val="100000"/>
              </a:lnSpc>
              <a:buSzPct val="94444"/>
              <a:buFont typeface="Wingdings"/>
              <a:buChar char=""/>
              <a:tabLst>
                <a:tab pos="24574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term</a:t>
            </a:r>
            <a:r>
              <a:rPr dirty="0" sz="1800" spc="4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Abstraction</a:t>
            </a:r>
            <a:r>
              <a:rPr dirty="0" sz="1800" spc="5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4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very</a:t>
            </a:r>
            <a:r>
              <a:rPr dirty="0" sz="1800" spc="5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important</a:t>
            </a:r>
            <a:r>
              <a:rPr dirty="0" sz="1800" spc="4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here.</a:t>
            </a:r>
            <a:r>
              <a:rPr dirty="0" sz="1800" spc="4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Generally</a:t>
            </a:r>
            <a:r>
              <a:rPr dirty="0" sz="1800" spc="4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means</a:t>
            </a:r>
            <a:r>
              <a:rPr dirty="0" sz="1800" spc="40">
                <a:latin typeface="Calibri"/>
                <a:cs typeface="Calibri"/>
              </a:rPr>
              <a:t> 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amount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details</a:t>
            </a:r>
            <a:r>
              <a:rPr dirty="0" sz="1800" spc="1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want</a:t>
            </a:r>
            <a:r>
              <a:rPr dirty="0" sz="1800" spc="1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1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hide.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entity</a:t>
            </a:r>
            <a:r>
              <a:rPr dirty="0" sz="1800" spc="1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seen</a:t>
            </a:r>
            <a:r>
              <a:rPr dirty="0" sz="1800" spc="20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19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different </a:t>
            </a:r>
            <a:r>
              <a:rPr dirty="0" sz="1800">
                <a:latin typeface="Calibri"/>
                <a:cs typeface="Calibri"/>
              </a:rPr>
              <a:t>perspectives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complexity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make</a:t>
            </a:r>
            <a:r>
              <a:rPr dirty="0" sz="1800" spc="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reveal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current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amount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abstraction.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800" spc="-10" b="1">
                <a:latin typeface="Calibri"/>
                <a:cs typeface="Calibri"/>
              </a:rPr>
              <a:t>Physical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level: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describes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how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record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(e.g.,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customer)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stored</a:t>
            </a:r>
            <a:endParaRPr sz="1800">
              <a:latin typeface="Calibri"/>
              <a:cs typeface="Calibri"/>
            </a:endParaRPr>
          </a:p>
          <a:p>
            <a:pPr algn="just" marL="12700" marR="92710">
              <a:lnSpc>
                <a:spcPct val="100000"/>
              </a:lnSpc>
              <a:spcBef>
                <a:spcPts val="2165"/>
              </a:spcBef>
            </a:pPr>
            <a:r>
              <a:rPr dirty="0" sz="1800" b="1">
                <a:latin typeface="Calibri"/>
                <a:cs typeface="Calibri"/>
              </a:rPr>
              <a:t>Logical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level: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describes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relationships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among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data.</a:t>
            </a:r>
            <a:endParaRPr sz="1800">
              <a:latin typeface="Calibri"/>
              <a:cs typeface="Calibri"/>
            </a:endParaRPr>
          </a:p>
          <a:p>
            <a:pPr marL="12700" marR="27432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latin typeface="Calibri"/>
                <a:cs typeface="Calibri"/>
              </a:rPr>
              <a:t>View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level: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application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hide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details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types.</a:t>
            </a:r>
            <a:r>
              <a:rPr dirty="0" sz="1800" spc="3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Views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also </a:t>
            </a:r>
            <a:r>
              <a:rPr dirty="0" sz="1800">
                <a:latin typeface="Calibri"/>
                <a:cs typeface="Calibri"/>
              </a:rPr>
              <a:t>hide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information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(such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employee’s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salary)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purposes.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dirty="0" spc="-35"/>
              <a:t> </a:t>
            </a:r>
            <a:r>
              <a:rPr dirty="0"/>
              <a:t>Views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Data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08006" y="1143000"/>
            <a:ext cx="5535793" cy="34290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450594" y="4666869"/>
            <a:ext cx="720534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schema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means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arrangement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how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arrange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things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that </a:t>
            </a: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store.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diagram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above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shows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different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schemas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used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DBMS,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seen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different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abstraction.</a:t>
            </a:r>
            <a:endParaRPr sz="1800">
              <a:latin typeface="Calibri"/>
              <a:cs typeface="Calibri"/>
            </a:endParaRPr>
          </a:p>
          <a:p>
            <a:pPr algn="just" marL="12700" marR="325755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Instance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actual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particular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point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time. </a:t>
            </a:r>
            <a:r>
              <a:rPr dirty="0" sz="1800">
                <a:latin typeface="Calibri"/>
                <a:cs typeface="Calibri"/>
              </a:rPr>
              <a:t>Analogous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variable.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Schema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374394" y="1083309"/>
            <a:ext cx="7155180" cy="2556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Calibri"/>
                <a:cs typeface="Calibri"/>
              </a:rPr>
              <a:t>Schema</a:t>
            </a:r>
            <a:endParaRPr sz="2000">
              <a:latin typeface="Calibri"/>
              <a:cs typeface="Calibri"/>
            </a:endParaRPr>
          </a:p>
          <a:p>
            <a:pPr marL="12700" marR="5080" indent="-3175">
              <a:lnSpc>
                <a:spcPct val="100000"/>
              </a:lnSpc>
              <a:spcBef>
                <a:spcPts val="5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2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schema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skeleton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structure</a:t>
            </a:r>
            <a:r>
              <a:rPr dirty="0" sz="1800" spc="2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2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represents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logical </a:t>
            </a:r>
            <a:r>
              <a:rPr dirty="0" sz="1800">
                <a:latin typeface="Calibri"/>
                <a:cs typeface="Calibri"/>
              </a:rPr>
              <a:t>view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entire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marL="193675" indent="-184150">
              <a:lnSpc>
                <a:spcPct val="100000"/>
              </a:lnSpc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expected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frequently.</a:t>
            </a:r>
            <a:endParaRPr sz="1800">
              <a:latin typeface="Calibri"/>
              <a:cs typeface="Calibri"/>
            </a:endParaRPr>
          </a:p>
          <a:p>
            <a:pPr marL="193675" indent="-184150">
              <a:lnSpc>
                <a:spcPct val="100000"/>
              </a:lnSpc>
              <a:spcBef>
                <a:spcPts val="5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define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new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specify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schema.</a:t>
            </a:r>
            <a:endParaRPr sz="1800">
              <a:latin typeface="Calibri"/>
              <a:cs typeface="Calibri"/>
            </a:endParaRPr>
          </a:p>
          <a:p>
            <a:pPr marL="12700" marR="334010" indent="-3175">
              <a:lnSpc>
                <a:spcPct val="100000"/>
              </a:lnSpc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defines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how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organized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how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relations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among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them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associated.</a:t>
            </a:r>
            <a:endParaRPr sz="1800">
              <a:latin typeface="Calibri"/>
              <a:cs typeface="Calibri"/>
            </a:endParaRPr>
          </a:p>
          <a:p>
            <a:pPr marL="193675" indent="-184150">
              <a:lnSpc>
                <a:spcPts val="2155"/>
              </a:lnSpc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formulates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constraints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applied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</a:pPr>
            <a:r>
              <a:rPr dirty="0" sz="2000" spc="-10" b="1">
                <a:latin typeface="Calibri"/>
                <a:cs typeface="Calibri"/>
              </a:rPr>
              <a:t>Example: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2127250" y="3943350"/>
          <a:ext cx="59563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3480"/>
                <a:gridCol w="1173480"/>
                <a:gridCol w="1173480"/>
                <a:gridCol w="1173479"/>
                <a:gridCol w="1173479"/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_No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S_name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Pincode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Instance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374394" y="1020032"/>
            <a:ext cx="7158990" cy="423545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575"/>
              </a:spcBef>
            </a:pPr>
            <a:r>
              <a:rPr dirty="0" sz="2400" spc="-10" b="1">
                <a:latin typeface="Calibri"/>
                <a:cs typeface="Calibri"/>
              </a:rPr>
              <a:t>Instance</a:t>
            </a:r>
            <a:endParaRPr sz="2400">
              <a:latin typeface="Calibri"/>
              <a:cs typeface="Calibri"/>
            </a:endParaRPr>
          </a:p>
          <a:p>
            <a:pPr algn="just" marL="12700" marR="6350" indent="68580">
              <a:lnSpc>
                <a:spcPct val="102299"/>
              </a:lnSpc>
              <a:spcBef>
                <a:spcPts val="345"/>
              </a:spcBef>
            </a:pP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overtime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inserted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deleted.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collection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particular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moment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instance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algn="just" marL="12700" marR="5715" indent="28638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snapshot.(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actual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content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b="1">
                <a:latin typeface="Calibri"/>
                <a:cs typeface="Calibri"/>
              </a:rPr>
              <a:t>database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particular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point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time</a:t>
            </a:r>
            <a:r>
              <a:rPr dirty="0" sz="2000" spc="-1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algn="just" marL="12700" marR="5080" indent="272415">
              <a:lnSpc>
                <a:spcPct val="100800"/>
              </a:lnSpc>
              <a:spcBef>
                <a:spcPts val="350"/>
              </a:spcBef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example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lets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say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student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database,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today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records,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today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records.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Lets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say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going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another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tomorrow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 </a:t>
            </a:r>
            <a:r>
              <a:rPr dirty="0" sz="2000">
                <a:latin typeface="Calibri"/>
                <a:cs typeface="Calibri"/>
              </a:rPr>
              <a:t>tomorrow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200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records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table.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short,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particular </a:t>
            </a:r>
            <a:r>
              <a:rPr dirty="0" sz="2000">
                <a:latin typeface="Calibri"/>
                <a:cs typeface="Calibri"/>
              </a:rPr>
              <a:t>moment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instance,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over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dirty="0" spc="-35"/>
              <a:t> </a:t>
            </a:r>
            <a:r>
              <a:rPr dirty="0"/>
              <a:t>schema</a:t>
            </a:r>
            <a:r>
              <a:rPr dirty="0" spc="-25"/>
              <a:t> </a:t>
            </a:r>
            <a:r>
              <a:rPr dirty="0" spc="-10"/>
              <a:t>architecture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1600" y="1143000"/>
            <a:ext cx="6626491" cy="49530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8625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dirty="0" spc="-35"/>
              <a:t> </a:t>
            </a:r>
            <a:r>
              <a:rPr dirty="0"/>
              <a:t>Schemas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20"/>
              <a:t>Data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374394" y="1130553"/>
            <a:ext cx="7463155" cy="43078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812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Internal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Schema</a:t>
            </a:r>
            <a:endParaRPr sz="2000">
              <a:latin typeface="Calibri"/>
              <a:cs typeface="Calibri"/>
            </a:endParaRPr>
          </a:p>
          <a:p>
            <a:pPr algn="just" marL="12700" marR="16446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lowest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level,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Internal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Physical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schema,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deals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description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raw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(like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ABC,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KOL,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H2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etc.)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stored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physical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(Hard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CD,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Tape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Drive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etc.).</a:t>
            </a:r>
            <a:endParaRPr sz="2000">
              <a:latin typeface="Calibri"/>
              <a:cs typeface="Calibri"/>
            </a:endParaRPr>
          </a:p>
          <a:p>
            <a:pPr algn="just" marL="12700" marR="10985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describes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items,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size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items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media,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(physical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address)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on.</a:t>
            </a:r>
            <a:endParaRPr sz="20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useful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developers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administrator.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Conceptual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Logical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Schema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middle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Conceptual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Logical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Schema,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deals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database.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Please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this 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interested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raw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items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anymore,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are </a:t>
            </a:r>
            <a:r>
              <a:rPr dirty="0" sz="2000" spc="-10">
                <a:latin typeface="Calibri"/>
                <a:cs typeface="Calibri"/>
              </a:rPr>
              <a:t>interested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structure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8200"/>
            <a:chOff x="1301496" y="0"/>
            <a:chExt cx="7842884" cy="83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82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909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8625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dirty="0" spc="-35"/>
              <a:t> </a:t>
            </a:r>
            <a:r>
              <a:rPr dirty="0"/>
              <a:t>Schemas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20"/>
              <a:t>Data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160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374394" y="1083309"/>
            <a:ext cx="7462520" cy="4904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-9525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means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want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attributes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table,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common attributes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them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combined,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kind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attributes,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on.</a:t>
            </a:r>
            <a:endParaRPr sz="2000">
              <a:latin typeface="Calibri"/>
              <a:cs typeface="Calibri"/>
            </a:endParaRPr>
          </a:p>
          <a:p>
            <a:pPr marL="12700" marR="5715" indent="-952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  <a:tab pos="1519555" algn="l"/>
                <a:tab pos="1990725" algn="l"/>
                <a:tab pos="2945130" algn="l"/>
                <a:tab pos="3987800" algn="l"/>
                <a:tab pos="4394200" algn="l"/>
                <a:tab pos="5087620" algn="l"/>
                <a:tab pos="5965825" algn="l"/>
                <a:tab pos="6508750" algn="l"/>
              </a:tabLst>
            </a:pP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Conceptual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or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Logical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schema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is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very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useful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for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database administrators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responsibility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maintain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 </a:t>
            </a:r>
            <a:r>
              <a:rPr dirty="0" sz="2000" b="1">
                <a:latin typeface="Calibri"/>
                <a:cs typeface="Calibri"/>
              </a:rPr>
              <a:t>External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View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Schema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12700" marR="5715" indent="-952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targeted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users.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Now,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does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know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everything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structure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than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amount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details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he/she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needs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with.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not </a:t>
            </a:r>
            <a:r>
              <a:rPr dirty="0" sz="2000">
                <a:latin typeface="Calibri"/>
                <a:cs typeface="Calibri"/>
              </a:rPr>
              <a:t>allow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 the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purpose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security,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sensitive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 </a:t>
            </a:r>
            <a:r>
              <a:rPr dirty="0" sz="2000" spc="-20">
                <a:latin typeface="Calibri"/>
                <a:cs typeface="Calibri"/>
              </a:rPr>
              <a:t>must </a:t>
            </a:r>
            <a:r>
              <a:rPr dirty="0" sz="2000">
                <a:latin typeface="Calibri"/>
                <a:cs typeface="Calibri"/>
              </a:rPr>
              <a:t>remain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hidden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unwanted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persons.</a:t>
            </a:r>
            <a:endParaRPr sz="2000">
              <a:latin typeface="Calibri"/>
              <a:cs typeface="Calibri"/>
            </a:endParaRPr>
          </a:p>
          <a:p>
            <a:pPr algn="just" marL="12700" marR="5080" indent="-952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administrator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want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made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tables, </a:t>
            </a:r>
            <a:r>
              <a:rPr dirty="0" sz="2000">
                <a:latin typeface="Calibri"/>
                <a:cs typeface="Calibri"/>
              </a:rPr>
              <a:t>keeping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kind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0">
                <a:latin typeface="Calibri"/>
                <a:cs typeface="Calibri"/>
              </a:rPr>
              <a:t> user.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are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tables,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because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separate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physical existence.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dynamically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runtime.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27885">
              <a:lnSpc>
                <a:spcPct val="100000"/>
              </a:lnSpc>
              <a:spcBef>
                <a:spcPts val="100"/>
              </a:spcBef>
            </a:pPr>
            <a:r>
              <a:rPr dirty="0"/>
              <a:t>Levels</a:t>
            </a:r>
            <a:r>
              <a:rPr dirty="0" spc="-16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Abstraction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8099425" cy="4714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b="1">
                <a:solidFill>
                  <a:srgbClr val="1F477B"/>
                </a:solidFill>
                <a:latin typeface="Calibri"/>
                <a:cs typeface="Calibri"/>
              </a:rPr>
              <a:t>Physical</a:t>
            </a:r>
            <a:r>
              <a:rPr dirty="0" sz="2150" spc="235" b="1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1F477B"/>
                </a:solidFill>
                <a:latin typeface="Calibri"/>
                <a:cs typeface="Calibri"/>
              </a:rPr>
              <a:t>Schema/Level:</a:t>
            </a:r>
            <a:r>
              <a:rPr dirty="0" sz="2150" spc="270" b="1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describes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how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(e.g.,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customer)</a:t>
            </a:r>
            <a:r>
              <a:rPr dirty="0" sz="2150" spc="32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latin typeface="Calibri"/>
                <a:cs typeface="Calibri"/>
              </a:rPr>
              <a:t>stored.</a:t>
            </a:r>
            <a:endParaRPr sz="2150">
              <a:latin typeface="Calibri"/>
              <a:cs typeface="Calibri"/>
            </a:endParaRPr>
          </a:p>
          <a:p>
            <a:pPr marL="355600" marR="94615" indent="-342900">
              <a:lnSpc>
                <a:spcPct val="101899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b="1">
                <a:solidFill>
                  <a:srgbClr val="1F477B"/>
                </a:solidFill>
                <a:latin typeface="Calibri"/>
                <a:cs typeface="Calibri"/>
              </a:rPr>
              <a:t>Logical</a:t>
            </a:r>
            <a:r>
              <a:rPr dirty="0" sz="2150" spc="340" b="1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1F477B"/>
                </a:solidFill>
                <a:latin typeface="Calibri"/>
                <a:cs typeface="Calibri"/>
              </a:rPr>
              <a:t>Schema/Level:</a:t>
            </a:r>
            <a:r>
              <a:rPr dirty="0" sz="2150" spc="330" b="1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describes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3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stored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database,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relationships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among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data.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680"/>
              </a:spcBef>
            </a:pPr>
            <a:r>
              <a:rPr dirty="0" sz="2150" b="1">
                <a:latin typeface="Calibri"/>
                <a:cs typeface="Calibri"/>
              </a:rPr>
              <a:t>type</a:t>
            </a:r>
            <a:r>
              <a:rPr dirty="0" sz="2150" spc="-15" b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customer</a:t>
            </a:r>
            <a:r>
              <a:rPr dirty="0" sz="2150" spc="75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=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record</a:t>
            </a:r>
            <a:endParaRPr sz="2150">
              <a:latin typeface="Calibri"/>
              <a:cs typeface="Calibri"/>
            </a:endParaRPr>
          </a:p>
          <a:p>
            <a:pPr marL="1833880" marR="3531235">
              <a:lnSpc>
                <a:spcPct val="102099"/>
              </a:lnSpc>
              <a:spcBef>
                <a:spcPts val="509"/>
              </a:spcBef>
            </a:pPr>
            <a:r>
              <a:rPr dirty="0" sz="2150" i="1">
                <a:latin typeface="Calibri"/>
                <a:cs typeface="Calibri"/>
              </a:rPr>
              <a:t>customer_id</a:t>
            </a:r>
            <a:r>
              <a:rPr dirty="0" sz="2150" spc="50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: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string; </a:t>
            </a:r>
            <a:r>
              <a:rPr dirty="0" sz="2150" i="1">
                <a:latin typeface="Calibri"/>
                <a:cs typeface="Calibri"/>
              </a:rPr>
              <a:t>customer_name</a:t>
            </a:r>
            <a:r>
              <a:rPr dirty="0" sz="2150" spc="30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: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string; </a:t>
            </a:r>
            <a:r>
              <a:rPr dirty="0" sz="2150" i="1">
                <a:latin typeface="Calibri"/>
                <a:cs typeface="Calibri"/>
              </a:rPr>
              <a:t>customer</a:t>
            </a:r>
            <a:r>
              <a:rPr dirty="0" sz="2150">
                <a:latin typeface="Calibri"/>
                <a:cs typeface="Calibri"/>
              </a:rPr>
              <a:t>_</a:t>
            </a:r>
            <a:r>
              <a:rPr dirty="0" sz="2150" i="1">
                <a:latin typeface="Calibri"/>
                <a:cs typeface="Calibri"/>
              </a:rPr>
              <a:t>street</a:t>
            </a:r>
            <a:r>
              <a:rPr dirty="0" sz="2150" spc="-20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: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string; </a:t>
            </a:r>
            <a:r>
              <a:rPr dirty="0" sz="2150" i="1">
                <a:latin typeface="Calibri"/>
                <a:cs typeface="Calibri"/>
              </a:rPr>
              <a:t>customer_city</a:t>
            </a:r>
            <a:r>
              <a:rPr dirty="0" sz="2150" spc="40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: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string;</a:t>
            </a:r>
            <a:endParaRPr sz="2150">
              <a:latin typeface="Calibri"/>
              <a:cs typeface="Calibri"/>
            </a:endParaRPr>
          </a:p>
          <a:p>
            <a:pPr marL="1558290">
              <a:lnSpc>
                <a:spcPct val="100000"/>
              </a:lnSpc>
              <a:spcBef>
                <a:spcPts val="685"/>
              </a:spcBef>
            </a:pPr>
            <a:r>
              <a:rPr dirty="0" sz="2150" spc="-20" b="1">
                <a:latin typeface="Calibri"/>
                <a:cs typeface="Calibri"/>
              </a:rPr>
              <a:t>end</a:t>
            </a:r>
            <a:r>
              <a:rPr dirty="0" sz="2150" spc="-20">
                <a:latin typeface="Calibri"/>
                <a:cs typeface="Calibri"/>
              </a:rPr>
              <a:t>;</a:t>
            </a: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2099"/>
              </a:lnSpc>
              <a:spcBef>
                <a:spcPts val="509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b="1">
                <a:solidFill>
                  <a:srgbClr val="1F477B"/>
                </a:solidFill>
                <a:latin typeface="Calibri"/>
                <a:cs typeface="Calibri"/>
              </a:rPr>
              <a:t>External</a:t>
            </a:r>
            <a:r>
              <a:rPr dirty="0" sz="2150" spc="450" b="1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1F477B"/>
                </a:solidFill>
                <a:latin typeface="Calibri"/>
                <a:cs typeface="Calibri"/>
              </a:rPr>
              <a:t>Schema/Level:</a:t>
            </a:r>
            <a:r>
              <a:rPr dirty="0" sz="2150" spc="480" b="1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application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programs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hide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details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 </a:t>
            </a:r>
            <a:r>
              <a:rPr dirty="0" sz="2150">
                <a:latin typeface="Calibri"/>
                <a:cs typeface="Calibri"/>
              </a:rPr>
              <a:t>types.</a:t>
            </a:r>
            <a:r>
              <a:rPr dirty="0" sz="2150" spc="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Views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also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hide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information</a:t>
            </a:r>
            <a:r>
              <a:rPr dirty="0" sz="2150" spc="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(such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40">
                <a:latin typeface="Calibri"/>
                <a:cs typeface="Calibri"/>
              </a:rPr>
              <a:t>   </a:t>
            </a:r>
            <a:r>
              <a:rPr dirty="0" sz="2150" spc="-10">
                <a:latin typeface="Calibri"/>
                <a:cs typeface="Calibri"/>
              </a:rPr>
              <a:t>employee’s </a:t>
            </a:r>
            <a:r>
              <a:rPr dirty="0" sz="2150">
                <a:latin typeface="Calibri"/>
                <a:cs typeface="Calibri"/>
              </a:rPr>
              <a:t>salary)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security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purposes.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31234" y="6423152"/>
            <a:ext cx="738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Sana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Anjum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96078" y="6423152"/>
            <a:ext cx="400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28130" y="6423152"/>
            <a:ext cx="427355" cy="5130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34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Neeti </a:t>
            </a:r>
            <a:r>
              <a:rPr dirty="0" sz="1200" spc="-30">
                <a:solidFill>
                  <a:srgbClr val="878787"/>
                </a:solidFill>
                <a:latin typeface="Calibri"/>
                <a:cs typeface="Calibri"/>
              </a:rPr>
              <a:t>Taneja 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47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12444" y="1145539"/>
            <a:ext cx="557593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Architecture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27885">
              <a:lnSpc>
                <a:spcPct val="100000"/>
              </a:lnSpc>
              <a:spcBef>
                <a:spcPts val="100"/>
              </a:spcBef>
            </a:pPr>
            <a:r>
              <a:rPr dirty="0"/>
              <a:t>Levels</a:t>
            </a:r>
            <a:r>
              <a:rPr dirty="0" spc="-16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Abstraction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2832" y="1734311"/>
            <a:ext cx="6236208" cy="433425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9047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078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512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78654" y="61988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48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7414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dirty="0" spc="-125"/>
              <a:t> </a:t>
            </a:r>
            <a:r>
              <a:rPr dirty="0"/>
              <a:t>University</a:t>
            </a:r>
            <a:r>
              <a:rPr dirty="0" spc="-165"/>
              <a:t> </a:t>
            </a:r>
            <a:r>
              <a:rPr dirty="0" spc="-10"/>
              <a:t>Database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048126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51210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94669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22035" y="64655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8980" y="1055319"/>
            <a:ext cx="8481060" cy="411543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5"/>
              </a:spcBef>
              <a:buClr>
                <a:srgbClr val="FF8787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 sz="2150" b="1">
                <a:solidFill>
                  <a:srgbClr val="622422"/>
                </a:solidFill>
                <a:latin typeface="Calibri"/>
                <a:cs typeface="Calibri"/>
              </a:rPr>
              <a:t>Physical</a:t>
            </a:r>
            <a:r>
              <a:rPr dirty="0" sz="2150" spc="-55" b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622422"/>
                </a:solidFill>
                <a:latin typeface="Calibri"/>
                <a:cs typeface="Calibri"/>
              </a:rPr>
              <a:t>schema:</a:t>
            </a:r>
            <a:endParaRPr sz="2150">
              <a:latin typeface="Calibri"/>
              <a:cs typeface="Calibri"/>
            </a:endParaRPr>
          </a:p>
          <a:p>
            <a:pPr lvl="1" marL="747395" indent="-342900">
              <a:lnSpc>
                <a:spcPct val="100000"/>
              </a:lnSpc>
              <a:spcBef>
                <a:spcPts val="695"/>
              </a:spcBef>
              <a:buClr>
                <a:srgbClr val="FF8787"/>
              </a:buClr>
              <a:buSzPct val="76744"/>
              <a:buFont typeface="Wingdings"/>
              <a:buChar char=""/>
              <a:tabLst>
                <a:tab pos="747395" algn="l"/>
              </a:tabLst>
            </a:pPr>
            <a:r>
              <a:rPr dirty="0" sz="2150">
                <a:latin typeface="Calibri"/>
                <a:cs typeface="Calibri"/>
              </a:rPr>
              <a:t>Relations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stored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unordered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files.</a:t>
            </a:r>
            <a:endParaRPr sz="2150">
              <a:latin typeface="Calibri"/>
              <a:cs typeface="Calibri"/>
            </a:endParaRPr>
          </a:p>
          <a:p>
            <a:pPr lvl="1" marL="747395" indent="-342900">
              <a:lnSpc>
                <a:spcPct val="100000"/>
              </a:lnSpc>
              <a:spcBef>
                <a:spcPts val="605"/>
              </a:spcBef>
              <a:buClr>
                <a:srgbClr val="FF8787"/>
              </a:buClr>
              <a:buSzPct val="76744"/>
              <a:buFont typeface="Wingdings"/>
              <a:buChar char=""/>
              <a:tabLst>
                <a:tab pos="747395" algn="l"/>
              </a:tabLst>
            </a:pPr>
            <a:r>
              <a:rPr dirty="0" sz="2150">
                <a:latin typeface="Calibri"/>
                <a:cs typeface="Calibri"/>
              </a:rPr>
              <a:t>Index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first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Students.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 sz="2150" b="1">
                <a:solidFill>
                  <a:srgbClr val="622422"/>
                </a:solidFill>
                <a:latin typeface="Calibri"/>
                <a:cs typeface="Calibri"/>
              </a:rPr>
              <a:t>Conceptual</a:t>
            </a:r>
            <a:r>
              <a:rPr dirty="0" sz="2150" spc="125" b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622422"/>
                </a:solidFill>
                <a:latin typeface="Calibri"/>
                <a:cs typeface="Calibri"/>
              </a:rPr>
              <a:t>schema:</a:t>
            </a:r>
            <a:endParaRPr sz="2150">
              <a:latin typeface="Calibri"/>
              <a:cs typeface="Calibri"/>
            </a:endParaRPr>
          </a:p>
          <a:p>
            <a:pPr lvl="1" marL="747395" indent="-34290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SzPct val="76744"/>
              <a:buFont typeface="Wingdings"/>
              <a:buChar char=""/>
              <a:tabLst>
                <a:tab pos="747395" algn="l"/>
              </a:tabLst>
            </a:pPr>
            <a:r>
              <a:rPr dirty="0" sz="2150" i="1">
                <a:latin typeface="Calibri"/>
                <a:cs typeface="Calibri"/>
              </a:rPr>
              <a:t>Students(sid:</a:t>
            </a:r>
            <a:r>
              <a:rPr dirty="0" sz="2150" spc="5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string,</a:t>
            </a:r>
            <a:r>
              <a:rPr dirty="0" sz="2150" spc="50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name:</a:t>
            </a:r>
            <a:r>
              <a:rPr dirty="0" sz="2150" spc="30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string,</a:t>
            </a:r>
            <a:r>
              <a:rPr dirty="0" sz="2150" spc="65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login:</a:t>
            </a:r>
            <a:r>
              <a:rPr dirty="0" sz="2150" spc="15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string,</a:t>
            </a:r>
            <a:r>
              <a:rPr dirty="0" sz="2150" spc="-30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age:</a:t>
            </a:r>
            <a:r>
              <a:rPr dirty="0" sz="2150" spc="95" i="1">
                <a:latin typeface="Calibri"/>
                <a:cs typeface="Calibri"/>
              </a:rPr>
              <a:t> </a:t>
            </a:r>
            <a:r>
              <a:rPr dirty="0" sz="2150" spc="-35" i="1">
                <a:latin typeface="Calibri"/>
                <a:cs typeface="Calibri"/>
              </a:rPr>
              <a:t>integer,</a:t>
            </a:r>
            <a:r>
              <a:rPr dirty="0" sz="2150" spc="-55" i="1"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gpa:real)</a:t>
            </a:r>
            <a:endParaRPr sz="2150">
              <a:latin typeface="Calibri"/>
              <a:cs typeface="Calibri"/>
            </a:endParaRPr>
          </a:p>
          <a:p>
            <a:pPr lvl="1" marL="747395" indent="-342900">
              <a:lnSpc>
                <a:spcPct val="100000"/>
              </a:lnSpc>
              <a:spcBef>
                <a:spcPts val="695"/>
              </a:spcBef>
              <a:buClr>
                <a:srgbClr val="FF8787"/>
              </a:buClr>
              <a:buSzPct val="76744"/>
              <a:buFont typeface="Wingdings"/>
              <a:buChar char=""/>
              <a:tabLst>
                <a:tab pos="747395" algn="l"/>
              </a:tabLst>
            </a:pPr>
            <a:r>
              <a:rPr dirty="0" sz="2150" i="1">
                <a:latin typeface="Calibri"/>
                <a:cs typeface="Calibri"/>
              </a:rPr>
              <a:t>Courses(cid:</a:t>
            </a:r>
            <a:r>
              <a:rPr dirty="0" sz="2150" spc="75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string,</a:t>
            </a:r>
            <a:r>
              <a:rPr dirty="0" sz="2150" spc="-10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cname:string,</a:t>
            </a:r>
            <a:r>
              <a:rPr dirty="0" sz="2150" spc="80" i="1"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credits:integer)</a:t>
            </a:r>
            <a:endParaRPr sz="2150">
              <a:latin typeface="Calibri"/>
              <a:cs typeface="Calibri"/>
            </a:endParaRPr>
          </a:p>
          <a:p>
            <a:pPr lvl="1" marL="747395" indent="-34290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SzPct val="76744"/>
              <a:buFont typeface="Wingdings"/>
              <a:buChar char=""/>
              <a:tabLst>
                <a:tab pos="747395" algn="l"/>
              </a:tabLst>
            </a:pPr>
            <a:r>
              <a:rPr dirty="0" sz="2150" i="1">
                <a:latin typeface="Calibri"/>
                <a:cs typeface="Calibri"/>
              </a:rPr>
              <a:t>Enrolled(sid:string,</a:t>
            </a:r>
            <a:r>
              <a:rPr dirty="0" sz="2150" spc="-80" i="1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cid:string,</a:t>
            </a:r>
            <a:r>
              <a:rPr dirty="0" sz="2150" spc="45" i="1"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grade:string)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 sz="2150" b="1">
                <a:solidFill>
                  <a:srgbClr val="622422"/>
                </a:solidFill>
                <a:latin typeface="Calibri"/>
                <a:cs typeface="Calibri"/>
              </a:rPr>
              <a:t>External</a:t>
            </a:r>
            <a:r>
              <a:rPr dirty="0" sz="2150" spc="95" b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622422"/>
                </a:solidFill>
                <a:latin typeface="Calibri"/>
                <a:cs typeface="Calibri"/>
              </a:rPr>
              <a:t>Schema</a:t>
            </a:r>
            <a:r>
              <a:rPr dirty="0" sz="2150" spc="15" b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622422"/>
                </a:solidFill>
                <a:latin typeface="Calibri"/>
                <a:cs typeface="Calibri"/>
              </a:rPr>
              <a:t>(View):</a:t>
            </a:r>
            <a:endParaRPr sz="2150">
              <a:latin typeface="Calibri"/>
              <a:cs typeface="Calibri"/>
            </a:endParaRPr>
          </a:p>
          <a:p>
            <a:pPr lvl="1" marL="747395" indent="-34290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SzPct val="76744"/>
              <a:buFont typeface="Wingdings"/>
              <a:buChar char=""/>
              <a:tabLst>
                <a:tab pos="747395" algn="l"/>
              </a:tabLst>
            </a:pPr>
            <a:r>
              <a:rPr dirty="0" sz="2150" i="1">
                <a:latin typeface="Calibri"/>
                <a:cs typeface="Calibri"/>
              </a:rPr>
              <a:t>View1-</a:t>
            </a:r>
            <a:r>
              <a:rPr dirty="0" sz="2150" spc="70" i="1"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Course_info(</a:t>
            </a:r>
            <a:r>
              <a:rPr dirty="0" u="heavy" sz="215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cid:string,enrollment:integer</a:t>
            </a:r>
            <a:r>
              <a:rPr dirty="0" sz="2150" spc="-10" i="1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747395" indent="-342900">
              <a:lnSpc>
                <a:spcPct val="100000"/>
              </a:lnSpc>
              <a:spcBef>
                <a:spcPts val="710"/>
              </a:spcBef>
              <a:buClr>
                <a:srgbClr val="FF8787"/>
              </a:buClr>
              <a:buSzPct val="76744"/>
              <a:buFont typeface="Wingdings"/>
              <a:buChar char=""/>
              <a:tabLst>
                <a:tab pos="747395" algn="l"/>
              </a:tabLst>
            </a:pPr>
            <a:r>
              <a:rPr dirty="0" sz="2150" i="1">
                <a:latin typeface="Calibri"/>
                <a:cs typeface="Calibri"/>
              </a:rPr>
              <a:t>View2-studeninfo(</a:t>
            </a:r>
            <a:r>
              <a:rPr dirty="0" u="heavy" sz="21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id:int.</a:t>
            </a:r>
            <a:r>
              <a:rPr dirty="0" u="heavy" sz="2150" spc="-1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15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name:string</a:t>
            </a:r>
            <a:r>
              <a:rPr dirty="0" sz="2150" spc="-10" i="1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946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Database</a:t>
            </a:r>
            <a:r>
              <a:rPr dirty="0" spc="-120"/>
              <a:t> </a:t>
            </a:r>
            <a:r>
              <a:rPr dirty="0" spc="-20"/>
              <a:t>Users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4381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120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82953" y="1131773"/>
            <a:ext cx="7724140" cy="4599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39395" indent="-226695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"/>
              <a:tabLst>
                <a:tab pos="239395" algn="l"/>
              </a:tabLst>
            </a:pPr>
            <a:r>
              <a:rPr dirty="0" sz="2000" b="1">
                <a:latin typeface="Calibri"/>
                <a:cs typeface="Calibri"/>
              </a:rPr>
              <a:t>End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Users: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 algn="just" marL="12700" marR="5080" indent="482600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495300" algn="l"/>
              </a:tabLst>
            </a:pPr>
            <a:r>
              <a:rPr dirty="0" sz="2000" b="1">
                <a:latin typeface="Calibri"/>
                <a:cs typeface="Calibri"/>
              </a:rPr>
              <a:t>Casual</a:t>
            </a:r>
            <a:r>
              <a:rPr dirty="0" sz="2000" spc="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Users:</a:t>
            </a:r>
            <a:r>
              <a:rPr dirty="0" sz="2000" spc="240" b="1">
                <a:latin typeface="Calibri"/>
                <a:cs typeface="Calibri"/>
              </a:rPr>
              <a:t>  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who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communicate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little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period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15">
                <a:latin typeface="Calibri"/>
                <a:cs typeface="Calibri"/>
              </a:rPr>
              <a:t>   </a:t>
            </a:r>
            <a:r>
              <a:rPr dirty="0" sz="2000">
                <a:latin typeface="Calibri"/>
                <a:cs typeface="Calibri"/>
              </a:rPr>
              <a:t>time.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occasionally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210">
                <a:latin typeface="Calibri"/>
                <a:cs typeface="Calibri"/>
              </a:rPr>
              <a:t> 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database.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temporary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  <a:p>
            <a:pPr algn="just" marL="12700" marR="5715" indent="490220">
              <a:lnSpc>
                <a:spcPct val="100000"/>
              </a:lnSpc>
              <a:buAutoNum type="arabicParenR"/>
              <a:tabLst>
                <a:tab pos="502920" algn="l"/>
              </a:tabLst>
            </a:pPr>
            <a:r>
              <a:rPr dirty="0" sz="2000" b="1">
                <a:latin typeface="Calibri"/>
                <a:cs typeface="Calibri"/>
              </a:rPr>
              <a:t>Parametric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Naive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Users: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communicate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regular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period.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job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constantly </a:t>
            </a:r>
            <a:r>
              <a:rPr dirty="0" sz="2000">
                <a:latin typeface="Calibri"/>
                <a:cs typeface="Calibri"/>
              </a:rPr>
              <a:t>querying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standard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queries.</a:t>
            </a:r>
            <a:endParaRPr sz="2000">
              <a:latin typeface="Calibri"/>
              <a:cs typeface="Calibri"/>
            </a:endParaRPr>
          </a:p>
          <a:p>
            <a:pPr algn="just" marL="12700" marR="7620" indent="452120">
              <a:lnSpc>
                <a:spcPct val="100000"/>
              </a:lnSpc>
              <a:buAutoNum type="arabicParenR"/>
              <a:tabLst>
                <a:tab pos="464820" algn="l"/>
              </a:tabLst>
            </a:pPr>
            <a:r>
              <a:rPr dirty="0" sz="2000" b="1">
                <a:latin typeface="Calibri"/>
                <a:cs typeface="Calibri"/>
              </a:rPr>
              <a:t>Sophisticated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End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Users: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engineers,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scientists,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business </a:t>
            </a:r>
            <a:r>
              <a:rPr dirty="0" sz="2000">
                <a:latin typeface="Calibri"/>
                <a:cs typeface="Calibri"/>
              </a:rPr>
              <a:t>analysts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familiar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want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use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database,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regularly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don’t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want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they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temporarily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12700" marR="5080" indent="388620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401320" algn="l"/>
              </a:tabLst>
            </a:pPr>
            <a:r>
              <a:rPr dirty="0" sz="2000" b="1">
                <a:latin typeface="Calibri"/>
                <a:cs typeface="Calibri"/>
              </a:rPr>
              <a:t>Stand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alone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users: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maintain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personal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ready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made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available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market </a:t>
            </a:r>
            <a:r>
              <a:rPr dirty="0" sz="2000">
                <a:latin typeface="Calibri"/>
                <a:cs typeface="Calibri"/>
              </a:rPr>
              <a:t>easily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menu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interface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can </a:t>
            </a:r>
            <a:r>
              <a:rPr dirty="0" sz="2000">
                <a:latin typeface="Calibri"/>
                <a:cs typeface="Calibri"/>
              </a:rPr>
              <a:t>easily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70075">
              <a:lnSpc>
                <a:spcPct val="100000"/>
              </a:lnSpc>
              <a:spcBef>
                <a:spcPts val="105"/>
              </a:spcBef>
            </a:pPr>
            <a:r>
              <a:rPr dirty="0"/>
              <a:t>Database</a:t>
            </a:r>
            <a:r>
              <a:rPr dirty="0" spc="-165"/>
              <a:t> </a:t>
            </a:r>
            <a:r>
              <a:rPr dirty="0" spc="-10"/>
              <a:t>Administrator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057145" y="63131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60229" y="63131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03688" y="63131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31054" y="63131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51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618934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Coordinates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activities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2444" y="1557019"/>
            <a:ext cx="6625590" cy="35452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1170">
              <a:lnSpc>
                <a:spcPct val="100000"/>
              </a:lnSpc>
              <a:spcBef>
                <a:spcPts val="95"/>
              </a:spcBef>
              <a:tabLst>
                <a:tab pos="756285" algn="l"/>
                <a:tab pos="1327785" algn="l"/>
                <a:tab pos="1652270" algn="l"/>
                <a:tab pos="2405380" algn="l"/>
                <a:tab pos="4226560" algn="l"/>
                <a:tab pos="4647565" algn="l"/>
                <a:tab pos="5209540" algn="l"/>
              </a:tabLst>
            </a:pPr>
            <a:r>
              <a:rPr dirty="0" sz="2150" spc="-50">
                <a:latin typeface="Arial MT"/>
                <a:cs typeface="Arial MT"/>
              </a:rPr>
              <a:t>–</a:t>
            </a:r>
            <a:r>
              <a:rPr dirty="0" sz="2150">
                <a:latin typeface="Arial MT"/>
                <a:cs typeface="Arial MT"/>
              </a:rPr>
              <a:t>	</a:t>
            </a:r>
            <a:r>
              <a:rPr dirty="0" sz="2150" spc="-25">
                <a:latin typeface="Calibri"/>
                <a:cs typeface="Calibri"/>
              </a:rPr>
              <a:t>has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good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understanding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enterprise’s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85"/>
              </a:spcBef>
            </a:pPr>
            <a:r>
              <a:rPr dirty="0" sz="2150">
                <a:latin typeface="Calibri"/>
                <a:cs typeface="Calibri"/>
              </a:rPr>
              <a:t>resources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needs.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administrator's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duties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include: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Storage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structure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method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definition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physical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organization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modification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Granting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users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authority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Backing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up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Monitoring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performance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responding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changes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tuning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25994" y="1555495"/>
            <a:ext cx="133223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>
                <a:latin typeface="Calibri"/>
                <a:cs typeface="Calibri"/>
              </a:rPr>
              <a:t>information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3266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25"/>
              <a:t> </a:t>
            </a:r>
            <a:r>
              <a:rPr dirty="0" spc="-10"/>
              <a:t>Independence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85745" y="63131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88829" y="63131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32288" y="63131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59654" y="63131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52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42745"/>
            <a:ext cx="7966709" cy="487870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Independence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defined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property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helps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3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level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 </a:t>
            </a:r>
            <a:r>
              <a:rPr dirty="0" sz="2150">
                <a:latin typeface="Calibri"/>
                <a:cs typeface="Calibri"/>
              </a:rPr>
              <a:t>system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without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requiring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next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higher level.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5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independence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helps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keep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separated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all </a:t>
            </a:r>
            <a:r>
              <a:rPr dirty="0" sz="2150">
                <a:latin typeface="Calibri"/>
                <a:cs typeface="Calibri"/>
              </a:rPr>
              <a:t>programs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make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it.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independence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Physical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1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independence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Logical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independence.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15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</a:pP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One</a:t>
            </a:r>
            <a:r>
              <a:rPr dirty="0" sz="2150" spc="15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of</a:t>
            </a:r>
            <a:r>
              <a:rPr dirty="0" sz="2150" spc="55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the</a:t>
            </a:r>
            <a:r>
              <a:rPr dirty="0" sz="2150" spc="85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most</a:t>
            </a:r>
            <a:r>
              <a:rPr dirty="0" sz="2150" spc="5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important</a:t>
            </a:r>
            <a:r>
              <a:rPr dirty="0" sz="2150" spc="-5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benefits</a:t>
            </a:r>
            <a:r>
              <a:rPr dirty="0" sz="2150" spc="-10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of</a:t>
            </a:r>
            <a:r>
              <a:rPr dirty="0" sz="2150" spc="70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using</a:t>
            </a:r>
            <a:r>
              <a:rPr dirty="0" sz="2150" spc="55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i="1">
                <a:solidFill>
                  <a:srgbClr val="622422"/>
                </a:solidFill>
                <a:latin typeface="Calibri"/>
                <a:cs typeface="Calibri"/>
              </a:rPr>
              <a:t>a</a:t>
            </a:r>
            <a:r>
              <a:rPr dirty="0" sz="2150" spc="-40" i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 spc="-10" i="1">
                <a:solidFill>
                  <a:srgbClr val="622422"/>
                </a:solidFill>
                <a:latin typeface="Calibri"/>
                <a:cs typeface="Calibri"/>
              </a:rPr>
              <a:t>DBMS!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176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Physical</a:t>
            </a:r>
            <a:r>
              <a:rPr dirty="0" spc="-170"/>
              <a:t> </a:t>
            </a:r>
            <a:r>
              <a:rPr dirty="0"/>
              <a:t>Data</a:t>
            </a:r>
            <a:r>
              <a:rPr dirty="0" spc="-160"/>
              <a:t> </a:t>
            </a:r>
            <a:r>
              <a:rPr dirty="0" spc="-10"/>
              <a:t>Independence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11530" y="1130553"/>
            <a:ext cx="8086725" cy="442912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5080" indent="-342900">
              <a:lnSpc>
                <a:spcPct val="103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Physical</a:t>
            </a:r>
            <a:r>
              <a:rPr dirty="0" sz="2150" spc="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independence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defined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capacity</a:t>
            </a:r>
            <a:r>
              <a:rPr dirty="0" sz="2150" spc="270">
                <a:latin typeface="Calibri"/>
                <a:cs typeface="Calibri"/>
              </a:rPr>
              <a:t>   </a:t>
            </a:r>
            <a:r>
              <a:rPr dirty="0" sz="2150" spc="-25">
                <a:latin typeface="Calibri"/>
                <a:cs typeface="Calibri"/>
              </a:rPr>
              <a:t>to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3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internal</a:t>
            </a:r>
            <a:r>
              <a:rPr dirty="0" sz="2150" spc="3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4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without</a:t>
            </a:r>
            <a:r>
              <a:rPr dirty="0" sz="2150" spc="4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having</a:t>
            </a:r>
            <a:r>
              <a:rPr dirty="0" sz="2150" spc="3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390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schema.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6985" indent="-342900">
              <a:lnSpc>
                <a:spcPct val="1028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changes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storage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size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 </a:t>
            </a:r>
            <a:r>
              <a:rPr dirty="0" sz="2150">
                <a:latin typeface="Calibri"/>
                <a:cs typeface="Calibri"/>
              </a:rPr>
              <a:t>server,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then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structure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be </a:t>
            </a:r>
            <a:r>
              <a:rPr dirty="0" sz="2150" spc="-10">
                <a:latin typeface="Calibri"/>
                <a:cs typeface="Calibri"/>
              </a:rPr>
              <a:t>affected.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689985" algn="l"/>
              </a:tabLst>
            </a:pPr>
            <a:r>
              <a:rPr dirty="0" sz="2150">
                <a:latin typeface="Calibri"/>
                <a:cs typeface="Calibri"/>
              </a:rPr>
              <a:t>Physical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independence</a:t>
            </a:r>
            <a:r>
              <a:rPr dirty="0" sz="2150">
                <a:latin typeface="Calibri"/>
                <a:cs typeface="Calibri"/>
              </a:rPr>
              <a:t>	is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separate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levels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5"/>
              </a:spcBef>
            </a:pP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internal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levels.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Physical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independence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occurs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logical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interface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level.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05327" y="6351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08410" y="6351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51869" y="6351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79235" y="63512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53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734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Physical</a:t>
            </a:r>
            <a:r>
              <a:rPr dirty="0" spc="-105"/>
              <a:t> </a:t>
            </a:r>
            <a:r>
              <a:rPr dirty="0"/>
              <a:t>Data</a:t>
            </a:r>
            <a:r>
              <a:rPr dirty="0" spc="-120"/>
              <a:t> </a:t>
            </a:r>
            <a:r>
              <a:rPr dirty="0"/>
              <a:t>Independence</a:t>
            </a:r>
            <a:r>
              <a:rPr dirty="0" spc="-160"/>
              <a:t> </a:t>
            </a:r>
            <a:r>
              <a:rPr dirty="0" spc="-10"/>
              <a:t>(contd..)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55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1530" y="1144269"/>
            <a:ext cx="8021955" cy="3532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marR="5080" indent="-342900">
              <a:lnSpc>
                <a:spcPct val="103699"/>
              </a:lnSpc>
              <a:buFont typeface="Arial MT"/>
              <a:buChar char="•"/>
              <a:tabLst>
                <a:tab pos="355600" algn="l"/>
                <a:tab pos="6209665" algn="l"/>
              </a:tabLst>
            </a:pPr>
            <a:r>
              <a:rPr dirty="0" sz="2150">
                <a:latin typeface="Calibri"/>
                <a:cs typeface="Calibri"/>
              </a:rPr>
              <a:t>Due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Physical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independence,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below</a:t>
            </a:r>
            <a:r>
              <a:rPr dirty="0" sz="2150">
                <a:latin typeface="Calibri"/>
                <a:cs typeface="Calibri"/>
              </a:rPr>
              <a:t>	change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not </a:t>
            </a:r>
            <a:r>
              <a:rPr dirty="0" sz="2150" spc="-10">
                <a:latin typeface="Calibri"/>
                <a:cs typeface="Calibri"/>
              </a:rPr>
              <a:t>affect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layer.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new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storage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device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like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Hard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Drive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Magnetic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Tapes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Modifying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file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organization</a:t>
            </a:r>
            <a:r>
              <a:rPr dirty="0" sz="2150">
                <a:latin typeface="Calibri"/>
                <a:cs typeface="Calibri"/>
              </a:rPr>
              <a:t> technique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Switching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different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structures.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Changing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method.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Modifying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indexes.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Changes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compression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techniques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hashing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algorithms.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 Location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 Database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drive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Drive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047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078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512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378654" y="60464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12900">
              <a:lnSpc>
                <a:spcPct val="100000"/>
              </a:lnSpc>
              <a:spcBef>
                <a:spcPts val="100"/>
              </a:spcBef>
            </a:pPr>
            <a:r>
              <a:rPr dirty="0"/>
              <a:t>Logical</a:t>
            </a:r>
            <a:r>
              <a:rPr dirty="0" spc="-150"/>
              <a:t> </a:t>
            </a:r>
            <a:r>
              <a:rPr dirty="0"/>
              <a:t>Data</a:t>
            </a:r>
            <a:r>
              <a:rPr dirty="0" spc="-105"/>
              <a:t> </a:t>
            </a:r>
            <a:r>
              <a:rPr dirty="0" spc="-10"/>
              <a:t>Independence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55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1530" y="1130553"/>
            <a:ext cx="8089265" cy="4104004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7620" indent="-342900">
              <a:lnSpc>
                <a:spcPct val="103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Logical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independence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refers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characteristic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being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able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to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2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29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21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21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without</a:t>
            </a:r>
            <a:r>
              <a:rPr dirty="0" sz="2150" spc="21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having</a:t>
            </a:r>
            <a:r>
              <a:rPr dirty="0" sz="2150" spc="2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change</a:t>
            </a:r>
            <a:r>
              <a:rPr dirty="0" sz="2150" spc="210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external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schema.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1243965" algn="l"/>
                <a:tab pos="1870710" algn="l"/>
                <a:tab pos="3595370" algn="l"/>
                <a:tab pos="3902075" algn="l"/>
                <a:tab pos="4556125" algn="l"/>
                <a:tab pos="4926330" algn="l"/>
                <a:tab pos="6014720" algn="l"/>
                <a:tab pos="6522084" algn="l"/>
                <a:tab pos="7558405" algn="l"/>
              </a:tabLst>
            </a:pPr>
            <a:r>
              <a:rPr dirty="0" sz="2150" spc="-10">
                <a:latin typeface="Calibri"/>
                <a:cs typeface="Calibri"/>
              </a:rPr>
              <a:t>Logical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data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independence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used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to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separate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external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level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view.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changes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view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data,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then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0"/>
              </a:spcBef>
            </a:pPr>
            <a:r>
              <a:rPr dirty="0" sz="2150">
                <a:latin typeface="Calibri"/>
                <a:cs typeface="Calibri"/>
              </a:rPr>
              <a:t>user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view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would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affected.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Logical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independence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occurs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</a:t>
            </a:r>
            <a:r>
              <a:rPr dirty="0" sz="2150" spc="-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user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interface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level.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571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02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036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31054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8680">
              <a:lnSpc>
                <a:spcPct val="100000"/>
              </a:lnSpc>
              <a:spcBef>
                <a:spcPts val="100"/>
              </a:spcBef>
            </a:pPr>
            <a:r>
              <a:rPr dirty="0"/>
              <a:t>Logical</a:t>
            </a:r>
            <a:r>
              <a:rPr dirty="0" spc="-105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/>
              <a:t>Independence</a:t>
            </a:r>
            <a:r>
              <a:rPr dirty="0" spc="-170"/>
              <a:t> </a:t>
            </a:r>
            <a:r>
              <a:rPr dirty="0" spc="-10"/>
              <a:t>(contd..)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438145" y="63131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63131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63131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12054" y="63131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56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1530" y="1144269"/>
            <a:ext cx="8074659" cy="2232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marR="8890" indent="-342900">
              <a:lnSpc>
                <a:spcPct val="103699"/>
              </a:lnSpc>
              <a:buFont typeface="Arial MT"/>
              <a:buChar char="•"/>
              <a:tabLst>
                <a:tab pos="355600" algn="l"/>
                <a:tab pos="1299845" algn="l"/>
                <a:tab pos="2188845" algn="l"/>
                <a:tab pos="3999865" algn="l"/>
                <a:tab pos="4894580" algn="l"/>
                <a:tab pos="5400040" algn="l"/>
                <a:tab pos="6219190" algn="l"/>
                <a:tab pos="7679055" algn="l"/>
              </a:tabLst>
            </a:pPr>
            <a:r>
              <a:rPr dirty="0" sz="2150">
                <a:latin typeface="Calibri"/>
                <a:cs typeface="Calibri"/>
              </a:rPr>
              <a:t>Due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to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Logical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independence,</a:t>
            </a:r>
            <a:r>
              <a:rPr dirty="0" sz="2150">
                <a:latin typeface="Calibri"/>
                <a:cs typeface="Calibri"/>
              </a:rPr>
              <a:t>	any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below</a:t>
            </a:r>
            <a:r>
              <a:rPr dirty="0" sz="2150">
                <a:latin typeface="Calibri"/>
                <a:cs typeface="Calibri"/>
              </a:rPr>
              <a:t>	change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will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not </a:t>
            </a:r>
            <a:r>
              <a:rPr dirty="0" sz="2150" spc="-10">
                <a:latin typeface="Calibri"/>
                <a:cs typeface="Calibri"/>
              </a:rPr>
              <a:t>affect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external</a:t>
            </a:r>
            <a:r>
              <a:rPr dirty="0" sz="2150" spc="-10">
                <a:latin typeface="Calibri"/>
                <a:cs typeface="Calibri"/>
              </a:rPr>
              <a:t> layer.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  <a:tab pos="3112770" algn="l"/>
                <a:tab pos="3388360" algn="l"/>
                <a:tab pos="4008754" algn="l"/>
                <a:tab pos="5219065" algn="l"/>
                <a:tab pos="6021070" algn="l"/>
                <a:tab pos="6402070" algn="l"/>
                <a:tab pos="7889240" algn="l"/>
              </a:tabLst>
            </a:pPr>
            <a:r>
              <a:rPr dirty="0" sz="2150" spc="-10">
                <a:latin typeface="Calibri"/>
                <a:cs typeface="Calibri"/>
              </a:rPr>
              <a:t>Add/Modify/Delete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new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attribute,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possible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without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rewrite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existing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application</a:t>
            </a:r>
            <a:r>
              <a:rPr dirty="0" sz="2150" spc="-10">
                <a:latin typeface="Calibri"/>
                <a:cs typeface="Calibri"/>
              </a:rPr>
              <a:t> programs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Merging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1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one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Breaking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existing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records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1544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0"/>
              <a:t>DBMS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3619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650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084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35854" y="64655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19480" y="970336"/>
            <a:ext cx="7889240" cy="5412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18135">
              <a:lnSpc>
                <a:spcPct val="1501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Structure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referred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Overall System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tier </a:t>
            </a:r>
            <a:r>
              <a:rPr dirty="0" sz="2000" spc="-10">
                <a:latin typeface="Calibri"/>
                <a:cs typeface="Calibri"/>
              </a:rPr>
              <a:t>architecture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60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divided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components: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2000" b="1">
                <a:latin typeface="Calibri"/>
                <a:cs typeface="Calibri"/>
              </a:rPr>
              <a:t>Query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Processor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Manager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2000" b="1">
                <a:latin typeface="Calibri"/>
                <a:cs typeface="Calibri"/>
              </a:rPr>
              <a:t>Disk</a:t>
            </a:r>
            <a:r>
              <a:rPr dirty="0" sz="2000" spc="-10" b="1">
                <a:latin typeface="Calibri"/>
                <a:cs typeface="Calibri"/>
              </a:rPr>
              <a:t> Storage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50100"/>
              </a:lnSpc>
              <a:spcBef>
                <a:spcPts val="35"/>
              </a:spcBef>
            </a:pPr>
            <a:r>
              <a:rPr dirty="0" sz="2000" b="1">
                <a:latin typeface="Calibri"/>
                <a:cs typeface="Calibri"/>
              </a:rPr>
              <a:t>Query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Processor: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interprets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(queries)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received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user </a:t>
            </a:r>
            <a:r>
              <a:rPr dirty="0" sz="2000">
                <a:latin typeface="Calibri"/>
                <a:cs typeface="Calibri"/>
              </a:rPr>
              <a:t>via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instructions.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following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components</a:t>
            </a:r>
            <a:r>
              <a:rPr dirty="0" sz="2000" spc="-50">
                <a:latin typeface="Calibri"/>
                <a:cs typeface="Calibri"/>
              </a:rPr>
              <a:t> –</a:t>
            </a:r>
            <a:endParaRPr sz="2000">
              <a:latin typeface="Calibri"/>
              <a:cs typeface="Calibri"/>
            </a:endParaRPr>
          </a:p>
          <a:p>
            <a:pPr marL="12700" marR="659130">
              <a:lnSpc>
                <a:spcPct val="150100"/>
              </a:lnSpc>
              <a:spcBef>
                <a:spcPts val="395"/>
              </a:spcBef>
            </a:pPr>
            <a:r>
              <a:rPr dirty="0" sz="2000" b="1">
                <a:latin typeface="Calibri"/>
                <a:cs typeface="Calibri"/>
              </a:rPr>
              <a:t>DML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Compiler,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DDL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30" b="1">
                <a:latin typeface="Calibri"/>
                <a:cs typeface="Calibri"/>
              </a:rPr>
              <a:t>Interpreter,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Embedded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DML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Pre-compiler,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Query Optimizer.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32685">
              <a:lnSpc>
                <a:spcPct val="100000"/>
              </a:lnSpc>
              <a:spcBef>
                <a:spcPts val="105"/>
              </a:spcBef>
            </a:pPr>
            <a:r>
              <a:rPr dirty="0"/>
              <a:t>Query</a:t>
            </a:r>
            <a:r>
              <a:rPr dirty="0" spc="-85"/>
              <a:t> </a:t>
            </a:r>
            <a:r>
              <a:rPr dirty="0" spc="-10"/>
              <a:t>Processing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056992"/>
            <a:ext cx="2844165" cy="126174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89560" indent="-27686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289560" algn="l"/>
              </a:tabLst>
            </a:pPr>
            <a:r>
              <a:rPr dirty="0" sz="2150">
                <a:latin typeface="Calibri"/>
                <a:cs typeface="Calibri"/>
              </a:rPr>
              <a:t>Parsing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translation</a:t>
            </a:r>
            <a:endParaRPr sz="2150">
              <a:latin typeface="Calibri"/>
              <a:cs typeface="Calibri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287655" algn="l"/>
              </a:tabLst>
            </a:pPr>
            <a:r>
              <a:rPr dirty="0" sz="2150" spc="-10">
                <a:latin typeface="Calibri"/>
                <a:cs typeface="Calibri"/>
              </a:rPr>
              <a:t>Optimization</a:t>
            </a:r>
            <a:endParaRPr sz="2150">
              <a:latin typeface="Calibri"/>
              <a:cs typeface="Calibri"/>
            </a:endParaRPr>
          </a:p>
          <a:p>
            <a:pPr marL="287655" indent="-27495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87655" algn="l"/>
              </a:tabLst>
            </a:pPr>
            <a:r>
              <a:rPr dirty="0" sz="2150" spc="-10">
                <a:latin typeface="Calibri"/>
                <a:cs typeface="Calibri"/>
              </a:rPr>
              <a:t>Evaluation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714500" y="2400300"/>
            <a:ext cx="6125210" cy="3743960"/>
            <a:chOff x="1714500" y="2400300"/>
            <a:chExt cx="6125210" cy="374396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2892" y="2511551"/>
              <a:ext cx="5964935" cy="354939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714500" y="2400299"/>
              <a:ext cx="6125210" cy="3743960"/>
            </a:xfrm>
            <a:custGeom>
              <a:avLst/>
              <a:gdLst/>
              <a:ahLst/>
              <a:cxnLst/>
              <a:rect l="l" t="t" r="r" b="b"/>
              <a:pathLst>
                <a:path w="6125209" h="3743960">
                  <a:moveTo>
                    <a:pt x="6099556" y="25400"/>
                  </a:moveTo>
                  <a:lnTo>
                    <a:pt x="6086856" y="25400"/>
                  </a:lnTo>
                  <a:lnTo>
                    <a:pt x="6086856" y="38100"/>
                  </a:lnTo>
                  <a:lnTo>
                    <a:pt x="6086856" y="3705860"/>
                  </a:lnTo>
                  <a:lnTo>
                    <a:pt x="38100" y="3705860"/>
                  </a:lnTo>
                  <a:lnTo>
                    <a:pt x="38100" y="38100"/>
                  </a:lnTo>
                  <a:lnTo>
                    <a:pt x="6086856" y="38100"/>
                  </a:lnTo>
                  <a:lnTo>
                    <a:pt x="6086856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3705860"/>
                  </a:lnTo>
                  <a:lnTo>
                    <a:pt x="25400" y="3718560"/>
                  </a:lnTo>
                  <a:lnTo>
                    <a:pt x="6099556" y="3718560"/>
                  </a:lnTo>
                  <a:lnTo>
                    <a:pt x="6099556" y="3705860"/>
                  </a:lnTo>
                  <a:lnTo>
                    <a:pt x="6099556" y="38100"/>
                  </a:lnTo>
                  <a:lnTo>
                    <a:pt x="6099556" y="25400"/>
                  </a:lnTo>
                  <a:close/>
                </a:path>
                <a:path w="6125209" h="3743960">
                  <a:moveTo>
                    <a:pt x="6124956" y="0"/>
                  </a:moveTo>
                  <a:lnTo>
                    <a:pt x="6112256" y="0"/>
                  </a:lnTo>
                  <a:lnTo>
                    <a:pt x="6112256" y="12700"/>
                  </a:lnTo>
                  <a:lnTo>
                    <a:pt x="6112256" y="3731260"/>
                  </a:lnTo>
                  <a:lnTo>
                    <a:pt x="12700" y="3731260"/>
                  </a:lnTo>
                  <a:lnTo>
                    <a:pt x="12700" y="12700"/>
                  </a:lnTo>
                  <a:lnTo>
                    <a:pt x="6112256" y="12700"/>
                  </a:lnTo>
                  <a:lnTo>
                    <a:pt x="6112256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3731260"/>
                  </a:lnTo>
                  <a:lnTo>
                    <a:pt x="0" y="3743960"/>
                  </a:lnTo>
                  <a:lnTo>
                    <a:pt x="6124956" y="3743960"/>
                  </a:lnTo>
                  <a:lnTo>
                    <a:pt x="6124956" y="3731260"/>
                  </a:lnTo>
                  <a:lnTo>
                    <a:pt x="6124956" y="12700"/>
                  </a:lnTo>
                  <a:lnTo>
                    <a:pt x="6124956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5143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174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608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882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58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12925">
              <a:lnSpc>
                <a:spcPct val="100000"/>
              </a:lnSpc>
              <a:spcBef>
                <a:spcPts val="100"/>
              </a:spcBef>
            </a:pPr>
            <a:r>
              <a:rPr dirty="0"/>
              <a:t>Query</a:t>
            </a:r>
            <a:r>
              <a:rPr dirty="0" spc="-70"/>
              <a:t> </a:t>
            </a:r>
            <a:r>
              <a:rPr dirty="0"/>
              <a:t>Processing</a:t>
            </a:r>
            <a:r>
              <a:rPr dirty="0" spc="-95"/>
              <a:t> </a:t>
            </a:r>
            <a:r>
              <a:rPr dirty="0" spc="-10"/>
              <a:t>(Cont.)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057913"/>
            <a:ext cx="4955540" cy="119316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Alternative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ways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evaluating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000">
                <a:latin typeface="Calibri"/>
                <a:cs typeface="Calibri"/>
              </a:rPr>
              <a:t>Equivalent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expressions</a:t>
            </a:r>
            <a:endParaRPr sz="200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algorithms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operation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2444" y="2283968"/>
            <a:ext cx="20396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975360" algn="l"/>
              </a:tabLst>
            </a:pPr>
            <a:r>
              <a:rPr dirty="0" sz="2000" spc="-20">
                <a:latin typeface="Calibri"/>
                <a:cs typeface="Calibri"/>
              </a:rPr>
              <a:t>Cost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difference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53054" y="2283968"/>
            <a:ext cx="38481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38555" algn="l"/>
                <a:tab pos="1405255" algn="l"/>
                <a:tab pos="2100580" algn="l"/>
                <a:tab pos="2653665" algn="l"/>
                <a:tab pos="2921635" algn="l"/>
              </a:tabLst>
            </a:pPr>
            <a:r>
              <a:rPr dirty="0" sz="2000" spc="-10">
                <a:latin typeface="Calibri"/>
                <a:cs typeface="Calibri"/>
              </a:rPr>
              <a:t>between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good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and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bad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way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87718" y="2283968"/>
            <a:ext cx="180593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5285" algn="l"/>
                <a:tab pos="1670685" algn="l"/>
              </a:tabLst>
            </a:pPr>
            <a:r>
              <a:rPr dirty="0" sz="2000" spc="-25">
                <a:latin typeface="Calibri"/>
                <a:cs typeface="Calibri"/>
              </a:rPr>
              <a:t>of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evaluating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2444" y="2496835"/>
            <a:ext cx="4505325" cy="833119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875"/>
              </a:spcBef>
            </a:pP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 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enormous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estimate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cost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operations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1168" y="3363214"/>
            <a:ext cx="7547609" cy="13277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97180" marR="15875" indent="-285115">
              <a:lnSpc>
                <a:spcPct val="102000"/>
              </a:lnSpc>
              <a:spcBef>
                <a:spcPts val="55"/>
              </a:spcBef>
              <a:buFont typeface="Arial MT"/>
              <a:buChar char="–"/>
              <a:tabLst>
                <a:tab pos="297180" algn="l"/>
                <a:tab pos="1460500" algn="l"/>
                <a:tab pos="2576195" algn="l"/>
                <a:tab pos="3034665" algn="l"/>
                <a:tab pos="4274185" algn="l"/>
                <a:tab pos="5770880" algn="l"/>
                <a:tab pos="6610984" algn="l"/>
              </a:tabLst>
            </a:pPr>
            <a:r>
              <a:rPr dirty="0" sz="2000" spc="-10">
                <a:latin typeface="Calibri"/>
                <a:cs typeface="Calibri"/>
              </a:rPr>
              <a:t>Depends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critically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statistical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information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about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relations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maintain</a:t>
            </a:r>
            <a:endParaRPr sz="2000">
              <a:latin typeface="Calibri"/>
              <a:cs typeface="Calibri"/>
            </a:endParaRPr>
          </a:p>
          <a:p>
            <a:pPr marL="297180" marR="5080" indent="-285115">
              <a:lnSpc>
                <a:spcPct val="102000"/>
              </a:lnSpc>
              <a:spcBef>
                <a:spcPts val="505"/>
              </a:spcBef>
              <a:buFont typeface="Arial MT"/>
              <a:buChar char="–"/>
              <a:tabLst>
                <a:tab pos="297180" algn="l"/>
              </a:tabLst>
            </a:pP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estimate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statistics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intermediate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results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cost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complex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expressions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047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9078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512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378654" y="61988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701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Storage</a:t>
            </a:r>
            <a:r>
              <a:rPr dirty="0" spc="-105"/>
              <a:t> </a:t>
            </a:r>
            <a:r>
              <a:rPr dirty="0" spc="-10"/>
              <a:t>Management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61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770382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8787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150" b="1">
                <a:latin typeface="Calibri"/>
                <a:cs typeface="Calibri"/>
              </a:rPr>
              <a:t>Storage</a:t>
            </a:r>
            <a:r>
              <a:rPr dirty="0" sz="2150" spc="3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manager</a:t>
            </a:r>
            <a:r>
              <a:rPr dirty="0" sz="2150" spc="3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module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interface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59751" y="1488389"/>
            <a:ext cx="10274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2460" algn="l"/>
              </a:tabLst>
            </a:pP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2444" y="1496008"/>
            <a:ext cx="6802755" cy="3346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105"/>
              </a:spcBef>
              <a:tabLst>
                <a:tab pos="1470660" algn="l"/>
                <a:tab pos="2044064" algn="l"/>
                <a:tab pos="3265170" algn="l"/>
                <a:tab pos="3959860" algn="l"/>
                <a:tab pos="4866640" algn="l"/>
                <a:tab pos="5266055" algn="l"/>
                <a:tab pos="5848985" algn="l"/>
              </a:tabLst>
            </a:pPr>
            <a:r>
              <a:rPr dirty="0" sz="2000" spc="-10">
                <a:latin typeface="Calibri"/>
                <a:cs typeface="Calibri"/>
              </a:rPr>
              <a:t>between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the</a:t>
            </a:r>
            <a:r>
              <a:rPr dirty="0" sz="2000">
                <a:latin typeface="Calibri"/>
                <a:cs typeface="Calibri"/>
              </a:rPr>
              <a:t>	low-</a:t>
            </a:r>
            <a:r>
              <a:rPr dirty="0" sz="2000" spc="-20">
                <a:latin typeface="Calibri"/>
                <a:cs typeface="Calibri"/>
              </a:rPr>
              <a:t>level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data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stored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in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the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50"/>
              </a:spcBef>
            </a:pP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queries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submitted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685"/>
              </a:spcBef>
              <a:buClr>
                <a:srgbClr val="FF8787"/>
              </a:buClr>
              <a:buFont typeface="Wingdings"/>
              <a:buChar char=""/>
              <a:tabLst>
                <a:tab pos="29718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manager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responsible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following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tasks:</a:t>
            </a:r>
            <a:endParaRPr sz="2000">
              <a:latin typeface="Calibri"/>
              <a:cs typeface="Calibri"/>
            </a:endParaRPr>
          </a:p>
          <a:p>
            <a:pPr lvl="1" marL="688340" indent="-28448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Font typeface="Wingdings"/>
              <a:buChar char=""/>
              <a:tabLst>
                <a:tab pos="688340" algn="l"/>
              </a:tabLst>
            </a:pPr>
            <a:r>
              <a:rPr dirty="0" sz="2000" spc="-10">
                <a:latin typeface="Calibri"/>
                <a:cs typeface="Calibri"/>
              </a:rPr>
              <a:t>Interaction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 file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manager</a:t>
            </a:r>
            <a:endParaRPr sz="2000">
              <a:latin typeface="Calibri"/>
              <a:cs typeface="Calibri"/>
            </a:endParaRPr>
          </a:p>
          <a:p>
            <a:pPr lvl="1" marL="688340" indent="-284480">
              <a:lnSpc>
                <a:spcPct val="100000"/>
              </a:lnSpc>
              <a:spcBef>
                <a:spcPts val="695"/>
              </a:spcBef>
              <a:buClr>
                <a:srgbClr val="FF8787"/>
              </a:buClr>
              <a:buFont typeface="Wingdings"/>
              <a:buChar char=""/>
              <a:tabLst>
                <a:tab pos="688340" algn="l"/>
              </a:tabLst>
            </a:pPr>
            <a:r>
              <a:rPr dirty="0" sz="2000" spc="-10">
                <a:latin typeface="Calibri"/>
                <a:cs typeface="Calibri"/>
              </a:rPr>
              <a:t>Efficient </a:t>
            </a:r>
            <a:r>
              <a:rPr dirty="0" sz="2000">
                <a:latin typeface="Calibri"/>
                <a:cs typeface="Calibri"/>
              </a:rPr>
              <a:t>storing,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retrieving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updating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605"/>
              </a:spcBef>
              <a:buClr>
                <a:srgbClr val="FF8787"/>
              </a:buClr>
              <a:buFont typeface="Wingdings"/>
              <a:buChar char=""/>
              <a:tabLst>
                <a:tab pos="297180" algn="l"/>
              </a:tabLst>
            </a:pPr>
            <a:r>
              <a:rPr dirty="0" sz="2000" spc="-10">
                <a:latin typeface="Calibri"/>
                <a:cs typeface="Calibri"/>
              </a:rPr>
              <a:t>Issues:</a:t>
            </a:r>
            <a:endParaRPr sz="2000">
              <a:latin typeface="Calibri"/>
              <a:cs typeface="Calibri"/>
            </a:endParaRPr>
          </a:p>
          <a:p>
            <a:pPr lvl="1" marL="688340" indent="-28448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Font typeface="Wingdings"/>
              <a:buChar char=""/>
              <a:tabLst>
                <a:tab pos="688340" algn="l"/>
              </a:tabLst>
            </a:pP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access</a:t>
            </a:r>
            <a:endParaRPr sz="2000">
              <a:latin typeface="Calibri"/>
              <a:cs typeface="Calibri"/>
            </a:endParaRPr>
          </a:p>
          <a:p>
            <a:pPr lvl="1" marL="688340" indent="-284480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Font typeface="Wingdings"/>
              <a:buChar char=""/>
              <a:tabLst>
                <a:tab pos="688340" algn="l"/>
              </a:tabLst>
            </a:pP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organization</a:t>
            </a:r>
            <a:endParaRPr sz="2000">
              <a:latin typeface="Calibri"/>
              <a:cs typeface="Calibri"/>
            </a:endParaRPr>
          </a:p>
          <a:p>
            <a:pPr lvl="1" marL="688340" indent="-284480">
              <a:lnSpc>
                <a:spcPct val="100000"/>
              </a:lnSpc>
              <a:spcBef>
                <a:spcPts val="705"/>
              </a:spcBef>
              <a:buClr>
                <a:srgbClr val="FF8787"/>
              </a:buClr>
              <a:buFont typeface="Wingdings"/>
              <a:buChar char=""/>
              <a:tabLst>
                <a:tab pos="688340" algn="l"/>
              </a:tabLst>
            </a:pPr>
            <a:r>
              <a:rPr dirty="0" sz="2000">
                <a:latin typeface="Calibri"/>
                <a:cs typeface="Calibri"/>
              </a:rPr>
              <a:t>Indexing and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hashing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047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078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512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378654" y="61226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70100">
              <a:lnSpc>
                <a:spcPct val="100000"/>
              </a:lnSpc>
              <a:spcBef>
                <a:spcPts val="100"/>
              </a:spcBef>
            </a:pPr>
            <a:r>
              <a:rPr dirty="0"/>
              <a:t>Disk</a:t>
            </a:r>
            <a:r>
              <a:rPr dirty="0" spc="-165"/>
              <a:t> </a:t>
            </a:r>
            <a:r>
              <a:rPr dirty="0" spc="-10"/>
              <a:t>Management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61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587753"/>
            <a:ext cx="8287384" cy="40182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Disk</a:t>
            </a:r>
            <a:r>
              <a:rPr dirty="0" u="sng" sz="20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Storage</a:t>
            </a:r>
            <a:r>
              <a:rPr dirty="0" sz="2000" spc="-10" b="1">
                <a:latin typeface="Calibri"/>
                <a:cs typeface="Calibri"/>
              </a:rPr>
              <a:t>: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following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components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–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Files,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Dictionary,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Indices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01625" algn="l"/>
                <a:tab pos="1631314" algn="l"/>
                <a:tab pos="1931670" algn="l"/>
                <a:tab pos="2195195" algn="l"/>
                <a:tab pos="3343910" algn="l"/>
                <a:tab pos="3693160" algn="l"/>
                <a:tab pos="4942840" algn="l"/>
                <a:tab pos="5511800" algn="l"/>
                <a:tab pos="6601459" algn="l"/>
                <a:tab pos="6864984" algn="l"/>
                <a:tab pos="7610475" algn="l"/>
              </a:tabLst>
            </a:pP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transaction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is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collection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of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operations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that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performs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single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logical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function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000">
              <a:latin typeface="Calibri"/>
              <a:cs typeface="Calibri"/>
            </a:endParaRPr>
          </a:p>
          <a:p>
            <a:pPr algn="just" marL="12700" marR="11430">
              <a:lnSpc>
                <a:spcPct val="102000"/>
              </a:lnSpc>
            </a:pP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Transaction-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</a:t>
            </a:r>
            <a:r>
              <a:rPr dirty="0" u="sng" sz="2000" spc="8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component</a:t>
            </a:r>
            <a:r>
              <a:rPr dirty="0" u="sng" sz="2000" spc="1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ensures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remains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consistent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(correct)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despite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failures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(e.g.,</a:t>
            </a:r>
            <a:r>
              <a:rPr dirty="0" sz="2000" spc="43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power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failures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operating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system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crashes)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transaction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failures.</a:t>
            </a:r>
            <a:endParaRPr sz="2000">
              <a:latin typeface="Calibri"/>
              <a:cs typeface="Calibri"/>
            </a:endParaRPr>
          </a:p>
          <a:p>
            <a:pPr algn="just" marL="12700" marR="10795">
              <a:lnSpc>
                <a:spcPct val="102000"/>
              </a:lnSpc>
              <a:spcBef>
                <a:spcPts val="600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Concurrency-control</a:t>
            </a:r>
            <a:r>
              <a:rPr dirty="0" u="sng" sz="2000" spc="1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manager</a:t>
            </a:r>
            <a:r>
              <a:rPr dirty="0" u="sng" sz="2000" spc="1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controls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interaction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among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concurrent </a:t>
            </a:r>
            <a:r>
              <a:rPr dirty="0" sz="2000">
                <a:latin typeface="Calibri"/>
                <a:cs typeface="Calibri"/>
              </a:rPr>
              <a:t>transactions,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ensure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consistency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667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698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132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40654" y="62750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7551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20"/>
              <a:t> DBMS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25576" y="1045590"/>
            <a:ext cx="7922895" cy="1687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structure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DBMS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divided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components: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Internal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Level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-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represents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physical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Conceptual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Level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-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represents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logical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view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External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Level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-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represents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user’s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view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4044" y="2971800"/>
            <a:ext cx="6592824" cy="33528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523746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268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702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97654" y="64655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62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911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Summary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63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1530" y="1081252"/>
            <a:ext cx="7715250" cy="254063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maintain,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large</a:t>
            </a:r>
            <a:r>
              <a:rPr dirty="0" sz="2000" spc="-1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datasets.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Benefits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include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recovery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from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crashes,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concurrent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quick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application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development,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integrity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security.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Levels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abstraction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independence.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typically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layered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DBAs</a:t>
            </a:r>
            <a:r>
              <a:rPr dirty="0" sz="2000" spc="-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hold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responsible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jobs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well-</a:t>
            </a:r>
            <a:r>
              <a:rPr dirty="0" sz="2000">
                <a:latin typeface="Calibri"/>
                <a:cs typeface="Calibri"/>
              </a:rPr>
              <a:t>paid!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-50">
                <a:latin typeface="Wingdings"/>
                <a:cs typeface="Wingdings"/>
              </a:rPr>
              <a:t></a:t>
            </a:r>
            <a:endParaRPr sz="2000">
              <a:latin typeface="Wingdings"/>
              <a:cs typeface="Wingding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R&amp;D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broadest,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exciting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areas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285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316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750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302454" y="61226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04820">
              <a:lnSpc>
                <a:spcPct val="100000"/>
              </a:lnSpc>
              <a:spcBef>
                <a:spcPts val="100"/>
              </a:spcBef>
            </a:pPr>
            <a:r>
              <a:rPr dirty="0"/>
              <a:t>Short</a:t>
            </a:r>
            <a:r>
              <a:rPr dirty="0" spc="-70"/>
              <a:t> </a:t>
            </a:r>
            <a:r>
              <a:rPr dirty="0" spc="-20"/>
              <a:t>Quiz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64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3016" y="1413764"/>
            <a:ext cx="5662930" cy="3595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What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full </a:t>
            </a:r>
            <a:r>
              <a:rPr dirty="0" sz="1800" spc="-20">
                <a:latin typeface="Calibri"/>
                <a:cs typeface="Calibri"/>
              </a:rPr>
              <a:t>form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DBMS?</a:t>
            </a:r>
            <a:endParaRPr sz="1800">
              <a:latin typeface="Calibri"/>
              <a:cs typeface="Calibri"/>
            </a:endParaRPr>
          </a:p>
          <a:p>
            <a:pPr lvl="1" marL="584200" indent="-228600">
              <a:lnSpc>
                <a:spcPct val="100000"/>
              </a:lnSpc>
              <a:buAutoNum type="alphaLcParenR"/>
              <a:tabLst>
                <a:tab pos="584200" algn="l"/>
              </a:tabLst>
            </a:pPr>
            <a:r>
              <a:rPr dirty="0" sz="1800" spc="-10">
                <a:latin typeface="Calibri"/>
                <a:cs typeface="Calibri"/>
              </a:rPr>
              <a:t>Data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Binary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Management</a:t>
            </a:r>
            <a:r>
              <a:rPr dirty="0" sz="1800" spc="-1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lvl="1" marL="602615" indent="-247015">
              <a:lnSpc>
                <a:spcPct val="100000"/>
              </a:lnSpc>
              <a:buAutoNum type="alphaLcParenR"/>
              <a:tabLst>
                <a:tab pos="602615" algn="l"/>
              </a:tabLst>
            </a:pPr>
            <a:r>
              <a:rPr dirty="0" sz="1800" spc="-10" b="1">
                <a:latin typeface="Calibri"/>
                <a:cs typeface="Calibri"/>
              </a:rPr>
              <a:t>Database</a:t>
            </a:r>
            <a:r>
              <a:rPr dirty="0" sz="1800" spc="-1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Management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lvl="1" marL="574675" indent="-219075">
              <a:lnSpc>
                <a:spcPct val="100000"/>
              </a:lnSpc>
              <a:buAutoNum type="alphaLcParenR"/>
              <a:tabLst>
                <a:tab pos="574675" algn="l"/>
              </a:tabLst>
            </a:pP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Management</a:t>
            </a:r>
            <a:r>
              <a:rPr dirty="0" sz="1800" spc="-1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Service</a:t>
            </a:r>
            <a:endParaRPr sz="1800">
              <a:latin typeface="Calibri"/>
              <a:cs typeface="Calibri"/>
            </a:endParaRPr>
          </a:p>
          <a:p>
            <a:pPr lvl="1" marL="594360" indent="-238760">
              <a:lnSpc>
                <a:spcPct val="100000"/>
              </a:lnSpc>
              <a:buAutoNum type="alphaLcParenR"/>
              <a:tabLst>
                <a:tab pos="594360" algn="l"/>
              </a:tabLst>
            </a:pPr>
            <a:r>
              <a:rPr dirty="0" sz="1800" spc="-10">
                <a:latin typeface="Calibri"/>
                <a:cs typeface="Calibri"/>
              </a:rPr>
              <a:t>Data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Backup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Management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39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What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database?</a:t>
            </a:r>
            <a:endParaRPr sz="1800">
              <a:latin typeface="Calibri"/>
              <a:cs typeface="Calibri"/>
            </a:endParaRPr>
          </a:p>
          <a:p>
            <a:pPr lvl="1" marL="530860" indent="-191770">
              <a:lnSpc>
                <a:spcPct val="100000"/>
              </a:lnSpc>
              <a:spcBef>
                <a:spcPts val="70"/>
              </a:spcBef>
              <a:buSzPct val="94444"/>
              <a:buAutoNum type="alphaLcParenR"/>
              <a:tabLst>
                <a:tab pos="530860" algn="l"/>
              </a:tabLst>
            </a:pPr>
            <a:r>
              <a:rPr dirty="0" sz="1800" spc="-25">
                <a:latin typeface="Calibri"/>
                <a:cs typeface="Calibri"/>
              </a:rPr>
              <a:t>Organized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collection</a:t>
            </a:r>
            <a:r>
              <a:rPr dirty="0" sz="1800" spc="-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information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be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Calibri"/>
                <a:cs typeface="Calibri"/>
              </a:rPr>
              <a:t>accessed,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updated,</a:t>
            </a:r>
            <a:r>
              <a:rPr dirty="0" sz="1800" spc="-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managed</a:t>
            </a:r>
            <a:endParaRPr sz="1800">
              <a:latin typeface="Calibri"/>
              <a:cs typeface="Calibri"/>
            </a:endParaRPr>
          </a:p>
          <a:p>
            <a:pPr lvl="1" marL="355600" marR="5080" indent="238760">
              <a:lnSpc>
                <a:spcPct val="100299"/>
              </a:lnSpc>
              <a:spcBef>
                <a:spcPts val="5"/>
              </a:spcBef>
              <a:buAutoNum type="alphaLcParenR" startAt="2"/>
              <a:tabLst>
                <a:tab pos="594360" algn="l"/>
              </a:tabLst>
            </a:pPr>
            <a:r>
              <a:rPr dirty="0" sz="1800">
                <a:latin typeface="Calibri"/>
                <a:cs typeface="Calibri"/>
              </a:rPr>
              <a:t>Collection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information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without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organizing </a:t>
            </a:r>
            <a:r>
              <a:rPr dirty="0" sz="1800" spc="-20" b="1">
                <a:latin typeface="Calibri"/>
                <a:cs typeface="Calibri"/>
              </a:rPr>
              <a:t>c)Organized</a:t>
            </a:r>
            <a:r>
              <a:rPr dirty="0" sz="1800" spc="-20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collection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information</a:t>
            </a:r>
            <a:r>
              <a:rPr dirty="0" sz="1800" spc="-1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be </a:t>
            </a:r>
            <a:r>
              <a:rPr dirty="0" sz="1800" spc="-10" b="1">
                <a:latin typeface="Calibri"/>
                <a:cs typeface="Calibri"/>
              </a:rPr>
              <a:t>accessed,</a:t>
            </a:r>
            <a:r>
              <a:rPr dirty="0" sz="1800" spc="-1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updated,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managed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latin typeface="Calibri"/>
                <a:cs typeface="Calibri"/>
              </a:rPr>
              <a:t>d)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Organized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collection</a:t>
            </a:r>
            <a:r>
              <a:rPr dirty="0" sz="1800" spc="-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</a:t>
            </a:r>
            <a:r>
              <a:rPr dirty="0" sz="1800" spc="-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10">
                <a:latin typeface="Calibri"/>
                <a:cs typeface="Calibri"/>
              </a:rPr>
              <a:t> updated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809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840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274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54854" y="61988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45565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Topic</a:t>
            </a:r>
            <a:r>
              <a:rPr dirty="0" spc="-130"/>
              <a:t> </a:t>
            </a:r>
            <a:r>
              <a:rPr dirty="0"/>
              <a:t>– Data</a:t>
            </a:r>
            <a:r>
              <a:rPr dirty="0" spc="-80"/>
              <a:t> </a:t>
            </a:r>
            <a:r>
              <a:rPr dirty="0"/>
              <a:t>models</a:t>
            </a:r>
            <a:r>
              <a:rPr dirty="0" spc="-105"/>
              <a:t> </a:t>
            </a:r>
            <a:r>
              <a:rPr dirty="0" spc="-10"/>
              <a:t>Objective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66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63016" y="1631950"/>
            <a:ext cx="7352665" cy="2449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4965" algn="l"/>
              </a:tabLst>
            </a:pPr>
            <a:r>
              <a:rPr dirty="0" sz="2000" spc="-20">
                <a:latin typeface="Calibri"/>
                <a:cs typeface="Calibri"/>
              </a:rPr>
              <a:t>Data</a:t>
            </a:r>
            <a:r>
              <a:rPr dirty="0" sz="2000" spc="-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gives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idea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final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system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like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after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0">
                <a:latin typeface="Calibri"/>
                <a:cs typeface="Calibri"/>
              </a:rPr>
              <a:t> complete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implementation.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defines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elements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between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 spc="-10">
                <a:latin typeface="Calibri"/>
                <a:cs typeface="Calibri"/>
              </a:rPr>
              <a:t>elements.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354965" algn="l"/>
              </a:tabLst>
            </a:pPr>
            <a:r>
              <a:rPr dirty="0" sz="2000" spc="-20">
                <a:latin typeface="Calibri"/>
                <a:cs typeface="Calibri"/>
              </a:rPr>
              <a:t>Data</a:t>
            </a:r>
            <a:r>
              <a:rPr dirty="0" sz="2000" spc="-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stored,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connected,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accessed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management</a:t>
            </a:r>
            <a:r>
              <a:rPr dirty="0" sz="2000" spc="-1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619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650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084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35854" y="61226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1432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45"/>
              <a:t> </a:t>
            </a:r>
            <a:r>
              <a:rPr dirty="0" spc="-10"/>
              <a:t>Models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66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16583"/>
            <a:ext cx="7989570" cy="3630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u="heavy" sz="2150" b="1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dirty="0" u="heavy" sz="2150" spc="50" b="1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150" b="1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</a:t>
            </a:r>
            <a:r>
              <a:rPr dirty="0" sz="2150" spc="60" b="1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collection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describing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 b="1">
                <a:latin typeface="Calibri"/>
                <a:cs typeface="Calibri"/>
              </a:rPr>
              <a:t>Categories</a:t>
            </a:r>
            <a:r>
              <a:rPr dirty="0" sz="2150" spc="8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of</a:t>
            </a:r>
            <a:r>
              <a:rPr dirty="0" sz="2150" spc="-5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Data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Models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 spc="-35" b="1">
                <a:latin typeface="Calibri"/>
                <a:cs typeface="Calibri"/>
              </a:rPr>
              <a:t>:-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High</a:t>
            </a:r>
            <a:r>
              <a:rPr dirty="0" sz="2150" spc="-1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level</a:t>
            </a:r>
            <a:r>
              <a:rPr dirty="0" sz="2150" spc="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or</a:t>
            </a:r>
            <a:r>
              <a:rPr dirty="0" sz="2150" spc="-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Conceptual</a:t>
            </a:r>
            <a:r>
              <a:rPr dirty="0" sz="2150" spc="1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Data</a:t>
            </a:r>
            <a:r>
              <a:rPr dirty="0" sz="2150" spc="-5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375F92"/>
                </a:solidFill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Concept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entities,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relationships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Low</a:t>
            </a:r>
            <a:r>
              <a:rPr dirty="0" sz="2150" spc="-2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level</a:t>
            </a:r>
            <a:r>
              <a:rPr dirty="0" sz="2150" spc="-3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or</a:t>
            </a:r>
            <a:r>
              <a:rPr dirty="0" sz="2150" spc="4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physical</a:t>
            </a:r>
            <a:r>
              <a:rPr dirty="0" sz="2150" spc="30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Data</a:t>
            </a:r>
            <a:r>
              <a:rPr dirty="0" sz="2150" spc="-12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 spc="-20">
                <a:solidFill>
                  <a:srgbClr val="375F92"/>
                </a:solidFill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156970" algn="l"/>
              </a:tabLst>
            </a:pPr>
            <a:r>
              <a:rPr dirty="0" sz="2150">
                <a:latin typeface="Calibri"/>
                <a:cs typeface="Calibri"/>
              </a:rPr>
              <a:t>Details</a:t>
            </a:r>
            <a:r>
              <a:rPr dirty="0" sz="2150" spc="-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how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stored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computer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spc="-10">
                <a:solidFill>
                  <a:srgbClr val="375F92"/>
                </a:solidFill>
                <a:latin typeface="Calibri"/>
                <a:cs typeface="Calibri"/>
              </a:rPr>
              <a:t>Representational</a:t>
            </a:r>
            <a:r>
              <a:rPr dirty="0" sz="2150" spc="10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375F92"/>
                </a:solidFill>
                <a:latin typeface="Calibri"/>
                <a:cs typeface="Calibri"/>
              </a:rPr>
              <a:t>Data</a:t>
            </a:r>
            <a:r>
              <a:rPr dirty="0" sz="2150" spc="-95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375F92"/>
                </a:solidFill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  <a:p>
            <a:pPr lvl="2" marL="1156970" indent="-228600">
              <a:lnSpc>
                <a:spcPts val="2545"/>
              </a:lnSpc>
              <a:spcBef>
                <a:spcPts val="315"/>
              </a:spcBef>
              <a:buFont typeface="Arial MT"/>
              <a:buChar char="•"/>
              <a:tabLst>
                <a:tab pos="1156970" algn="l"/>
              </a:tabLst>
            </a:pPr>
            <a:r>
              <a:rPr dirty="0" sz="2150" spc="-10">
                <a:latin typeface="Calibri"/>
                <a:cs typeface="Calibri"/>
              </a:rPr>
              <a:t>Traditional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commercial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legacy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models-</a:t>
            </a:r>
            <a:endParaRPr sz="2150">
              <a:latin typeface="Calibri"/>
              <a:cs typeface="Calibri"/>
            </a:endParaRPr>
          </a:p>
          <a:p>
            <a:pPr marL="1156970">
              <a:lnSpc>
                <a:spcPts val="2545"/>
              </a:lnSpc>
            </a:pPr>
            <a:r>
              <a:rPr dirty="0" sz="2150">
                <a:latin typeface="Calibri"/>
                <a:cs typeface="Calibri"/>
              </a:rPr>
              <a:t>network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hierarchical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809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840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274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54854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1432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45"/>
              <a:t> </a:t>
            </a:r>
            <a:r>
              <a:rPr dirty="0" spc="-10"/>
              <a:t>Models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1333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364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79888" y="6236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07254" y="62369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67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7049770" cy="4622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8787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collection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tools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describing</a:t>
            </a:r>
            <a:endParaRPr sz="2150">
              <a:latin typeface="Calibri"/>
              <a:cs typeface="Calibri"/>
            </a:endParaRPr>
          </a:p>
          <a:p>
            <a:pPr lvl="1" marL="746125" indent="-342265">
              <a:lnSpc>
                <a:spcPct val="100000"/>
              </a:lnSpc>
              <a:spcBef>
                <a:spcPts val="100"/>
              </a:spcBef>
              <a:buClr>
                <a:srgbClr val="FF8787"/>
              </a:buClr>
              <a:buFont typeface="Wingdings"/>
              <a:buChar char=""/>
              <a:tabLst>
                <a:tab pos="746125" algn="l"/>
              </a:tabLst>
            </a:pPr>
            <a:r>
              <a:rPr dirty="0" sz="2150" spc="-20">
                <a:latin typeface="Calibri"/>
                <a:cs typeface="Calibri"/>
              </a:rPr>
              <a:t>Data</a:t>
            </a:r>
            <a:endParaRPr sz="2150">
              <a:latin typeface="Calibri"/>
              <a:cs typeface="Calibri"/>
            </a:endParaRPr>
          </a:p>
          <a:p>
            <a:pPr lvl="1" marL="746125" indent="-342265">
              <a:lnSpc>
                <a:spcPct val="100000"/>
              </a:lnSpc>
              <a:spcBef>
                <a:spcPts val="95"/>
              </a:spcBef>
              <a:buClr>
                <a:srgbClr val="FF8787"/>
              </a:buClr>
              <a:buFont typeface="Wingdings"/>
              <a:buChar char=""/>
              <a:tabLst>
                <a:tab pos="746125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relationships</a:t>
            </a:r>
            <a:endParaRPr sz="2150">
              <a:latin typeface="Calibri"/>
              <a:cs typeface="Calibri"/>
            </a:endParaRPr>
          </a:p>
          <a:p>
            <a:pPr lvl="1" marL="746125" indent="-342265">
              <a:lnSpc>
                <a:spcPct val="100000"/>
              </a:lnSpc>
              <a:spcBef>
                <a:spcPts val="110"/>
              </a:spcBef>
              <a:buClr>
                <a:srgbClr val="FF8787"/>
              </a:buClr>
              <a:buFont typeface="Wingdings"/>
              <a:buChar char=""/>
              <a:tabLst>
                <a:tab pos="746125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semantics</a:t>
            </a:r>
            <a:endParaRPr sz="2150">
              <a:latin typeface="Calibri"/>
              <a:cs typeface="Calibri"/>
            </a:endParaRPr>
          </a:p>
          <a:p>
            <a:pPr lvl="1" marL="746125" indent="-342265">
              <a:lnSpc>
                <a:spcPct val="100000"/>
              </a:lnSpc>
              <a:spcBef>
                <a:spcPts val="95"/>
              </a:spcBef>
              <a:buClr>
                <a:srgbClr val="FF8787"/>
              </a:buClr>
              <a:buFont typeface="Wingdings"/>
              <a:buChar char=""/>
              <a:tabLst>
                <a:tab pos="746125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constraints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lr>
                <a:srgbClr val="FF8787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8787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150" spc="-20">
                <a:latin typeface="Calibri"/>
                <a:cs typeface="Calibri"/>
              </a:rPr>
              <a:t>Entity-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model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(mainly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design)</a:t>
            </a:r>
            <a:endParaRPr sz="2150">
              <a:latin typeface="Calibri"/>
              <a:cs typeface="Calibri"/>
            </a:endParaRPr>
          </a:p>
          <a:p>
            <a:pPr marL="355600" marR="427990" indent="-342900">
              <a:lnSpc>
                <a:spcPct val="100000"/>
              </a:lnSpc>
              <a:spcBef>
                <a:spcPts val="605"/>
              </a:spcBef>
              <a:buClr>
                <a:srgbClr val="FF8787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 sz="2150" spc="-10">
                <a:latin typeface="Calibri"/>
                <a:cs typeface="Calibri"/>
              </a:rPr>
              <a:t>Object-</a:t>
            </a:r>
            <a:r>
              <a:rPr dirty="0" sz="2150">
                <a:latin typeface="Calibri"/>
                <a:cs typeface="Calibri"/>
              </a:rPr>
              <a:t>based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models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(Object-</a:t>
            </a:r>
            <a:r>
              <a:rPr dirty="0" sz="2150">
                <a:latin typeface="Calibri"/>
                <a:cs typeface="Calibri"/>
              </a:rPr>
              <a:t>oriented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Object- relational)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787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Semi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structured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model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(XML)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ts val="2400"/>
              </a:lnSpc>
              <a:spcBef>
                <a:spcPts val="515"/>
              </a:spcBef>
              <a:buClr>
                <a:srgbClr val="FF8787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Other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older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models:</a:t>
            </a:r>
            <a:endParaRPr sz="2150">
              <a:latin typeface="Calibri"/>
              <a:cs typeface="Calibri"/>
            </a:endParaRPr>
          </a:p>
          <a:p>
            <a:pPr lvl="1" marL="746125" indent="-342265">
              <a:lnSpc>
                <a:spcPts val="2250"/>
              </a:lnSpc>
              <a:buClr>
                <a:srgbClr val="FF8787"/>
              </a:buClr>
              <a:buFont typeface="Wingdings"/>
              <a:buChar char=""/>
              <a:tabLst>
                <a:tab pos="746125" algn="l"/>
              </a:tabLst>
            </a:pPr>
            <a:r>
              <a:rPr dirty="0" sz="2150">
                <a:latin typeface="Calibri"/>
                <a:cs typeface="Calibri"/>
              </a:rPr>
              <a:t>Network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  <a:p>
            <a:pPr lvl="1" marL="746125" indent="-342265">
              <a:lnSpc>
                <a:spcPts val="2430"/>
              </a:lnSpc>
              <a:buClr>
                <a:srgbClr val="FF8787"/>
              </a:buClr>
              <a:buFont typeface="Wingdings"/>
              <a:buChar char=""/>
              <a:tabLst>
                <a:tab pos="746125" algn="l"/>
              </a:tabLst>
            </a:pPr>
            <a:r>
              <a:rPr dirty="0" sz="2150">
                <a:latin typeface="Calibri"/>
                <a:cs typeface="Calibri"/>
              </a:rPr>
              <a:t>Hierarchical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96900" y="1161033"/>
            <a:ext cx="8180705" cy="430847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715" indent="68580">
              <a:lnSpc>
                <a:spcPct val="101499"/>
              </a:lnSpc>
              <a:spcBef>
                <a:spcPts val="65"/>
              </a:spcBef>
            </a:pPr>
            <a:r>
              <a:rPr dirty="0" sz="2000">
                <a:latin typeface="Calibri"/>
                <a:cs typeface="Calibri"/>
              </a:rPr>
              <a:t>Hierarchical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model.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organizes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hierarchical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structure.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hierarchy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root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has </a:t>
            </a:r>
            <a:r>
              <a:rPr dirty="0" sz="2000">
                <a:latin typeface="Calibri"/>
                <a:cs typeface="Calibri"/>
              </a:rPr>
              <a:t>root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expands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adding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algn="just" marL="213360" indent="-209550">
              <a:lnSpc>
                <a:spcPct val="100000"/>
              </a:lnSpc>
              <a:buSzPct val="925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Features</a:t>
            </a:r>
            <a:r>
              <a:rPr dirty="0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Hierarchical</a:t>
            </a:r>
            <a:r>
              <a:rPr dirty="0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just" marL="12700" marR="5080" indent="-8890">
              <a:lnSpc>
                <a:spcPct val="100000"/>
              </a:lnSpc>
              <a:buSzPct val="92500"/>
              <a:buFont typeface="Wingdings"/>
              <a:buChar char=""/>
              <a:tabLst>
                <a:tab pos="213360" algn="l"/>
              </a:tabLst>
            </a:pPr>
            <a:r>
              <a:rPr dirty="0" sz="2000" spc="-10" i="1">
                <a:latin typeface="Calibri"/>
                <a:cs typeface="Calibri"/>
              </a:rPr>
              <a:t>	</a:t>
            </a:r>
            <a:r>
              <a:rPr dirty="0" sz="2000" spc="-10" i="1">
                <a:latin typeface="Calibri"/>
                <a:cs typeface="Calibri"/>
              </a:rPr>
              <a:t>One-to-</a:t>
            </a:r>
            <a:r>
              <a:rPr dirty="0" sz="2000" i="1">
                <a:latin typeface="Calibri"/>
                <a:cs typeface="Calibri"/>
              </a:rPr>
              <a:t>many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relationship: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organized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tree-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structure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one-to-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25">
                <a:latin typeface="Calibri"/>
                <a:cs typeface="Calibri"/>
              </a:rPr>
              <a:t> can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path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algn="just" marL="12700" marR="5080" indent="-8890">
              <a:lnSpc>
                <a:spcPct val="100000"/>
              </a:lnSpc>
              <a:spcBef>
                <a:spcPts val="5"/>
              </a:spcBef>
              <a:buSzPct val="92500"/>
              <a:buFont typeface="Wingdings"/>
              <a:buChar char=""/>
              <a:tabLst>
                <a:tab pos="213360" algn="l"/>
              </a:tabLst>
            </a:pPr>
            <a:r>
              <a:rPr dirty="0" sz="2000" spc="-10" i="1">
                <a:latin typeface="Calibri"/>
                <a:cs typeface="Calibri"/>
              </a:rPr>
              <a:t>	</a:t>
            </a:r>
            <a:r>
              <a:rPr dirty="0" sz="2000" spc="-10" i="1">
                <a:latin typeface="Calibri"/>
                <a:cs typeface="Calibri"/>
              </a:rPr>
              <a:t>Parent-</a:t>
            </a:r>
            <a:r>
              <a:rPr dirty="0" sz="2000" i="1">
                <a:latin typeface="Calibri"/>
                <a:cs typeface="Calibri"/>
              </a:rPr>
              <a:t>Child</a:t>
            </a:r>
            <a:r>
              <a:rPr dirty="0" sz="2000" spc="2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Relationship:</a:t>
            </a:r>
            <a:r>
              <a:rPr dirty="0" sz="2000" spc="22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parent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allowed.</a:t>
            </a:r>
            <a:endParaRPr sz="2000">
              <a:latin typeface="Calibri"/>
              <a:cs typeface="Calibri"/>
            </a:endParaRPr>
          </a:p>
          <a:p>
            <a:pPr algn="just" marL="12700" marR="6985" indent="-8890">
              <a:lnSpc>
                <a:spcPct val="100000"/>
              </a:lnSpc>
              <a:buSzPct val="92500"/>
              <a:buFont typeface="Wingdings"/>
              <a:buChar char=""/>
              <a:tabLst>
                <a:tab pos="213360" algn="l"/>
              </a:tabLst>
            </a:pP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Deletion</a:t>
            </a:r>
            <a:r>
              <a:rPr dirty="0" sz="2000" spc="95" i="1">
                <a:latin typeface="Calibri"/>
                <a:cs typeface="Calibri"/>
              </a:rPr>
              <a:t>  </a:t>
            </a:r>
            <a:r>
              <a:rPr dirty="0" sz="2000" i="1">
                <a:latin typeface="Calibri"/>
                <a:cs typeface="Calibri"/>
              </a:rPr>
              <a:t>Problem:</a:t>
            </a:r>
            <a:r>
              <a:rPr dirty="0" sz="2000" spc="100" i="1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deleted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automatically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deleted.</a:t>
            </a:r>
            <a:endParaRPr sz="2000">
              <a:latin typeface="Calibri"/>
              <a:cs typeface="Calibri"/>
            </a:endParaRPr>
          </a:p>
          <a:p>
            <a:pPr algn="just" marL="12700" marR="5715" indent="-8890">
              <a:lnSpc>
                <a:spcPct val="100000"/>
              </a:lnSpc>
              <a:buSzPct val="92500"/>
              <a:buFont typeface="Wingdings"/>
              <a:buChar char=""/>
              <a:tabLst>
                <a:tab pos="213360" algn="l"/>
              </a:tabLst>
            </a:pP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Pointers:</a:t>
            </a:r>
            <a:r>
              <a:rPr dirty="0" sz="2000" spc="12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Pointers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link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navigate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95"/>
              </a:spcBef>
            </a:pPr>
            <a:r>
              <a:rPr dirty="0" sz="2800" spc="-25"/>
              <a:t>Hierarchical</a:t>
            </a:r>
            <a:r>
              <a:rPr dirty="0" sz="2800" spc="-60"/>
              <a:t> </a:t>
            </a:r>
            <a:r>
              <a:rPr dirty="0" sz="2800" spc="-20"/>
              <a:t>Model</a:t>
            </a:r>
            <a:endParaRPr sz="2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3541" y="1516283"/>
            <a:ext cx="6452839" cy="34724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95"/>
              </a:spcBef>
            </a:pPr>
            <a:r>
              <a:rPr dirty="0" sz="2800" spc="-25"/>
              <a:t>Hierarchical</a:t>
            </a:r>
            <a:r>
              <a:rPr dirty="0" sz="2800" spc="-60"/>
              <a:t> </a:t>
            </a:r>
            <a:r>
              <a:rPr dirty="0" sz="2800"/>
              <a:t>Model</a:t>
            </a:r>
            <a:r>
              <a:rPr dirty="0" sz="2800" spc="55"/>
              <a:t> </a:t>
            </a:r>
            <a:r>
              <a:rPr dirty="0" sz="2800" spc="-10"/>
              <a:t>(Example)</a:t>
            </a:r>
            <a:endParaRPr sz="2800"/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25500" y="1113789"/>
            <a:ext cx="7952740" cy="4904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1143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:-</a:t>
            </a:r>
            <a:r>
              <a:rPr dirty="0" sz="2000" spc="3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4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department,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suppliers,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employees,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take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care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of.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observe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–child relationship.</a:t>
            </a:r>
            <a:endParaRPr sz="2000">
              <a:latin typeface="Calibri"/>
              <a:cs typeface="Calibri"/>
            </a:endParaRPr>
          </a:p>
          <a:p>
            <a:pPr algn="just" marL="12700" marR="5715" indent="57785">
              <a:lnSpc>
                <a:spcPct val="100000"/>
              </a:lnSpc>
              <a:spcBef>
                <a:spcPts val="2400"/>
              </a:spcBef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rests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them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its </a:t>
            </a:r>
            <a:r>
              <a:rPr dirty="0" sz="2000">
                <a:latin typeface="Calibri"/>
                <a:cs typeface="Calibri"/>
              </a:rPr>
              <a:t>children.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employees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children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on.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hierarchical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  <a:p>
            <a:pPr algn="just" marL="12700" marR="5715" indent="3429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departments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(1:N),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multiple </a:t>
            </a:r>
            <a:r>
              <a:rPr dirty="0" sz="2000">
                <a:latin typeface="Calibri"/>
                <a:cs typeface="Calibri"/>
              </a:rPr>
              <a:t>suppliers</a:t>
            </a:r>
            <a:r>
              <a:rPr dirty="0" sz="2000" spc="2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(1:N),one</a:t>
            </a:r>
            <a:r>
              <a:rPr dirty="0" sz="2000" spc="2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29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employees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(1:N),</a:t>
            </a:r>
            <a:r>
              <a:rPr dirty="0" sz="2000" spc="290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each </a:t>
            </a: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projects(1:N)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2405"/>
              </a:spcBef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Complexity</a:t>
            </a:r>
            <a:r>
              <a:rPr dirty="0" sz="2000" spc="3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2000" spc="3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Hierarchal</a:t>
            </a:r>
            <a:r>
              <a:rPr dirty="0" sz="2000" spc="3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diagram:-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M:N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relationships,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we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duplicate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diagram.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example,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involves multiple departments,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our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hierarchical representation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0">
                <a:latin typeface="Calibri"/>
                <a:cs typeface="Calibri"/>
              </a:rPr>
              <a:t> below:-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Continued</a:t>
            </a:r>
            <a:endParaRPr sz="2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3405" y="1511949"/>
            <a:ext cx="7223560" cy="38475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Continued</a:t>
            </a:r>
            <a:endParaRPr sz="2800"/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749300" y="1342389"/>
            <a:ext cx="8029575" cy="39897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Major</a:t>
            </a:r>
            <a:r>
              <a:rPr dirty="0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problem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Hierarchical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 Model</a:t>
            </a:r>
            <a:endParaRPr sz="2000">
              <a:latin typeface="Calibri"/>
              <a:cs typeface="Calibri"/>
            </a:endParaRPr>
          </a:p>
          <a:p>
            <a:pPr algn="just" marL="12700" marR="5080" indent="11557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Redundancy: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flat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file,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might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repetition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required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need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places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flat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file.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Missing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place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cause</a:t>
            </a:r>
            <a:r>
              <a:rPr dirty="0" sz="2000" spc="4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incorrect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kind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redundancy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solved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hierarchical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extent.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(1:M)</a:t>
            </a:r>
            <a:endParaRPr sz="2000">
              <a:latin typeface="Calibri"/>
              <a:cs typeface="Calibri"/>
            </a:endParaRPr>
          </a:p>
          <a:p>
            <a:pPr algn="just" marL="12700" marR="5080" indent="57785">
              <a:lnSpc>
                <a:spcPct val="100000"/>
              </a:lnSpc>
              <a:spcBef>
                <a:spcPts val="2400"/>
              </a:spcBef>
            </a:pPr>
            <a:r>
              <a:rPr dirty="0" sz="2000">
                <a:latin typeface="Calibri"/>
                <a:cs typeface="Calibri"/>
              </a:rPr>
              <a:t>Since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records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grouped</a:t>
            </a:r>
            <a:r>
              <a:rPr dirty="0" sz="2000" spc="1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under</a:t>
            </a:r>
            <a:r>
              <a:rPr dirty="0" sz="2000" spc="1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related</a:t>
            </a:r>
            <a:r>
              <a:rPr dirty="0" sz="2000" spc="1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table,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solves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flat</a:t>
            </a:r>
            <a:r>
              <a:rPr dirty="0" sz="2000" spc="135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file </a:t>
            </a:r>
            <a:r>
              <a:rPr dirty="0" sz="2000">
                <a:latin typeface="Calibri"/>
                <a:cs typeface="Calibri"/>
              </a:rPr>
              <a:t>redundancy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issue.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given </a:t>
            </a:r>
            <a:r>
              <a:rPr dirty="0" sz="2000">
                <a:latin typeface="Calibri"/>
                <a:cs typeface="Calibri"/>
              </a:rPr>
              <a:t>above.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case,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more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department.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duplication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hence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redundancy. </a:t>
            </a:r>
            <a:r>
              <a:rPr dirty="0" sz="2000">
                <a:latin typeface="Calibri"/>
                <a:cs typeface="Calibri"/>
              </a:rPr>
              <a:t>So,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does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reduce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redundancy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issue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significant level.(M:M)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Continued</a:t>
            </a:r>
            <a:endParaRPr sz="28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282953" y="885189"/>
            <a:ext cx="7496175" cy="5208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Calibri"/>
                <a:cs typeface="Calibri"/>
              </a:rPr>
              <a:t>Advantages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Hierarchical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just" marL="213360" indent="-205104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simple 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fast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traverse through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tree-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structure.</a:t>
            </a:r>
            <a:endParaRPr sz="2000">
              <a:latin typeface="Calibri"/>
              <a:cs typeface="Calibri"/>
            </a:endParaRPr>
          </a:p>
          <a:p>
            <a:pPr algn="just" marL="12700" marR="5080" indent="-4445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storage.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files,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scattered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proper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structuring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groups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related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defines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files.</a:t>
            </a:r>
            <a:endParaRPr sz="2000">
              <a:latin typeface="Calibri"/>
              <a:cs typeface="Calibri"/>
            </a:endParaRPr>
          </a:p>
          <a:p>
            <a:pPr algn="just" marL="12700" marR="8255" indent="-4445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automatically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reflected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child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integrity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maintained.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dirty="0" sz="2000">
                <a:latin typeface="Calibri"/>
                <a:cs typeface="Calibri"/>
              </a:rPr>
              <a:t>Disadvantages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Hierarchical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spc="-10">
                <a:latin typeface="Calibri"/>
                <a:cs typeface="Calibri"/>
              </a:rPr>
              <a:t>Redundancy</a:t>
            </a:r>
            <a:endParaRPr sz="2000">
              <a:latin typeface="Calibri"/>
              <a:cs typeface="Calibri"/>
            </a:endParaRPr>
          </a:p>
          <a:p>
            <a:pPr marL="213360" indent="-205104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Complex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supported.</a:t>
            </a:r>
            <a:endParaRPr sz="2000">
              <a:latin typeface="Calibri"/>
              <a:cs typeface="Calibri"/>
            </a:endParaRPr>
          </a:p>
          <a:p>
            <a:pPr algn="just" marL="12700" marR="5080" indent="-4445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does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support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if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complex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needs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have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can't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represented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  <a:p>
            <a:pPr algn="just" marL="12700" marR="5715" indent="-4445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deleted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automatically deleted.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475615">
              <a:lnSpc>
                <a:spcPct val="100000"/>
              </a:lnSpc>
              <a:spcBef>
                <a:spcPts val="95"/>
              </a:spcBef>
            </a:pPr>
            <a:r>
              <a:rPr dirty="0" sz="2800" spc="-20"/>
              <a:t>Advantages</a:t>
            </a:r>
            <a:r>
              <a:rPr dirty="0" sz="2800" spc="-45"/>
              <a:t> </a:t>
            </a:r>
            <a:r>
              <a:rPr dirty="0" sz="2800"/>
              <a:t>and</a:t>
            </a:r>
            <a:r>
              <a:rPr dirty="0" sz="2800" spc="-50"/>
              <a:t> </a:t>
            </a:r>
            <a:r>
              <a:rPr dirty="0" sz="2800" spc="-10"/>
              <a:t>Disadvantages</a:t>
            </a:r>
            <a:endParaRPr sz="2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130604" y="1113789"/>
            <a:ext cx="7648575" cy="4904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34417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enhanced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version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hierarchical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model.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designed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drawbacks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hierarchical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model.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address </a:t>
            </a:r>
            <a:r>
              <a:rPr dirty="0" sz="2000">
                <a:latin typeface="Calibri"/>
                <a:cs typeface="Calibri"/>
              </a:rPr>
              <a:t>M:N relationship.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 is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 represented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hierarchical,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but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concept.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can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parents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here.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popular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before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relational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  <a:p>
            <a:pPr algn="just" marL="411480">
              <a:lnSpc>
                <a:spcPct val="100000"/>
              </a:lnSpc>
            </a:pP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Features</a:t>
            </a:r>
            <a:r>
              <a:rPr dirty="0" sz="20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dirty="0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just" marL="12700" marR="6985" indent="-4445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Ability</a:t>
            </a:r>
            <a:r>
              <a:rPr dirty="0" sz="2000" spc="18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</a:t>
            </a:r>
            <a:r>
              <a:rPr dirty="0" sz="2000" spc="18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Merge</a:t>
            </a:r>
            <a:r>
              <a:rPr dirty="0" sz="2000" spc="1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more</a:t>
            </a:r>
            <a:r>
              <a:rPr dirty="0" sz="2000" spc="1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Relationships:</a:t>
            </a:r>
            <a:r>
              <a:rPr dirty="0" sz="2000" spc="18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model,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more </a:t>
            </a:r>
            <a:r>
              <a:rPr dirty="0" sz="2000">
                <a:latin typeface="Calibri"/>
                <a:cs typeface="Calibri"/>
              </a:rPr>
              <a:t>relationships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related.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ability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manage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one-to-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well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many-to-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relationships.</a:t>
            </a:r>
            <a:endParaRPr sz="2000">
              <a:latin typeface="Calibri"/>
              <a:cs typeface="Calibri"/>
            </a:endParaRPr>
          </a:p>
          <a:p>
            <a:pPr algn="just" marL="12700" marR="8255" indent="-4445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Many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paths: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than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simple.</a:t>
            </a:r>
            <a:endParaRPr sz="2000">
              <a:latin typeface="Calibri"/>
              <a:cs typeface="Calibri"/>
            </a:endParaRPr>
          </a:p>
          <a:p>
            <a:pPr algn="just" marL="12700" marR="5715" indent="-4445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Circular</a:t>
            </a:r>
            <a:r>
              <a:rPr dirty="0" sz="2000" spc="3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Linked</a:t>
            </a:r>
            <a:r>
              <a:rPr dirty="0" sz="2000" spc="3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List:</a:t>
            </a:r>
            <a:r>
              <a:rPr dirty="0" sz="2000" spc="34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operations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done </a:t>
            </a:r>
            <a:r>
              <a:rPr dirty="0" sz="2000">
                <a:latin typeface="Calibri"/>
                <a:cs typeface="Calibri"/>
              </a:rPr>
              <a:t>with the help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 the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circular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linked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list. 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position is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maintained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program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position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navigates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records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according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2442" rIns="0" bIns="0" rtlCol="0" vert="horz">
            <a:spAutoFit/>
          </a:bodyPr>
          <a:lstStyle/>
          <a:p>
            <a:pPr marL="551815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Network</a:t>
            </a:r>
            <a:r>
              <a:rPr dirty="0" sz="2800" spc="-130"/>
              <a:t> </a:t>
            </a:r>
            <a:r>
              <a:rPr dirty="0" sz="2800" spc="-10"/>
              <a:t>Model</a:t>
            </a:r>
            <a:endParaRPr sz="2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722" y="1305187"/>
            <a:ext cx="6813036" cy="398756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Network</a:t>
            </a:r>
            <a:r>
              <a:rPr dirty="0" sz="2800" spc="-25"/>
              <a:t> </a:t>
            </a:r>
            <a:r>
              <a:rPr dirty="0" sz="2800"/>
              <a:t>Model</a:t>
            </a:r>
            <a:r>
              <a:rPr dirty="0" sz="2800" spc="-40"/>
              <a:t> </a:t>
            </a:r>
            <a:r>
              <a:rPr dirty="0" sz="2800" spc="-10"/>
              <a:t>(Example)</a:t>
            </a:r>
            <a:endParaRPr sz="2800"/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282953" y="1875485"/>
            <a:ext cx="7495540" cy="2160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715" indent="5778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Let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revisit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our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example.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projects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departments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projects.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Even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suppliers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project.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</a:pPr>
            <a:endParaRPr sz="2000">
              <a:latin typeface="Calibri"/>
              <a:cs typeface="Calibri"/>
            </a:endParaRPr>
          </a:p>
          <a:p>
            <a:pPr algn="just" marL="7048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parents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supplier</a:t>
            </a:r>
            <a:endParaRPr sz="20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projects.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6242" rIns="0" bIns="0" rtlCol="0" vert="horz">
            <a:spAutoFit/>
          </a:bodyPr>
          <a:lstStyle/>
          <a:p>
            <a:pPr marL="399415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Example</a:t>
            </a:r>
            <a:r>
              <a:rPr dirty="0" sz="2800" spc="40"/>
              <a:t> </a:t>
            </a:r>
            <a:r>
              <a:rPr dirty="0" sz="2800" spc="-10"/>
              <a:t>(Continued)</a:t>
            </a:r>
            <a:endParaRPr sz="2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359153" y="1418589"/>
            <a:ext cx="7419975" cy="2465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Calibri"/>
                <a:cs typeface="Calibri"/>
              </a:rPr>
              <a:t>Advantages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just" marL="12700" marR="5080" indent="-4445">
              <a:lnSpc>
                <a:spcPct val="100000"/>
              </a:lnSpc>
              <a:spcBef>
                <a:spcPts val="2400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accessed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faster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compared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hierarchical </a:t>
            </a:r>
            <a:r>
              <a:rPr dirty="0" sz="2000">
                <a:latin typeface="Calibri"/>
                <a:cs typeface="Calibri"/>
              </a:rPr>
              <a:t>model.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because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related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path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reach 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particular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accessed 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ways.</a:t>
            </a:r>
            <a:endParaRPr sz="2000">
              <a:latin typeface="Calibri"/>
              <a:cs typeface="Calibri"/>
            </a:endParaRPr>
          </a:p>
          <a:p>
            <a:pPr algn="just" marL="213360" indent="-205104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parent-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integrity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present.</a:t>
            </a:r>
            <a:endParaRPr sz="20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reflected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9194" y="162255"/>
            <a:ext cx="17373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Advantages</a:t>
            </a:r>
            <a:endParaRPr sz="2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282953" y="1266189"/>
            <a:ext cx="7496175" cy="3684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Disadvantages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just" marL="12700" marR="6350" indent="-3810">
              <a:lnSpc>
                <a:spcPct val="100000"/>
              </a:lnSpc>
              <a:spcBef>
                <a:spcPts val="2400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 be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handled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 system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might </a:t>
            </a:r>
            <a:r>
              <a:rPr dirty="0" sz="2000">
                <a:latin typeface="Calibri"/>
                <a:cs typeface="Calibri"/>
              </a:rPr>
              <a:t>get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complex.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So,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having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detailed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knowledge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with.</a:t>
            </a:r>
            <a:endParaRPr sz="2000">
              <a:latin typeface="Calibri"/>
              <a:cs typeface="Calibri"/>
            </a:endParaRPr>
          </a:p>
          <a:p>
            <a:pPr algn="just" marL="12700" marR="5080" indent="-4445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requirement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entities,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requires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database.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independence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any </a:t>
            </a:r>
            <a:r>
              <a:rPr dirty="0" sz="2000">
                <a:latin typeface="Calibri"/>
                <a:cs typeface="Calibri"/>
              </a:rPr>
              <a:t>objects.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Hence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Hence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difficult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manage.</a:t>
            </a:r>
            <a:endParaRPr sz="2000">
              <a:latin typeface="Calibri"/>
              <a:cs typeface="Calibri"/>
            </a:endParaRPr>
          </a:p>
          <a:p>
            <a:pPr algn="just" marL="12700" marR="7620" indent="-4445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would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little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difficult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entities,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since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related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way.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requires </a:t>
            </a:r>
            <a:r>
              <a:rPr dirty="0" sz="2000">
                <a:latin typeface="Calibri"/>
                <a:cs typeface="Calibri"/>
              </a:rPr>
              <a:t>thorough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practice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knowledge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designing.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6794" y="162255"/>
            <a:ext cx="21513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Disadvantages</a:t>
            </a:r>
            <a:endParaRPr sz="2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04820">
              <a:lnSpc>
                <a:spcPct val="100000"/>
              </a:lnSpc>
              <a:spcBef>
                <a:spcPts val="100"/>
              </a:spcBef>
            </a:pPr>
            <a:r>
              <a:rPr dirty="0"/>
              <a:t>Short</a:t>
            </a:r>
            <a:r>
              <a:rPr dirty="0" spc="-70"/>
              <a:t> </a:t>
            </a:r>
            <a:r>
              <a:rPr dirty="0" spc="-20"/>
              <a:t>Quiz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1804416" y="4754626"/>
            <a:ext cx="6495415" cy="26034"/>
          </a:xfrm>
          <a:custGeom>
            <a:avLst/>
            <a:gdLst/>
            <a:ahLst/>
            <a:cxnLst/>
            <a:rect l="l" t="t" r="r" b="b"/>
            <a:pathLst>
              <a:path w="6495415" h="26035">
                <a:moveTo>
                  <a:pt x="6495287" y="0"/>
                </a:moveTo>
                <a:lnTo>
                  <a:pt x="0" y="0"/>
                </a:lnTo>
                <a:lnTo>
                  <a:pt x="0" y="25907"/>
                </a:lnTo>
                <a:lnTo>
                  <a:pt x="6495287" y="25907"/>
                </a:lnTo>
                <a:lnTo>
                  <a:pt x="6495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447546" y="1130300"/>
            <a:ext cx="6858000" cy="5201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6870" algn="l"/>
              </a:tabLst>
            </a:pP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following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entities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same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share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properties,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attributes?</a:t>
            </a:r>
            <a:endParaRPr sz="2000">
              <a:latin typeface="Calibri"/>
              <a:cs typeface="Calibri"/>
            </a:endParaRPr>
          </a:p>
          <a:p>
            <a:pPr lvl="1" marL="612775" indent="-257810">
              <a:lnSpc>
                <a:spcPct val="100000"/>
              </a:lnSpc>
              <a:buAutoNum type="alphaLcParenR"/>
              <a:tabLst>
                <a:tab pos="612775" algn="l"/>
              </a:tabLst>
            </a:pPr>
            <a:r>
              <a:rPr dirty="0" sz="2000" spc="-20">
                <a:latin typeface="Calibri"/>
                <a:cs typeface="Calibri"/>
              </a:rPr>
              <a:t>Relation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lvl="1" marL="622300" indent="-265430">
              <a:lnSpc>
                <a:spcPct val="100000"/>
              </a:lnSpc>
              <a:buAutoNum type="alphaLcParenR"/>
              <a:tabLst>
                <a:tab pos="622300" algn="l"/>
              </a:tabLst>
            </a:pPr>
            <a:r>
              <a:rPr dirty="0" sz="2000" spc="-10">
                <a:latin typeface="Calibri"/>
                <a:cs typeface="Calibri"/>
              </a:rPr>
              <a:t>Tuples</a:t>
            </a:r>
            <a:endParaRPr sz="2000">
              <a:latin typeface="Calibri"/>
              <a:cs typeface="Calibri"/>
            </a:endParaRPr>
          </a:p>
          <a:p>
            <a:pPr lvl="1" marL="593090" indent="-238125">
              <a:lnSpc>
                <a:spcPct val="100000"/>
              </a:lnSpc>
              <a:buAutoNum type="alphaLcParenR"/>
              <a:tabLst>
                <a:tab pos="593090" algn="l"/>
              </a:tabLst>
            </a:pPr>
            <a:r>
              <a:rPr dirty="0" sz="2000" b="1">
                <a:latin typeface="Calibri"/>
                <a:cs typeface="Calibri"/>
              </a:rPr>
              <a:t>Entity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lvl="1" marL="622300" indent="-267335">
              <a:lnSpc>
                <a:spcPct val="100000"/>
              </a:lnSpc>
              <a:buAutoNum type="alphaLcParenR"/>
              <a:tabLst>
                <a:tab pos="622300" algn="l"/>
              </a:tabLst>
            </a:pP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Relation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356870" marR="146685" indent="-344805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35687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values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appearing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attributes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tuple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45">
                <a:latin typeface="Calibri"/>
                <a:cs typeface="Calibri"/>
              </a:rPr>
              <a:t>referencing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relation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likewise </a:t>
            </a:r>
            <a:r>
              <a:rPr dirty="0" sz="2000">
                <a:latin typeface="Calibri"/>
                <a:cs typeface="Calibri"/>
              </a:rPr>
              <a:t>occur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specified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attributes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least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tuple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referenced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according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2358390">
              <a:lnSpc>
                <a:spcPct val="100000"/>
              </a:lnSpc>
              <a:spcBef>
                <a:spcPts val="2400"/>
              </a:spcBef>
            </a:pPr>
            <a:r>
              <a:rPr dirty="0" sz="2000" spc="-10">
                <a:latin typeface="Calibri"/>
                <a:cs typeface="Calibri"/>
              </a:rPr>
              <a:t>integrity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constraint.</a:t>
            </a:r>
            <a:endParaRPr sz="2000">
              <a:latin typeface="Calibri"/>
              <a:cs typeface="Calibri"/>
            </a:endParaRPr>
          </a:p>
          <a:p>
            <a:pPr lvl="1" marL="612775" indent="-257810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612775" algn="l"/>
              </a:tabLst>
            </a:pPr>
            <a:r>
              <a:rPr dirty="0" sz="2000" spc="-10" b="1">
                <a:latin typeface="Calibri"/>
                <a:cs typeface="Calibri"/>
              </a:rPr>
              <a:t>Referential</a:t>
            </a:r>
            <a:endParaRPr sz="2000">
              <a:latin typeface="Calibri"/>
              <a:cs typeface="Calibri"/>
            </a:endParaRPr>
          </a:p>
          <a:p>
            <a:pPr lvl="1" marL="622300" indent="-267335">
              <a:lnSpc>
                <a:spcPct val="100000"/>
              </a:lnSpc>
              <a:buAutoNum type="alphaLcParenR"/>
              <a:tabLst>
                <a:tab pos="622300" algn="l"/>
              </a:tabLst>
            </a:pPr>
            <a:r>
              <a:rPr dirty="0" sz="2000" spc="-10">
                <a:latin typeface="Calibri"/>
                <a:cs typeface="Calibri"/>
              </a:rPr>
              <a:t>Primary</a:t>
            </a:r>
            <a:endParaRPr sz="2000">
              <a:latin typeface="Calibri"/>
              <a:cs typeface="Calibri"/>
            </a:endParaRPr>
          </a:p>
          <a:p>
            <a:pPr lvl="1" marL="593090" indent="-238125">
              <a:lnSpc>
                <a:spcPct val="100000"/>
              </a:lnSpc>
              <a:buAutoNum type="alphaLcParenR"/>
              <a:tabLst>
                <a:tab pos="593090" algn="l"/>
              </a:tabLst>
            </a:pPr>
            <a:r>
              <a:rPr dirty="0" sz="2000" spc="-10">
                <a:latin typeface="Calibri"/>
                <a:cs typeface="Calibri"/>
              </a:rPr>
              <a:t>Referencing</a:t>
            </a:r>
            <a:endParaRPr sz="2000">
              <a:latin typeface="Calibri"/>
              <a:cs typeface="Calibri"/>
            </a:endParaRPr>
          </a:p>
          <a:p>
            <a:pPr lvl="1" marL="622300" indent="-267335">
              <a:lnSpc>
                <a:spcPct val="100000"/>
              </a:lnSpc>
              <a:buAutoNum type="alphaLcParenR"/>
              <a:tabLst>
                <a:tab pos="622300" algn="l"/>
              </a:tabLst>
            </a:pPr>
            <a:r>
              <a:rPr dirty="0" sz="2000" spc="-10">
                <a:latin typeface="Calibri"/>
                <a:cs typeface="Calibri"/>
              </a:rPr>
              <a:t>Specific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79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38145" y="6541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41229" y="6541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84688" y="6541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12054" y="65417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9155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Topic-</a:t>
            </a:r>
            <a:r>
              <a:rPr dirty="0" spc="-140"/>
              <a:t> </a:t>
            </a:r>
            <a:r>
              <a:rPr dirty="0"/>
              <a:t>Database</a:t>
            </a:r>
            <a:r>
              <a:rPr dirty="0" spc="-170"/>
              <a:t> </a:t>
            </a:r>
            <a:r>
              <a:rPr dirty="0"/>
              <a:t>Language</a:t>
            </a:r>
            <a:r>
              <a:rPr dirty="0" spc="-100"/>
              <a:t> </a:t>
            </a:r>
            <a:r>
              <a:rPr dirty="0" spc="-10"/>
              <a:t>Objective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442452" y="6461252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80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8540" y="1631950"/>
            <a:ext cx="7929880" cy="3662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4965" marR="5080" indent="-3429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6870" algn="l"/>
              </a:tabLst>
            </a:pP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2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stands</a:t>
            </a:r>
            <a:r>
              <a:rPr dirty="0" sz="2000" spc="2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25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2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Language.</a:t>
            </a:r>
            <a:r>
              <a:rPr dirty="0" sz="2000" spc="2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DML</a:t>
            </a:r>
            <a:r>
              <a:rPr dirty="0" sz="2000" spc="2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stands</a:t>
            </a:r>
            <a:r>
              <a:rPr dirty="0" sz="2000" spc="2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245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Manipulation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Language.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statements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schema,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constraints,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users,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etc.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DML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statement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insert,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update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records.</a:t>
            </a:r>
            <a:endParaRPr sz="2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356870" algn="l"/>
                <a:tab pos="918844" algn="l"/>
                <a:tab pos="1642745" algn="l"/>
                <a:tab pos="2568575" algn="l"/>
                <a:tab pos="3789045" algn="l"/>
                <a:tab pos="4799965" algn="l"/>
                <a:tab pos="6106160" algn="l"/>
                <a:tab pos="6612255" algn="l"/>
                <a:tab pos="7517765" algn="l"/>
              </a:tabLst>
            </a:pPr>
            <a:r>
              <a:rPr dirty="0" sz="2000" spc="-25">
                <a:latin typeface="Calibri"/>
                <a:cs typeface="Calibri"/>
              </a:rPr>
              <a:t>DCL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(Data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Control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Language)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includes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commands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like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GRANT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REVOKE,</a:t>
            </a:r>
            <a:r>
              <a:rPr dirty="0" sz="2000" spc="-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useful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“rights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permissions.”</a:t>
            </a:r>
            <a:endParaRPr sz="2000">
              <a:latin typeface="Calibri"/>
              <a:cs typeface="Calibri"/>
            </a:endParaRPr>
          </a:p>
          <a:p>
            <a:pPr algn="just" marL="468630" marR="9525" indent="-456565">
              <a:lnSpc>
                <a:spcPct val="100000"/>
              </a:lnSpc>
              <a:spcBef>
                <a:spcPts val="2340"/>
              </a:spcBef>
              <a:buAutoNum type="arabicPeriod" startAt="3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Transaction</a:t>
            </a:r>
            <a:r>
              <a:rPr dirty="0" sz="2000" spc="3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3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language</a:t>
            </a:r>
            <a:r>
              <a:rPr dirty="0" sz="2000" spc="31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3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TCL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commands</a:t>
            </a:r>
            <a:r>
              <a:rPr dirty="0" sz="2000" spc="31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deal</a:t>
            </a:r>
            <a:r>
              <a:rPr dirty="0" sz="2000" spc="3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315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transaction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within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433070" indent="-420370">
              <a:lnSpc>
                <a:spcPct val="100000"/>
              </a:lnSpc>
              <a:spcBef>
                <a:spcPts val="2340"/>
              </a:spcBef>
              <a:buAutoNum type="arabicPeriod" startAt="3"/>
              <a:tabLst>
                <a:tab pos="433070" algn="l"/>
              </a:tabLst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Language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(DQL)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to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fetch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from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831" rIns="0" bIns="0" rtlCol="0" vert="horz">
            <a:spAutoFit/>
          </a:bodyPr>
          <a:lstStyle/>
          <a:p>
            <a:pPr marL="1459865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50"/>
              <a:t> </a:t>
            </a:r>
            <a:r>
              <a:rPr dirty="0"/>
              <a:t>BASE</a:t>
            </a:r>
            <a:r>
              <a:rPr dirty="0" spc="-60"/>
              <a:t> </a:t>
            </a:r>
            <a:r>
              <a:rPr dirty="0" spc="-10"/>
              <a:t>LANGUAGE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44754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506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9940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921454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8066405" cy="2562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688975" algn="l"/>
                <a:tab pos="1546860" algn="l"/>
                <a:tab pos="2100580" algn="l"/>
                <a:tab pos="3608070" algn="l"/>
                <a:tab pos="4914265" algn="l"/>
                <a:tab pos="5505450" algn="l"/>
                <a:tab pos="6791959" algn="l"/>
                <a:tab pos="7202170" algn="l"/>
              </a:tabLst>
            </a:pP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DBMS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has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appropriate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languages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interfaces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to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express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queries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updates.</a:t>
            </a:r>
            <a:endParaRPr sz="2150">
              <a:latin typeface="Calibri"/>
              <a:cs typeface="Calibri"/>
            </a:endParaRPr>
          </a:p>
          <a:p>
            <a:pPr marL="355600" marR="63500" indent="-342900">
              <a:lnSpc>
                <a:spcPct val="101899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languages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read,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update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spc="-40">
                <a:latin typeface="Calibri"/>
                <a:cs typeface="Calibri"/>
              </a:rPr>
              <a:t>Two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classes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languages</a:t>
            </a:r>
            <a:endParaRPr sz="2150">
              <a:latin typeface="Calibri"/>
              <a:cs typeface="Calibri"/>
            </a:endParaRPr>
          </a:p>
          <a:p>
            <a:pPr marL="471170">
              <a:lnSpc>
                <a:spcPct val="100000"/>
              </a:lnSpc>
              <a:spcBef>
                <a:spcPts val="565"/>
              </a:spcBef>
              <a:tabLst>
                <a:tab pos="756285" algn="l"/>
              </a:tabLst>
            </a:pPr>
            <a:r>
              <a:rPr dirty="0" sz="2150" spc="-50">
                <a:solidFill>
                  <a:srgbClr val="622422"/>
                </a:solidFill>
                <a:latin typeface="Arial MT"/>
                <a:cs typeface="Arial MT"/>
              </a:rPr>
              <a:t>–</a:t>
            </a:r>
            <a:r>
              <a:rPr dirty="0" sz="2150">
                <a:solidFill>
                  <a:srgbClr val="622422"/>
                </a:solidFill>
                <a:latin typeface="Arial MT"/>
                <a:cs typeface="Arial MT"/>
              </a:rPr>
              <a:t>	</a:t>
            </a:r>
            <a:r>
              <a:rPr dirty="0" sz="2150" b="1">
                <a:solidFill>
                  <a:srgbClr val="622422"/>
                </a:solidFill>
                <a:latin typeface="Calibri"/>
                <a:cs typeface="Calibri"/>
              </a:rPr>
              <a:t>Procedural</a:t>
            </a:r>
            <a:r>
              <a:rPr dirty="0" sz="2150" spc="35" b="1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 user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specifies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what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required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how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get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those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49516" y="3768978"/>
            <a:ext cx="1640839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5175" algn="l"/>
                <a:tab pos="1452245" algn="l"/>
              </a:tabLst>
            </a:pPr>
            <a:r>
              <a:rPr dirty="0" sz="2150" spc="-20">
                <a:latin typeface="Calibri"/>
                <a:cs typeface="Calibri"/>
              </a:rPr>
              <a:t>what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data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2444" y="3758564"/>
            <a:ext cx="6396355" cy="1101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1170">
              <a:lnSpc>
                <a:spcPct val="100000"/>
              </a:lnSpc>
              <a:spcBef>
                <a:spcPts val="95"/>
              </a:spcBef>
              <a:tabLst>
                <a:tab pos="756285" algn="l"/>
                <a:tab pos="2244090" algn="l"/>
                <a:tab pos="4302760" algn="l"/>
                <a:tab pos="4618355" algn="l"/>
                <a:tab pos="5295265" algn="l"/>
              </a:tabLst>
            </a:pPr>
            <a:r>
              <a:rPr dirty="0" sz="2150" spc="-50">
                <a:solidFill>
                  <a:srgbClr val="622422"/>
                </a:solidFill>
                <a:latin typeface="Arial MT"/>
                <a:cs typeface="Arial MT"/>
              </a:rPr>
              <a:t>–</a:t>
            </a:r>
            <a:r>
              <a:rPr dirty="0" sz="2150">
                <a:solidFill>
                  <a:srgbClr val="622422"/>
                </a:solidFill>
                <a:latin typeface="Arial MT"/>
                <a:cs typeface="Arial MT"/>
              </a:rPr>
              <a:t>	</a:t>
            </a:r>
            <a:r>
              <a:rPr dirty="0" sz="2150" spc="-10" b="1">
                <a:solidFill>
                  <a:srgbClr val="622422"/>
                </a:solidFill>
                <a:latin typeface="Calibri"/>
                <a:cs typeface="Calibri"/>
              </a:rPr>
              <a:t>Declarative</a:t>
            </a:r>
            <a:r>
              <a:rPr dirty="0" sz="2150" b="1">
                <a:solidFill>
                  <a:srgbClr val="622422"/>
                </a:solidFill>
                <a:latin typeface="Calibri"/>
                <a:cs typeface="Calibri"/>
              </a:rPr>
              <a:t>	</a:t>
            </a:r>
            <a:r>
              <a:rPr dirty="0" sz="2150" spc="-10" b="1">
                <a:solidFill>
                  <a:srgbClr val="622422"/>
                </a:solidFill>
                <a:latin typeface="Calibri"/>
                <a:cs typeface="Calibri"/>
              </a:rPr>
              <a:t>(nonprocedural)</a:t>
            </a:r>
            <a:r>
              <a:rPr dirty="0" sz="2150" b="1">
                <a:solidFill>
                  <a:srgbClr val="622422"/>
                </a:solidFill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–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user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specifies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required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without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specifying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how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get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those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SQL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most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widely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query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language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831" rIns="0" bIns="0" rtlCol="0" vert="horz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50"/>
              <a:t> 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 spc="-10"/>
              <a:t>LANGUAGE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1200" y="1938527"/>
            <a:ext cx="5445252" cy="336042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667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698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132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406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82</a:t>
            </a:fld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5984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70"/>
              <a:t> </a:t>
            </a:r>
            <a:r>
              <a:rPr dirty="0"/>
              <a:t>Definition</a:t>
            </a:r>
            <a:r>
              <a:rPr dirty="0" spc="-220"/>
              <a:t> </a:t>
            </a:r>
            <a:r>
              <a:rPr dirty="0" spc="-10"/>
              <a:t>Language</a:t>
            </a:r>
            <a:r>
              <a:rPr dirty="0" spc="-110"/>
              <a:t> </a:t>
            </a:r>
            <a:r>
              <a:rPr dirty="0" spc="-10"/>
              <a:t>(DDL)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83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1980945" y="6593230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84029" y="6593230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27488" y="6593230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54854" y="6593230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99133"/>
            <a:ext cx="8083550" cy="3232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974090" algn="l"/>
                <a:tab pos="1849120" algn="l"/>
                <a:tab pos="2318385" algn="l"/>
                <a:tab pos="3008630" algn="l"/>
                <a:tab pos="4277360" algn="l"/>
                <a:tab pos="5561965" algn="l"/>
                <a:tab pos="5887085" algn="l"/>
                <a:tab pos="6219190" algn="l"/>
                <a:tab pos="6903084" algn="l"/>
                <a:tab pos="7301230" algn="l"/>
              </a:tabLst>
            </a:pPr>
            <a:r>
              <a:rPr dirty="0" sz="2150" spc="-25">
                <a:latin typeface="Calibri"/>
                <a:cs typeface="Calibri"/>
              </a:rPr>
              <a:t>DDL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stands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for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Data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Definition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Language.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used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to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define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structure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pattern.</a:t>
            </a:r>
            <a:endParaRPr sz="2150">
              <a:latin typeface="Calibri"/>
              <a:cs typeface="Calibri"/>
            </a:endParaRPr>
          </a:p>
          <a:p>
            <a:pPr marL="355600" marR="6985" indent="-342900">
              <a:lnSpc>
                <a:spcPct val="101899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schema,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tables,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indexes,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constraints,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etc.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  <a:tab pos="1127760" algn="l"/>
                <a:tab pos="1654175" algn="l"/>
                <a:tab pos="2265045" algn="l"/>
                <a:tab pos="3745229" algn="l"/>
                <a:tab pos="4304665" algn="l"/>
                <a:tab pos="4843780" algn="l"/>
                <a:tab pos="5703570" algn="l"/>
                <a:tab pos="6231255" algn="l"/>
                <a:tab pos="7310120" algn="l"/>
                <a:tab pos="7687945" algn="l"/>
              </a:tabLst>
            </a:pPr>
            <a:r>
              <a:rPr dirty="0" sz="2150" spc="-10">
                <a:latin typeface="Calibri"/>
                <a:cs typeface="Calibri"/>
              </a:rPr>
              <a:t>Using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DDL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statements,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you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can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create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skeleton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2099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2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definition</a:t>
            </a:r>
            <a:r>
              <a:rPr dirty="0" sz="2150" spc="2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language</a:t>
            </a:r>
            <a:r>
              <a:rPr dirty="0" sz="2150" spc="2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229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store</a:t>
            </a:r>
            <a:r>
              <a:rPr dirty="0" sz="2150" spc="2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information</a:t>
            </a:r>
            <a:r>
              <a:rPr dirty="0" sz="2150" spc="240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of </a:t>
            </a:r>
            <a:r>
              <a:rPr dirty="0" sz="2150">
                <a:latin typeface="Calibri"/>
                <a:cs typeface="Calibri"/>
              </a:rPr>
              <a:t>metadata</a:t>
            </a:r>
            <a:r>
              <a:rPr dirty="0" sz="2150" spc="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like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number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schemas,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their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names, </a:t>
            </a:r>
            <a:r>
              <a:rPr dirty="0" sz="2150">
                <a:latin typeface="Calibri"/>
                <a:cs typeface="Calibri"/>
              </a:rPr>
              <a:t>indexes,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table,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constraints,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etc.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5984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70"/>
              <a:t> </a:t>
            </a:r>
            <a:r>
              <a:rPr dirty="0"/>
              <a:t>Definition</a:t>
            </a:r>
            <a:r>
              <a:rPr dirty="0" spc="-220"/>
              <a:t> </a:t>
            </a:r>
            <a:r>
              <a:rPr dirty="0" spc="-10"/>
              <a:t>Language</a:t>
            </a:r>
            <a:r>
              <a:rPr dirty="0" spc="-110"/>
              <a:t> </a:t>
            </a:r>
            <a:r>
              <a:rPr dirty="0" spc="-10"/>
              <a:t>(DDL)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84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81975"/>
            <a:ext cx="7829550" cy="4024629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Here are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tasks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under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DDL: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Create:</a:t>
            </a:r>
            <a:r>
              <a:rPr dirty="0" sz="2150" spc="3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objects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Alter:</a:t>
            </a:r>
            <a:r>
              <a:rPr dirty="0" sz="2150" spc="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alter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structure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Drop:</a:t>
            </a:r>
            <a:r>
              <a:rPr dirty="0" sz="2150" spc="-1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delete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objects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spc="-20" b="1">
                <a:latin typeface="Calibri"/>
                <a:cs typeface="Calibri"/>
              </a:rPr>
              <a:t>Truncate: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remove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records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Rename:</a:t>
            </a:r>
            <a:r>
              <a:rPr dirty="0" sz="2150" spc="3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rename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object.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Comment:</a:t>
            </a:r>
            <a:r>
              <a:rPr dirty="0" sz="2150" spc="-2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comment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dictionary.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150">
                <a:latin typeface="Calibri"/>
                <a:cs typeface="Calibri"/>
              </a:rPr>
              <a:t>These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commands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update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that's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why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latin typeface="Calibri"/>
                <a:cs typeface="Calibri"/>
              </a:rPr>
              <a:t>they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under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definition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language.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619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650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084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35854" y="62750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736" rIns="0" bIns="0" rtlCol="0" vert="horz">
            <a:spAutoFit/>
          </a:bodyPr>
          <a:lstStyle/>
          <a:p>
            <a:pPr marL="90678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55"/>
              <a:t> </a:t>
            </a:r>
            <a:r>
              <a:rPr dirty="0"/>
              <a:t>Manipulation</a:t>
            </a:r>
            <a:r>
              <a:rPr dirty="0" spc="-235"/>
              <a:t> </a:t>
            </a:r>
            <a:r>
              <a:rPr dirty="0" spc="-10"/>
              <a:t>Language</a:t>
            </a:r>
            <a:r>
              <a:rPr dirty="0" spc="-95"/>
              <a:t> </a:t>
            </a:r>
            <a:r>
              <a:rPr dirty="0" spc="-10"/>
              <a:t>(DML)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6667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698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132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140654" y="64655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8000365" cy="272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DML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stands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Manipulation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Language.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accessing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manipulating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database.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handles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user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requests.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Here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tasks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under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DML: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Select:</a:t>
            </a:r>
            <a:r>
              <a:rPr dirty="0" sz="2150" spc="4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retrieve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 a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Insert:</a:t>
            </a:r>
            <a:r>
              <a:rPr dirty="0" sz="2150" spc="-3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insert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Update:</a:t>
            </a:r>
            <a:r>
              <a:rPr dirty="0" sz="2150" spc="-4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update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existing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within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Delete:</a:t>
            </a:r>
            <a:r>
              <a:rPr dirty="0" sz="2150" spc="3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delete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records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32957" y="3904614"/>
            <a:ext cx="254381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5785" algn="l"/>
                <a:tab pos="1358265" algn="l"/>
                <a:tab pos="1739264" algn="l"/>
              </a:tabLst>
            </a:pPr>
            <a:r>
              <a:rPr dirty="0" sz="2150" spc="-10">
                <a:latin typeface="Calibri"/>
                <a:cs typeface="Calibri"/>
              </a:rPr>
              <a:t>i.e.,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insert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update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71168" y="3904614"/>
            <a:ext cx="7512050" cy="225044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297180" marR="2591435" indent="-285115">
              <a:lnSpc>
                <a:spcPct val="101899"/>
              </a:lnSpc>
              <a:spcBef>
                <a:spcPts val="45"/>
              </a:spcBef>
              <a:buFont typeface="Arial MT"/>
              <a:buChar char="–"/>
              <a:tabLst>
                <a:tab pos="297180" algn="l"/>
                <a:tab pos="1270000" algn="l"/>
                <a:tab pos="1576070" algn="l"/>
                <a:tab pos="2748280" algn="l"/>
                <a:tab pos="3759200" algn="l"/>
              </a:tabLst>
            </a:pPr>
            <a:r>
              <a:rPr dirty="0" sz="2150" spc="-10" b="1">
                <a:latin typeface="Calibri"/>
                <a:cs typeface="Calibri"/>
              </a:rPr>
              <a:t>Merge: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performs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UPSERT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operation, operations.</a:t>
            </a:r>
            <a:endParaRPr sz="215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297180" algn="l"/>
                <a:tab pos="917575" algn="l"/>
                <a:tab pos="3023870" algn="l"/>
                <a:tab pos="5342890" algn="l"/>
              </a:tabLst>
            </a:pPr>
            <a:r>
              <a:rPr dirty="0" sz="2150" spc="-10" b="1">
                <a:latin typeface="Calibri"/>
                <a:cs typeface="Calibri"/>
              </a:rPr>
              <a:t>Call: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call</a:t>
            </a:r>
            <a:r>
              <a:rPr dirty="0" sz="2150">
                <a:latin typeface="Calibri"/>
                <a:cs typeface="Calibri"/>
              </a:rPr>
              <a:t>	a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structured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query</a:t>
            </a:r>
            <a:r>
              <a:rPr dirty="0" sz="2150">
                <a:latin typeface="Calibri"/>
                <a:cs typeface="Calibri"/>
              </a:rPr>
              <a:t>	language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Java</a:t>
            </a:r>
            <a:endParaRPr sz="2150">
              <a:latin typeface="Calibri"/>
              <a:cs typeface="Calibri"/>
            </a:endParaRPr>
          </a:p>
          <a:p>
            <a:pPr marL="297180">
              <a:lnSpc>
                <a:spcPct val="100000"/>
              </a:lnSpc>
              <a:spcBef>
                <a:spcPts val="60"/>
              </a:spcBef>
            </a:pPr>
            <a:r>
              <a:rPr dirty="0" sz="2150" spc="-10">
                <a:latin typeface="Calibri"/>
                <a:cs typeface="Calibri"/>
              </a:rPr>
              <a:t>subprogram.</a:t>
            </a:r>
            <a:endParaRPr sz="215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297180" algn="l"/>
              </a:tabLst>
            </a:pPr>
            <a:r>
              <a:rPr dirty="0" sz="2150" b="1">
                <a:latin typeface="Calibri"/>
                <a:cs typeface="Calibri"/>
              </a:rPr>
              <a:t>Explain</a:t>
            </a:r>
            <a:r>
              <a:rPr dirty="0" sz="2150" spc="114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Plan:</a:t>
            </a:r>
            <a:r>
              <a:rPr dirty="0" sz="2150" spc="2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has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 </a:t>
            </a:r>
            <a:r>
              <a:rPr dirty="0" sz="2150" spc="-10">
                <a:latin typeface="Calibri"/>
                <a:cs typeface="Calibri"/>
              </a:rPr>
              <a:t>parameter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explaining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data.</a:t>
            </a:r>
            <a:endParaRPr sz="215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297180" algn="l"/>
              </a:tabLst>
            </a:pPr>
            <a:r>
              <a:rPr dirty="0" sz="2150" b="1">
                <a:latin typeface="Calibri"/>
                <a:cs typeface="Calibri"/>
              </a:rPr>
              <a:t>Lock</a:t>
            </a:r>
            <a:r>
              <a:rPr dirty="0" sz="2150" spc="-30" b="1">
                <a:latin typeface="Calibri"/>
                <a:cs typeface="Calibri"/>
              </a:rPr>
              <a:t> Table:</a:t>
            </a:r>
            <a:r>
              <a:rPr dirty="0" sz="2150" spc="-5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controls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concurrency.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736" rIns="0" bIns="0" rtlCol="0" vert="horz">
            <a:spAutoFit/>
          </a:bodyPr>
          <a:lstStyle/>
          <a:p>
            <a:pPr marL="148844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65"/>
              <a:t> </a:t>
            </a:r>
            <a:r>
              <a:rPr dirty="0" spc="-20"/>
              <a:t>Control</a:t>
            </a:r>
            <a:r>
              <a:rPr dirty="0" spc="-150"/>
              <a:t> </a:t>
            </a:r>
            <a:r>
              <a:rPr dirty="0"/>
              <a:t>Language</a:t>
            </a:r>
            <a:r>
              <a:rPr dirty="0" spc="-90"/>
              <a:t> </a:t>
            </a:r>
            <a:r>
              <a:rPr dirty="0" spc="-10"/>
              <a:t>(DCL)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971545" y="6465519"/>
            <a:ext cx="7962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76756" y="6465519"/>
            <a:ext cx="4044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21275" y="6465519"/>
            <a:ext cx="6502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50476" y="6465519"/>
            <a:ext cx="41211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8021320" cy="4974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2835275" algn="l"/>
              </a:tabLst>
            </a:pPr>
            <a:r>
              <a:rPr dirty="0" sz="2150">
                <a:latin typeface="Calibri"/>
                <a:cs typeface="Calibri"/>
              </a:rPr>
              <a:t>DCL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stands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</a:t>
            </a:r>
            <a:r>
              <a:rPr dirty="0" sz="2150">
                <a:latin typeface="Calibri"/>
                <a:cs typeface="Calibri"/>
              </a:rPr>
              <a:t>	Control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Language.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retrieve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stored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saved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data.</a:t>
            </a:r>
            <a:endParaRPr sz="2150">
              <a:latin typeface="Calibri"/>
              <a:cs typeface="Calibri"/>
            </a:endParaRPr>
          </a:p>
          <a:p>
            <a:pPr marL="12700" marR="31750" indent="342265">
              <a:lnSpc>
                <a:spcPct val="11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DCL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execution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transactional.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also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rollback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parameters. </a:t>
            </a:r>
            <a:r>
              <a:rPr dirty="0" sz="2150">
                <a:latin typeface="Calibri"/>
                <a:cs typeface="Calibri"/>
              </a:rPr>
              <a:t>(But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Oracle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database,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execution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control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language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does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feature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rolling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back.)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Here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tasks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under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DCL: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Grant:</a:t>
            </a:r>
            <a:r>
              <a:rPr dirty="0" sz="2150" spc="4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give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user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access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privileges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spc="-10" b="1">
                <a:latin typeface="Calibri"/>
                <a:cs typeface="Calibri"/>
              </a:rPr>
              <a:t>Revoke:</a:t>
            </a:r>
            <a:r>
              <a:rPr dirty="0" sz="2150" spc="-5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take </a:t>
            </a:r>
            <a:r>
              <a:rPr dirty="0" sz="2150">
                <a:latin typeface="Calibri"/>
                <a:cs typeface="Calibri"/>
              </a:rPr>
              <a:t>back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permissions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user.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2931160" algn="l"/>
              </a:tabLst>
            </a:pP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following</a:t>
            </a:r>
            <a:r>
              <a:rPr dirty="0" sz="2150">
                <a:latin typeface="Calibri"/>
                <a:cs typeface="Calibri"/>
              </a:rPr>
              <a:t>	operations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authorization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of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150" spc="-10">
                <a:latin typeface="Calibri"/>
                <a:cs typeface="Calibri"/>
              </a:rPr>
              <a:t>Revoke: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 spc="-45">
                <a:latin typeface="Calibri"/>
                <a:cs typeface="Calibri"/>
              </a:rPr>
              <a:t>CONNECT,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INSERT,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USAGE,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EXECUTE,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DELETE,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35">
                <a:latin typeface="Calibri"/>
                <a:cs typeface="Calibri"/>
              </a:rPr>
              <a:t>UPDATE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SELECT.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736" rIns="0" bIns="0" rtlCol="0" vert="horz">
            <a:spAutoFit/>
          </a:bodyPr>
          <a:lstStyle/>
          <a:p>
            <a:pPr marL="94488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Transaction</a:t>
            </a:r>
            <a:r>
              <a:rPr dirty="0" spc="-114"/>
              <a:t> </a:t>
            </a:r>
            <a:r>
              <a:rPr dirty="0" spc="-20"/>
              <a:t>Control</a:t>
            </a:r>
            <a:r>
              <a:rPr dirty="0" spc="-155"/>
              <a:t> </a:t>
            </a:r>
            <a:r>
              <a:rPr dirty="0"/>
              <a:t>Language</a:t>
            </a:r>
            <a:r>
              <a:rPr dirty="0" spc="-105"/>
              <a:t> </a:t>
            </a:r>
            <a:r>
              <a:rPr dirty="0" spc="-10"/>
              <a:t>(TCL)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971545" y="6465519"/>
            <a:ext cx="7962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76756" y="6465519"/>
            <a:ext cx="4044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21275" y="6465519"/>
            <a:ext cx="6502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50476" y="6465519"/>
            <a:ext cx="41211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1145539"/>
            <a:ext cx="8015605" cy="2623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TCL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run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changes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made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DML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statement.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TCL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grouped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logical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transaction.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Here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tasks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under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TCL: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Commit:</a:t>
            </a:r>
            <a:r>
              <a:rPr dirty="0" sz="2150" spc="4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save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transaction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56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b="1">
                <a:latin typeface="Calibri"/>
                <a:cs typeface="Calibri"/>
              </a:rPr>
              <a:t>Rollback:</a:t>
            </a:r>
            <a:r>
              <a:rPr dirty="0" sz="2150" spc="18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restore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original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since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last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Commit.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04820">
              <a:lnSpc>
                <a:spcPct val="100000"/>
              </a:lnSpc>
              <a:spcBef>
                <a:spcPts val="100"/>
              </a:spcBef>
            </a:pPr>
            <a:r>
              <a:rPr dirty="0"/>
              <a:t>Short</a:t>
            </a:r>
            <a:r>
              <a:rPr dirty="0" spc="-70"/>
              <a:t> </a:t>
            </a:r>
            <a:r>
              <a:rPr dirty="0" spc="-20"/>
              <a:t>Quiz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29514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982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416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69054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88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8540" y="1631950"/>
            <a:ext cx="7465059" cy="3677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13384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ability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well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insert,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delete,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alter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tuples,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tabLst>
                <a:tab pos="3070860" algn="l"/>
              </a:tabLst>
            </a:pPr>
            <a:r>
              <a:rPr dirty="0" sz="2000" spc="-35">
                <a:latin typeface="Calibri"/>
                <a:cs typeface="Calibri"/>
              </a:rPr>
              <a:t>offered </a:t>
            </a:r>
            <a:r>
              <a:rPr dirty="0" sz="2000">
                <a:latin typeface="Calibri"/>
                <a:cs typeface="Calibri"/>
              </a:rPr>
              <a:t>by </a:t>
            </a:r>
            <a:r>
              <a:rPr dirty="0" u="heavy" sz="2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  <a:p>
            <a:pPr lvl="1" marL="612775" indent="-257810">
              <a:lnSpc>
                <a:spcPct val="100000"/>
              </a:lnSpc>
              <a:buAutoNum type="alphaLcParenR"/>
              <a:tabLst>
                <a:tab pos="612775" algn="l"/>
              </a:tabLst>
            </a:pPr>
            <a:r>
              <a:rPr dirty="0" sz="2000" spc="-10">
                <a:latin typeface="Calibri"/>
                <a:cs typeface="Calibri"/>
              </a:rPr>
              <a:t>TCL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(Transaction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Control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Language)</a:t>
            </a:r>
            <a:endParaRPr sz="2000">
              <a:latin typeface="Calibri"/>
              <a:cs typeface="Calibri"/>
            </a:endParaRPr>
          </a:p>
          <a:p>
            <a:pPr lvl="1" marL="621665" indent="-266700">
              <a:lnSpc>
                <a:spcPct val="100000"/>
              </a:lnSpc>
              <a:buAutoNum type="alphaLcParenR"/>
              <a:tabLst>
                <a:tab pos="621665" algn="l"/>
              </a:tabLst>
            </a:pPr>
            <a:r>
              <a:rPr dirty="0" sz="2000">
                <a:latin typeface="Calibri"/>
                <a:cs typeface="Calibri"/>
              </a:rPr>
              <a:t>DCL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(Data</a:t>
            </a:r>
            <a:r>
              <a:rPr dirty="0" sz="2000" spc="-1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Control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Language)</a:t>
            </a:r>
            <a:endParaRPr sz="2000">
              <a:latin typeface="Calibri"/>
              <a:cs typeface="Calibri"/>
            </a:endParaRPr>
          </a:p>
          <a:p>
            <a:pPr lvl="1" marL="593090" indent="-238125">
              <a:lnSpc>
                <a:spcPct val="100000"/>
              </a:lnSpc>
              <a:buAutoNum type="alphaLcParenR"/>
              <a:tabLst>
                <a:tab pos="593090" algn="l"/>
              </a:tabLst>
            </a:pPr>
            <a:r>
              <a:rPr dirty="0" sz="2000">
                <a:latin typeface="Calibri"/>
                <a:cs typeface="Calibri"/>
              </a:rPr>
              <a:t>DDL</a:t>
            </a:r>
            <a:r>
              <a:rPr dirty="0" sz="2000" spc="-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(Data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Definition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Langauge)</a:t>
            </a:r>
            <a:endParaRPr sz="2000">
              <a:latin typeface="Calibri"/>
              <a:cs typeface="Calibri"/>
            </a:endParaRPr>
          </a:p>
          <a:p>
            <a:pPr lvl="1" marL="631190" indent="-276225">
              <a:lnSpc>
                <a:spcPct val="100000"/>
              </a:lnSpc>
              <a:buAutoNum type="alphaLcParenR"/>
              <a:tabLst>
                <a:tab pos="631190" algn="l"/>
              </a:tabLst>
            </a:pPr>
            <a:r>
              <a:rPr dirty="0" sz="2000" b="1">
                <a:latin typeface="Calibri"/>
                <a:cs typeface="Calibri"/>
              </a:rPr>
              <a:t>DML</a:t>
            </a:r>
            <a:r>
              <a:rPr dirty="0" sz="2000" spc="-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(Data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Manipulation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Langauge)</a:t>
            </a:r>
            <a:endParaRPr sz="2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356870" algn="l"/>
              </a:tabLst>
            </a:pP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remove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from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SQL?</a:t>
            </a:r>
            <a:endParaRPr sz="2000">
              <a:latin typeface="Calibri"/>
              <a:cs typeface="Calibri"/>
            </a:endParaRPr>
          </a:p>
          <a:p>
            <a:pPr lvl="1" marL="612775" indent="-257810">
              <a:lnSpc>
                <a:spcPct val="100000"/>
              </a:lnSpc>
              <a:buAutoNum type="alphaLcParenR"/>
              <a:tabLst>
                <a:tab pos="612775" algn="l"/>
              </a:tabLst>
            </a:pPr>
            <a:r>
              <a:rPr dirty="0" sz="2000" b="1">
                <a:latin typeface="Calibri"/>
                <a:cs typeface="Calibri"/>
              </a:rPr>
              <a:t>Drop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lvl="1" marL="622300" indent="-267335">
              <a:lnSpc>
                <a:spcPct val="100000"/>
              </a:lnSpc>
              <a:buAutoNum type="alphaLcParenR"/>
              <a:tabLst>
                <a:tab pos="622300" algn="l"/>
              </a:tabLst>
            </a:pPr>
            <a:r>
              <a:rPr dirty="0" sz="2000" spc="-10">
                <a:latin typeface="Calibri"/>
                <a:cs typeface="Calibri"/>
              </a:rPr>
              <a:t>Delete</a:t>
            </a:r>
            <a:endParaRPr sz="2000">
              <a:latin typeface="Calibri"/>
              <a:cs typeface="Calibri"/>
            </a:endParaRPr>
          </a:p>
          <a:p>
            <a:pPr lvl="1" marL="593090" indent="-238125">
              <a:lnSpc>
                <a:spcPct val="100000"/>
              </a:lnSpc>
              <a:buAutoNum type="alphaLcParenR"/>
              <a:tabLst>
                <a:tab pos="593090" algn="l"/>
              </a:tabLst>
            </a:pPr>
            <a:r>
              <a:rPr dirty="0" sz="2000" spc="-10">
                <a:latin typeface="Calibri"/>
                <a:cs typeface="Calibri"/>
              </a:rPr>
              <a:t>Purge</a:t>
            </a:r>
            <a:endParaRPr sz="2000">
              <a:latin typeface="Calibri"/>
              <a:cs typeface="Calibri"/>
            </a:endParaRPr>
          </a:p>
          <a:p>
            <a:pPr lvl="1" marL="621665" indent="-266700">
              <a:lnSpc>
                <a:spcPct val="100000"/>
              </a:lnSpc>
              <a:buAutoNum type="alphaLcParenR"/>
              <a:tabLst>
                <a:tab pos="621665" algn="l"/>
              </a:tabLst>
            </a:pPr>
            <a:r>
              <a:rPr dirty="0" sz="2000" spc="-10">
                <a:latin typeface="Calibri"/>
                <a:cs typeface="Calibri"/>
              </a:rPr>
              <a:t>Remove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36244" y="6426504"/>
            <a:ext cx="6762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8/24/2022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41817" y="642650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45">
                <a:solidFill>
                  <a:srgbClr val="878787"/>
                </a:solidFill>
                <a:latin typeface="Calibri"/>
                <a:cs typeface="Calibri"/>
              </a:rPr>
              <a:t>5</a:t>
            </a:r>
            <a:r>
              <a:rPr dirty="0" baseline="2314" sz="1800" spc="-75">
                <a:solidFill>
                  <a:srgbClr val="878787"/>
                </a:solidFill>
                <a:latin typeface="Calibri"/>
                <a:cs typeface="Calibri"/>
              </a:rPr>
              <a:t>8</a:t>
            </a:r>
            <a:r>
              <a:rPr dirty="0" sz="1200" spc="-635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r>
              <a:rPr dirty="0" baseline="2314" sz="1800" spc="-44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baseline="2314"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Topic-</a:t>
            </a:r>
            <a:r>
              <a:rPr dirty="0" spc="-110"/>
              <a:t> </a:t>
            </a:r>
            <a:r>
              <a:rPr dirty="0"/>
              <a:t>Relational</a:t>
            </a:r>
            <a:r>
              <a:rPr dirty="0" spc="-65"/>
              <a:t> </a:t>
            </a:r>
            <a:r>
              <a:rPr dirty="0"/>
              <a:t>Model</a:t>
            </a:r>
            <a:r>
              <a:rPr dirty="0" spc="-13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/>
              <a:t>SQL</a:t>
            </a:r>
            <a:r>
              <a:rPr dirty="0" spc="-30"/>
              <a:t> </a:t>
            </a:r>
            <a:r>
              <a:rPr dirty="0" spc="-10"/>
              <a:t>Objective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18540" y="1270838"/>
            <a:ext cx="7935595" cy="4576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8630" marR="5715" indent="-4565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purpose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relational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declarative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method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specifying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queries: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directly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contains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information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want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from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  <a:p>
            <a:pPr algn="just" marL="468630" marR="5080" indent="-456565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major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goals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relational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close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gap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relational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databases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oriented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practises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frequently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programming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languages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C++,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C#,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Java 	etc.</a:t>
            </a:r>
            <a:endParaRPr sz="2000">
              <a:latin typeface="Calibri"/>
              <a:cs typeface="Calibri"/>
            </a:endParaRPr>
          </a:p>
          <a:p>
            <a:pPr marL="471170" indent="-458470">
              <a:lnSpc>
                <a:spcPct val="100000"/>
              </a:lnSpc>
              <a:spcBef>
                <a:spcPts val="2345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statements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edit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existing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</a:t>
            </a:r>
            <a:endParaRPr sz="2000">
              <a:latin typeface="Calibri"/>
              <a:cs typeface="Calibri"/>
            </a:endParaRPr>
          </a:p>
          <a:p>
            <a:pPr marL="47117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statements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create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objects.</a:t>
            </a:r>
            <a:endParaRPr sz="2000">
              <a:latin typeface="Calibri"/>
              <a:cs typeface="Calibri"/>
            </a:endParaRPr>
          </a:p>
          <a:p>
            <a:pPr algn="just" marL="468630" marR="12065" indent="-456565">
              <a:lnSpc>
                <a:spcPct val="100000"/>
              </a:lnSpc>
              <a:spcBef>
                <a:spcPts val="2340"/>
              </a:spcBef>
              <a:buAutoNum type="arabicPeriod" startAt="4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Understand</a:t>
            </a:r>
            <a:r>
              <a:rPr dirty="0" sz="2000" spc="4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409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09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4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relational</a:t>
            </a:r>
            <a:r>
              <a:rPr dirty="0" sz="2000" spc="409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databases.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Understand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importance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major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issues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security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maintenance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integrity.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24326" y="6427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27410" y="6427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70869" y="6427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98235" y="64274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86231" y="1562811"/>
            <a:ext cx="56330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Example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tabular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87590" y="1979422"/>
            <a:ext cx="85344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latin typeface="Arial MT"/>
                <a:cs typeface="Arial MT"/>
              </a:rPr>
              <a:t>Attributes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422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Relational</a:t>
            </a:r>
            <a:r>
              <a:rPr dirty="0" spc="-125"/>
              <a:t> </a:t>
            </a:r>
            <a:r>
              <a:rPr dirty="0" spc="-20"/>
              <a:t>Model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777240" y="2243327"/>
            <a:ext cx="7638415" cy="3001010"/>
            <a:chOff x="777240" y="2243327"/>
            <a:chExt cx="7638415" cy="3001010"/>
          </a:xfrm>
        </p:grpSpPr>
        <p:sp>
          <p:nvSpPr>
            <p:cNvPr id="9" name="object 9" descr=""/>
            <p:cNvSpPr/>
            <p:nvPr/>
          </p:nvSpPr>
          <p:spPr>
            <a:xfrm>
              <a:off x="6153912" y="2243327"/>
              <a:ext cx="1603375" cy="795655"/>
            </a:xfrm>
            <a:custGeom>
              <a:avLst/>
              <a:gdLst/>
              <a:ahLst/>
              <a:cxnLst/>
              <a:rect l="l" t="t" r="r" b="b"/>
              <a:pathLst>
                <a:path w="1603375" h="795655">
                  <a:moveTo>
                    <a:pt x="1515491" y="8763"/>
                  </a:moveTo>
                  <a:lnTo>
                    <a:pt x="1511808" y="0"/>
                  </a:lnTo>
                  <a:lnTo>
                    <a:pt x="68453" y="599821"/>
                  </a:lnTo>
                  <a:lnTo>
                    <a:pt x="55753" y="568960"/>
                  </a:lnTo>
                  <a:lnTo>
                    <a:pt x="0" y="633349"/>
                  </a:lnTo>
                  <a:lnTo>
                    <a:pt x="84963" y="639445"/>
                  </a:lnTo>
                  <a:lnTo>
                    <a:pt x="72136" y="608584"/>
                  </a:lnTo>
                  <a:lnTo>
                    <a:pt x="1515491" y="8763"/>
                  </a:lnTo>
                  <a:close/>
                </a:path>
                <a:path w="1603375" h="795655">
                  <a:moveTo>
                    <a:pt x="1603121" y="7239"/>
                  </a:moveTo>
                  <a:lnTo>
                    <a:pt x="1595628" y="1524"/>
                  </a:lnTo>
                  <a:lnTo>
                    <a:pt x="1032764" y="732155"/>
                  </a:lnTo>
                  <a:lnTo>
                    <a:pt x="1006348" y="711835"/>
                  </a:lnTo>
                  <a:lnTo>
                    <a:pt x="990092" y="795401"/>
                  </a:lnTo>
                  <a:lnTo>
                    <a:pt x="1066673" y="758444"/>
                  </a:lnTo>
                  <a:lnTo>
                    <a:pt x="1040384" y="737997"/>
                  </a:lnTo>
                  <a:lnTo>
                    <a:pt x="1603121" y="72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340" y="3081527"/>
              <a:ext cx="7562088" cy="212293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777240" y="3042919"/>
              <a:ext cx="7638415" cy="2200910"/>
            </a:xfrm>
            <a:custGeom>
              <a:avLst/>
              <a:gdLst/>
              <a:ahLst/>
              <a:cxnLst/>
              <a:rect l="l" t="t" r="r" b="b"/>
              <a:pathLst>
                <a:path w="7638415" h="2200910">
                  <a:moveTo>
                    <a:pt x="7612888" y="25400"/>
                  </a:moveTo>
                  <a:lnTo>
                    <a:pt x="7600188" y="25400"/>
                  </a:lnTo>
                  <a:lnTo>
                    <a:pt x="7600188" y="38100"/>
                  </a:lnTo>
                  <a:lnTo>
                    <a:pt x="7600188" y="2162810"/>
                  </a:lnTo>
                  <a:lnTo>
                    <a:pt x="38100" y="2162810"/>
                  </a:lnTo>
                  <a:lnTo>
                    <a:pt x="38100" y="38100"/>
                  </a:lnTo>
                  <a:lnTo>
                    <a:pt x="7600188" y="38100"/>
                  </a:lnTo>
                  <a:lnTo>
                    <a:pt x="7600188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2162810"/>
                  </a:lnTo>
                  <a:lnTo>
                    <a:pt x="25400" y="2175510"/>
                  </a:lnTo>
                  <a:lnTo>
                    <a:pt x="7612888" y="2175510"/>
                  </a:lnTo>
                  <a:lnTo>
                    <a:pt x="7612888" y="2162810"/>
                  </a:lnTo>
                  <a:lnTo>
                    <a:pt x="7612888" y="38100"/>
                  </a:lnTo>
                  <a:lnTo>
                    <a:pt x="7612888" y="25400"/>
                  </a:lnTo>
                  <a:close/>
                </a:path>
                <a:path w="7638415" h="2200910">
                  <a:moveTo>
                    <a:pt x="7638288" y="0"/>
                  </a:moveTo>
                  <a:lnTo>
                    <a:pt x="7625588" y="0"/>
                  </a:lnTo>
                  <a:lnTo>
                    <a:pt x="7625588" y="12700"/>
                  </a:lnTo>
                  <a:lnTo>
                    <a:pt x="7625588" y="2188210"/>
                  </a:lnTo>
                  <a:lnTo>
                    <a:pt x="12700" y="2188210"/>
                  </a:lnTo>
                  <a:lnTo>
                    <a:pt x="12700" y="12700"/>
                  </a:lnTo>
                  <a:lnTo>
                    <a:pt x="7625588" y="12700"/>
                  </a:lnTo>
                  <a:lnTo>
                    <a:pt x="7625588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188210"/>
                  </a:lnTo>
                  <a:lnTo>
                    <a:pt x="0" y="2200910"/>
                  </a:lnTo>
                  <a:lnTo>
                    <a:pt x="7638288" y="2200910"/>
                  </a:lnTo>
                  <a:lnTo>
                    <a:pt x="7638288" y="2188210"/>
                  </a:lnTo>
                  <a:lnTo>
                    <a:pt x="7638288" y="12700"/>
                  </a:lnTo>
                  <a:lnTo>
                    <a:pt x="7638288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14279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14588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68933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616705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90</a:t>
            </a:fld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64615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10"/>
              <a:t> </a:t>
            </a:r>
            <a:r>
              <a:rPr dirty="0"/>
              <a:t>Sample</a:t>
            </a:r>
            <a:r>
              <a:rPr dirty="0" spc="-5"/>
              <a:t> </a:t>
            </a:r>
            <a:r>
              <a:rPr dirty="0" spc="-10"/>
              <a:t>Relational</a:t>
            </a:r>
            <a:r>
              <a:rPr dirty="0" spc="-170"/>
              <a:t> </a:t>
            </a:r>
            <a:r>
              <a:rPr dirty="0" spc="-10"/>
              <a:t>Database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2019300" y="1104900"/>
            <a:ext cx="5486400" cy="5181600"/>
            <a:chOff x="2019300" y="1104900"/>
            <a:chExt cx="5486400" cy="518160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7400" y="1162811"/>
              <a:ext cx="5410200" cy="508558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019300" y="1104899"/>
              <a:ext cx="5486400" cy="5181600"/>
            </a:xfrm>
            <a:custGeom>
              <a:avLst/>
              <a:gdLst/>
              <a:ahLst/>
              <a:cxnLst/>
              <a:rect l="l" t="t" r="r" b="b"/>
              <a:pathLst>
                <a:path w="5486400" h="5181600">
                  <a:moveTo>
                    <a:pt x="5461000" y="25400"/>
                  </a:moveTo>
                  <a:lnTo>
                    <a:pt x="5448300" y="25400"/>
                  </a:lnTo>
                  <a:lnTo>
                    <a:pt x="5448300" y="38100"/>
                  </a:lnTo>
                  <a:lnTo>
                    <a:pt x="5448300" y="5143500"/>
                  </a:lnTo>
                  <a:lnTo>
                    <a:pt x="38100" y="5143500"/>
                  </a:lnTo>
                  <a:lnTo>
                    <a:pt x="38100" y="38100"/>
                  </a:lnTo>
                  <a:lnTo>
                    <a:pt x="5448300" y="38100"/>
                  </a:lnTo>
                  <a:lnTo>
                    <a:pt x="5448300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5143500"/>
                  </a:lnTo>
                  <a:lnTo>
                    <a:pt x="25400" y="5156200"/>
                  </a:lnTo>
                  <a:lnTo>
                    <a:pt x="5461000" y="5156200"/>
                  </a:lnTo>
                  <a:lnTo>
                    <a:pt x="5461000" y="5143500"/>
                  </a:lnTo>
                  <a:lnTo>
                    <a:pt x="5461000" y="25400"/>
                  </a:lnTo>
                  <a:close/>
                </a:path>
                <a:path w="5486400" h="5181600">
                  <a:moveTo>
                    <a:pt x="5486400" y="0"/>
                  </a:moveTo>
                  <a:lnTo>
                    <a:pt x="5473700" y="0"/>
                  </a:lnTo>
                  <a:lnTo>
                    <a:pt x="5473700" y="12700"/>
                  </a:lnTo>
                  <a:lnTo>
                    <a:pt x="5473700" y="5168900"/>
                  </a:lnTo>
                  <a:lnTo>
                    <a:pt x="12700" y="5168900"/>
                  </a:lnTo>
                  <a:lnTo>
                    <a:pt x="12700" y="12700"/>
                  </a:lnTo>
                  <a:lnTo>
                    <a:pt x="5473700" y="12700"/>
                  </a:lnTo>
                  <a:lnTo>
                    <a:pt x="5473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5168900"/>
                  </a:lnTo>
                  <a:lnTo>
                    <a:pt x="0" y="5181600"/>
                  </a:lnTo>
                  <a:lnTo>
                    <a:pt x="5486400" y="5181600"/>
                  </a:lnTo>
                  <a:lnTo>
                    <a:pt x="5486400" y="516890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8191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222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656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930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91</a:t>
            </a:fld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04820">
              <a:lnSpc>
                <a:spcPct val="100000"/>
              </a:lnSpc>
              <a:spcBef>
                <a:spcPts val="100"/>
              </a:spcBef>
            </a:pPr>
            <a:r>
              <a:rPr dirty="0"/>
              <a:t>Short</a:t>
            </a:r>
            <a:r>
              <a:rPr dirty="0" spc="-70"/>
              <a:t> </a:t>
            </a:r>
            <a:r>
              <a:rPr dirty="0" spc="-20"/>
              <a:t>Quiz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0571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02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036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31054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92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8540" y="1127251"/>
            <a:ext cx="7228840" cy="4881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527685" algn="l"/>
              </a:tabLst>
            </a:pPr>
            <a:r>
              <a:rPr dirty="0" sz="2000">
                <a:latin typeface="Calibri"/>
                <a:cs typeface="Calibri"/>
              </a:rPr>
              <a:t>After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groups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have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been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established,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SQL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predicates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471170">
              <a:lnSpc>
                <a:spcPct val="100000"/>
              </a:lnSpc>
              <a:tabLst>
                <a:tab pos="1926589" algn="l"/>
              </a:tabLst>
            </a:pPr>
            <a:r>
              <a:rPr dirty="0" u="heavy" sz="2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clause,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aggregate</a:t>
            </a:r>
            <a:r>
              <a:rPr dirty="0" sz="2000" spc="-1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functions</a:t>
            </a:r>
            <a:r>
              <a:rPr dirty="0" sz="2000">
                <a:latin typeface="Calibri"/>
                <a:cs typeface="Calibri"/>
              </a:rPr>
              <a:t> 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used.</a:t>
            </a:r>
            <a:endParaRPr sz="2000">
              <a:latin typeface="Calibri"/>
              <a:cs typeface="Calibri"/>
            </a:endParaRPr>
          </a:p>
          <a:p>
            <a:pPr lvl="1" marL="727075" indent="-257810">
              <a:lnSpc>
                <a:spcPct val="100000"/>
              </a:lnSpc>
              <a:buAutoNum type="alphaLcParenR"/>
              <a:tabLst>
                <a:tab pos="727075" algn="l"/>
              </a:tabLst>
            </a:pPr>
            <a:r>
              <a:rPr dirty="0" sz="2000" spc="-10">
                <a:latin typeface="Calibri"/>
                <a:cs typeface="Calibri"/>
              </a:rPr>
              <a:t>Where</a:t>
            </a:r>
            <a:endParaRPr sz="2000">
              <a:latin typeface="Calibri"/>
              <a:cs typeface="Calibri"/>
            </a:endParaRPr>
          </a:p>
          <a:p>
            <a:pPr lvl="1" marL="735965" indent="-266700">
              <a:lnSpc>
                <a:spcPct val="100000"/>
              </a:lnSpc>
              <a:buAutoNum type="alphaLcParenR"/>
              <a:tabLst>
                <a:tab pos="735965" algn="l"/>
              </a:tabLst>
            </a:pPr>
            <a:r>
              <a:rPr dirty="0" sz="2000" spc="-10">
                <a:latin typeface="Calibri"/>
                <a:cs typeface="Calibri"/>
              </a:rPr>
              <a:t>Having</a:t>
            </a:r>
            <a:endParaRPr sz="2000">
              <a:latin typeface="Calibri"/>
              <a:cs typeface="Calibri"/>
            </a:endParaRPr>
          </a:p>
          <a:p>
            <a:pPr lvl="1" marL="707390" indent="-238125">
              <a:lnSpc>
                <a:spcPct val="100000"/>
              </a:lnSpc>
              <a:buAutoNum type="alphaLcParenR"/>
              <a:tabLst>
                <a:tab pos="707390" algn="l"/>
              </a:tabLst>
            </a:pPr>
            <a:r>
              <a:rPr dirty="0" sz="2000" spc="-10">
                <a:latin typeface="Calibri"/>
                <a:cs typeface="Calibri"/>
              </a:rPr>
              <a:t>Group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lvl="1" marL="744855" indent="-275590">
              <a:lnSpc>
                <a:spcPct val="100000"/>
              </a:lnSpc>
              <a:buAutoNum type="alphaLcParenR"/>
              <a:tabLst>
                <a:tab pos="744855" algn="l"/>
              </a:tabLst>
            </a:pPr>
            <a:r>
              <a:rPr dirty="0" sz="2000" spc="-20" b="1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71170" indent="-458470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471170" algn="l"/>
              </a:tabLst>
            </a:pPr>
            <a:r>
              <a:rPr dirty="0" sz="2000" spc="-10">
                <a:latin typeface="Calibri"/>
                <a:cs typeface="Calibri"/>
              </a:rPr>
              <a:t>Why</a:t>
            </a:r>
            <a:r>
              <a:rPr dirty="0" sz="2000" spc="-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following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statement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erroneous?</a:t>
            </a:r>
            <a:endParaRPr sz="2000">
              <a:latin typeface="Calibri"/>
              <a:cs typeface="Calibri"/>
            </a:endParaRPr>
          </a:p>
          <a:p>
            <a:pPr marL="471170" marR="295275">
              <a:lnSpc>
                <a:spcPct val="100000"/>
              </a:lnSpc>
              <a:spcBef>
                <a:spcPts val="2345"/>
              </a:spcBef>
            </a:pPr>
            <a:r>
              <a:rPr dirty="0" sz="2000" spc="-10">
                <a:latin typeface="Calibri"/>
                <a:cs typeface="Calibri"/>
              </a:rPr>
              <a:t>SELECT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dept_name,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ID,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(salary)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instructor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GROUP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 </a:t>
            </a:r>
            <a:r>
              <a:rPr dirty="0" sz="2000" spc="-10">
                <a:latin typeface="Calibri"/>
                <a:cs typeface="Calibri"/>
              </a:rPr>
              <a:t>dept_name;</a:t>
            </a:r>
            <a:endParaRPr sz="2000">
              <a:latin typeface="Calibri"/>
              <a:cs typeface="Calibri"/>
            </a:endParaRPr>
          </a:p>
          <a:p>
            <a:pPr lvl="1" marL="727075" indent="-257810">
              <a:lnSpc>
                <a:spcPct val="100000"/>
              </a:lnSpc>
              <a:spcBef>
                <a:spcPts val="2340"/>
              </a:spcBef>
              <a:buAutoNum type="alphaLcParenR"/>
              <a:tabLst>
                <a:tab pos="727075" algn="l"/>
              </a:tabLst>
            </a:pPr>
            <a:r>
              <a:rPr dirty="0" sz="2000" b="1">
                <a:latin typeface="Calibri"/>
                <a:cs typeface="Calibri"/>
              </a:rPr>
              <a:t>Dept_id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should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used</a:t>
            </a:r>
            <a:r>
              <a:rPr dirty="0" sz="2000" spc="-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group</a:t>
            </a:r>
            <a:r>
              <a:rPr dirty="0" sz="2000" spc="-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clause</a:t>
            </a:r>
            <a:endParaRPr sz="2000">
              <a:latin typeface="Calibri"/>
              <a:cs typeface="Calibri"/>
            </a:endParaRPr>
          </a:p>
          <a:p>
            <a:pPr lvl="1" marL="735965" indent="-266700">
              <a:lnSpc>
                <a:spcPct val="100000"/>
              </a:lnSpc>
              <a:buAutoNum type="alphaLcParenR"/>
              <a:tabLst>
                <a:tab pos="735965" algn="l"/>
              </a:tabLst>
            </a:pPr>
            <a:r>
              <a:rPr dirty="0" sz="2000" spc="-10">
                <a:latin typeface="Calibri"/>
                <a:cs typeface="Calibri"/>
              </a:rPr>
              <a:t>Group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clause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valid</a:t>
            </a:r>
            <a:r>
              <a:rPr dirty="0" sz="2000" spc="-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lvl="1" marL="707390" indent="-238125">
              <a:lnSpc>
                <a:spcPct val="100000"/>
              </a:lnSpc>
              <a:buAutoNum type="alphaLcParenR"/>
              <a:tabLst>
                <a:tab pos="707390" algn="l"/>
              </a:tabLst>
            </a:pPr>
            <a:r>
              <a:rPr dirty="0" sz="2000" spc="-10">
                <a:latin typeface="Calibri"/>
                <a:cs typeface="Calibri"/>
              </a:rPr>
              <a:t>Avg(salary)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selected</a:t>
            </a:r>
            <a:endParaRPr sz="2000">
              <a:latin typeface="Calibri"/>
              <a:cs typeface="Calibri"/>
            </a:endParaRPr>
          </a:p>
          <a:p>
            <a:pPr lvl="1" marL="736600" indent="-267335">
              <a:lnSpc>
                <a:spcPct val="100000"/>
              </a:lnSpc>
              <a:buAutoNum type="alphaLcParenR"/>
              <a:tabLst>
                <a:tab pos="736600" algn="l"/>
              </a:tabLst>
            </a:pPr>
            <a:r>
              <a:rPr dirty="0" sz="2000" spc="-20">
                <a:latin typeface="Calibri"/>
                <a:cs typeface="Calibri"/>
              </a:rPr>
              <a:t>None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7957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Topic-</a:t>
            </a:r>
            <a:r>
              <a:rPr dirty="0" spc="-130"/>
              <a:t> </a:t>
            </a:r>
            <a:r>
              <a:rPr dirty="0"/>
              <a:t>ER</a:t>
            </a:r>
            <a:r>
              <a:rPr dirty="0" spc="-25"/>
              <a:t> </a:t>
            </a:r>
            <a:r>
              <a:rPr dirty="0"/>
              <a:t>Model</a:t>
            </a:r>
            <a:r>
              <a:rPr dirty="0" spc="-90"/>
              <a:t> </a:t>
            </a:r>
            <a:r>
              <a:rPr dirty="0" spc="-10"/>
              <a:t>Objective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94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90473" y="1559127"/>
            <a:ext cx="7193915" cy="2762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1170" marR="5080" indent="-45910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diagram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snapshot 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these entities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relate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 </a:t>
            </a:r>
            <a:r>
              <a:rPr dirty="0" sz="2000" spc="-85">
                <a:latin typeface="Calibri"/>
                <a:cs typeface="Calibri"/>
              </a:rPr>
              <a:t>other.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85">
                <a:latin typeface="Calibri"/>
                <a:cs typeface="Calibri"/>
              </a:rPr>
              <a:t>You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blueprint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 spc="-10">
                <a:latin typeface="Calibri"/>
                <a:cs typeface="Calibri"/>
              </a:rPr>
              <a:t>underpins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architecture,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offering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visual </a:t>
            </a:r>
            <a:r>
              <a:rPr dirty="0" sz="2000" spc="-20">
                <a:latin typeface="Calibri"/>
                <a:cs typeface="Calibri"/>
              </a:rPr>
              <a:t>representation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relationships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between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different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sets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 spc="-10">
                <a:latin typeface="Calibri"/>
                <a:cs typeface="Calibri"/>
              </a:rPr>
              <a:t>(entities).</a:t>
            </a:r>
            <a:endParaRPr sz="2000">
              <a:latin typeface="Calibri"/>
              <a:cs typeface="Calibri"/>
            </a:endParaRPr>
          </a:p>
          <a:p>
            <a:pPr marL="471170" indent="-458470">
              <a:lnSpc>
                <a:spcPct val="100000"/>
              </a:lnSpc>
              <a:spcBef>
                <a:spcPts val="2345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(ER)</a:t>
            </a:r>
            <a:r>
              <a:rPr dirty="0" sz="2000" spc="-10">
                <a:latin typeface="Calibri"/>
                <a:cs typeface="Calibri"/>
              </a:rPr>
              <a:t> Diagram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flowchart</a:t>
            </a:r>
            <a:endParaRPr sz="2000">
              <a:latin typeface="Calibri"/>
              <a:cs typeface="Calibri"/>
            </a:endParaRPr>
          </a:p>
          <a:p>
            <a:pPr marL="471170" marR="26034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illustrates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“entities”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such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people,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concepts </a:t>
            </a:r>
            <a:r>
              <a:rPr dirty="0" sz="2000" spc="-20">
                <a:latin typeface="Calibri"/>
                <a:cs typeface="Calibri"/>
              </a:rPr>
              <a:t>relate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within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143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174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608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88254" y="61226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55775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ER</a:t>
            </a:r>
            <a:r>
              <a:rPr dirty="0" spc="-75"/>
              <a:t> </a:t>
            </a:r>
            <a:r>
              <a:rPr dirty="0" spc="-10"/>
              <a:t>Model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99929" y="2781324"/>
            <a:ext cx="1648585" cy="222003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12444" y="1056992"/>
            <a:ext cx="8093709" cy="542671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database</a:t>
            </a:r>
            <a:r>
              <a:rPr dirty="0" sz="2150" spc="-40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modeled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as: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a collection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0">
                <a:latin typeface="Calibri"/>
                <a:cs typeface="Calibri"/>
              </a:rPr>
              <a:t> entities,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among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entities.</a:t>
            </a:r>
            <a:endParaRPr sz="2150">
              <a:latin typeface="Calibri"/>
              <a:cs typeface="Calibri"/>
            </a:endParaRPr>
          </a:p>
          <a:p>
            <a:pPr marL="355600" marR="31115" indent="-342900">
              <a:lnSpc>
                <a:spcPct val="101899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entity</a:t>
            </a:r>
            <a:r>
              <a:rPr dirty="0" sz="2150" spc="31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object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exists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distinguishable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other objects.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buFont typeface="Arial MT"/>
              <a:buChar char="–"/>
              <a:tabLst>
                <a:tab pos="756285" algn="l"/>
                <a:tab pos="1918970" algn="l"/>
              </a:tabLst>
            </a:pPr>
            <a:r>
              <a:rPr dirty="0" sz="2150" spc="-10">
                <a:latin typeface="Calibri"/>
                <a:cs typeface="Calibri"/>
              </a:rPr>
              <a:t>Example:</a:t>
            </a:r>
            <a:r>
              <a:rPr dirty="0" sz="2150">
                <a:latin typeface="Calibri"/>
                <a:cs typeface="Calibri"/>
              </a:rPr>
              <a:t>	specific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person,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35">
                <a:latin typeface="Calibri"/>
                <a:cs typeface="Calibri"/>
              </a:rPr>
              <a:t>company,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event,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plant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attributes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Example: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people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names</a:t>
            </a:r>
            <a:r>
              <a:rPr dirty="0" sz="2150" spc="15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addresses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55"/>
              </a:spcBef>
              <a:buFont typeface="Arial MT"/>
              <a:buChar char="–"/>
            </a:pP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entity</a:t>
            </a:r>
            <a:r>
              <a:rPr dirty="0" sz="2150" spc="39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set</a:t>
            </a:r>
            <a:r>
              <a:rPr dirty="0" sz="2150" spc="36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same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share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same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properties.</a:t>
            </a:r>
            <a:endParaRPr sz="2150">
              <a:latin typeface="Calibri"/>
              <a:cs typeface="Calibri"/>
            </a:endParaRPr>
          </a:p>
          <a:p>
            <a:pPr lvl="1" marL="756285" indent="-285115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Example: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persons,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companies,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trees,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holidays</a:t>
            </a:r>
            <a:endParaRPr sz="2150">
              <a:latin typeface="Calibri"/>
              <a:cs typeface="Calibri"/>
            </a:endParaRPr>
          </a:p>
          <a:p>
            <a:pPr marL="2219325">
              <a:lnSpc>
                <a:spcPct val="100000"/>
              </a:lnSpc>
              <a:spcBef>
                <a:spcPts val="819"/>
              </a:spcBef>
              <a:tabLst>
                <a:tab pos="3221990" algn="l"/>
                <a:tab pos="3765550" algn="l"/>
                <a:tab pos="4692650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94</a:t>
            </a:fld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83665">
              <a:lnSpc>
                <a:spcPct val="100000"/>
              </a:lnSpc>
              <a:spcBef>
                <a:spcPts val="105"/>
              </a:spcBef>
            </a:pPr>
            <a:r>
              <a:rPr dirty="0"/>
              <a:t>Entity</a:t>
            </a:r>
            <a:r>
              <a:rPr dirty="0" spc="-130"/>
              <a:t> </a:t>
            </a:r>
            <a:r>
              <a:rPr dirty="0"/>
              <a:t>Sets</a:t>
            </a:r>
            <a:r>
              <a:rPr dirty="0" spc="-60"/>
              <a:t> </a:t>
            </a:r>
            <a:r>
              <a:rPr dirty="0"/>
              <a:t>customer</a:t>
            </a:r>
            <a:r>
              <a:rPr dirty="0" spc="-16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20"/>
              <a:t>loan</a:t>
            </a: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330200" y="1226438"/>
          <a:ext cx="8407400" cy="61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9570"/>
                <a:gridCol w="1386840"/>
                <a:gridCol w="2940050"/>
                <a:gridCol w="1385569"/>
                <a:gridCol w="975995"/>
              </a:tblGrid>
              <a:tr h="276860">
                <a:tc>
                  <a:txBody>
                    <a:bodyPr/>
                    <a:lstStyle/>
                    <a:p>
                      <a:pPr marL="142875">
                        <a:lnSpc>
                          <a:spcPts val="1905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customer_id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ts val="1905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customer_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905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customer_</a:t>
                      </a:r>
                      <a:r>
                        <a:rPr dirty="0" sz="2000" spc="3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customer_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8965">
                        <a:lnSpc>
                          <a:spcPts val="1905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loan_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905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amount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ts val="2080"/>
                        </a:lnSpc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080"/>
                        </a:lnSpc>
                        <a:tabLst>
                          <a:tab pos="1280795" algn="l"/>
                        </a:tabLst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street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0385">
                        <a:lnSpc>
                          <a:spcPts val="208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number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7" name="object 7" descr=""/>
          <p:cNvGrpSpPr/>
          <p:nvPr/>
        </p:nvGrpSpPr>
        <p:grpSpPr>
          <a:xfrm>
            <a:off x="342900" y="1808479"/>
            <a:ext cx="8305800" cy="4097020"/>
            <a:chOff x="342900" y="1808479"/>
            <a:chExt cx="8305800" cy="409702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848611"/>
              <a:ext cx="8229600" cy="400659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42900" y="1808479"/>
              <a:ext cx="8305800" cy="4097020"/>
            </a:xfrm>
            <a:custGeom>
              <a:avLst/>
              <a:gdLst/>
              <a:ahLst/>
              <a:cxnLst/>
              <a:rect l="l" t="t" r="r" b="b"/>
              <a:pathLst>
                <a:path w="8305800" h="4097020">
                  <a:moveTo>
                    <a:pt x="8280400" y="25908"/>
                  </a:moveTo>
                  <a:lnTo>
                    <a:pt x="8267700" y="25908"/>
                  </a:lnTo>
                  <a:lnTo>
                    <a:pt x="8267700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4058920"/>
                  </a:lnTo>
                  <a:lnTo>
                    <a:pt x="25400" y="4071620"/>
                  </a:lnTo>
                  <a:lnTo>
                    <a:pt x="8280400" y="4071620"/>
                  </a:lnTo>
                  <a:lnTo>
                    <a:pt x="8280400" y="4058920"/>
                  </a:lnTo>
                  <a:lnTo>
                    <a:pt x="38100" y="4058920"/>
                  </a:lnTo>
                  <a:lnTo>
                    <a:pt x="38100" y="38100"/>
                  </a:lnTo>
                  <a:lnTo>
                    <a:pt x="8267700" y="38100"/>
                  </a:lnTo>
                  <a:lnTo>
                    <a:pt x="8267700" y="4058907"/>
                  </a:lnTo>
                  <a:lnTo>
                    <a:pt x="8280400" y="4058907"/>
                  </a:lnTo>
                  <a:lnTo>
                    <a:pt x="8280400" y="25908"/>
                  </a:lnTo>
                  <a:close/>
                </a:path>
                <a:path w="8305800" h="4097020">
                  <a:moveTo>
                    <a:pt x="8305800" y="508"/>
                  </a:moveTo>
                  <a:lnTo>
                    <a:pt x="8293100" y="508"/>
                  </a:lnTo>
                  <a:lnTo>
                    <a:pt x="8293100" y="12700"/>
                  </a:lnTo>
                  <a:lnTo>
                    <a:pt x="8293100" y="4084320"/>
                  </a:lnTo>
                  <a:lnTo>
                    <a:pt x="12700" y="4084320"/>
                  </a:lnTo>
                  <a:lnTo>
                    <a:pt x="12700" y="12700"/>
                  </a:lnTo>
                  <a:lnTo>
                    <a:pt x="8293100" y="12700"/>
                  </a:lnTo>
                  <a:lnTo>
                    <a:pt x="8293100" y="508"/>
                  </a:lnTo>
                  <a:lnTo>
                    <a:pt x="82931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4084320"/>
                  </a:lnTo>
                  <a:lnTo>
                    <a:pt x="0" y="4097020"/>
                  </a:lnTo>
                  <a:lnTo>
                    <a:pt x="8305800" y="4097020"/>
                  </a:lnTo>
                  <a:lnTo>
                    <a:pt x="8305800" y="4084320"/>
                  </a:lnTo>
                  <a:lnTo>
                    <a:pt x="8305800" y="508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6667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698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2132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406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95</a:t>
            </a:fld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333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Attributes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98093" y="941342"/>
            <a:ext cx="8002270" cy="18478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represented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attributes,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descriptive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2150">
                <a:latin typeface="Calibri"/>
                <a:cs typeface="Calibri"/>
              </a:rPr>
              <a:t>properties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possessed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members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set.</a:t>
            </a:r>
            <a:endParaRPr sz="2150">
              <a:latin typeface="Calibri"/>
              <a:cs typeface="Calibri"/>
            </a:endParaRPr>
          </a:p>
          <a:p>
            <a:pPr marL="510540" marR="281305">
              <a:lnSpc>
                <a:spcPts val="2200"/>
              </a:lnSpc>
              <a:spcBef>
                <a:spcPts val="1570"/>
              </a:spcBef>
            </a:pPr>
            <a:r>
              <a:rPr dirty="0" sz="2000" spc="-10">
                <a:latin typeface="Calibri"/>
                <a:cs typeface="Calibri"/>
              </a:rPr>
              <a:t>Example: </a:t>
            </a:r>
            <a:r>
              <a:rPr dirty="0" sz="2000">
                <a:latin typeface="Calibri"/>
                <a:cs typeface="Calibri"/>
              </a:rPr>
              <a:t>c</a:t>
            </a:r>
            <a:r>
              <a:rPr dirty="0" sz="2000" i="1">
                <a:latin typeface="Calibri"/>
                <a:cs typeface="Calibri"/>
              </a:rPr>
              <a:t>ustomer=</a:t>
            </a:r>
            <a:r>
              <a:rPr dirty="0" sz="2000" spc="105" i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</a:t>
            </a:r>
            <a:r>
              <a:rPr dirty="0" sz="2000" spc="-10" i="1">
                <a:latin typeface="Calibri"/>
                <a:cs typeface="Calibri"/>
              </a:rPr>
              <a:t>customer_id,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customer_name,</a:t>
            </a:r>
            <a:r>
              <a:rPr dirty="0" sz="2000" spc="204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customer_street, customer_city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spc="-6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510540">
              <a:lnSpc>
                <a:spcPct val="100000"/>
              </a:lnSpc>
              <a:spcBef>
                <a:spcPts val="555"/>
              </a:spcBef>
            </a:pPr>
            <a:r>
              <a:rPr dirty="0" sz="2000" i="1">
                <a:latin typeface="Calibri"/>
                <a:cs typeface="Calibri"/>
              </a:rPr>
              <a:t>loan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=</a:t>
            </a:r>
            <a:r>
              <a:rPr dirty="0" sz="2000" spc="10" i="1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(</a:t>
            </a:r>
            <a:r>
              <a:rPr dirty="0" sz="2000" spc="-30" i="1">
                <a:latin typeface="Calibri"/>
                <a:cs typeface="Calibri"/>
              </a:rPr>
              <a:t>loan_number,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amount</a:t>
            </a:r>
            <a:r>
              <a:rPr dirty="0" sz="2000" spc="-140" i="1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8093" y="4940300"/>
            <a:ext cx="6605270" cy="1145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diagram,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oval.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 b="1">
                <a:latin typeface="Calibri"/>
                <a:cs typeface="Calibri"/>
              </a:rPr>
              <a:t>Domain</a:t>
            </a:r>
            <a:r>
              <a:rPr dirty="0" sz="2150" spc="3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permitted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values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attribute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32404" y="3450335"/>
            <a:ext cx="2325623" cy="113842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6667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698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132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1406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240"/>
              </a:lnSpc>
            </a:pPr>
            <a:fld id="{81D60167-4931-47E6-BA6A-407CBD079E47}" type="slidenum">
              <a:rPr dirty="0" spc="-25"/>
              <a:t>95</a:t>
            </a:fld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1496" y="0"/>
            <a:ext cx="7842884" cy="833755"/>
            <a:chOff x="1301496" y="0"/>
            <a:chExt cx="7842884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496" y="0"/>
              <a:ext cx="7842504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0"/>
              <a:ext cx="7812024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8033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Attribute</a:t>
            </a:r>
            <a:r>
              <a:rPr dirty="0" spc="-130"/>
              <a:t> </a:t>
            </a:r>
            <a:r>
              <a:rPr dirty="0" spc="-20"/>
              <a:t>Type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72592" y="1043177"/>
            <a:ext cx="8093709" cy="3503929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2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Attribute</a:t>
            </a:r>
            <a:r>
              <a:rPr dirty="0" sz="2150" spc="25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identifies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entity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attribute.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Roll_No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be </a:t>
            </a:r>
            <a:r>
              <a:rPr dirty="0" sz="2150">
                <a:latin typeface="Calibri"/>
                <a:cs typeface="Calibri"/>
              </a:rPr>
              <a:t>unique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student.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diagram,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represented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oval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underlying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lines.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13970" indent="-342900">
              <a:lnSpc>
                <a:spcPct val="1020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 b="1">
                <a:latin typeface="Calibri"/>
                <a:cs typeface="Calibri"/>
              </a:rPr>
              <a:t>Composite</a:t>
            </a:r>
            <a:r>
              <a:rPr dirty="0" sz="2150" spc="200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Attribute</a:t>
            </a:r>
            <a:r>
              <a:rPr dirty="0" sz="2150" spc="195" b="1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1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composed</a:t>
            </a:r>
            <a:r>
              <a:rPr dirty="0" sz="2150" spc="20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195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other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attribute.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Address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consists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Street,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City,</a:t>
            </a:r>
            <a:r>
              <a:rPr dirty="0" sz="2150" spc="3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State,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>
                <a:latin typeface="Calibri"/>
                <a:cs typeface="Calibri"/>
              </a:rPr>
              <a:t>Country.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diagram,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represented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 </a:t>
            </a:r>
            <a:r>
              <a:rPr dirty="0" sz="2150">
                <a:latin typeface="Calibri"/>
                <a:cs typeface="Calibri"/>
              </a:rPr>
              <a:t>oval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comprising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ovals.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7944" y="2057400"/>
            <a:ext cx="1895855" cy="86715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9684" y="4482084"/>
            <a:ext cx="3941064" cy="175107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8191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222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656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93054" y="62750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97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3685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Attribute</a:t>
            </a:r>
            <a:r>
              <a:rPr dirty="0" spc="-125"/>
              <a:t> </a:t>
            </a:r>
            <a:r>
              <a:rPr dirty="0" spc="-20"/>
              <a:t>Type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258569"/>
            <a:ext cx="8094345" cy="13671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b="1">
                <a:latin typeface="Calibri"/>
                <a:cs typeface="Calibri"/>
              </a:rPr>
              <a:t>Multivalued</a:t>
            </a:r>
            <a:r>
              <a:rPr dirty="0" sz="2150" spc="47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Attribute</a:t>
            </a:r>
            <a:r>
              <a:rPr dirty="0" sz="2150" spc="46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consisting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4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than</a:t>
            </a:r>
            <a:r>
              <a:rPr dirty="0" sz="2150" spc="46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one </a:t>
            </a:r>
            <a:r>
              <a:rPr dirty="0" sz="2150">
                <a:latin typeface="Calibri"/>
                <a:cs typeface="Calibri"/>
              </a:rPr>
              <a:t>value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given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entity.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Phone_No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(can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than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given</a:t>
            </a:r>
            <a:r>
              <a:rPr dirty="0" sz="2150" spc="5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student).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diagram,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multivalued</a:t>
            </a:r>
            <a:r>
              <a:rPr dirty="0" sz="2150" spc="5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52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is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double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oval.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3483355"/>
            <a:ext cx="8086725" cy="13544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just" marL="355600" marR="5080" indent="-342900">
              <a:lnSpc>
                <a:spcPct val="101899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b="1">
                <a:latin typeface="Calibri"/>
                <a:cs typeface="Calibri"/>
              </a:rPr>
              <a:t>Derived</a:t>
            </a:r>
            <a:r>
              <a:rPr dirty="0" sz="2150" spc="29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Attribute</a:t>
            </a:r>
            <a:r>
              <a:rPr dirty="0" sz="2150" spc="29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derived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other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known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derived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attribute.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e.g.;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Age </a:t>
            </a:r>
            <a:r>
              <a:rPr dirty="0" sz="2150">
                <a:latin typeface="Calibri"/>
                <a:cs typeface="Calibri"/>
              </a:rPr>
              <a:t>(can</a:t>
            </a:r>
            <a:r>
              <a:rPr dirty="0" sz="2150" spc="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derived</a:t>
            </a:r>
            <a:r>
              <a:rPr dirty="0" sz="2150" spc="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DOB).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diagram,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derived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is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dashed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oval.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4644" y="2517648"/>
            <a:ext cx="2019300" cy="84124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90259" y="4860035"/>
            <a:ext cx="1868424" cy="78638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666745" y="6351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69829" y="6351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213288" y="6351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40654" y="63512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98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3685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Attribute</a:t>
            </a:r>
            <a:r>
              <a:rPr dirty="0" spc="-125"/>
              <a:t> </a:t>
            </a:r>
            <a:r>
              <a:rPr dirty="0" spc="-20"/>
              <a:t>Type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24527"/>
            <a:ext cx="2110740" cy="7143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946785" algn="l"/>
              </a:tabLst>
            </a:pP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complete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as: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20467" y="1041272"/>
            <a:ext cx="589089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265" algn="l"/>
                <a:tab pos="1537970" algn="l"/>
                <a:tab pos="2606675" algn="l"/>
                <a:tab pos="3292475" algn="l"/>
                <a:tab pos="3740785" algn="l"/>
                <a:tab pos="5028565" algn="l"/>
                <a:tab pos="5600065" algn="l"/>
              </a:tabLst>
            </a:pPr>
            <a:r>
              <a:rPr dirty="0" sz="2150" spc="-10">
                <a:latin typeface="Calibri"/>
                <a:cs typeface="Calibri"/>
              </a:rPr>
              <a:t>entity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type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Student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with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its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attributes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can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be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872995" y="2036063"/>
            <a:ext cx="5904230" cy="3977640"/>
            <a:chOff x="1872995" y="2036063"/>
            <a:chExt cx="5904230" cy="397764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2995" y="2036063"/>
              <a:ext cx="5903976" cy="397764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129027" y="3357372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 h="0">
                  <a:moveTo>
                    <a:pt x="0" y="0"/>
                  </a:moveTo>
                  <a:lnTo>
                    <a:pt x="647319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4381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412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846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12054" y="62750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442452" y="64231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99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945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Relationship</a:t>
            </a:r>
            <a:r>
              <a:rPr dirty="0" spc="-114"/>
              <a:t> </a:t>
            </a:r>
            <a:r>
              <a:rPr dirty="0" spc="-20"/>
              <a:t>Type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24527"/>
            <a:ext cx="8065770" cy="297624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  <a:tab pos="688975" algn="l"/>
                <a:tab pos="2196465" algn="l"/>
                <a:tab pos="2873375" algn="l"/>
                <a:tab pos="4246880" algn="l"/>
                <a:tab pos="4799965" algn="l"/>
                <a:tab pos="6229985" algn="l"/>
                <a:tab pos="7403465" algn="l"/>
              </a:tabLst>
            </a:pP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type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represents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association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between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entity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2150" spc="-10">
                <a:latin typeface="Calibri"/>
                <a:cs typeface="Calibri"/>
              </a:rPr>
              <a:t>types.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150">
              <a:latin typeface="Calibri"/>
              <a:cs typeface="Calibri"/>
            </a:endParaRPr>
          </a:p>
          <a:p>
            <a:pPr marL="355600" marR="73660" indent="-342900">
              <a:lnSpc>
                <a:spcPct val="1018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‘Enrolled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in’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exists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between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Course.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5600" marR="67945" indent="-342900">
              <a:lnSpc>
                <a:spcPct val="1018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diagram,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represented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diamond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>
                <a:latin typeface="Calibri"/>
                <a:cs typeface="Calibri"/>
              </a:rPr>
              <a:t>connecting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lines.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6152" y="4448555"/>
            <a:ext cx="7007352" cy="116128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361945" y="6503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65029" y="6503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08488" y="6503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35854" y="65036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180069" y="62750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279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Relationship</a:t>
            </a:r>
            <a:r>
              <a:rPr dirty="0" spc="-110"/>
              <a:t> </a:t>
            </a:r>
            <a:r>
              <a:rPr dirty="0" spc="-25"/>
              <a:t>Set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40816" y="1127251"/>
            <a:ext cx="7863205" cy="14751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same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known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set.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  <a:tab pos="899794" algn="l"/>
                <a:tab pos="2062480" algn="l"/>
                <a:tab pos="3531870" algn="l"/>
                <a:tab pos="6533515" algn="l"/>
                <a:tab pos="7350125" algn="l"/>
              </a:tabLst>
            </a:pP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following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set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depicts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S1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enrolled</a:t>
            </a:r>
            <a:r>
              <a:rPr dirty="0" sz="2150">
                <a:latin typeface="Calibri"/>
                <a:cs typeface="Calibri"/>
              </a:rPr>
              <a:t>	in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C2,</a:t>
            </a:r>
            <a:r>
              <a:rPr dirty="0" sz="2150">
                <a:latin typeface="Calibri"/>
                <a:cs typeface="Calibri"/>
              </a:rPr>
              <a:t>	S2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enrolled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C1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S3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enrolled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C3.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3288" y="3022092"/>
            <a:ext cx="6211823" cy="269748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971545" y="6275019"/>
            <a:ext cx="796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76756" y="6275019"/>
            <a:ext cx="404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21275" y="6275019"/>
            <a:ext cx="65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50476" y="6275019"/>
            <a:ext cx="412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103869" y="61988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6405">
              <a:lnSpc>
                <a:spcPct val="100000"/>
              </a:lnSpc>
              <a:spcBef>
                <a:spcPts val="100"/>
              </a:spcBef>
            </a:pPr>
            <a:r>
              <a:rPr dirty="0"/>
              <a:t>Degree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Relationship</a:t>
            </a:r>
            <a:r>
              <a:rPr dirty="0" spc="-220"/>
              <a:t> </a:t>
            </a:r>
            <a:r>
              <a:rPr dirty="0" spc="-25"/>
              <a:t>Set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571183"/>
            <a:ext cx="8004809" cy="23431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number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different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sets</a:t>
            </a:r>
            <a:r>
              <a:rPr dirty="0" sz="2150" spc="3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participating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degree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set.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Unary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71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spc="-10">
                <a:latin typeface="Calibri"/>
                <a:cs typeface="Calibri"/>
              </a:rPr>
              <a:t>n-</a:t>
            </a:r>
            <a:r>
              <a:rPr dirty="0" sz="2150">
                <a:latin typeface="Calibri"/>
                <a:cs typeface="Calibri"/>
              </a:rPr>
              <a:t>ary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351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351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351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3454" y="63512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180069" y="63512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857" rIns="0" bIns="0" rtlCol="0" vert="horz">
            <a:spAutoFit/>
          </a:bodyPr>
          <a:lstStyle/>
          <a:p>
            <a:pPr marL="2507615">
              <a:lnSpc>
                <a:spcPct val="100000"/>
              </a:lnSpc>
              <a:spcBef>
                <a:spcPts val="100"/>
              </a:spcBef>
            </a:pPr>
            <a:r>
              <a:rPr dirty="0"/>
              <a:t>Unary</a:t>
            </a:r>
            <a:r>
              <a:rPr dirty="0" spc="-70"/>
              <a:t> </a:t>
            </a:r>
            <a:r>
              <a:rPr dirty="0" spc="-10"/>
              <a:t>Relationship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549" y="1571183"/>
            <a:ext cx="8038465" cy="15214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participating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relation,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unary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person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married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person.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8300" y="3709415"/>
            <a:ext cx="5695188" cy="213512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1333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364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798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07254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256269" y="64274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5171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dirty="0" spc="-20"/>
              <a:t> </a:t>
            </a:r>
            <a:r>
              <a:rPr dirty="0" spc="-10"/>
              <a:t>Relationship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549" y="1571183"/>
            <a:ext cx="7684770" cy="15214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354965" algn="l"/>
                <a:tab pos="1880870" algn="l"/>
                <a:tab pos="3063875" algn="l"/>
              </a:tabLst>
            </a:pP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there</a:t>
            </a:r>
            <a:r>
              <a:rPr dirty="0" sz="2150">
                <a:latin typeface="Calibri"/>
                <a:cs typeface="Calibri"/>
              </a:rPr>
              <a:t>	are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TWO</a:t>
            </a:r>
            <a:r>
              <a:rPr dirty="0" sz="2150">
                <a:latin typeface="Calibri"/>
                <a:cs typeface="Calibri"/>
              </a:rPr>
              <a:t>	entities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participating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relation,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enrolled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Course.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7883" y="3739896"/>
            <a:ext cx="6934200" cy="143560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429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460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894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16854" y="60464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027669" y="62750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8508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n-</a:t>
            </a:r>
            <a:r>
              <a:rPr dirty="0"/>
              <a:t>ary</a:t>
            </a:r>
            <a:r>
              <a:rPr dirty="0" spc="-60"/>
              <a:t> </a:t>
            </a:r>
            <a:r>
              <a:rPr dirty="0" spc="-10"/>
              <a:t>Relationship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571183"/>
            <a:ext cx="8074025" cy="71564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354965" algn="l"/>
                <a:tab pos="1185545" algn="l"/>
                <a:tab pos="1966595" algn="l"/>
                <a:tab pos="2492375" algn="l"/>
                <a:tab pos="2806065" algn="l"/>
                <a:tab pos="3816985" algn="l"/>
                <a:tab pos="4313555" algn="l"/>
                <a:tab pos="5906770" algn="l"/>
                <a:tab pos="6276975" algn="l"/>
                <a:tab pos="6574155" algn="l"/>
                <a:tab pos="7679055" algn="l"/>
              </a:tabLst>
            </a:pPr>
            <a:r>
              <a:rPr dirty="0" sz="2150" spc="-20">
                <a:latin typeface="Calibri"/>
                <a:cs typeface="Calibri"/>
              </a:rPr>
              <a:t>When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there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are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entities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set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participating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n-</a:t>
            </a:r>
            <a:r>
              <a:rPr dirty="0" sz="2150">
                <a:latin typeface="Calibri"/>
                <a:cs typeface="Calibri"/>
              </a:rPr>
              <a:t>ary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2264" y="3147060"/>
            <a:ext cx="5437632" cy="249631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057145" y="63131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60229" y="63131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03688" y="63131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31054" y="63131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103869" y="63131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75510">
              <a:lnSpc>
                <a:spcPct val="100000"/>
              </a:lnSpc>
              <a:spcBef>
                <a:spcPts val="100"/>
              </a:spcBef>
            </a:pPr>
            <a:r>
              <a:rPr dirty="0"/>
              <a:t>Mapping</a:t>
            </a:r>
            <a:r>
              <a:rPr dirty="0" spc="-110"/>
              <a:t> </a:t>
            </a:r>
            <a:r>
              <a:rPr dirty="0" spc="-10"/>
              <a:t>Cardinality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819145" y="6236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22229" y="6236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365688" y="6236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293054" y="62369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103869" y="63131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571183"/>
            <a:ext cx="7907020" cy="315087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354965" algn="l"/>
                <a:tab pos="74415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number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times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 an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participates</a:t>
            </a:r>
            <a:r>
              <a:rPr dirty="0" sz="2150">
                <a:latin typeface="Calibri"/>
                <a:cs typeface="Calibri"/>
              </a:rPr>
              <a:t>	in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known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cardinality.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0">
                <a:latin typeface="Calibri"/>
                <a:cs typeface="Calibri"/>
              </a:rPr>
              <a:t> different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types: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one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71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many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one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many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0736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 spc="-25"/>
              <a:t>one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43177"/>
            <a:ext cx="8089900" cy="136652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take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once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relationship,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one.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Let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assume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425">
                <a:latin typeface="Calibri"/>
                <a:cs typeface="Calibri"/>
              </a:rPr>
              <a:t> 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male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marry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female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female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marry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male. </a:t>
            </a:r>
            <a:r>
              <a:rPr dirty="0" sz="2150">
                <a:latin typeface="Calibri"/>
                <a:cs typeface="Calibri"/>
              </a:rPr>
              <a:t>So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one.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3678427"/>
            <a:ext cx="441833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Sets,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as: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311" y="2485644"/>
            <a:ext cx="7485888" cy="1295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7811" y="4020311"/>
            <a:ext cx="3924299" cy="210464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12432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274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708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98235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078469" y="6389319"/>
            <a:ext cx="3225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107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57525">
              <a:lnSpc>
                <a:spcPct val="100000"/>
              </a:lnSpc>
              <a:spcBef>
                <a:spcPts val="100"/>
              </a:spcBef>
            </a:pPr>
            <a:r>
              <a:rPr dirty="0"/>
              <a:t>Many</a:t>
            </a:r>
            <a:r>
              <a:rPr dirty="0" spc="-15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 spc="-25"/>
              <a:t>one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41272"/>
            <a:ext cx="8085455" cy="102806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5080" indent="-342900">
              <a:lnSpc>
                <a:spcPct val="103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take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once</a:t>
            </a:r>
            <a:r>
              <a:rPr dirty="0" sz="2150" spc="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60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other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take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more </a:t>
            </a:r>
            <a:r>
              <a:rPr dirty="0" sz="2150">
                <a:latin typeface="Calibri"/>
                <a:cs typeface="Calibri"/>
              </a:rPr>
              <a:t>than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once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set,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one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3344671"/>
            <a:ext cx="441833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Sets,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as: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944" y="2066544"/>
            <a:ext cx="6992111" cy="120091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3035" y="3966971"/>
            <a:ext cx="5204460" cy="227685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12432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274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708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98235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078469" y="6389319"/>
            <a:ext cx="3225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107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71165">
              <a:lnSpc>
                <a:spcPct val="100000"/>
              </a:lnSpc>
              <a:spcBef>
                <a:spcPts val="100"/>
              </a:spcBef>
            </a:pPr>
            <a:r>
              <a:rPr dirty="0"/>
              <a:t>Many</a:t>
            </a:r>
            <a:r>
              <a:rPr dirty="0" spc="-150"/>
              <a:t> </a:t>
            </a:r>
            <a:r>
              <a:rPr dirty="0"/>
              <a:t>to</a:t>
            </a:r>
            <a:r>
              <a:rPr dirty="0" spc="-80"/>
              <a:t> </a:t>
            </a:r>
            <a:r>
              <a:rPr dirty="0" spc="-20"/>
              <a:t>many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15313"/>
            <a:ext cx="8094345" cy="136652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sets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take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than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once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1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many.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Let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us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assume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take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than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course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3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course</a:t>
            </a:r>
            <a:r>
              <a:rPr dirty="0" sz="2150" spc="3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 spc="35">
                <a:latin typeface="Calibri"/>
                <a:cs typeface="Calibri"/>
              </a:rPr>
              <a:t>be </a:t>
            </a:r>
            <a:r>
              <a:rPr dirty="0" sz="2150">
                <a:latin typeface="Calibri"/>
                <a:cs typeface="Calibri"/>
              </a:rPr>
              <a:t>taken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students.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many.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3750690"/>
            <a:ext cx="439864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sets,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as: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0703" y="2646939"/>
            <a:ext cx="6262592" cy="99414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9235" y="4267200"/>
            <a:ext cx="5167884" cy="199034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352927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560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994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8332469" y="64655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109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891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Participation</a:t>
            </a:r>
            <a:r>
              <a:rPr dirty="0" spc="-150"/>
              <a:t> </a:t>
            </a:r>
            <a:r>
              <a:rPr dirty="0" spc="-10"/>
              <a:t>Constraint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68248" y="1043177"/>
            <a:ext cx="8087995" cy="24428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spc="-60" b="1">
                <a:latin typeface="Calibri"/>
                <a:cs typeface="Calibri"/>
              </a:rPr>
              <a:t>Total</a:t>
            </a:r>
            <a:r>
              <a:rPr dirty="0" sz="2150" spc="5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Participation</a:t>
            </a:r>
            <a:r>
              <a:rPr dirty="0" sz="2150" spc="11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must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in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relationship.</a:t>
            </a:r>
            <a:r>
              <a:rPr dirty="0" sz="2150" spc="1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1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1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1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must</a:t>
            </a:r>
            <a:r>
              <a:rPr dirty="0" sz="2150" spc="1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enroll</a:t>
            </a:r>
            <a:r>
              <a:rPr dirty="0" sz="2150" spc="1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6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course,</a:t>
            </a:r>
            <a:r>
              <a:rPr dirty="0" sz="2150" spc="170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participation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total.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 spc="-30">
                <a:latin typeface="Calibri"/>
                <a:cs typeface="Calibri"/>
              </a:rPr>
              <a:t>Total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participation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shown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by </a:t>
            </a:r>
            <a:r>
              <a:rPr dirty="0" sz="2150">
                <a:latin typeface="Calibri"/>
                <a:cs typeface="Calibri"/>
              </a:rPr>
              <a:t>double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line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diagram.</a:t>
            </a:r>
            <a:endParaRPr sz="2150">
              <a:latin typeface="Calibri"/>
              <a:cs typeface="Calibri"/>
            </a:endParaRPr>
          </a:p>
          <a:p>
            <a:pPr algn="just" marL="355600" marR="9525" indent="-342900">
              <a:lnSpc>
                <a:spcPct val="103000"/>
              </a:lnSpc>
              <a:spcBef>
                <a:spcPts val="5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b="1">
                <a:latin typeface="Calibri"/>
                <a:cs typeface="Calibri"/>
              </a:rPr>
              <a:t>Partial</a:t>
            </a:r>
            <a:r>
              <a:rPr dirty="0" sz="2150" spc="19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Participation</a:t>
            </a:r>
            <a:r>
              <a:rPr dirty="0" sz="2150" spc="204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NOT </a:t>
            </a:r>
            <a:r>
              <a:rPr dirty="0" sz="2150">
                <a:latin typeface="Calibri"/>
                <a:cs typeface="Calibri"/>
              </a:rPr>
              <a:t>participate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relationship.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courses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enrolled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by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student,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participation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course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partial.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5127" y="3819144"/>
            <a:ext cx="6943344" cy="14478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4381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412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846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12054" y="61226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256269" y="63512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353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Participation</a:t>
            </a:r>
            <a:r>
              <a:rPr dirty="0" spc="-145"/>
              <a:t> </a:t>
            </a:r>
            <a:r>
              <a:rPr dirty="0" spc="-10"/>
              <a:t>Constraint</a:t>
            </a:r>
            <a:r>
              <a:rPr dirty="0" spc="-135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574672"/>
            <a:ext cx="421449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set,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4900625"/>
            <a:ext cx="322580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Every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Student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54907" y="4900625"/>
            <a:ext cx="46678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participating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79144" y="5206110"/>
            <a:ext cx="316865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6260" algn="l"/>
                <a:tab pos="1330960" algn="l"/>
                <a:tab pos="2120265" algn="l"/>
                <a:tab pos="2419350" algn="l"/>
              </a:tabLst>
            </a:pPr>
            <a:r>
              <a:rPr dirty="0" sz="2150" spc="-25">
                <a:latin typeface="Calibri"/>
                <a:cs typeface="Calibri"/>
              </a:rPr>
              <a:t>but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there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exists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course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89603" y="5206110"/>
            <a:ext cx="443230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0375" algn="l"/>
                <a:tab pos="1292860" algn="l"/>
                <a:tab pos="1633855" algn="l"/>
                <a:tab pos="2187575" algn="l"/>
                <a:tab pos="3037840" algn="l"/>
                <a:tab pos="3664585" algn="l"/>
                <a:tab pos="4042410" algn="l"/>
              </a:tabLst>
            </a:pPr>
            <a:r>
              <a:rPr dirty="0" sz="2150" spc="-25">
                <a:latin typeface="Calibri"/>
                <a:cs typeface="Calibri"/>
              </a:rPr>
              <a:t>C4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which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not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taking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part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79144" y="5510885"/>
            <a:ext cx="140843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>
                <a:latin typeface="Calibri"/>
                <a:cs typeface="Calibri"/>
              </a:rPr>
              <a:t>relationship.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9511" y="2115311"/>
            <a:ext cx="6457188" cy="262890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2095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126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7560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683454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103869" y="63512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/>
              <a:t>Weak</a:t>
            </a:r>
            <a:r>
              <a:rPr dirty="0" spc="-95"/>
              <a:t> </a:t>
            </a:r>
            <a:r>
              <a:rPr dirty="0"/>
              <a:t>Entity</a:t>
            </a:r>
            <a:r>
              <a:rPr dirty="0" spc="-180"/>
              <a:t> </a:t>
            </a:r>
            <a:r>
              <a:rPr dirty="0"/>
              <a:t>Type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/>
              <a:t>Identifying</a:t>
            </a:r>
            <a:r>
              <a:rPr dirty="0" spc="-250"/>
              <a:t> </a:t>
            </a:r>
            <a:r>
              <a:rPr dirty="0" spc="-10"/>
              <a:t>Relationship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312309"/>
            <a:ext cx="8077834" cy="33528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has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identifies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each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set.</a:t>
            </a:r>
            <a:endParaRPr sz="2150">
              <a:latin typeface="Calibri"/>
              <a:cs typeface="Calibri"/>
            </a:endParaRPr>
          </a:p>
          <a:p>
            <a:pPr marL="355600" marR="74295" indent="-342900">
              <a:lnSpc>
                <a:spcPct val="101899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But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exists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can’t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be </a:t>
            </a:r>
            <a:r>
              <a:rPr dirty="0" sz="2150">
                <a:latin typeface="Calibri"/>
                <a:cs typeface="Calibri"/>
              </a:rPr>
              <a:t>defined.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These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Weak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type.</a:t>
            </a:r>
            <a:endParaRPr sz="2150">
              <a:latin typeface="Calibri"/>
              <a:cs typeface="Calibri"/>
            </a:endParaRPr>
          </a:p>
          <a:p>
            <a:pPr marL="355600" marR="87630" indent="-342900">
              <a:lnSpc>
                <a:spcPct val="1042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company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information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dependents (Parents,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Children,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Spouse)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Employee.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But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dependents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don’t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existence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without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employee.</a:t>
            </a: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3699"/>
              </a:lnSpc>
              <a:spcBef>
                <a:spcPts val="505"/>
              </a:spcBef>
              <a:buFont typeface="Arial MT"/>
              <a:buChar char="•"/>
              <a:tabLst>
                <a:tab pos="355600" algn="l"/>
                <a:tab pos="774065" algn="l"/>
                <a:tab pos="2196465" algn="l"/>
                <a:tab pos="2749550" algn="l"/>
                <a:tab pos="3178175" algn="l"/>
                <a:tab pos="3921760" algn="l"/>
                <a:tab pos="4732655" algn="l"/>
                <a:tab pos="5391150" algn="l"/>
                <a:tab pos="5963285" algn="l"/>
                <a:tab pos="7230745" algn="l"/>
                <a:tab pos="7784465" algn="l"/>
              </a:tabLst>
            </a:pPr>
            <a:r>
              <a:rPr dirty="0" sz="2150" spc="-25">
                <a:latin typeface="Calibri"/>
                <a:cs typeface="Calibri"/>
              </a:rPr>
              <a:t>So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Dependent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will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be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weak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type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Employee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will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be </a:t>
            </a:r>
            <a:r>
              <a:rPr dirty="0" sz="2150">
                <a:latin typeface="Calibri"/>
                <a:cs typeface="Calibri"/>
              </a:rPr>
              <a:t>Identifying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Dependent.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95146" y="5970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98229" y="5970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41688" y="5970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69054" y="59702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180069" y="63512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444500" y="6335369"/>
            <a:ext cx="7651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02154" y="6335369"/>
            <a:ext cx="8782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4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09423" y="6335369"/>
            <a:ext cx="4032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43824" y="6335369"/>
            <a:ext cx="4191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4500" y="930909"/>
            <a:ext cx="8257540" cy="417195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2700" marR="5080" indent="-9525">
              <a:lnSpc>
                <a:spcPts val="2160"/>
              </a:lnSpc>
              <a:spcBef>
                <a:spcPts val="37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attribute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uniquely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identifies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each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set,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exists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key </a:t>
            </a:r>
            <a:r>
              <a:rPr dirty="0" sz="2000">
                <a:latin typeface="Calibri"/>
                <a:cs typeface="Calibri"/>
              </a:rPr>
              <a:t>attribute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can’t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type.</a:t>
            </a:r>
            <a:endParaRPr sz="2000">
              <a:latin typeface="Calibri"/>
              <a:cs typeface="Calibri"/>
            </a:endParaRPr>
          </a:p>
          <a:p>
            <a:pPr algn="just" marL="100330" indent="-97155">
              <a:lnSpc>
                <a:spcPts val="201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sets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sufficient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attributes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primary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ts val="2160"/>
              </a:lnSpc>
              <a:spcBef>
                <a:spcPts val="155"/>
              </a:spcBef>
            </a:pP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 entity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sets which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 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primary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key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strong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sets.</a:t>
            </a:r>
            <a:endParaRPr sz="2000">
              <a:latin typeface="Calibri"/>
              <a:cs typeface="Calibri"/>
            </a:endParaRPr>
          </a:p>
          <a:p>
            <a:pPr algn="just" marL="12700" marR="5715" indent="-9525">
              <a:lnSpc>
                <a:spcPts val="216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primary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key,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identified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own,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depend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(known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owner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entity).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total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participation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constraints(existence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dependency)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its </a:t>
            </a:r>
            <a:r>
              <a:rPr dirty="0" sz="2000">
                <a:latin typeface="Calibri"/>
                <a:cs typeface="Calibri"/>
              </a:rPr>
              <a:t>identifying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entity.</a:t>
            </a:r>
            <a:endParaRPr sz="2000">
              <a:latin typeface="Calibri"/>
              <a:cs typeface="Calibri"/>
            </a:endParaRPr>
          </a:p>
          <a:p>
            <a:pPr algn="just" marL="12700" marR="5715" indent="-9525">
              <a:lnSpc>
                <a:spcPts val="216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partial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keys.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Partial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Keys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attributes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15">
                <a:latin typeface="Calibri"/>
                <a:cs typeface="Calibri"/>
              </a:rPr>
              <a:t>   </a:t>
            </a:r>
            <a:r>
              <a:rPr dirty="0" sz="2000">
                <a:latin typeface="Calibri"/>
                <a:cs typeface="Calibri"/>
              </a:rPr>
              <a:t>tuples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distinguished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identified.</a:t>
            </a:r>
            <a:endParaRPr sz="2000">
              <a:latin typeface="Calibri"/>
              <a:cs typeface="Calibri"/>
            </a:endParaRPr>
          </a:p>
          <a:p>
            <a:pPr algn="just" marL="12700" marR="5715">
              <a:lnSpc>
                <a:spcPts val="2160"/>
              </a:lnSpc>
            </a:pPr>
            <a:r>
              <a:rPr dirty="0" sz="2000">
                <a:latin typeface="Calibri"/>
                <a:cs typeface="Calibri"/>
              </a:rPr>
              <a:t>Note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always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total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participation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Strong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not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total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participation.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02994" y="159207"/>
            <a:ext cx="67024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88005" algn="l"/>
              </a:tabLst>
            </a:pPr>
            <a:r>
              <a:rPr dirty="0" spc="-30"/>
              <a:t>Weak</a:t>
            </a:r>
            <a:r>
              <a:rPr dirty="0" spc="-100"/>
              <a:t> </a:t>
            </a:r>
            <a:r>
              <a:rPr dirty="0"/>
              <a:t>Entity</a:t>
            </a:r>
            <a:r>
              <a:rPr dirty="0" spc="-185"/>
              <a:t> </a:t>
            </a:r>
            <a:r>
              <a:rPr dirty="0" spc="-20"/>
              <a:t>Type</a:t>
            </a:r>
            <a:r>
              <a:rPr dirty="0"/>
              <a:t>	Vs</a:t>
            </a:r>
            <a:r>
              <a:rPr dirty="0" spc="5"/>
              <a:t> </a:t>
            </a:r>
            <a:r>
              <a:rPr dirty="0"/>
              <a:t>Strong</a:t>
            </a:r>
            <a:r>
              <a:rPr dirty="0" spc="-10"/>
              <a:t> </a:t>
            </a:r>
            <a:r>
              <a:rPr dirty="0"/>
              <a:t>Entity</a:t>
            </a:r>
            <a:r>
              <a:rPr dirty="0" spc="-5"/>
              <a:t> </a:t>
            </a:r>
            <a:r>
              <a:rPr dirty="0" spc="-20"/>
              <a:t>Type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37" y="3361810"/>
            <a:ext cx="7286777" cy="265798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16939" y="1159509"/>
            <a:ext cx="7845425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  <a:tabLst>
                <a:tab pos="6850380" algn="l"/>
              </a:tabLst>
            </a:pP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depends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strong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entity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ensure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existence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weak </a:t>
            </a:r>
            <a:r>
              <a:rPr dirty="0" sz="2000">
                <a:latin typeface="Calibri"/>
                <a:cs typeface="Calibri"/>
              </a:rPr>
              <a:t>entity.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strong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entity,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does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primary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key,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has </a:t>
            </a:r>
            <a:r>
              <a:rPr dirty="0" sz="2000">
                <a:latin typeface="Calibri"/>
                <a:cs typeface="Calibri"/>
              </a:rPr>
              <a:t>partial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discriminator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key.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represented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double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rectangle.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strong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represented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 </a:t>
            </a:r>
            <a:r>
              <a:rPr dirty="0" sz="2000" spc="-10">
                <a:latin typeface="Calibri"/>
                <a:cs typeface="Calibri"/>
              </a:rPr>
              <a:t>double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diamond.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64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Weak</a:t>
            </a:r>
            <a:r>
              <a:rPr dirty="0" spc="-120"/>
              <a:t> </a:t>
            </a:r>
            <a:r>
              <a:rPr dirty="0"/>
              <a:t>Entity</a:t>
            </a:r>
            <a:r>
              <a:rPr dirty="0" spc="-180"/>
              <a:t> </a:t>
            </a:r>
            <a:r>
              <a:rPr dirty="0" spc="-10"/>
              <a:t>Type</a:t>
            </a:r>
            <a:r>
              <a:rPr dirty="0" spc="-5"/>
              <a:t> </a:t>
            </a:r>
            <a:r>
              <a:rPr dirty="0"/>
              <a:t>Vs</a:t>
            </a:r>
            <a:r>
              <a:rPr dirty="0" spc="-40"/>
              <a:t> </a:t>
            </a:r>
            <a:r>
              <a:rPr dirty="0"/>
              <a:t>Strong</a:t>
            </a:r>
            <a:r>
              <a:rPr dirty="0" spc="-50"/>
              <a:t> </a:t>
            </a:r>
            <a:r>
              <a:rPr dirty="0"/>
              <a:t>Entity</a:t>
            </a:r>
            <a:r>
              <a:rPr dirty="0" spc="-55"/>
              <a:t> </a:t>
            </a:r>
            <a:r>
              <a:rPr dirty="0" spc="-20"/>
              <a:t>Type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12135" y="6373545"/>
            <a:ext cx="87820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4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19404" y="6373545"/>
            <a:ext cx="40322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53805" y="6373545"/>
            <a:ext cx="419100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069644" y="1083309"/>
            <a:ext cx="761682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  <a:tabLst>
                <a:tab pos="3610610" algn="l"/>
                <a:tab pos="676783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ER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Diagram,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‘Payment’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weak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entity.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‘Loan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Payment’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identifying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‘Payment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Number’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partial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key. </a:t>
            </a:r>
            <a:r>
              <a:rPr dirty="0" sz="2000">
                <a:latin typeface="Calibri"/>
                <a:cs typeface="Calibri"/>
              </a:rPr>
              <a:t>Primary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Loan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along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partial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would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 spc="-10">
                <a:latin typeface="Calibri"/>
                <a:cs typeface="Calibri"/>
              </a:rPr>
              <a:t>identify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the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records.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537" y="2616925"/>
            <a:ext cx="8187134" cy="34790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6794" y="159207"/>
            <a:ext cx="291528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Weak</a:t>
            </a:r>
            <a:r>
              <a:rPr dirty="0" spc="-100"/>
              <a:t> </a:t>
            </a:r>
            <a:r>
              <a:rPr dirty="0"/>
              <a:t>Entity</a:t>
            </a:r>
            <a:r>
              <a:rPr dirty="0" spc="-185"/>
              <a:t> </a:t>
            </a:r>
            <a:r>
              <a:rPr dirty="0" spc="-30"/>
              <a:t>Type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12135" y="6373545"/>
            <a:ext cx="87820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4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19404" y="6373545"/>
            <a:ext cx="40322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53805" y="6373545"/>
            <a:ext cx="419100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00"/>
              </a:spcBef>
            </a:pPr>
            <a:r>
              <a:rPr dirty="0"/>
              <a:t>Weak</a:t>
            </a:r>
            <a:r>
              <a:rPr dirty="0" spc="-100"/>
              <a:t> </a:t>
            </a:r>
            <a:r>
              <a:rPr dirty="0"/>
              <a:t>Entity</a:t>
            </a:r>
            <a:r>
              <a:rPr dirty="0" spc="-160"/>
              <a:t> </a:t>
            </a:r>
            <a:r>
              <a:rPr dirty="0"/>
              <a:t>Type</a:t>
            </a:r>
            <a:r>
              <a:rPr dirty="0" spc="-80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/>
              <a:t>Identifying</a:t>
            </a:r>
            <a:r>
              <a:rPr dirty="0" spc="-215"/>
              <a:t> </a:t>
            </a:r>
            <a:r>
              <a:rPr dirty="0" spc="-10"/>
              <a:t>Relationship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43686"/>
            <a:ext cx="8097520" cy="170370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weak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represented</a:t>
            </a:r>
            <a:r>
              <a:rPr dirty="0" sz="2150" spc="1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double</a:t>
            </a:r>
            <a:r>
              <a:rPr dirty="0" sz="2150" spc="1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rectangle.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participation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weak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always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total.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weak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its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identifying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strong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is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1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identifying</a:t>
            </a:r>
            <a:r>
              <a:rPr dirty="0" sz="2150" spc="1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represented</a:t>
            </a:r>
            <a:r>
              <a:rPr dirty="0" sz="2150" spc="1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double diamond.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8111" y="3067811"/>
            <a:ext cx="6591300" cy="187604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581527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846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280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413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8180069" y="63893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0235" rIns="0" bIns="0" rtlCol="0" vert="horz">
            <a:spAutoFit/>
          </a:bodyPr>
          <a:lstStyle/>
          <a:p>
            <a:pPr marL="18326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/>
              <a:t>ER</a:t>
            </a:r>
            <a:r>
              <a:rPr dirty="0" spc="-90"/>
              <a:t> </a:t>
            </a:r>
            <a:r>
              <a:rPr dirty="0" spc="-10"/>
              <a:t>Diagram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055" y="1104900"/>
            <a:ext cx="7562088" cy="49530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103869" y="64655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48126" y="6541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51210" y="6541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94669" y="6541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22035" y="65417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0235" rIns="0" bIns="0" rtlCol="0" vert="horz">
            <a:spAutoFit/>
          </a:bodyPr>
          <a:lstStyle/>
          <a:p>
            <a:pPr marL="18326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/>
              <a:t>ER</a:t>
            </a:r>
            <a:r>
              <a:rPr dirty="0" spc="-90"/>
              <a:t> </a:t>
            </a:r>
            <a:r>
              <a:rPr dirty="0" spc="-10"/>
              <a:t>Diagram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83540" y="1686509"/>
            <a:ext cx="8432165" cy="4872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Draw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an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ER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Diagram: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1169035" algn="l"/>
                <a:tab pos="1550035" algn="l"/>
              </a:tabLst>
            </a:pPr>
            <a:r>
              <a:rPr dirty="0" sz="2800">
                <a:latin typeface="Calibri"/>
                <a:cs typeface="Calibri"/>
              </a:rPr>
              <a:t>Consider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following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requirements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Bank </a:t>
            </a:r>
            <a:r>
              <a:rPr dirty="0" sz="2800" spc="-10">
                <a:latin typeface="Calibri"/>
                <a:cs typeface="Calibri"/>
              </a:rPr>
              <a:t>Database: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"A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large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bank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several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branches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different places.</a:t>
            </a:r>
            <a:r>
              <a:rPr dirty="0" sz="2800">
                <a:latin typeface="Calibri"/>
                <a:cs typeface="Calibri"/>
              </a:rPr>
              <a:t>	Each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branch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maintains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account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details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customers.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customers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open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joint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well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single accounts.</a:t>
            </a:r>
            <a:r>
              <a:rPr dirty="0" sz="2800">
                <a:latin typeface="Calibri"/>
                <a:cs typeface="Calibri"/>
              </a:rPr>
              <a:t>	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bank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loan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customer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different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purposes.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Bank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keeps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record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customer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account.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branches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employees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employees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managers."</a:t>
            </a:r>
            <a:endParaRPr sz="2800">
              <a:latin typeface="Calibri"/>
              <a:cs typeface="Calibri"/>
            </a:endParaRPr>
          </a:p>
          <a:p>
            <a:pPr marL="2066925">
              <a:lnSpc>
                <a:spcPct val="100000"/>
              </a:lnSpc>
              <a:spcBef>
                <a:spcPts val="1330"/>
              </a:spcBef>
              <a:tabLst>
                <a:tab pos="3070225" algn="l"/>
                <a:tab pos="3613785" algn="l"/>
                <a:tab pos="4540885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algn="r" marR="457200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296" rIns="0" bIns="0" rtlCol="0" vert="horz">
            <a:spAutoFit/>
          </a:bodyPr>
          <a:lstStyle/>
          <a:p>
            <a:pPr marL="2661285">
              <a:lnSpc>
                <a:spcPct val="100000"/>
              </a:lnSpc>
              <a:spcBef>
                <a:spcPts val="100"/>
              </a:spcBef>
            </a:pPr>
            <a:r>
              <a:rPr dirty="0" spc="-190">
                <a:solidFill>
                  <a:srgbClr val="202020"/>
                </a:solidFill>
                <a:latin typeface="Tahoma"/>
                <a:cs typeface="Tahoma"/>
              </a:rPr>
              <a:t>Keys</a:t>
            </a:r>
            <a:r>
              <a:rPr dirty="0" spc="-515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202020"/>
                </a:solidFill>
                <a:latin typeface="Tahoma"/>
                <a:cs typeface="Tahoma"/>
              </a:rPr>
              <a:t>in</a:t>
            </a:r>
            <a:r>
              <a:rPr dirty="0" spc="-105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dirty="0" spc="-300">
                <a:solidFill>
                  <a:srgbClr val="202020"/>
                </a:solidFill>
                <a:latin typeface="Tahoma"/>
                <a:cs typeface="Tahoma"/>
              </a:rPr>
              <a:t>DBMS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24527"/>
            <a:ext cx="8009890" cy="228155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helps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to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row(tuple)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relation(table).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They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allow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find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tables.</a:t>
            </a:r>
            <a:endParaRPr sz="2150">
              <a:latin typeface="Calibri"/>
              <a:cs typeface="Calibri"/>
            </a:endParaRPr>
          </a:p>
          <a:p>
            <a:pPr marL="355600" marR="10160" indent="-342900">
              <a:lnSpc>
                <a:spcPct val="101899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help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combination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of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 that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marL="928369">
              <a:lnSpc>
                <a:spcPct val="100000"/>
              </a:lnSpc>
              <a:spcBef>
                <a:spcPts val="790"/>
              </a:spcBef>
            </a:pPr>
            <a:r>
              <a:rPr dirty="0" sz="2150" spc="-10">
                <a:latin typeface="Calibri"/>
                <a:cs typeface="Calibri"/>
              </a:rPr>
              <a:t>Example:-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4946650"/>
            <a:ext cx="8081645" cy="102108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just" marL="355600" marR="5080" indent="-342900">
              <a:lnSpc>
                <a:spcPct val="101899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above-given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employee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1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because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identifies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employee</a:t>
            </a:r>
            <a:r>
              <a:rPr dirty="0" sz="2150" spc="5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record.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table,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other </a:t>
            </a:r>
            <a:r>
              <a:rPr dirty="0" sz="2150">
                <a:latin typeface="Calibri"/>
                <a:cs typeface="Calibri"/>
              </a:rPr>
              <a:t>employee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same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employee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ID.</a:t>
            </a:r>
            <a:endParaRPr sz="215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435100" y="3344290"/>
          <a:ext cx="6184900" cy="1482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800" spc="-10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LastName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Andrew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Johnson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Tom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Wood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Alex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Hale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8365997" y="6423152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42945" y="6351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746029" y="6351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289488" y="6351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216854" y="63512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463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45"/>
              <a:t> </a:t>
            </a:r>
            <a:r>
              <a:rPr dirty="0"/>
              <a:t>we</a:t>
            </a:r>
            <a:r>
              <a:rPr dirty="0" spc="-85"/>
              <a:t> </a:t>
            </a:r>
            <a:r>
              <a:rPr dirty="0"/>
              <a:t>need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20"/>
              <a:t>Key?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90473" y="1194930"/>
            <a:ext cx="8075295" cy="3491229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150">
                <a:latin typeface="Calibri"/>
                <a:cs typeface="Calibri"/>
              </a:rPr>
              <a:t>Here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reasons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using SQL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system.</a:t>
            </a:r>
            <a:endParaRPr sz="21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help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marL="356870" marR="12065" indent="-34480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  <a:tab pos="708660" algn="l"/>
                <a:tab pos="984885" algn="l"/>
                <a:tab pos="2291080" algn="l"/>
                <a:tab pos="3760470" algn="l"/>
                <a:tab pos="4036060" algn="l"/>
                <a:tab pos="4752340" algn="l"/>
                <a:tab pos="5514975" algn="l"/>
                <a:tab pos="6506845" algn="l"/>
                <a:tab pos="7831455" algn="l"/>
              </a:tabLst>
            </a:pPr>
            <a:r>
              <a:rPr dirty="0" sz="2150" spc="-25">
                <a:latin typeface="Calibri"/>
                <a:cs typeface="Calibri"/>
              </a:rPr>
              <a:t>In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real-</a:t>
            </a:r>
            <a:r>
              <a:rPr dirty="0" sz="2150" spc="-20">
                <a:latin typeface="Calibri"/>
                <a:cs typeface="Calibri"/>
              </a:rPr>
              <a:t>world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application,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table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could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contain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thousands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40">
                <a:latin typeface="Calibri"/>
                <a:cs typeface="Calibri"/>
              </a:rPr>
              <a:t>of </a:t>
            </a:r>
            <a:r>
              <a:rPr dirty="0" sz="2150">
                <a:latin typeface="Calibri"/>
                <a:cs typeface="Calibri"/>
              </a:rPr>
              <a:t>records.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45">
                <a:latin typeface="Calibri"/>
                <a:cs typeface="Calibri"/>
              </a:rPr>
              <a:t>Moreover,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records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could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duplicated.</a:t>
            </a:r>
            <a:endParaRPr sz="21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RDBMS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ensure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record</a:t>
            </a:r>
            <a:endParaRPr sz="215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latin typeface="Calibri"/>
                <a:cs typeface="Calibri"/>
              </a:rPr>
              <a:t>despite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these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challenges.</a:t>
            </a:r>
            <a:endParaRPr sz="2150">
              <a:latin typeface="Calibri"/>
              <a:cs typeface="Calibri"/>
            </a:endParaRPr>
          </a:p>
          <a:p>
            <a:pPr marL="356870" marR="5080" indent="-344805">
              <a:lnSpc>
                <a:spcPct val="1042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  <a:tab pos="1233170" algn="l"/>
                <a:tab pos="1776095" algn="l"/>
                <a:tab pos="2149475" algn="l"/>
                <a:tab pos="3274060" algn="l"/>
                <a:tab pos="3540760" algn="l"/>
                <a:tab pos="5010150" algn="l"/>
                <a:tab pos="6135370" algn="l"/>
                <a:tab pos="6688455" algn="l"/>
                <a:tab pos="7679055" algn="l"/>
              </a:tabLst>
            </a:pPr>
            <a:r>
              <a:rPr dirty="0" sz="2150" spc="-10">
                <a:latin typeface="Calibri"/>
                <a:cs typeface="Calibri"/>
              </a:rPr>
              <a:t>Allows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you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to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establish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between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identify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relation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tables</a:t>
            </a:r>
            <a:endParaRPr sz="215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150">
                <a:latin typeface="Calibri"/>
                <a:cs typeface="Calibri"/>
              </a:rPr>
              <a:t>Help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enforce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identity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 integrity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65997" y="6423152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29127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32210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75669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03035" y="61226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939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Keys</a:t>
            </a:r>
            <a:r>
              <a:rPr dirty="0" spc="-170"/>
              <a:t> </a:t>
            </a:r>
            <a:r>
              <a:rPr dirty="0"/>
              <a:t>in</a:t>
            </a:r>
            <a:r>
              <a:rPr dirty="0" spc="-95"/>
              <a:t> </a:t>
            </a:r>
            <a:r>
              <a:rPr dirty="0" spc="-20"/>
              <a:t>DBMS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505327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08410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51869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65100">
              <a:lnSpc>
                <a:spcPts val="1240"/>
              </a:lnSpc>
            </a:pPr>
            <a:r>
              <a:rPr dirty="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42340" y="1168095"/>
            <a:ext cx="8085455" cy="3973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mainly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Eight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different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types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key</a:t>
            </a:r>
            <a:endParaRPr sz="21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150">
                <a:latin typeface="Calibri"/>
                <a:cs typeface="Calibri"/>
              </a:rPr>
              <a:t>has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it’s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different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functionality:</a:t>
            </a:r>
            <a:endParaRPr sz="2150">
              <a:latin typeface="Calibri"/>
              <a:cs typeface="Calibri"/>
            </a:endParaRPr>
          </a:p>
          <a:p>
            <a:pPr algn="just" marL="928369" marR="5080" indent="-515620">
              <a:lnSpc>
                <a:spcPct val="101899"/>
              </a:lnSpc>
              <a:spcBef>
                <a:spcPts val="420"/>
              </a:spcBef>
              <a:buFont typeface="Arial MT"/>
              <a:buChar char="–"/>
              <a:tabLst>
                <a:tab pos="928369" algn="l"/>
              </a:tabLst>
            </a:pPr>
            <a:r>
              <a:rPr dirty="0" sz="2150" b="1">
                <a:latin typeface="Calibri"/>
                <a:cs typeface="Calibri"/>
              </a:rPr>
              <a:t>Super</a:t>
            </a:r>
            <a:r>
              <a:rPr dirty="0" sz="2150" spc="31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28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super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group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single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multiple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keys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identifies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algn="just" marL="928369" marR="5715" indent="-515620">
              <a:lnSpc>
                <a:spcPct val="101899"/>
              </a:lnSpc>
              <a:spcBef>
                <a:spcPts val="505"/>
              </a:spcBef>
              <a:buFont typeface="Arial MT"/>
              <a:buChar char="–"/>
              <a:tabLst>
                <a:tab pos="928369" algn="l"/>
              </a:tabLst>
            </a:pPr>
            <a:r>
              <a:rPr dirty="0" sz="2150" b="1">
                <a:latin typeface="Calibri"/>
                <a:cs typeface="Calibri"/>
              </a:rPr>
              <a:t>Candidate</a:t>
            </a:r>
            <a:r>
              <a:rPr dirty="0" sz="2150" spc="45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43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identify </a:t>
            </a:r>
            <a:r>
              <a:rPr dirty="0" sz="2150">
                <a:latin typeface="Calibri"/>
                <a:cs typeface="Calibri"/>
              </a:rPr>
              <a:t>tuples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super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315">
                <a:latin typeface="Calibri"/>
                <a:cs typeface="Calibri"/>
              </a:rPr>
              <a:t>   </a:t>
            </a:r>
            <a:r>
              <a:rPr dirty="0" sz="2150" spc="45">
                <a:latin typeface="Calibri"/>
                <a:cs typeface="Calibri"/>
              </a:rPr>
              <a:t>no </a:t>
            </a:r>
            <a:r>
              <a:rPr dirty="0" sz="2150">
                <a:latin typeface="Calibri"/>
                <a:cs typeface="Calibri"/>
              </a:rPr>
              <a:t>repeated</a:t>
            </a:r>
            <a:r>
              <a:rPr dirty="0" sz="2150" spc="-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attributes.</a:t>
            </a:r>
            <a:endParaRPr sz="2150">
              <a:latin typeface="Calibri"/>
              <a:cs typeface="Calibri"/>
            </a:endParaRPr>
          </a:p>
          <a:p>
            <a:pPr algn="just" marL="928369" marR="55880" indent="-515620">
              <a:lnSpc>
                <a:spcPct val="103699"/>
              </a:lnSpc>
              <a:spcBef>
                <a:spcPts val="600"/>
              </a:spcBef>
              <a:buFont typeface="Arial MT"/>
              <a:buChar char="–"/>
              <a:tabLst>
                <a:tab pos="928369" algn="l"/>
              </a:tabLst>
            </a:pPr>
            <a:r>
              <a:rPr dirty="0" sz="2150" b="1">
                <a:latin typeface="Calibri"/>
                <a:cs typeface="Calibri"/>
              </a:rPr>
              <a:t>Primary</a:t>
            </a:r>
            <a:r>
              <a:rPr dirty="0" sz="2150" spc="1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19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group</a:t>
            </a:r>
            <a:r>
              <a:rPr dirty="0" sz="2150" spc="1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that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every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algn="just" marL="929640" indent="-516255">
              <a:lnSpc>
                <a:spcPct val="100000"/>
              </a:lnSpc>
              <a:spcBef>
                <a:spcPts val="515"/>
              </a:spcBef>
              <a:buFont typeface="Arial MT"/>
              <a:buChar char="–"/>
              <a:tabLst>
                <a:tab pos="929640" algn="l"/>
              </a:tabLst>
            </a:pPr>
            <a:r>
              <a:rPr dirty="0" sz="2150" b="1">
                <a:latin typeface="Calibri"/>
                <a:cs typeface="Calibri"/>
              </a:rPr>
              <a:t>Alternate</a:t>
            </a:r>
            <a:r>
              <a:rPr dirty="0" sz="2150" spc="8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group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that</a:t>
            </a:r>
            <a:endParaRPr sz="2150">
              <a:latin typeface="Calibri"/>
              <a:cs typeface="Calibri"/>
            </a:endParaRPr>
          </a:p>
          <a:p>
            <a:pPr algn="just" marL="928369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every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126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dirty="0" spc="-114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Keys</a:t>
            </a:r>
            <a:r>
              <a:rPr dirty="0" spc="-180"/>
              <a:t> </a:t>
            </a:r>
            <a:r>
              <a:rPr dirty="0"/>
              <a:t>in</a:t>
            </a:r>
            <a:r>
              <a:rPr dirty="0" spc="-90"/>
              <a:t> </a:t>
            </a:r>
            <a:r>
              <a:rPr dirty="0"/>
              <a:t>DBMS</a:t>
            </a:r>
            <a:r>
              <a:rPr dirty="0" spc="-35"/>
              <a:t> </a:t>
            </a:r>
            <a:r>
              <a:rPr dirty="0" spc="-10"/>
              <a:t>(contd..)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36447" y="1075436"/>
            <a:ext cx="7699375" cy="432244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just" marL="527685" marR="5080" indent="-515620">
              <a:lnSpc>
                <a:spcPct val="82900"/>
              </a:lnSpc>
              <a:spcBef>
                <a:spcPts val="540"/>
              </a:spcBef>
              <a:buFont typeface="Arial MT"/>
              <a:buChar char="–"/>
              <a:tabLst>
                <a:tab pos="527685" algn="l"/>
              </a:tabLst>
            </a:pPr>
            <a:r>
              <a:rPr dirty="0" sz="2150" b="1">
                <a:latin typeface="Calibri"/>
                <a:cs typeface="Calibri"/>
              </a:rPr>
              <a:t>Foreign</a:t>
            </a:r>
            <a:r>
              <a:rPr dirty="0" sz="2150" spc="22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204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creates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between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tables.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purpose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Foreign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maintain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data </a:t>
            </a:r>
            <a:r>
              <a:rPr dirty="0" sz="2150">
                <a:latin typeface="Calibri"/>
                <a:cs typeface="Calibri"/>
              </a:rPr>
              <a:t>integrity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allow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navigation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1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different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instances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entity.</a:t>
            </a:r>
            <a:endParaRPr sz="2150">
              <a:latin typeface="Calibri"/>
              <a:cs typeface="Calibri"/>
            </a:endParaRPr>
          </a:p>
          <a:p>
            <a:pPr algn="just" marL="527685" marR="8255" indent="-515620">
              <a:lnSpc>
                <a:spcPts val="2110"/>
              </a:lnSpc>
              <a:spcBef>
                <a:spcPts val="509"/>
              </a:spcBef>
              <a:buFont typeface="Arial MT"/>
              <a:buChar char="–"/>
              <a:tabLst>
                <a:tab pos="527685" algn="l"/>
                <a:tab pos="528955" algn="l"/>
              </a:tabLst>
            </a:pP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b="1">
                <a:latin typeface="Calibri"/>
                <a:cs typeface="Calibri"/>
              </a:rPr>
              <a:t>Compound</a:t>
            </a:r>
            <a:r>
              <a:rPr dirty="0" sz="2150" spc="1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13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allow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to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recognize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specific</a:t>
            </a:r>
            <a:r>
              <a:rPr dirty="0" sz="2150" spc="5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record.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possible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each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itself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within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database.</a:t>
            </a:r>
            <a:endParaRPr sz="2150">
              <a:latin typeface="Calibri"/>
              <a:cs typeface="Calibri"/>
            </a:endParaRPr>
          </a:p>
          <a:p>
            <a:pPr algn="just" marL="527685" marR="22225" indent="-515620">
              <a:lnSpc>
                <a:spcPct val="82900"/>
              </a:lnSpc>
              <a:spcBef>
                <a:spcPts val="515"/>
              </a:spcBef>
              <a:buFont typeface="Arial MT"/>
              <a:buChar char="–"/>
              <a:tabLst>
                <a:tab pos="527685" algn="l"/>
              </a:tabLst>
            </a:pPr>
            <a:r>
              <a:rPr dirty="0" sz="2150" b="1">
                <a:latin typeface="Calibri"/>
                <a:cs typeface="Calibri"/>
              </a:rPr>
              <a:t>Composite</a:t>
            </a:r>
            <a:r>
              <a:rPr dirty="0" sz="2150" spc="4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475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combination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columns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rows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7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combination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of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guarantees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uniqueness,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though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individual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uniqueness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guaranteed.</a:t>
            </a:r>
            <a:endParaRPr sz="2150">
              <a:latin typeface="Calibri"/>
              <a:cs typeface="Calibri"/>
            </a:endParaRPr>
          </a:p>
          <a:p>
            <a:pPr algn="just" marL="527685" marR="22225" indent="-515620">
              <a:lnSpc>
                <a:spcPts val="2100"/>
              </a:lnSpc>
              <a:spcBef>
                <a:spcPts val="505"/>
              </a:spcBef>
              <a:buFont typeface="Arial MT"/>
              <a:buChar char="–"/>
              <a:tabLst>
                <a:tab pos="527685" algn="l"/>
              </a:tabLst>
            </a:pPr>
            <a:r>
              <a:rPr dirty="0" sz="2150" b="1">
                <a:latin typeface="Calibri"/>
                <a:cs typeface="Calibri"/>
              </a:rPr>
              <a:t>Surrogate</a:t>
            </a:r>
            <a:r>
              <a:rPr dirty="0" sz="2150" spc="100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Key</a:t>
            </a:r>
            <a:r>
              <a:rPr dirty="0" sz="2150" spc="95" b="1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–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artificial</a:t>
            </a:r>
            <a:r>
              <a:rPr dirty="0" sz="2150" spc="1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aims</a:t>
            </a:r>
            <a:r>
              <a:rPr dirty="0" sz="2150" spc="1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300">
                <a:latin typeface="Calibri"/>
                <a:cs typeface="Calibri"/>
              </a:rPr>
              <a:t>   </a:t>
            </a:r>
            <a:r>
              <a:rPr dirty="0" sz="2150" spc="-10">
                <a:latin typeface="Calibri"/>
                <a:cs typeface="Calibri"/>
              </a:rPr>
              <a:t>uniquely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surrogate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 spc="-65">
                <a:latin typeface="Calibri"/>
                <a:cs typeface="Calibri"/>
              </a:rPr>
              <a:t>key.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These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kind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key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because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they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created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don’t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any </a:t>
            </a:r>
            <a:r>
              <a:rPr dirty="0" sz="2150">
                <a:latin typeface="Calibri"/>
                <a:cs typeface="Calibri"/>
              </a:rPr>
              <a:t>natural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809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840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274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54854" y="61226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61970">
              <a:lnSpc>
                <a:spcPct val="100000"/>
              </a:lnSpc>
              <a:spcBef>
                <a:spcPts val="100"/>
              </a:spcBef>
            </a:pPr>
            <a:r>
              <a:rPr dirty="0"/>
              <a:t>Super</a:t>
            </a:r>
            <a:r>
              <a:rPr dirty="0" spc="-125"/>
              <a:t> </a:t>
            </a:r>
            <a:r>
              <a:rPr dirty="0" spc="-25"/>
              <a:t>key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124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85418"/>
            <a:ext cx="8094980" cy="144462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5080" indent="-342900">
              <a:lnSpc>
                <a:spcPct val="103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superkey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group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single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multiple</a:t>
            </a:r>
            <a:r>
              <a:rPr dirty="0" sz="2150" spc="4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identifies </a:t>
            </a:r>
            <a:r>
              <a:rPr dirty="0" sz="2150">
                <a:latin typeface="Calibri"/>
                <a:cs typeface="Calibri"/>
              </a:rPr>
              <a:t>rows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Super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additional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are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needed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</a:t>
            </a:r>
            <a:r>
              <a:rPr dirty="0" sz="2150" spc="-10">
                <a:latin typeface="Calibri"/>
                <a:cs typeface="Calibri"/>
              </a:rPr>
              <a:t> identification.</a:t>
            </a:r>
            <a:endParaRPr sz="2150">
              <a:latin typeface="Calibri"/>
              <a:cs typeface="Calibri"/>
            </a:endParaRPr>
          </a:p>
          <a:p>
            <a:pPr marL="928369">
              <a:lnSpc>
                <a:spcPct val="100000"/>
              </a:lnSpc>
              <a:spcBef>
                <a:spcPts val="695"/>
              </a:spcBef>
            </a:pPr>
            <a:r>
              <a:rPr dirty="0" sz="2150" spc="-10">
                <a:latin typeface="Calibri"/>
                <a:cs typeface="Calibri"/>
              </a:rPr>
              <a:t>Example: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4279138"/>
            <a:ext cx="111252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727075" algn="l"/>
              </a:tabLst>
            </a:pPr>
            <a:r>
              <a:rPr dirty="0" sz="2150" spc="-25">
                <a:latin typeface="Calibri"/>
                <a:cs typeface="Calibri"/>
              </a:rPr>
              <a:t>In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85873" y="4279138"/>
            <a:ext cx="682117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7495" algn="l"/>
                <a:tab pos="2739390" algn="l"/>
                <a:tab pos="3845560" algn="l"/>
                <a:tab pos="4426585" algn="l"/>
                <a:tab pos="5647690" algn="l"/>
                <a:tab pos="6449060" algn="l"/>
              </a:tabLst>
            </a:pPr>
            <a:r>
              <a:rPr dirty="0" sz="2150" spc="-10">
                <a:latin typeface="Calibri"/>
                <a:cs typeface="Calibri"/>
              </a:rPr>
              <a:t>above-</a:t>
            </a:r>
            <a:r>
              <a:rPr dirty="0" sz="2150" spc="-20">
                <a:latin typeface="Calibri"/>
                <a:cs typeface="Calibri"/>
              </a:rPr>
              <a:t>given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example,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EmpSSN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EmpNum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name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are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79144" y="4612894"/>
            <a:ext cx="116586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35">
                <a:latin typeface="Calibri"/>
                <a:cs typeface="Calibri"/>
              </a:rPr>
              <a:t>superkeys.</a:t>
            </a:r>
            <a:endParaRPr sz="215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435100" y="2725420"/>
          <a:ext cx="6184900" cy="147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2032000"/>
                <a:gridCol w="2032000"/>
              </a:tblGrid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EmpSSN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EmpNum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9812345098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AB05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Shown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9876512345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AB06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Roslyn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199937890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AB07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James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24381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412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846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12054" y="60464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7147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dirty="0" spc="-140"/>
              <a:t> </a:t>
            </a:r>
            <a:r>
              <a:rPr dirty="0" spc="-25"/>
              <a:t>Key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124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258569"/>
            <a:ext cx="8093709" cy="178308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group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every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can’t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duplicate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meaning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same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value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can’t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appear</a:t>
            </a:r>
            <a:r>
              <a:rPr dirty="0" sz="2150" spc="4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than </a:t>
            </a:r>
            <a:r>
              <a:rPr dirty="0" sz="2150">
                <a:latin typeface="Calibri"/>
                <a:cs typeface="Calibri"/>
              </a:rPr>
              <a:t>once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 cannot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 more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than one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  <a:p>
            <a:pPr marL="928369">
              <a:lnSpc>
                <a:spcPct val="100000"/>
              </a:lnSpc>
              <a:spcBef>
                <a:spcPts val="700"/>
              </a:spcBef>
            </a:pPr>
            <a:r>
              <a:rPr dirty="0" sz="2150" spc="-10">
                <a:latin typeface="Calibri"/>
                <a:cs typeface="Calibri"/>
              </a:rPr>
              <a:t>Example: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5106111"/>
            <a:ext cx="58743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following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StudID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 spc="-3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358900" y="3200273"/>
          <a:ext cx="6881495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915795"/>
              </a:tblGrid>
              <a:tr h="37020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r>
                        <a:rPr dirty="0" sz="18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1800" spc="-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LastName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Tom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Price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abc@gmail.com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Nick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Wright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xyz@gmail.com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Dana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Natan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mno@yahoo.com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3276727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79810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23269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50635" y="62750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17725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dirty="0" spc="-110"/>
              <a:t> </a:t>
            </a:r>
            <a:r>
              <a:rPr dirty="0"/>
              <a:t>Key</a:t>
            </a:r>
            <a:r>
              <a:rPr dirty="0" spc="-110"/>
              <a:t> </a:t>
            </a:r>
            <a:r>
              <a:rPr dirty="0" spc="-10"/>
              <a:t>(contd..)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124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81975"/>
            <a:ext cx="7072630" cy="241046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150" b="1">
                <a:latin typeface="Calibri"/>
                <a:cs typeface="Calibri"/>
              </a:rPr>
              <a:t>Rules</a:t>
            </a:r>
            <a:r>
              <a:rPr dirty="0" sz="2150" spc="-2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-1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defining Primary</a:t>
            </a:r>
            <a:r>
              <a:rPr dirty="0" sz="2150" spc="165" b="1">
                <a:latin typeface="Calibri"/>
                <a:cs typeface="Calibri"/>
              </a:rPr>
              <a:t> </a:t>
            </a:r>
            <a:r>
              <a:rPr dirty="0" sz="2150" spc="-20" b="1">
                <a:latin typeface="Calibri"/>
                <a:cs typeface="Calibri"/>
              </a:rPr>
              <a:t>key: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spc="-25">
                <a:latin typeface="Calibri"/>
                <a:cs typeface="Calibri"/>
              </a:rPr>
              <a:t>Two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rows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can’t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same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value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must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every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35">
                <a:latin typeface="Calibri"/>
                <a:cs typeface="Calibri"/>
              </a:rPr>
              <a:t>key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value.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field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cannot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null.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value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never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modified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or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updated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 foreign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 </a:t>
            </a:r>
            <a:r>
              <a:rPr dirty="0" sz="2150" spc="-25">
                <a:latin typeface="Calibri"/>
                <a:cs typeface="Calibri"/>
              </a:rPr>
              <a:t>refers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05327" y="5817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08410" y="5817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51869" y="5817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79235" y="58178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444" y="1092453"/>
            <a:ext cx="1200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Primary</a:t>
            </a:r>
            <a:r>
              <a:rPr dirty="0" sz="18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02154" y="6373545"/>
            <a:ext cx="87820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4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09423" y="6373545"/>
            <a:ext cx="40322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43824" y="6373545"/>
            <a:ext cx="419100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32630" y="1366773"/>
            <a:ext cx="1002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Customers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925" rIns="0" bIns="0" rtlCol="0" vert="horz">
            <a:spAutoFit/>
          </a:bodyPr>
          <a:lstStyle/>
          <a:p>
            <a:pPr marL="39941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Primary</a:t>
            </a:r>
            <a:r>
              <a:rPr dirty="0" sz="2400" spc="-95"/>
              <a:t> </a:t>
            </a:r>
            <a:r>
              <a:rPr dirty="0" sz="2400" spc="-25"/>
              <a:t>Key</a:t>
            </a:r>
            <a:endParaRPr sz="24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434" y="997295"/>
            <a:ext cx="7921540" cy="51291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925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Foreign</a:t>
            </a:r>
            <a:r>
              <a:rPr dirty="0" sz="2400" spc="-55"/>
              <a:t> </a:t>
            </a:r>
            <a:r>
              <a:rPr dirty="0" sz="2400" spc="-25"/>
              <a:t>Key</a:t>
            </a:r>
            <a:endParaRPr sz="2400"/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6373545"/>
            <a:ext cx="76517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12/23/2024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02154" y="6373545"/>
            <a:ext cx="87820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4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09423" y="6373545"/>
            <a:ext cx="403225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43824" y="6373545"/>
            <a:ext cx="419100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565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Alternate</a:t>
            </a:r>
            <a:r>
              <a:rPr dirty="0" spc="-165"/>
              <a:t> </a:t>
            </a:r>
            <a:r>
              <a:rPr dirty="0" spc="-25"/>
              <a:t>key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312432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274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708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98235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65997" y="6461252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128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15949"/>
            <a:ext cx="8091805" cy="211963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 spc="-10">
                <a:latin typeface="Calibri"/>
                <a:cs typeface="Calibri"/>
              </a:rPr>
              <a:t>ALTERNATE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group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that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every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row</a:t>
            </a:r>
            <a:r>
              <a:rPr dirty="0" sz="2150" spc="1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1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multiple </a:t>
            </a:r>
            <a:r>
              <a:rPr dirty="0" sz="2150">
                <a:latin typeface="Calibri"/>
                <a:cs typeface="Calibri"/>
              </a:rPr>
              <a:t>choices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but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2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2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primary </a:t>
            </a:r>
            <a:r>
              <a:rPr dirty="0" sz="2150" spc="-20">
                <a:latin typeface="Calibri"/>
                <a:cs typeface="Calibri"/>
              </a:rPr>
              <a:t>key.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Alternate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  <a:p>
            <a:pPr marL="928369">
              <a:lnSpc>
                <a:spcPct val="100000"/>
              </a:lnSpc>
              <a:spcBef>
                <a:spcPts val="700"/>
              </a:spcBef>
            </a:pPr>
            <a:r>
              <a:rPr dirty="0" sz="2150" spc="-10">
                <a:latin typeface="Calibri"/>
                <a:cs typeface="Calibri"/>
              </a:rPr>
              <a:t>Example: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4884546"/>
            <a:ext cx="8079105" cy="1020444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just" marL="355600" marR="5080" indent="-342900">
              <a:lnSpc>
                <a:spcPct val="101899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table,</a:t>
            </a:r>
            <a:r>
              <a:rPr dirty="0" sz="2150" spc="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StudID,</a:t>
            </a:r>
            <a:r>
              <a:rPr dirty="0" sz="2150" spc="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Roll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No,</a:t>
            </a:r>
            <a:r>
              <a:rPr dirty="0" sz="2150" spc="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Email</a:t>
            </a:r>
            <a:r>
              <a:rPr dirty="0" sz="2150" spc="5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qualified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become</a:t>
            </a:r>
            <a:r>
              <a:rPr dirty="0" sz="2150" spc="229">
                <a:latin typeface="Calibri"/>
                <a:cs typeface="Calibri"/>
              </a:rPr>
              <a:t>  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key.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But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since</a:t>
            </a:r>
            <a:r>
              <a:rPr dirty="0" sz="2150" spc="5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StudID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key,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Roll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No,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Email </a:t>
            </a:r>
            <a:r>
              <a:rPr dirty="0" sz="2150">
                <a:latin typeface="Calibri"/>
                <a:cs typeface="Calibri"/>
              </a:rPr>
              <a:t>becomes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alternative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435100" y="3344290"/>
          <a:ext cx="6813550" cy="1482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847850"/>
              </a:tblGrid>
              <a:tr h="37084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r>
                        <a:rPr dirty="0" sz="180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1800" spc="-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LastName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Tom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Price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abc@gmail.com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Nick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Wright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xyz@gmail.com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Dana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Natan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mno@yahoo.com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803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Candidate</a:t>
            </a:r>
            <a:r>
              <a:rPr dirty="0" spc="-105"/>
              <a:t> </a:t>
            </a:r>
            <a:r>
              <a:rPr dirty="0" spc="-25"/>
              <a:t>Key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129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15949"/>
            <a:ext cx="8084820" cy="211963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SQL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identify </a:t>
            </a:r>
            <a:r>
              <a:rPr dirty="0" sz="2150">
                <a:latin typeface="Calibri"/>
                <a:cs typeface="Calibri"/>
              </a:rPr>
              <a:t>tuples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super</a:t>
            </a:r>
            <a:r>
              <a:rPr dirty="0" sz="2150" spc="4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repeated </a:t>
            </a:r>
            <a:r>
              <a:rPr dirty="0" sz="2150">
                <a:latin typeface="Calibri"/>
                <a:cs typeface="Calibri"/>
              </a:rPr>
              <a:t>attributes.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3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should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selected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candidate </a:t>
            </a:r>
            <a:r>
              <a:rPr dirty="0" sz="2150">
                <a:latin typeface="Calibri"/>
                <a:cs typeface="Calibri"/>
              </a:rPr>
              <a:t>keys.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Every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must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least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single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multiple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keys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but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single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  <a:p>
            <a:pPr marL="928369">
              <a:lnSpc>
                <a:spcPct val="100000"/>
              </a:lnSpc>
              <a:spcBef>
                <a:spcPts val="700"/>
              </a:spcBef>
            </a:pPr>
            <a:r>
              <a:rPr dirty="0" sz="2150" spc="-10">
                <a:latin typeface="Calibri"/>
                <a:cs typeface="Calibri"/>
              </a:rPr>
              <a:t>Example: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4884546"/>
            <a:ext cx="8079740" cy="144653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just" marL="355600" marR="5080" indent="-342900">
              <a:lnSpc>
                <a:spcPct val="101899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Example: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given</a:t>
            </a:r>
            <a:r>
              <a:rPr dirty="0" sz="2150" spc="5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</a:t>
            </a:r>
            <a:r>
              <a:rPr dirty="0" sz="2150" spc="5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ID,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Roll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No,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>
                <a:latin typeface="Calibri"/>
                <a:cs typeface="Calibri"/>
              </a:rPr>
              <a:t>email</a:t>
            </a:r>
            <a:r>
              <a:rPr dirty="0" sz="2150" spc="5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5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help</a:t>
            </a:r>
            <a:r>
              <a:rPr dirty="0" sz="2150" spc="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us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3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marL="2447925">
              <a:lnSpc>
                <a:spcPct val="100000"/>
              </a:lnSpc>
              <a:spcBef>
                <a:spcPts val="1914"/>
              </a:spcBef>
              <a:tabLst>
                <a:tab pos="3453129" algn="l"/>
                <a:tab pos="3997325" algn="l"/>
                <a:tab pos="4926330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435100" y="3272282"/>
          <a:ext cx="6809105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843404"/>
              </a:tblGrid>
              <a:tr h="37020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r>
                        <a:rPr dirty="0" sz="18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1800" spc="-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LastName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Tom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Price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abc@gmail.com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Nick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Wright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xyz@gmail.com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Dana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Natan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u="sng" sz="18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mno@yahoo.com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272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Candidate</a:t>
            </a:r>
            <a:r>
              <a:rPr dirty="0" spc="-140"/>
              <a:t> </a:t>
            </a:r>
            <a:r>
              <a:rPr dirty="0"/>
              <a:t>Key</a:t>
            </a:r>
            <a:r>
              <a:rPr dirty="0" spc="-114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966291"/>
            <a:ext cx="6497955" cy="24733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2150" b="1">
                <a:latin typeface="Calibri"/>
                <a:cs typeface="Calibri"/>
              </a:rPr>
              <a:t>Properties</a:t>
            </a:r>
            <a:r>
              <a:rPr dirty="0" sz="2150" spc="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of</a:t>
            </a:r>
            <a:r>
              <a:rPr dirty="0" sz="2150" spc="1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Candidate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 spc="-20" b="1">
                <a:latin typeface="Calibri"/>
                <a:cs typeface="Calibri"/>
              </a:rPr>
              <a:t>key: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must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contain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values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Candidate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SQL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multiple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attributes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Must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 contain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null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values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should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contain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minimum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fields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ensure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uniqueness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4044" y="3429000"/>
            <a:ext cx="7059168" cy="28575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048126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51210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94669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22035" y="64655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130</a:t>
            </a:fld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286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Foreign</a:t>
            </a:r>
            <a:r>
              <a:rPr dirty="0" spc="-114"/>
              <a:t> </a:t>
            </a:r>
            <a:r>
              <a:rPr dirty="0" spc="-25"/>
              <a:t>key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3048126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51210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94669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22035" y="64655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130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971803"/>
            <a:ext cx="8084184" cy="211963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5080" indent="-342900">
              <a:lnSpc>
                <a:spcPct val="103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FOREIGN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creates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two </a:t>
            </a:r>
            <a:r>
              <a:rPr dirty="0" sz="2150">
                <a:latin typeface="Calibri"/>
                <a:cs typeface="Calibri"/>
              </a:rPr>
              <a:t>tables.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purpose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Foreign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maintain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integrity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>
                <a:latin typeface="Calibri"/>
                <a:cs typeface="Calibri"/>
              </a:rPr>
              <a:t>allow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navigation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different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instances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entity.</a:t>
            </a:r>
            <a:r>
              <a:rPr dirty="0" sz="2150" spc="47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It </a:t>
            </a:r>
            <a:r>
              <a:rPr dirty="0" sz="2150">
                <a:latin typeface="Calibri"/>
                <a:cs typeface="Calibri"/>
              </a:rPr>
              <a:t>acts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cross-</a:t>
            </a:r>
            <a:r>
              <a:rPr dirty="0" sz="2150">
                <a:latin typeface="Calibri"/>
                <a:cs typeface="Calibri"/>
              </a:rPr>
              <a:t>reference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references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another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marL="928369">
              <a:lnSpc>
                <a:spcPct val="100000"/>
              </a:lnSpc>
              <a:spcBef>
                <a:spcPts val="695"/>
              </a:spcBef>
            </a:pPr>
            <a:r>
              <a:rPr dirty="0" sz="2150" spc="-10">
                <a:latin typeface="Calibri"/>
                <a:cs typeface="Calibri"/>
              </a:rPr>
              <a:t>Example:</a:t>
            </a:r>
            <a:endParaRPr sz="215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435100" y="3209417"/>
          <a:ext cx="6184900" cy="14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</a:tblGrid>
              <a:tr h="365760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DeptCode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DeptName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Science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005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Computer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435100" y="4795646"/>
          <a:ext cx="6184900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2032000"/>
                <a:gridCol w="2032000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dirty="0" sz="1800" spc="-8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David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Warner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Sara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Joseph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Mike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Brunton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659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Foreign</a:t>
            </a:r>
            <a:r>
              <a:rPr dirty="0" spc="-180"/>
              <a:t> </a:t>
            </a:r>
            <a:r>
              <a:rPr dirty="0"/>
              <a:t>key</a:t>
            </a:r>
            <a:r>
              <a:rPr dirty="0" spc="-120"/>
              <a:t> </a:t>
            </a:r>
            <a:r>
              <a:rPr dirty="0" spc="-10"/>
              <a:t>(contd..)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132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85418"/>
            <a:ext cx="8089900" cy="216408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5080" indent="-342900">
              <a:lnSpc>
                <a:spcPct val="103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tables,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teacher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department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school.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However,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way</a:t>
            </a:r>
            <a:r>
              <a:rPr dirty="0" sz="2150" spc="4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see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teacher</a:t>
            </a:r>
            <a:r>
              <a:rPr dirty="0" sz="2150" spc="4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work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in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department.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8255" indent="-342900">
              <a:lnSpc>
                <a:spcPct val="1047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table,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adding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foreign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Deptcode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90">
                <a:latin typeface="Calibri"/>
                <a:cs typeface="Calibri"/>
              </a:rPr>
              <a:t>  </a:t>
            </a:r>
            <a:r>
              <a:rPr dirty="0" sz="2150" spc="-35">
                <a:latin typeface="Calibri"/>
                <a:cs typeface="Calibri"/>
              </a:rPr>
              <a:t>Teacher,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we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 a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5434990"/>
            <a:ext cx="597027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also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known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Referential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Integrity.</a:t>
            </a:r>
            <a:endParaRPr sz="215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416558" y="3761740"/>
          <a:ext cx="6184900" cy="1482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dirty="0" sz="1800" spc="-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DeptCode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David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Warner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Sara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Joseph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Mike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Brunton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3048126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51210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94669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22035" y="61226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23185">
              <a:lnSpc>
                <a:spcPct val="100000"/>
              </a:lnSpc>
              <a:spcBef>
                <a:spcPts val="100"/>
              </a:spcBef>
            </a:pPr>
            <a:r>
              <a:rPr dirty="0"/>
              <a:t>Compound</a:t>
            </a:r>
            <a:r>
              <a:rPr dirty="0" spc="-130"/>
              <a:t> </a:t>
            </a:r>
            <a:r>
              <a:rPr dirty="0" spc="-25"/>
              <a:t>key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30200" y="807846"/>
            <a:ext cx="8503920" cy="102870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COMPOUND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has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allow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uniquely </a:t>
            </a:r>
            <a:r>
              <a:rPr dirty="0" sz="2150">
                <a:latin typeface="Calibri"/>
                <a:cs typeface="Calibri"/>
              </a:rPr>
              <a:t>recognize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specific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record.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possible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column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 spc="30">
                <a:latin typeface="Calibri"/>
                <a:cs typeface="Calibri"/>
              </a:rPr>
              <a:t>be </a:t>
            </a:r>
            <a:r>
              <a:rPr dirty="0" sz="2150">
                <a:latin typeface="Calibri"/>
                <a:cs typeface="Calibri"/>
              </a:rPr>
              <a:t>unique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itself</a:t>
            </a:r>
            <a:r>
              <a:rPr dirty="0" sz="2150" spc="36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within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database.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However,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combined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with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86785" y="1821561"/>
            <a:ext cx="584771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209" algn="l"/>
                <a:tab pos="1520190" algn="l"/>
                <a:tab pos="2061210" algn="l"/>
                <a:tab pos="3627754" algn="l"/>
                <a:tab pos="4013200" algn="l"/>
                <a:tab pos="5356225" algn="l"/>
              </a:tabLst>
            </a:pPr>
            <a:r>
              <a:rPr dirty="0" sz="2150" spc="-25">
                <a:latin typeface="Calibri"/>
                <a:cs typeface="Calibri"/>
              </a:rPr>
              <a:t>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columns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combination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composite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keys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3100" y="1821561"/>
            <a:ext cx="2176145" cy="110617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25"/>
              </a:spcBef>
              <a:tabLst>
                <a:tab pos="547370" algn="l"/>
                <a:tab pos="1322705" algn="l"/>
              </a:tabLst>
            </a:pP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other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column </a:t>
            </a:r>
            <a:r>
              <a:rPr dirty="0" sz="2150">
                <a:latin typeface="Calibri"/>
                <a:cs typeface="Calibri"/>
              </a:rPr>
              <a:t>become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unique.</a:t>
            </a:r>
            <a:endParaRPr sz="2150">
              <a:latin typeface="Calibri"/>
              <a:cs typeface="Calibri"/>
            </a:endParaRPr>
          </a:p>
          <a:p>
            <a:pPr marL="585470">
              <a:lnSpc>
                <a:spcPct val="100000"/>
              </a:lnSpc>
              <a:spcBef>
                <a:spcPts val="695"/>
              </a:spcBef>
            </a:pPr>
            <a:r>
              <a:rPr dirty="0" sz="2150" spc="-10">
                <a:latin typeface="Calibri"/>
                <a:cs typeface="Calibri"/>
              </a:rPr>
              <a:t>Example: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0200" y="5374944"/>
            <a:ext cx="8492490" cy="126111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355600" marR="5080" indent="-342900">
              <a:lnSpc>
                <a:spcPct val="103099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OrderNo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ProductID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can’t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it </a:t>
            </a:r>
            <a:r>
              <a:rPr dirty="0" sz="2150">
                <a:latin typeface="Calibri"/>
                <a:cs typeface="Calibri"/>
              </a:rPr>
              <a:t>does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record.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30">
                <a:latin typeface="Calibri"/>
                <a:cs typeface="Calibri"/>
              </a:rPr>
              <a:t>However,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compound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Order </a:t>
            </a:r>
            <a:r>
              <a:rPr dirty="0" sz="2150">
                <a:latin typeface="Calibri"/>
                <a:cs typeface="Calibri"/>
              </a:rPr>
              <a:t>No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Product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could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identified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record.</a:t>
            </a:r>
            <a:endParaRPr sz="2150">
              <a:latin typeface="Calibri"/>
              <a:cs typeface="Calibri"/>
            </a:endParaRPr>
          </a:p>
          <a:p>
            <a:pPr marL="2959100">
              <a:lnSpc>
                <a:spcPct val="100000"/>
              </a:lnSpc>
              <a:spcBef>
                <a:spcPts val="390"/>
              </a:spcBef>
              <a:tabLst>
                <a:tab pos="3961765" algn="l"/>
                <a:tab pos="4505325" algn="l"/>
                <a:tab pos="5433060" algn="l"/>
                <a:tab pos="8047990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baseline="2314" sz="1800" spc="-37">
                <a:solidFill>
                  <a:srgbClr val="878787"/>
                </a:solidFill>
                <a:latin typeface="Calibri"/>
                <a:cs typeface="Calibri"/>
              </a:rPr>
              <a:t>133</a:t>
            </a:r>
            <a:endParaRPr baseline="2314" sz="180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511300" y="2940430"/>
          <a:ext cx="6185535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1528445"/>
                <a:gridCol w="1728470"/>
                <a:gridCol w="1315719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PorductID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800" spc="-1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Quantity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JAP102459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Mouse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DKT321573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USB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OMG446789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LCD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Monitor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DKT321573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USB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B002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OMG446789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Laser</a:t>
                      </a:r>
                      <a:r>
                        <a:rPr dirty="0" sz="18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Printer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51760">
              <a:lnSpc>
                <a:spcPct val="100000"/>
              </a:lnSpc>
              <a:spcBef>
                <a:spcPts val="100"/>
              </a:spcBef>
            </a:pPr>
            <a:r>
              <a:rPr dirty="0"/>
              <a:t>Composite</a:t>
            </a:r>
            <a:r>
              <a:rPr dirty="0" spc="-130"/>
              <a:t> </a:t>
            </a:r>
            <a:r>
              <a:rPr dirty="0" spc="-25"/>
              <a:t>key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591513"/>
            <a:ext cx="8086725" cy="317182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6350" indent="-342900">
              <a:lnSpc>
                <a:spcPct val="103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combination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5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columns</a:t>
            </a:r>
            <a:r>
              <a:rPr dirty="0" sz="2150" spc="50">
                <a:latin typeface="Calibri"/>
                <a:cs typeface="Calibri"/>
              </a:rPr>
              <a:t>  </a:t>
            </a:r>
            <a:r>
              <a:rPr dirty="0" sz="2150" spc="-20">
                <a:latin typeface="Calibri"/>
                <a:cs typeface="Calibri"/>
              </a:rPr>
              <a:t>that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rows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combination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columns </a:t>
            </a:r>
            <a:r>
              <a:rPr dirty="0" sz="2150">
                <a:latin typeface="Calibri"/>
                <a:cs typeface="Calibri"/>
              </a:rPr>
              <a:t>guarantees</a:t>
            </a:r>
            <a:r>
              <a:rPr dirty="0" sz="2150" spc="3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uniqueness,</a:t>
            </a:r>
            <a:r>
              <a:rPr dirty="0" sz="2150" spc="3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though</a:t>
            </a:r>
            <a:r>
              <a:rPr dirty="0" sz="2150" spc="3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individually</a:t>
            </a:r>
            <a:r>
              <a:rPr dirty="0" sz="2150" spc="31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uniqueness</a:t>
            </a:r>
            <a:r>
              <a:rPr dirty="0" sz="2150" spc="3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2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not </a:t>
            </a:r>
            <a:r>
              <a:rPr dirty="0" sz="2150">
                <a:latin typeface="Calibri"/>
                <a:cs typeface="Calibri"/>
              </a:rPr>
              <a:t>guaranteed.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Hence,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they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combined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records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18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difference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compound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that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compound</a:t>
            </a:r>
            <a:r>
              <a:rPr dirty="0" sz="2150" spc="14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1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foreign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key,</a:t>
            </a:r>
            <a:r>
              <a:rPr dirty="0" sz="2150" spc="1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but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maybe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 of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foreign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85745" y="5970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88829" y="5970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32288" y="5970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59654" y="59702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027669" y="62750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134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37485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Surrogate</a:t>
            </a:r>
            <a:r>
              <a:rPr dirty="0" spc="-110"/>
              <a:t> </a:t>
            </a:r>
            <a:r>
              <a:rPr dirty="0" spc="-25"/>
              <a:t>key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99133"/>
            <a:ext cx="8074659" cy="4133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spc="-10">
                <a:latin typeface="Calibri"/>
                <a:cs typeface="Calibri"/>
              </a:rPr>
              <a:t>SURROGATE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KEYS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artificial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aims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identify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surrogate</a:t>
            </a:r>
            <a:r>
              <a:rPr dirty="0" sz="215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  <a:p>
            <a:pPr marL="355600" marR="76835" indent="-342900">
              <a:lnSpc>
                <a:spcPct val="101899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kind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partial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40">
                <a:latin typeface="Calibri"/>
                <a:cs typeface="Calibri"/>
              </a:rPr>
              <a:t>key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because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created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when </a:t>
            </a:r>
            <a:r>
              <a:rPr dirty="0" sz="2150">
                <a:latin typeface="Calibri"/>
                <a:cs typeface="Calibri"/>
              </a:rPr>
              <a:t>you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don’t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natural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They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</a:t>
            </a:r>
            <a:r>
              <a:rPr dirty="0" sz="2150" spc="3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lend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3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meaning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25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table.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Surrogate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usually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integer.</a:t>
            </a: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  <a:tab pos="650875" algn="l"/>
                <a:tab pos="1863089" algn="l"/>
                <a:tab pos="2367280" algn="l"/>
                <a:tab pos="2672080" algn="l"/>
                <a:tab pos="2940050" algn="l"/>
                <a:tab pos="3684270" algn="l"/>
                <a:tab pos="4970780" algn="l"/>
                <a:tab pos="5638165" algn="l"/>
                <a:tab pos="6506845" algn="l"/>
                <a:tab pos="7022465" algn="l"/>
                <a:tab pos="7889875" algn="l"/>
              </a:tabLst>
            </a:pP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surrogate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key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value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generated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right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before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the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record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 </a:t>
            </a:r>
            <a:r>
              <a:rPr dirty="0" sz="2150">
                <a:latin typeface="Calibri"/>
                <a:cs typeface="Calibri"/>
              </a:rPr>
              <a:t>inserted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spc="-10">
                <a:latin typeface="Calibri"/>
                <a:cs typeface="Calibri"/>
              </a:rPr>
              <a:t>Surrogate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keys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sql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allowed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when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No property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parameter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when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too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big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10">
                <a:latin typeface="Calibri"/>
                <a:cs typeface="Calibri"/>
              </a:rPr>
              <a:t> complicated.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65997" y="6423152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135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09545" y="6351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12629" y="6351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56088" y="6351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83454" y="6351219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7485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Surrogate</a:t>
            </a:r>
            <a:r>
              <a:rPr dirty="0" spc="-55"/>
              <a:t> </a:t>
            </a:r>
            <a:r>
              <a:rPr dirty="0"/>
              <a:t>key</a:t>
            </a:r>
            <a:r>
              <a:rPr dirty="0" spc="-150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99133"/>
            <a:ext cx="1033144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>
                <a:latin typeface="Calibri"/>
                <a:cs typeface="Calibri"/>
              </a:rPr>
              <a:t>Example: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4009135"/>
            <a:ext cx="8084820" cy="102870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12700" marR="5080">
              <a:lnSpc>
                <a:spcPct val="103099"/>
              </a:lnSpc>
              <a:spcBef>
                <a:spcPts val="15"/>
              </a:spcBef>
            </a:pPr>
            <a:r>
              <a:rPr dirty="0" sz="2150">
                <a:latin typeface="Calibri"/>
                <a:cs typeface="Calibri"/>
              </a:rPr>
              <a:t>Above,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given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shown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shift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timings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different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employee.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surrogate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needed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uniquely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identify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each </a:t>
            </a:r>
            <a:r>
              <a:rPr dirty="0" sz="2150" spc="-10">
                <a:latin typeface="Calibri"/>
                <a:cs typeface="Calibri"/>
              </a:rPr>
              <a:t>employee.</a:t>
            </a:r>
            <a:endParaRPr sz="215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358900" y="1794764"/>
          <a:ext cx="6184900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Lastname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Start</a:t>
                      </a:r>
                      <a:r>
                        <a:rPr dirty="0" sz="18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End</a:t>
                      </a:r>
                      <a:r>
                        <a:rPr dirty="0" sz="1800" spc="-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Anne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09:00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Jack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Francis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08:00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17:00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Anna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McLean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20:00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Shown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Willam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23:00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2361945" y="6503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365029" y="6503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08488" y="6503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35854" y="6503619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027669" y="63512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136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3380">
              <a:lnSpc>
                <a:spcPct val="100000"/>
              </a:lnSpc>
              <a:spcBef>
                <a:spcPts val="100"/>
              </a:spcBef>
            </a:pPr>
            <a:r>
              <a:rPr dirty="0"/>
              <a:t>Difference</a:t>
            </a:r>
            <a:r>
              <a:rPr dirty="0" spc="-254"/>
              <a:t> </a:t>
            </a:r>
            <a:r>
              <a:rPr dirty="0"/>
              <a:t>b/w</a:t>
            </a:r>
            <a:r>
              <a:rPr dirty="0" spc="20"/>
              <a:t> </a:t>
            </a:r>
            <a:r>
              <a:rPr dirty="0"/>
              <a:t>Primary</a:t>
            </a:r>
            <a:r>
              <a:rPr dirty="0" spc="-100"/>
              <a:t> </a:t>
            </a:r>
            <a:r>
              <a:rPr dirty="0"/>
              <a:t>key</a:t>
            </a:r>
            <a:r>
              <a:rPr dirty="0" spc="-145"/>
              <a:t> </a:t>
            </a:r>
            <a:r>
              <a:rPr dirty="0"/>
              <a:t>&amp;</a:t>
            </a:r>
            <a:r>
              <a:rPr dirty="0" spc="10"/>
              <a:t> </a:t>
            </a:r>
            <a:r>
              <a:rPr dirty="0" spc="-10"/>
              <a:t>Foreign</a:t>
            </a:r>
            <a:r>
              <a:rPr dirty="0" spc="-155"/>
              <a:t> </a:t>
            </a:r>
            <a:r>
              <a:rPr dirty="0" spc="-25"/>
              <a:t>key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12432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1274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708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98235" y="6389319"/>
            <a:ext cx="416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137</a:t>
            </a:fld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44500" y="1112011"/>
          <a:ext cx="8318500" cy="5026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9283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8415">
                        <a:lnSpc>
                          <a:spcPct val="100000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18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928369">
                <a:tc>
                  <a:txBody>
                    <a:bodyPr/>
                    <a:lstStyle/>
                    <a:p>
                      <a:pPr marL="90805" marR="197485">
                        <a:lnSpc>
                          <a:spcPct val="101099"/>
                        </a:lnSpc>
                        <a:spcBef>
                          <a:spcPts val="116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Helps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uniquely</a:t>
                      </a:r>
                      <a:r>
                        <a:rPr dirty="0" sz="180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identify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record</a:t>
                      </a:r>
                      <a:r>
                        <a:rPr dirty="0" sz="18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in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table.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47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180975">
                        <a:lnSpc>
                          <a:spcPct val="101099"/>
                        </a:lnSpc>
                        <a:spcBef>
                          <a:spcPts val="116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 field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primary key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another</a:t>
                      </a:r>
                      <a:r>
                        <a:rPr dirty="0" sz="18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table.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473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9283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never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accept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null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values.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464184">
                        <a:lnSpc>
                          <a:spcPct val="101099"/>
                        </a:lnSpc>
                        <a:spcBef>
                          <a:spcPts val="11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18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may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accept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multiple</a:t>
                      </a:r>
                      <a:r>
                        <a:rPr dirty="0" sz="1800" spc="-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null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values.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  <a:tr h="1312545">
                <a:tc>
                  <a:txBody>
                    <a:bodyPr/>
                    <a:lstStyle/>
                    <a:p>
                      <a:pPr marL="90805" marR="95250">
                        <a:lnSpc>
                          <a:spcPct val="101200"/>
                        </a:lnSpc>
                        <a:spcBef>
                          <a:spcPts val="1689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clustered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index</a:t>
                      </a:r>
                      <a:r>
                        <a:rPr dirty="0" sz="18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DBMS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physically</a:t>
                      </a:r>
                      <a:r>
                        <a:rPr dirty="0" sz="1800" spc="-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organized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sequence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clustered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index.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46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160020">
                        <a:lnSpc>
                          <a:spcPct val="101099"/>
                        </a:lnSpc>
                        <a:spcBef>
                          <a:spcPts val="5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18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cannot</a:t>
                      </a:r>
                      <a:r>
                        <a:rPr dirty="0" sz="18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automatically</a:t>
                      </a:r>
                      <a:r>
                        <a:rPr dirty="0" sz="1800" spc="-1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create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index,</a:t>
                      </a:r>
                      <a:r>
                        <a:rPr dirty="0" sz="18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clustered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8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clustered.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However,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 you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8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manually</a:t>
                      </a:r>
                      <a:r>
                        <a:rPr dirty="0" sz="1800" spc="-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an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index</a:t>
                      </a:r>
                      <a:r>
                        <a:rPr dirty="0" sz="18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foreign</a:t>
                      </a:r>
                      <a:r>
                        <a:rPr dirty="0" sz="18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key.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  <a:tr h="928369">
                <a:tc>
                  <a:txBody>
                    <a:bodyPr/>
                    <a:lstStyle/>
                    <a:p>
                      <a:pPr marL="90805" marR="333375">
                        <a:lnSpc>
                          <a:spcPct val="101099"/>
                        </a:lnSpc>
                        <a:spcBef>
                          <a:spcPts val="120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8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18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Primary</a:t>
                      </a:r>
                      <a:r>
                        <a:rPr dirty="0" sz="18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table.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434340">
                        <a:lnSpc>
                          <a:spcPct val="101099"/>
                        </a:lnSpc>
                        <a:spcBef>
                          <a:spcPts val="120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8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18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multiple</a:t>
                      </a:r>
                      <a:r>
                        <a:rPr dirty="0" sz="18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foreign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keys in</a:t>
                      </a:r>
                      <a:r>
                        <a:rPr dirty="0"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table.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04820">
              <a:lnSpc>
                <a:spcPct val="100000"/>
              </a:lnSpc>
              <a:spcBef>
                <a:spcPts val="100"/>
              </a:spcBef>
            </a:pPr>
            <a:r>
              <a:rPr dirty="0"/>
              <a:t>Short</a:t>
            </a:r>
            <a:r>
              <a:rPr dirty="0" spc="-70"/>
              <a:t> </a:t>
            </a:r>
            <a:r>
              <a:rPr dirty="0" spc="-20"/>
              <a:t>Quiz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438145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12054" y="63893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138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63016" y="1261617"/>
            <a:ext cx="6839584" cy="49536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443230">
              <a:lnSpc>
                <a:spcPct val="101099"/>
              </a:lnSpc>
              <a:spcBef>
                <a:spcPts val="75"/>
              </a:spcBef>
            </a:pPr>
            <a:r>
              <a:rPr dirty="0" sz="1800">
                <a:latin typeface="Calibri"/>
                <a:cs typeface="Calibri"/>
              </a:rPr>
              <a:t>Q.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Given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basic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ER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relational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models,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following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is </a:t>
            </a:r>
            <a:r>
              <a:rPr dirty="0" sz="1800" spc="-10">
                <a:latin typeface="Calibri"/>
                <a:cs typeface="Calibri"/>
              </a:rPr>
              <a:t>INCORRECT?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800" spc="-20">
                <a:latin typeface="Calibri"/>
                <a:cs typeface="Calibri"/>
              </a:rPr>
              <a:t>answer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choices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30"/>
              </a:lnSpc>
              <a:buAutoNum type="arabicPeriod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attribute</a:t>
            </a:r>
            <a:r>
              <a:rPr dirty="0" sz="1800" spc="-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 entity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can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have</a:t>
            </a:r>
            <a:r>
              <a:rPr dirty="0" sz="1800" spc="-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value.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15"/>
              </a:lnSpc>
              <a:buAutoNum type="arabicPeriod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attribute</a:t>
            </a:r>
            <a:r>
              <a:rPr dirty="0" sz="1800" spc="-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entity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composite.</a:t>
            </a:r>
            <a:endParaRPr sz="1800">
              <a:latin typeface="Calibri"/>
              <a:cs typeface="Calibri"/>
            </a:endParaRPr>
          </a:p>
          <a:p>
            <a:pPr marL="355600" marR="394970" indent="-342900">
              <a:lnSpc>
                <a:spcPts val="2200"/>
              </a:lnSpc>
              <a:spcBef>
                <a:spcPts val="25"/>
              </a:spcBef>
              <a:buAutoNum type="arabicPeriod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10">
                <a:latin typeface="Calibri"/>
                <a:cs typeface="Calibri"/>
              </a:rPr>
              <a:t>row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relational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table,</a:t>
            </a:r>
            <a:r>
              <a:rPr dirty="0" sz="1800" spc="-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attribute</a:t>
            </a:r>
            <a:r>
              <a:rPr dirty="0" sz="1800" spc="-1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have</a:t>
            </a:r>
            <a:r>
              <a:rPr dirty="0" sz="1800" spc="-1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one </a:t>
            </a:r>
            <a:r>
              <a:rPr dirty="0" sz="1800" spc="-10">
                <a:latin typeface="Calibri"/>
                <a:cs typeface="Calibri"/>
              </a:rPr>
              <a:t>value.</a:t>
            </a:r>
            <a:endParaRPr sz="1800">
              <a:latin typeface="Calibri"/>
              <a:cs typeface="Calibri"/>
            </a:endParaRPr>
          </a:p>
          <a:p>
            <a:pPr marL="355600" marR="56515" indent="-342900">
              <a:lnSpc>
                <a:spcPts val="2160"/>
              </a:lnSpc>
              <a:spcBef>
                <a:spcPts val="10"/>
              </a:spcBef>
              <a:buAutoNum type="arabicPeriod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row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relationaltable,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attribute</a:t>
            </a:r>
            <a:r>
              <a:rPr dirty="0" sz="1800" spc="-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have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exactly</a:t>
            </a:r>
            <a:r>
              <a:rPr dirty="0" sz="1800" spc="-1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one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value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NULL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value.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0800"/>
              </a:lnSpc>
              <a:spcBef>
                <a:spcPts val="1905"/>
              </a:spcBef>
            </a:pPr>
            <a:r>
              <a:rPr dirty="0" sz="1800">
                <a:latin typeface="Calibri"/>
                <a:cs typeface="Calibri"/>
              </a:rPr>
              <a:t>Q.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 entity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exist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unless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another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type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entity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also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exists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database, but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does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require that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identifier</a:t>
            </a:r>
            <a:r>
              <a:rPr dirty="0" sz="1800" spc="-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entity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included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part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own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identifier?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30"/>
              </a:lnSpc>
              <a:spcBef>
                <a:spcPts val="5"/>
              </a:spcBef>
              <a:buAutoNum type="arabicPeriod"/>
              <a:tabLst>
                <a:tab pos="354965" algn="l"/>
              </a:tabLst>
            </a:pPr>
            <a:r>
              <a:rPr dirty="0" sz="1800" spc="-30" b="1">
                <a:latin typeface="Calibri"/>
                <a:cs typeface="Calibri"/>
              </a:rPr>
              <a:t>Weak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entity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30"/>
              </a:lnSpc>
              <a:buAutoNum type="arabicPeriod"/>
              <a:tabLst>
                <a:tab pos="354965" algn="l"/>
              </a:tabLst>
            </a:pPr>
            <a:r>
              <a:rPr dirty="0" sz="1800" spc="-20">
                <a:latin typeface="Calibri"/>
                <a:cs typeface="Calibri"/>
              </a:rPr>
              <a:t>Strong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entity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800" spc="-20">
                <a:latin typeface="Calibri"/>
                <a:cs typeface="Calibri"/>
              </a:rPr>
              <a:t>ID-</a:t>
            </a:r>
            <a:r>
              <a:rPr dirty="0" sz="1800">
                <a:latin typeface="Calibri"/>
                <a:cs typeface="Calibri"/>
              </a:rPr>
              <a:t>dependent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entity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ID-</a:t>
            </a:r>
            <a:r>
              <a:rPr dirty="0" sz="1800" spc="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independent</a:t>
            </a:r>
            <a:r>
              <a:rPr dirty="0" sz="1800" spc="-1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entity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89557" y="184150"/>
            <a:ext cx="722058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98010" algn="l"/>
              </a:tabLst>
            </a:pPr>
            <a:r>
              <a:rPr dirty="0" sz="2400" spc="-10"/>
              <a:t>Generalization,</a:t>
            </a:r>
            <a:r>
              <a:rPr dirty="0" sz="2400" spc="-140"/>
              <a:t> </a:t>
            </a:r>
            <a:r>
              <a:rPr dirty="0" sz="2400" spc="-10"/>
              <a:t>Specialization</a:t>
            </a:r>
            <a:r>
              <a:rPr dirty="0" sz="2400" spc="-140"/>
              <a:t> </a:t>
            </a:r>
            <a:r>
              <a:rPr dirty="0" sz="2400" spc="-25"/>
              <a:t>and</a:t>
            </a:r>
            <a:r>
              <a:rPr dirty="0" sz="2400"/>
              <a:t>	</a:t>
            </a:r>
            <a:r>
              <a:rPr dirty="0" sz="2400" spc="-10"/>
              <a:t>Aggregation</a:t>
            </a:r>
            <a:r>
              <a:rPr dirty="0" sz="2400" spc="-75"/>
              <a:t> </a:t>
            </a:r>
            <a:r>
              <a:rPr dirty="0" sz="2400" spc="-10"/>
              <a:t>Objective</a:t>
            </a:r>
            <a:endParaRPr sz="2400"/>
          </a:p>
        </p:txBody>
      </p:sp>
      <p:sp>
        <p:nvSpPr>
          <p:cNvPr id="7" name="object 7" descr=""/>
          <p:cNvSpPr txBox="1"/>
          <p:nvPr/>
        </p:nvSpPr>
        <p:spPr>
          <a:xfrm>
            <a:off x="716686" y="5882436"/>
            <a:ext cx="6828790" cy="280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inherited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lower-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Student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5">
                <a:latin typeface="Calibri"/>
                <a:cs typeface="Calibri"/>
              </a:rPr>
              <a:t>Teacher.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85745" y="63131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88829" y="63131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32288" y="63131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759654" y="6313119"/>
            <a:ext cx="4171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180069" y="63893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139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7962" y="1848357"/>
            <a:ext cx="8511540" cy="399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8630" marR="9525" indent="-4565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Generalization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establishing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relationships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tables,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common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attributes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identified.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makes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structuring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simpler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easy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identify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	relevant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attributes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468630" marR="6350" indent="-456565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Specialization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defining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subclasses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type.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Also,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establishing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extra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attributes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subclasses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added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subclass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types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subclasses.</a:t>
            </a:r>
            <a:endParaRPr sz="2000">
              <a:latin typeface="Calibri"/>
              <a:cs typeface="Calibri"/>
            </a:endParaRPr>
          </a:p>
          <a:p>
            <a:pPr algn="just" marL="468630" marR="5080" indent="-456565">
              <a:lnSpc>
                <a:spcPct val="100000"/>
              </a:lnSpc>
              <a:spcBef>
                <a:spcPts val="2345"/>
              </a:spcBef>
              <a:buAutoNum type="arabicPeriod"/>
              <a:tabLst>
                <a:tab pos="471170" algn="l"/>
              </a:tabLst>
            </a:pPr>
            <a:r>
              <a:rPr dirty="0" sz="2000">
                <a:latin typeface="Calibri"/>
                <a:cs typeface="Calibri"/>
              </a:rPr>
              <a:t>Inheritance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3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important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feature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Generalization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7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Specialization.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lower-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inherit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attributes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higher-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entities.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example,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attributes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Person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name,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age,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gender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5176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Generalization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103869" y="63893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48126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51210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94669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952322"/>
            <a:ext cx="8098790" cy="4767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19685" indent="-342900">
              <a:lnSpc>
                <a:spcPct val="105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Generalization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process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extracting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common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properties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from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generalized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it.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3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bottom-</a:t>
            </a:r>
            <a:r>
              <a:rPr dirty="0" sz="2150">
                <a:latin typeface="Calibri"/>
                <a:cs typeface="Calibri"/>
              </a:rPr>
              <a:t>up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approach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 spc="45">
                <a:latin typeface="Calibri"/>
                <a:cs typeface="Calibri"/>
              </a:rPr>
              <a:t>be </a:t>
            </a:r>
            <a:r>
              <a:rPr dirty="0" sz="2150">
                <a:latin typeface="Calibri"/>
                <a:cs typeface="Calibri"/>
              </a:rPr>
              <a:t>generalized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higher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level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they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some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in </a:t>
            </a:r>
            <a:r>
              <a:rPr dirty="0" sz="2150" spc="-10">
                <a:latin typeface="Calibri"/>
                <a:cs typeface="Calibri"/>
              </a:rPr>
              <a:t>common.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13462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STUDENT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 spc="-65">
                <a:latin typeface="Calibri"/>
                <a:cs typeface="Calibri"/>
              </a:rPr>
              <a:t>FACULTY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generalized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higher </a:t>
            </a:r>
            <a:r>
              <a:rPr dirty="0" sz="2150">
                <a:latin typeface="Calibri"/>
                <a:cs typeface="Calibri"/>
              </a:rPr>
              <a:t>level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called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PERSON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shown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10">
                <a:latin typeface="Calibri"/>
                <a:cs typeface="Calibri"/>
              </a:rPr>
              <a:t> Figure.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20320" indent="-342900">
              <a:lnSpc>
                <a:spcPct val="102099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case,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common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like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P_NAME,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P_ADD</a:t>
            </a:r>
            <a:r>
              <a:rPr dirty="0" sz="2150" spc="2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become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part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higher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(PERSON)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3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specialized</a:t>
            </a:r>
            <a:r>
              <a:rPr dirty="0" sz="2150" spc="1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like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S_FEE </a:t>
            </a:r>
            <a:r>
              <a:rPr dirty="0" sz="2150">
                <a:latin typeface="Calibri"/>
                <a:cs typeface="Calibri"/>
              </a:rPr>
              <a:t>become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specialized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(STUDENT).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095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Example: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5691" y="1400555"/>
            <a:ext cx="6364224" cy="452323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951469" y="63131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2432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274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708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184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Specialization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352927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56010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99469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8365997" y="6461252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312309"/>
            <a:ext cx="8093709" cy="44399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specialization,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divided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sub-entities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based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their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2150" spc="-10">
                <a:latin typeface="Calibri"/>
                <a:cs typeface="Calibri"/>
              </a:rPr>
              <a:t>characteristics.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150">
              <a:latin typeface="Calibri"/>
              <a:cs typeface="Calibri"/>
            </a:endParaRPr>
          </a:p>
          <a:p>
            <a:pPr algn="just" marL="355600" marR="81280" indent="-342900">
              <a:lnSpc>
                <a:spcPct val="1042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top-</a:t>
            </a:r>
            <a:r>
              <a:rPr dirty="0" sz="2150">
                <a:latin typeface="Calibri"/>
                <a:cs typeface="Calibri"/>
              </a:rPr>
              <a:t>down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approach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where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higher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level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specialized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more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lower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level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entities.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104139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EMPLOYEE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Employee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management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specialized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DEVELOPER,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TESTER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etc.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shown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Figure.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30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this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case,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common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like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E_NAME,</a:t>
            </a:r>
            <a:r>
              <a:rPr dirty="0" sz="2150" spc="4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E_SAL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etc.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become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higher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(EMPLOYEE)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specialized</a:t>
            </a:r>
            <a:r>
              <a:rPr dirty="0" sz="2150" spc="1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 spc="-20">
                <a:latin typeface="Calibri"/>
                <a:cs typeface="Calibri"/>
              </a:rPr>
              <a:t>like </a:t>
            </a:r>
            <a:r>
              <a:rPr dirty="0" sz="2150">
                <a:latin typeface="Calibri"/>
                <a:cs typeface="Calibri"/>
              </a:rPr>
              <a:t>TES_TYPE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become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specialized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(TESTER).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095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Example: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2683" y="1164336"/>
            <a:ext cx="5920740" cy="47685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429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7460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894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27669" y="61988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714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Aggregation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8365997" y="6461252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895934"/>
            <a:ext cx="8088630" cy="291592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just" marL="355600" marR="13335" indent="-342900">
              <a:lnSpc>
                <a:spcPct val="103099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capable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representing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between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1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17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1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required</a:t>
            </a:r>
            <a:r>
              <a:rPr dirty="0" sz="2150" spc="18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185">
                <a:latin typeface="Calibri"/>
                <a:cs typeface="Calibri"/>
              </a:rPr>
              <a:t>  </a:t>
            </a:r>
            <a:r>
              <a:rPr dirty="0" sz="2150" spc="-20">
                <a:latin typeface="Calibri"/>
                <a:cs typeface="Calibri"/>
              </a:rPr>
              <a:t>some </a:t>
            </a:r>
            <a:r>
              <a:rPr dirty="0" sz="2150" spc="-10">
                <a:latin typeface="Calibri"/>
                <a:cs typeface="Calibri"/>
              </a:rPr>
              <a:t>scenarios.</a:t>
            </a:r>
            <a:endParaRPr sz="2150">
              <a:latin typeface="Calibri"/>
              <a:cs typeface="Calibri"/>
            </a:endParaRPr>
          </a:p>
          <a:p>
            <a:pPr algn="just" marL="356235" indent="-34353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those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cases,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its</a:t>
            </a:r>
            <a:r>
              <a:rPr dirty="0" sz="2150" spc="1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corresponding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125">
                <a:latin typeface="Calibri"/>
                <a:cs typeface="Calibri"/>
              </a:rPr>
              <a:t>  </a:t>
            </a:r>
            <a:r>
              <a:rPr dirty="0" sz="2150" spc="-25"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  <a:p>
            <a:pPr algn="just" marL="355600">
              <a:lnSpc>
                <a:spcPct val="100000"/>
              </a:lnSpc>
              <a:spcBef>
                <a:spcPts val="45"/>
              </a:spcBef>
            </a:pPr>
            <a:r>
              <a:rPr dirty="0" sz="2150">
                <a:latin typeface="Calibri"/>
                <a:cs typeface="Calibri"/>
              </a:rPr>
              <a:t>aggregated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higher level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entity.</a:t>
            </a:r>
            <a:endParaRPr sz="2150">
              <a:latin typeface="Calibri"/>
              <a:cs typeface="Calibri"/>
            </a:endParaRPr>
          </a:p>
          <a:p>
            <a:pPr algn="just" marL="355600" marR="96520" indent="-342900">
              <a:lnSpc>
                <a:spcPct val="103699"/>
              </a:lnSpc>
              <a:spcBef>
                <a:spcPts val="7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Aggregation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8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9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abstraction</a:t>
            </a:r>
            <a:r>
              <a:rPr dirty="0" sz="2150" spc="11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through</a:t>
            </a:r>
            <a:r>
              <a:rPr dirty="0" sz="2150" spc="1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which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we</a:t>
            </a:r>
            <a:r>
              <a:rPr dirty="0" sz="2150" spc="9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105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represent </a:t>
            </a:r>
            <a:r>
              <a:rPr dirty="0" sz="2150">
                <a:latin typeface="Calibri"/>
                <a:cs typeface="Calibri"/>
              </a:rPr>
              <a:t>relationships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higher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level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sets.</a:t>
            </a:r>
            <a:endParaRPr sz="2150">
              <a:latin typeface="Calibri"/>
              <a:cs typeface="Calibri"/>
            </a:endParaRPr>
          </a:p>
          <a:p>
            <a:pPr algn="just" marL="356235" indent="-34353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Example,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Employee</a:t>
            </a:r>
            <a:r>
              <a:rPr dirty="0" sz="2150" spc="3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working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5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project</a:t>
            </a:r>
            <a:r>
              <a:rPr dirty="0" sz="2150" spc="5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may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require</a:t>
            </a:r>
            <a:r>
              <a:rPr dirty="0" sz="2150" spc="52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some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50591" y="3793693"/>
            <a:ext cx="566864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8890" algn="l"/>
                <a:tab pos="2862580" algn="l"/>
                <a:tab pos="3561079" algn="l"/>
                <a:tab pos="4660900" algn="l"/>
              </a:tabLst>
            </a:pPr>
            <a:r>
              <a:rPr dirty="0" sz="2150" spc="-10">
                <a:latin typeface="Calibri"/>
                <a:cs typeface="Calibri"/>
              </a:rPr>
              <a:t>REQUIRE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needed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between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79144" y="3793693"/>
            <a:ext cx="1835785" cy="68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4155" algn="l"/>
              </a:tabLst>
            </a:pPr>
            <a:r>
              <a:rPr dirty="0" sz="2150" spc="-10">
                <a:latin typeface="Calibri"/>
                <a:cs typeface="Calibri"/>
              </a:rPr>
              <a:t>machinery.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So,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150" spc="-10">
                <a:latin typeface="Calibri"/>
                <a:cs typeface="Calibri"/>
              </a:rPr>
              <a:t>relationship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10154" y="4128008"/>
            <a:ext cx="611124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68475" algn="l"/>
                <a:tab pos="2498090" algn="l"/>
                <a:tab pos="3774440" algn="l"/>
                <a:tab pos="5478145" algn="l"/>
              </a:tabLst>
            </a:pPr>
            <a:r>
              <a:rPr dirty="0" sz="2150" spc="-10">
                <a:latin typeface="Calibri"/>
                <a:cs typeface="Calibri"/>
              </a:rPr>
              <a:t>WORKS_FOR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MACHINERY.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Using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79144" y="4461764"/>
            <a:ext cx="7740650" cy="10223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just" marL="12700" marR="5080">
              <a:lnSpc>
                <a:spcPct val="102099"/>
              </a:lnSpc>
              <a:spcBef>
                <a:spcPts val="40"/>
              </a:spcBef>
            </a:pPr>
            <a:r>
              <a:rPr dirty="0" sz="2150">
                <a:latin typeface="Calibri"/>
                <a:cs typeface="Calibri"/>
              </a:rPr>
              <a:t>aggregation,</a:t>
            </a:r>
            <a:r>
              <a:rPr dirty="0" sz="2150" spc="5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WORKS_FOR</a:t>
            </a:r>
            <a:r>
              <a:rPr dirty="0" sz="2150" spc="5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its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entities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EMPLOYEE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PROJECT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0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aggregated</a:t>
            </a:r>
            <a:r>
              <a:rPr dirty="0" sz="2150" spc="204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2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single</a:t>
            </a:r>
            <a:r>
              <a:rPr dirty="0" sz="2150" spc="21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00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relationship </a:t>
            </a:r>
            <a:r>
              <a:rPr dirty="0" sz="2150">
                <a:latin typeface="Calibri"/>
                <a:cs typeface="Calibri"/>
              </a:rPr>
              <a:t>REQUIRE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created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aggregated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 and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MACHINERY.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1333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1364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6798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095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Example: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1447800"/>
            <a:ext cx="7467600" cy="44196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581527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84610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28069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26069" y="6236919"/>
            <a:ext cx="3225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9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95"/>
              </a:spcBef>
            </a:pPr>
            <a:r>
              <a:rPr dirty="0" sz="2800" spc="-20"/>
              <a:t>Reduction</a:t>
            </a:r>
            <a:r>
              <a:rPr dirty="0" sz="2800" spc="-140"/>
              <a:t> </a:t>
            </a:r>
            <a:r>
              <a:rPr dirty="0" sz="2800"/>
              <a:t>of</a:t>
            </a:r>
            <a:r>
              <a:rPr dirty="0" sz="2800" spc="-10"/>
              <a:t> </a:t>
            </a:r>
            <a:r>
              <a:rPr dirty="0" sz="2800"/>
              <a:t>an</a:t>
            </a:r>
            <a:r>
              <a:rPr dirty="0" sz="2800" spc="20"/>
              <a:t> </a:t>
            </a:r>
            <a:r>
              <a:rPr dirty="0" sz="2800"/>
              <a:t>ER</a:t>
            </a:r>
            <a:r>
              <a:rPr dirty="0" sz="2800" spc="-60"/>
              <a:t> </a:t>
            </a:r>
            <a:r>
              <a:rPr dirty="0" sz="2800" spc="-10"/>
              <a:t>diagrams</a:t>
            </a:r>
            <a:r>
              <a:rPr dirty="0" sz="2800" spc="-55"/>
              <a:t> </a:t>
            </a:r>
            <a:r>
              <a:rPr dirty="0" sz="2800"/>
              <a:t>to</a:t>
            </a:r>
            <a:r>
              <a:rPr dirty="0" sz="2800" spc="20"/>
              <a:t> </a:t>
            </a:r>
            <a:r>
              <a:rPr dirty="0" sz="2800"/>
              <a:t>tables</a:t>
            </a:r>
            <a:r>
              <a:rPr dirty="0" sz="2800" spc="80"/>
              <a:t> </a:t>
            </a:r>
            <a:r>
              <a:rPr dirty="0" sz="2800" spc="-10"/>
              <a:t>Objectives</a:t>
            </a:r>
            <a:endParaRPr sz="2800"/>
          </a:p>
        </p:txBody>
      </p:sp>
      <p:sp>
        <p:nvSpPr>
          <p:cNvPr id="11" name="object 11" descr=""/>
          <p:cNvSpPr txBox="1"/>
          <p:nvPr/>
        </p:nvSpPr>
        <p:spPr>
          <a:xfrm>
            <a:off x="3581527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84610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28069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26069" y="6236919"/>
            <a:ext cx="3225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85291" y="1576832"/>
            <a:ext cx="815911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7359" marR="5080" indent="-45529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Calibri"/>
                <a:cs typeface="Calibri"/>
              </a:rPr>
              <a:t>Mapping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(ER)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good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overview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goal</a:t>
            </a:r>
            <a:r>
              <a:rPr dirty="0" sz="2000" spc="1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making</a:t>
            </a:r>
            <a:r>
              <a:rPr dirty="0" sz="2000" spc="1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2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easier</a:t>
            </a:r>
            <a:r>
              <a:rPr dirty="0" sz="2000" spc="13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understand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technical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level.</a:t>
            </a:r>
            <a:endParaRPr sz="2000">
              <a:latin typeface="Calibri"/>
              <a:cs typeface="Calibri"/>
            </a:endParaRPr>
          </a:p>
          <a:p>
            <a:pPr marL="469900" marR="617855" indent="-457834">
              <a:lnSpc>
                <a:spcPct val="100000"/>
              </a:lnSpc>
              <a:spcBef>
                <a:spcPts val="2400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Calibri"/>
                <a:cs typeface="Calibri"/>
              </a:rPr>
              <a:t>The ER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diagrams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mapped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schema,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means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clearly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display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between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members.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5291" y="3710381"/>
            <a:ext cx="75571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  <a:tab pos="942340" algn="l"/>
                <a:tab pos="4969510" algn="l"/>
                <a:tab pos="5365750" algn="l"/>
                <a:tab pos="6095365" algn="l"/>
                <a:tab pos="6579234" algn="l"/>
              </a:tabLst>
            </a:pPr>
            <a:r>
              <a:rPr dirty="0" sz="2000" spc="-25">
                <a:latin typeface="Calibri"/>
                <a:cs typeface="Calibri"/>
              </a:rPr>
              <a:t>3.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An</a:t>
            </a:r>
            <a:r>
              <a:rPr dirty="0" sz="2000">
                <a:latin typeface="Calibri"/>
                <a:cs typeface="Calibri"/>
              </a:rPr>
              <a:t>	Entity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(ER)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Diagram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type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of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flowchart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398002" y="3710381"/>
            <a:ext cx="4476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93557" y="4015866"/>
            <a:ext cx="95059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relate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42796" y="4015866"/>
            <a:ext cx="658114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illustrates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“entities”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people,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concepts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within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9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95"/>
              </a:spcBef>
            </a:pPr>
            <a:r>
              <a:rPr dirty="0" sz="2800" spc="-20"/>
              <a:t>Reduction</a:t>
            </a:r>
            <a:r>
              <a:rPr dirty="0" sz="2800" spc="-135"/>
              <a:t> </a:t>
            </a:r>
            <a:r>
              <a:rPr dirty="0" sz="2800"/>
              <a:t>of</a:t>
            </a:r>
            <a:r>
              <a:rPr dirty="0" sz="2800" spc="-5"/>
              <a:t> </a:t>
            </a:r>
            <a:r>
              <a:rPr dirty="0" sz="2800"/>
              <a:t>an</a:t>
            </a:r>
            <a:r>
              <a:rPr dirty="0" sz="2800" spc="25"/>
              <a:t> </a:t>
            </a:r>
            <a:r>
              <a:rPr dirty="0" sz="2800"/>
              <a:t>ER</a:t>
            </a:r>
            <a:r>
              <a:rPr dirty="0" sz="2800" spc="-55"/>
              <a:t> </a:t>
            </a:r>
            <a:r>
              <a:rPr dirty="0" sz="2800" spc="-10"/>
              <a:t>diagrams</a:t>
            </a:r>
            <a:r>
              <a:rPr dirty="0" sz="2800" spc="-50"/>
              <a:t> </a:t>
            </a:r>
            <a:r>
              <a:rPr dirty="0" sz="2800"/>
              <a:t>to</a:t>
            </a:r>
            <a:r>
              <a:rPr dirty="0" sz="2800" spc="25"/>
              <a:t> </a:t>
            </a:r>
            <a:r>
              <a:rPr dirty="0" sz="2800"/>
              <a:t>tables</a:t>
            </a:r>
            <a:r>
              <a:rPr dirty="0" sz="2800" spc="85"/>
              <a:t> </a:t>
            </a:r>
            <a:r>
              <a:rPr dirty="0" sz="2800" spc="-10"/>
              <a:t>Rule-</a:t>
            </a:r>
            <a:r>
              <a:rPr dirty="0" sz="2800" spc="-25"/>
              <a:t>01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310388" y="1514681"/>
            <a:ext cx="7602855" cy="231013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ctr" marR="111760">
              <a:lnSpc>
                <a:spcPct val="100000"/>
              </a:lnSpc>
              <a:spcBef>
                <a:spcPts val="660"/>
              </a:spcBef>
            </a:pPr>
            <a:r>
              <a:rPr dirty="0" sz="2150" b="1">
                <a:latin typeface="Calibri"/>
                <a:cs typeface="Calibri"/>
              </a:rPr>
              <a:t>Rule-01:</a:t>
            </a:r>
            <a:r>
              <a:rPr dirty="0" sz="2150" spc="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Strong</a:t>
            </a:r>
            <a:r>
              <a:rPr dirty="0" sz="2150" spc="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Entity</a:t>
            </a:r>
            <a:r>
              <a:rPr dirty="0" sz="2150" spc="9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Set</a:t>
            </a:r>
            <a:r>
              <a:rPr dirty="0" sz="2150" spc="4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1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Only</a:t>
            </a:r>
            <a:r>
              <a:rPr dirty="0" sz="2150" spc="4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Simple</a:t>
            </a:r>
            <a:r>
              <a:rPr dirty="0" sz="2150" spc="125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Attributes</a:t>
            </a:r>
            <a:endParaRPr sz="2150">
              <a:latin typeface="Calibri"/>
              <a:cs typeface="Calibri"/>
            </a:endParaRPr>
          </a:p>
          <a:p>
            <a:pPr algn="ctr" marL="342265" marR="71755" indent="-34226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strong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simple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require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only</a:t>
            </a:r>
            <a:endParaRPr sz="215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attributes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set.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4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45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of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120"/>
              </a:spcBef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set.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24300" y="3572255"/>
            <a:ext cx="3448811" cy="201015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778377" y="5730036"/>
            <a:ext cx="38754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Schema</a:t>
            </a:r>
            <a:r>
              <a:rPr dirty="0" sz="1800" spc="-6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:</a:t>
            </a:r>
            <a:r>
              <a:rPr dirty="0" sz="1800" spc="-10" b="1">
                <a:solidFill>
                  <a:srgbClr val="2E2E2E"/>
                </a:solidFill>
                <a:latin typeface="Calibri"/>
                <a:cs typeface="Calibri"/>
              </a:rPr>
              <a:t> Student</a:t>
            </a:r>
            <a:r>
              <a:rPr dirty="0" sz="1800" spc="-2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(</a:t>
            </a:r>
            <a:r>
              <a:rPr dirty="0" sz="1800" spc="3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u="heavy" sz="1800" spc="-10" b="1">
                <a:solidFill>
                  <a:srgbClr val="2E2E2E"/>
                </a:solidFill>
                <a:uFill>
                  <a:solidFill>
                    <a:srgbClr val="2E2E2E"/>
                  </a:solidFill>
                </a:uFill>
                <a:latin typeface="Calibri"/>
                <a:cs typeface="Calibri"/>
              </a:rPr>
              <a:t>Roll_no</a:t>
            </a:r>
            <a:r>
              <a:rPr dirty="0" sz="1800" spc="-8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1800" spc="-4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Name</a:t>
            </a:r>
            <a:r>
              <a:rPr dirty="0" sz="1800" spc="-4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1800" spc="2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2E2E2E"/>
                </a:solidFill>
                <a:latin typeface="Calibri"/>
                <a:cs typeface="Calibri"/>
              </a:rPr>
              <a:t>Sex</a:t>
            </a:r>
            <a:r>
              <a:rPr dirty="0" sz="1800" spc="-8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2E2E2E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926069" y="6389319"/>
            <a:ext cx="3225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191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222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3656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577" rIns="0" bIns="0" rtlCol="0" vert="horz">
            <a:spAutoFit/>
          </a:bodyPr>
          <a:lstStyle/>
          <a:p>
            <a:pPr marL="3230880">
              <a:lnSpc>
                <a:spcPct val="100000"/>
              </a:lnSpc>
              <a:spcBef>
                <a:spcPts val="100"/>
              </a:spcBef>
            </a:pPr>
            <a:r>
              <a:rPr dirty="0"/>
              <a:t>Rule-</a:t>
            </a:r>
            <a:r>
              <a:rPr dirty="0" spc="-25"/>
              <a:t>02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54486"/>
            <a:ext cx="8016240" cy="189039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150" b="1">
                <a:latin typeface="Calibri"/>
                <a:cs typeface="Calibri"/>
              </a:rPr>
              <a:t>Rule-02:</a:t>
            </a:r>
            <a:r>
              <a:rPr dirty="0" sz="2150" spc="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4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Strong</a:t>
            </a:r>
            <a:r>
              <a:rPr dirty="0" sz="2150" spc="5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Entity</a:t>
            </a:r>
            <a:r>
              <a:rPr dirty="0" sz="2150" spc="8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Set</a:t>
            </a:r>
            <a:r>
              <a:rPr dirty="0" sz="2150" spc="1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1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Composite</a:t>
            </a:r>
            <a:r>
              <a:rPr dirty="0" sz="2150" spc="10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Attributes</a:t>
            </a: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spcBef>
                <a:spcPts val="5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strong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number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4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will </a:t>
            </a:r>
            <a:r>
              <a:rPr dirty="0" sz="2150">
                <a:latin typeface="Calibri"/>
                <a:cs typeface="Calibri"/>
              </a:rPr>
              <a:t>require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While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conversion,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simple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are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taken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account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composite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itself.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4600" y="2971800"/>
            <a:ext cx="4876800" cy="277215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77316" y="5879998"/>
            <a:ext cx="7428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Schema</a:t>
            </a:r>
            <a:r>
              <a:rPr dirty="0" sz="1800" spc="-6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:</a:t>
            </a:r>
            <a:r>
              <a:rPr dirty="0" sz="1800" spc="-2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E2E2E"/>
                </a:solidFill>
                <a:latin typeface="Calibri"/>
                <a:cs typeface="Calibri"/>
              </a:rPr>
              <a:t>Student</a:t>
            </a:r>
            <a:r>
              <a:rPr dirty="0" sz="1800" spc="-2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(</a:t>
            </a:r>
            <a:r>
              <a:rPr dirty="0" sz="1800" spc="3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u="heavy" sz="1800" spc="-10" b="1">
                <a:solidFill>
                  <a:srgbClr val="2E2E2E"/>
                </a:solidFill>
                <a:uFill>
                  <a:solidFill>
                    <a:srgbClr val="2E2E2E"/>
                  </a:solidFill>
                </a:uFill>
                <a:latin typeface="Calibri"/>
                <a:cs typeface="Calibri"/>
              </a:rPr>
              <a:t>Roll_no</a:t>
            </a:r>
            <a:r>
              <a:rPr dirty="0" sz="1800" spc="-7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1800" spc="-4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E2E2E"/>
                </a:solidFill>
                <a:latin typeface="Calibri"/>
                <a:cs typeface="Calibri"/>
              </a:rPr>
              <a:t>First_name</a:t>
            </a:r>
            <a:r>
              <a:rPr dirty="0" sz="1800" spc="-7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1800" spc="-5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Last_name</a:t>
            </a:r>
            <a:r>
              <a:rPr dirty="0" sz="1800" spc="-3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1800" spc="-4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House_no</a:t>
            </a:r>
            <a:r>
              <a:rPr dirty="0" sz="1800" spc="-6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1800" spc="-5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E2E2E"/>
                </a:solidFill>
                <a:latin typeface="Calibri"/>
                <a:cs typeface="Calibri"/>
              </a:rPr>
              <a:t>Street</a:t>
            </a:r>
            <a:r>
              <a:rPr dirty="0" sz="1800" spc="-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1800" spc="3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E2E2E"/>
                </a:solidFill>
                <a:latin typeface="Calibri"/>
                <a:cs typeface="Calibri"/>
              </a:rPr>
              <a:t>City</a:t>
            </a:r>
            <a:r>
              <a:rPr dirty="0" sz="1800" spc="-10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2E2E2E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926069" y="6389319"/>
            <a:ext cx="3225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191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222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3656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577" rIns="0" bIns="0" rtlCol="0" vert="horz">
            <a:spAutoFit/>
          </a:bodyPr>
          <a:lstStyle/>
          <a:p>
            <a:pPr marL="3230880">
              <a:lnSpc>
                <a:spcPct val="100000"/>
              </a:lnSpc>
              <a:spcBef>
                <a:spcPts val="100"/>
              </a:spcBef>
            </a:pPr>
            <a:r>
              <a:rPr dirty="0"/>
              <a:t>Rule-</a:t>
            </a:r>
            <a:r>
              <a:rPr dirty="0" spc="-25"/>
              <a:t>02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910920"/>
            <a:ext cx="8013065" cy="30727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150" b="1">
                <a:latin typeface="Calibri"/>
                <a:cs typeface="Calibri"/>
              </a:rPr>
              <a:t>Rule-03:</a:t>
            </a:r>
            <a:r>
              <a:rPr dirty="0" sz="2150" spc="-1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1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Strong</a:t>
            </a:r>
            <a:r>
              <a:rPr dirty="0" sz="2150" spc="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Entity</a:t>
            </a:r>
            <a:r>
              <a:rPr dirty="0" sz="2150" spc="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Set</a:t>
            </a:r>
            <a:r>
              <a:rPr dirty="0" sz="2150" spc="-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7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Multi</a:t>
            </a:r>
            <a:r>
              <a:rPr dirty="0" sz="2150" spc="80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Valued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Attributes</a:t>
            </a: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strong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1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any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number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valued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will </a:t>
            </a:r>
            <a:r>
              <a:rPr dirty="0" sz="2150">
                <a:latin typeface="Calibri"/>
                <a:cs typeface="Calibri"/>
              </a:rPr>
              <a:t>require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model.</a:t>
            </a:r>
            <a:endParaRPr sz="2150">
              <a:latin typeface="Calibri"/>
              <a:cs typeface="Calibri"/>
            </a:endParaRPr>
          </a:p>
          <a:p>
            <a:pPr lvl="1" marL="756285" marR="6985" indent="-287020">
              <a:lnSpc>
                <a:spcPct val="104200"/>
              </a:lnSpc>
              <a:spcBef>
                <a:spcPts val="58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contain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simple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primary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  <a:p>
            <a:pPr lvl="1" marL="756285" marR="5715" indent="-287020">
              <a:lnSpc>
                <a:spcPct val="102299"/>
              </a:lnSpc>
              <a:spcBef>
                <a:spcPts val="4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Other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contain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all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multi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valued attributes.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150" spc="-5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955" y="3390900"/>
            <a:ext cx="3924300" cy="2010156"/>
          </a:xfrm>
          <a:prstGeom prst="rect">
            <a:avLst/>
          </a:prstGeom>
        </p:spPr>
      </p:pic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04037" y="5595594"/>
          <a:ext cx="3637279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4189"/>
                <a:gridCol w="1774189"/>
              </a:tblGrid>
              <a:tr h="406400">
                <a:tc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u="heavy" sz="2000" spc="-1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Roll_no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2895345" y="6389319"/>
            <a:ext cx="7962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00556" y="6389319"/>
            <a:ext cx="4044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45075" y="6389319"/>
            <a:ext cx="6502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8332469" y="6465519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149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766436" y="5591784"/>
          <a:ext cx="3637279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4189"/>
                <a:gridCol w="1774189"/>
              </a:tblGrid>
              <a:tr h="406400">
                <a:tc>
                  <a:txBody>
                    <a:bodyPr/>
                    <a:lstStyle/>
                    <a:p>
                      <a:pPr marL="4787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u="heavy" sz="2000" spc="-1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Roll_no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Mobile_no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857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 spc="-25"/>
              <a:t>04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829535"/>
            <a:ext cx="7450455" cy="248539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150" b="1">
                <a:latin typeface="Calibri"/>
                <a:cs typeface="Calibri"/>
              </a:rPr>
              <a:t>Rule-04:</a:t>
            </a:r>
            <a:r>
              <a:rPr dirty="0" sz="2150" spc="15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Translating</a:t>
            </a:r>
            <a:r>
              <a:rPr dirty="0" sz="2150" spc="8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Relationship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Set</a:t>
            </a:r>
            <a:r>
              <a:rPr dirty="0" sz="2150" spc="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into</a:t>
            </a:r>
            <a:r>
              <a:rPr dirty="0" sz="2150" spc="-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a</a:t>
            </a:r>
            <a:r>
              <a:rPr dirty="0" sz="2150" spc="85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Table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require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 the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spc="-10">
                <a:latin typeface="Calibri"/>
                <a:cs typeface="Calibri"/>
              </a:rPr>
              <a:t>Attributes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are-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participating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sets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Its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own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descriptive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-5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any.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non-</a:t>
            </a:r>
            <a:r>
              <a:rPr dirty="0" sz="2150">
                <a:latin typeface="Calibri"/>
                <a:cs typeface="Calibri"/>
              </a:rPr>
              <a:t>descriptive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key.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0" y="3390900"/>
            <a:ext cx="6448044" cy="23622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126107" y="5834278"/>
            <a:ext cx="4854575" cy="6496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2E2E2E"/>
                </a:solidFill>
                <a:latin typeface="Calibri"/>
                <a:cs typeface="Calibri"/>
              </a:rPr>
              <a:t>Schema</a:t>
            </a:r>
            <a:r>
              <a:rPr dirty="0" sz="2000" spc="-11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E2E2E"/>
                </a:solidFill>
                <a:latin typeface="Calibri"/>
                <a:cs typeface="Calibri"/>
              </a:rPr>
              <a:t>:</a:t>
            </a:r>
            <a:r>
              <a:rPr dirty="0" sz="2000" spc="2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2E2E2E"/>
                </a:solidFill>
                <a:latin typeface="Calibri"/>
                <a:cs typeface="Calibri"/>
              </a:rPr>
              <a:t>Works</a:t>
            </a:r>
            <a:r>
              <a:rPr dirty="0" sz="2000" spc="-15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E2E2E"/>
                </a:solidFill>
                <a:latin typeface="Calibri"/>
                <a:cs typeface="Calibri"/>
              </a:rPr>
              <a:t>in</a:t>
            </a:r>
            <a:r>
              <a:rPr dirty="0" sz="2000" spc="-4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E2E2E"/>
                </a:solidFill>
                <a:latin typeface="Calibri"/>
                <a:cs typeface="Calibri"/>
              </a:rPr>
              <a:t>(</a:t>
            </a:r>
            <a:r>
              <a:rPr dirty="0" sz="2000" spc="-4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2E2E2E"/>
                </a:solidFill>
                <a:uFill>
                  <a:solidFill>
                    <a:srgbClr val="2E2E2E"/>
                  </a:solidFill>
                </a:uFill>
                <a:latin typeface="Calibri"/>
                <a:cs typeface="Calibri"/>
              </a:rPr>
              <a:t>Emp_no</a:t>
            </a:r>
            <a:r>
              <a:rPr dirty="0" sz="2000" spc="1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2000" spc="-1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2E2E2E"/>
                </a:solidFill>
                <a:uFill>
                  <a:solidFill>
                    <a:srgbClr val="2E2E2E"/>
                  </a:solidFill>
                </a:uFill>
                <a:latin typeface="Calibri"/>
                <a:cs typeface="Calibri"/>
              </a:rPr>
              <a:t>Dept_id</a:t>
            </a:r>
            <a:r>
              <a:rPr dirty="0" sz="2000" spc="-6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E2E2E"/>
                </a:solidFill>
                <a:latin typeface="Calibri"/>
                <a:cs typeface="Calibri"/>
              </a:rPr>
              <a:t>,</a:t>
            </a:r>
            <a:r>
              <a:rPr dirty="0" sz="2000" spc="-10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E2E2E"/>
                </a:solidFill>
                <a:latin typeface="Calibri"/>
                <a:cs typeface="Calibri"/>
              </a:rPr>
              <a:t>since</a:t>
            </a:r>
            <a:r>
              <a:rPr dirty="0" sz="2000" spc="-55" b="1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dirty="0" sz="2000" spc="-50" b="1">
                <a:solidFill>
                  <a:srgbClr val="2E2E2E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400685">
              <a:lnSpc>
                <a:spcPct val="100000"/>
              </a:lnSpc>
              <a:spcBef>
                <a:spcPts val="1065"/>
              </a:spcBef>
              <a:tabLst>
                <a:tab pos="1403350" algn="l"/>
                <a:tab pos="1946910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150</a:t>
            </a:fld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857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 spc="-25"/>
              <a:t>05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99133"/>
            <a:ext cx="6800215" cy="4339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b="1">
                <a:latin typeface="Calibri"/>
                <a:cs typeface="Calibri"/>
              </a:rPr>
              <a:t>Rule-05:</a:t>
            </a:r>
            <a:r>
              <a:rPr dirty="0" sz="2150" spc="1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-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Binary</a:t>
            </a:r>
            <a:r>
              <a:rPr dirty="0" sz="2150" spc="13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Relationships</a:t>
            </a:r>
            <a:r>
              <a:rPr dirty="0" sz="2150" spc="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1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Cardinality</a:t>
            </a:r>
            <a:r>
              <a:rPr dirty="0" sz="2150" spc="114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Ratios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following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four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cases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possible-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01: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ratio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m:n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95"/>
              </a:spcBef>
              <a:buFont typeface="Arial MT"/>
              <a:buChar char="–"/>
            </a:pP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02: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ratio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1:n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35"/>
              </a:spcBef>
              <a:buFont typeface="Arial MT"/>
              <a:buChar char="–"/>
            </a:pP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03: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ratio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m:1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95"/>
              </a:spcBef>
              <a:buFont typeface="Arial MT"/>
              <a:buChar char="–"/>
            </a:pP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04: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ratio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1:1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5986983"/>
            <a:ext cx="12128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50">
                <a:latin typeface="Arial MT"/>
                <a:cs typeface="Arial MT"/>
              </a:rPr>
              <a:t>•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61945" y="6122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65029" y="6122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08488" y="6122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326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/>
              <a:t>05</a:t>
            </a:r>
            <a:r>
              <a:rPr dirty="0" spc="-80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41095" y="1127251"/>
            <a:ext cx="685673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01:</a:t>
            </a:r>
            <a:r>
              <a:rPr dirty="0" sz="2150" spc="5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-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Binary</a:t>
            </a:r>
            <a:r>
              <a:rPr dirty="0" sz="2150" spc="10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Relationship</a:t>
            </a:r>
            <a:r>
              <a:rPr dirty="0" sz="2150" spc="3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Cardinality</a:t>
            </a:r>
            <a:r>
              <a:rPr dirty="0" sz="2150" spc="17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Ratio</a:t>
            </a:r>
            <a:r>
              <a:rPr dirty="0" sz="2150" spc="35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m:n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8904" y="4239844"/>
            <a:ext cx="4291965" cy="168084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three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required-</a:t>
            </a:r>
            <a:endParaRPr sz="2150">
              <a:latin typeface="Calibri"/>
              <a:cs typeface="Calibri"/>
            </a:endParaRPr>
          </a:p>
          <a:p>
            <a:pPr lvl="1" marL="882650" indent="-514984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882650" indent="-4572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R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882650" indent="-45720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B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5355" y="2071116"/>
            <a:ext cx="6105144" cy="208178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895345" y="6198819"/>
            <a:ext cx="796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3900556" y="6198819"/>
            <a:ext cx="404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45075" y="6198819"/>
            <a:ext cx="65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326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/>
              <a:t>05</a:t>
            </a:r>
            <a:r>
              <a:rPr dirty="0" spc="-80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41095" y="1242821"/>
            <a:ext cx="6769734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02:</a:t>
            </a:r>
            <a:r>
              <a:rPr dirty="0" sz="2150" spc="5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-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Binary</a:t>
            </a:r>
            <a:r>
              <a:rPr dirty="0" sz="2150" spc="10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Relationship</a:t>
            </a:r>
            <a:r>
              <a:rPr dirty="0" sz="2150" spc="3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Cardinality</a:t>
            </a:r>
            <a:r>
              <a:rPr dirty="0" sz="2150" spc="17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Ratio</a:t>
            </a:r>
            <a:r>
              <a:rPr dirty="0" sz="2150" spc="35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1:n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8904" y="3762045"/>
            <a:ext cx="8021320" cy="219900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required-</a:t>
            </a:r>
            <a:endParaRPr sz="2150">
              <a:latin typeface="Calibri"/>
              <a:cs typeface="Calibri"/>
            </a:endParaRPr>
          </a:p>
          <a:p>
            <a:pPr lvl="1" marL="882650" indent="-514984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882650" indent="-45720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BR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150">
              <a:latin typeface="Calibri"/>
              <a:cs typeface="Calibri"/>
            </a:endParaRPr>
          </a:p>
          <a:p>
            <a:pPr marL="425450" marR="5080">
              <a:lnSpc>
                <a:spcPts val="2510"/>
              </a:lnSpc>
            </a:pPr>
            <a:r>
              <a:rPr dirty="0" sz="2150" b="1">
                <a:latin typeface="Calibri"/>
                <a:cs typeface="Calibri"/>
              </a:rPr>
              <a:t>NOTE</a:t>
            </a:r>
            <a:r>
              <a:rPr dirty="0" sz="2150">
                <a:latin typeface="Calibri"/>
                <a:cs typeface="Calibri"/>
              </a:rPr>
              <a:t>-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combined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drawn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R.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5355" y="1990344"/>
            <a:ext cx="5733288" cy="19430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895345" y="6313119"/>
            <a:ext cx="7962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00556" y="6313119"/>
            <a:ext cx="4044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45075" y="6313119"/>
            <a:ext cx="6502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153</a:t>
            </a:fld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326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/>
              <a:t>05</a:t>
            </a:r>
            <a:r>
              <a:rPr dirty="0" spc="-80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99133"/>
            <a:ext cx="685038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03:</a:t>
            </a:r>
            <a:r>
              <a:rPr dirty="0" sz="2150" spc="5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-1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Binary</a:t>
            </a:r>
            <a:r>
              <a:rPr dirty="0" sz="2150" spc="1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Relationship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Cardinality</a:t>
            </a:r>
            <a:r>
              <a:rPr dirty="0" sz="2150" spc="1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Ratio</a:t>
            </a:r>
            <a:r>
              <a:rPr dirty="0" sz="2150" spc="30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m:1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3545788"/>
            <a:ext cx="8014970" cy="23774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required-</a:t>
            </a:r>
            <a:endParaRPr sz="2150">
              <a:latin typeface="Calibri"/>
              <a:cs typeface="Calibri"/>
            </a:endParaRPr>
          </a:p>
          <a:p>
            <a:pPr lvl="1" marL="870585" indent="-4572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870585" algn="l"/>
              </a:tabLst>
            </a:pPr>
            <a:r>
              <a:rPr dirty="0" sz="2150">
                <a:latin typeface="Calibri"/>
                <a:cs typeface="Calibri"/>
              </a:rPr>
              <a:t>AR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870585" indent="-4572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870585" algn="l"/>
              </a:tabLst>
            </a:pPr>
            <a:r>
              <a:rPr dirty="0" sz="2150">
                <a:latin typeface="Calibri"/>
                <a:cs typeface="Calibri"/>
              </a:rPr>
              <a:t>B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03699"/>
              </a:lnSpc>
            </a:pPr>
            <a:r>
              <a:rPr dirty="0" sz="2150">
                <a:latin typeface="Calibri"/>
                <a:cs typeface="Calibri"/>
              </a:rPr>
              <a:t>NOTE-</a:t>
            </a:r>
            <a:r>
              <a:rPr dirty="0" sz="2150" spc="3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combined</a:t>
            </a:r>
            <a:r>
              <a:rPr dirty="0" sz="2150" spc="4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4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drawn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3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409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R.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10511" y="1784604"/>
            <a:ext cx="5733288" cy="178765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590545" y="6465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93629" y="6465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37088" y="6465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154</a:t>
            </a:fld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326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/>
              <a:t>05</a:t>
            </a:r>
            <a:r>
              <a:rPr dirty="0" spc="-80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983107"/>
            <a:ext cx="676148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b="1">
                <a:latin typeface="Calibri"/>
                <a:cs typeface="Calibri"/>
              </a:rPr>
              <a:t>04:</a:t>
            </a:r>
            <a:r>
              <a:rPr dirty="0" sz="2150" spc="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-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Binary</a:t>
            </a:r>
            <a:r>
              <a:rPr dirty="0" sz="2150" spc="1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Relationship</a:t>
            </a:r>
            <a:r>
              <a:rPr dirty="0" sz="2150" spc="6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Cardinality</a:t>
            </a:r>
            <a:r>
              <a:rPr dirty="0" sz="2150" spc="17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Ratio</a:t>
            </a:r>
            <a:r>
              <a:rPr dirty="0" sz="2150" spc="20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1:1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244" y="3005074"/>
            <a:ext cx="7760970" cy="2357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required.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Either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combine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‘R’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150">
                <a:latin typeface="Calibri"/>
                <a:cs typeface="Calibri"/>
              </a:rPr>
              <a:t>‘A’</a:t>
            </a:r>
            <a:r>
              <a:rPr dirty="0" sz="2150" spc="-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‘B’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 spc="-60" b="1">
                <a:latin typeface="Calibri"/>
                <a:cs typeface="Calibri"/>
              </a:rPr>
              <a:t>Way-</a:t>
            </a:r>
            <a:r>
              <a:rPr dirty="0" sz="2150" spc="-25" b="1">
                <a:latin typeface="Calibri"/>
                <a:cs typeface="Calibri"/>
              </a:rPr>
              <a:t>01:</a:t>
            </a:r>
            <a:endParaRPr sz="2150">
              <a:latin typeface="Calibri"/>
              <a:cs typeface="Calibri"/>
            </a:endParaRPr>
          </a:p>
          <a:p>
            <a:pPr lvl="1" marL="870585" indent="-4572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870585" algn="l"/>
              </a:tabLst>
            </a:pPr>
            <a:r>
              <a:rPr dirty="0" sz="2150">
                <a:latin typeface="Calibri"/>
                <a:cs typeface="Calibri"/>
              </a:rPr>
              <a:t>AR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870585" indent="-4572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870585" algn="l"/>
              </a:tabLst>
            </a:pPr>
            <a:r>
              <a:rPr dirty="0" sz="2150">
                <a:latin typeface="Calibri"/>
                <a:cs typeface="Calibri"/>
              </a:rPr>
              <a:t>B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spc="-60" b="1">
                <a:latin typeface="Calibri"/>
                <a:cs typeface="Calibri"/>
              </a:rPr>
              <a:t>Way-</a:t>
            </a:r>
            <a:r>
              <a:rPr dirty="0" sz="2150" spc="-25" b="1">
                <a:latin typeface="Calibri"/>
                <a:cs typeface="Calibri"/>
              </a:rPr>
              <a:t>02: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7056" y="5337149"/>
            <a:ext cx="3058160" cy="11461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69265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dirty="0" sz="2150">
                <a:latin typeface="Calibri"/>
                <a:cs typeface="Calibri"/>
              </a:rPr>
              <a:t>BR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5355" y="1449324"/>
            <a:ext cx="5733288" cy="155143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203610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155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4747069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857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 spc="-25"/>
              <a:t>06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571183"/>
            <a:ext cx="8072120" cy="297751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  <a:tabLst>
                <a:tab pos="2454275" algn="l"/>
                <a:tab pos="4027170" algn="l"/>
                <a:tab pos="4714240" algn="l"/>
                <a:tab pos="5391150" algn="l"/>
              </a:tabLst>
            </a:pPr>
            <a:r>
              <a:rPr dirty="0" sz="2150" b="1">
                <a:latin typeface="Calibri"/>
                <a:cs typeface="Calibri"/>
              </a:rPr>
              <a:t>Rule-06:</a:t>
            </a:r>
            <a:r>
              <a:rPr dirty="0" sz="2150" spc="5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530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Binary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10" b="1">
                <a:latin typeface="Calibri"/>
                <a:cs typeface="Calibri"/>
              </a:rPr>
              <a:t>Relationship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20" b="1">
                <a:latin typeface="Calibri"/>
                <a:cs typeface="Calibri"/>
              </a:rPr>
              <a:t>With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20" b="1">
                <a:latin typeface="Calibri"/>
                <a:cs typeface="Calibri"/>
              </a:rPr>
              <a:t>Both</a:t>
            </a:r>
            <a:r>
              <a:rPr dirty="0" sz="2150" b="1">
                <a:latin typeface="Calibri"/>
                <a:cs typeface="Calibri"/>
              </a:rPr>
              <a:t>	Cardinality</a:t>
            </a:r>
            <a:r>
              <a:rPr dirty="0" sz="2150" spc="-70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Constraints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b="1">
                <a:latin typeface="Calibri"/>
                <a:cs typeface="Calibri"/>
              </a:rPr>
              <a:t>and</a:t>
            </a:r>
            <a:r>
              <a:rPr dirty="0" sz="2150" spc="-6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Participation</a:t>
            </a:r>
            <a:r>
              <a:rPr dirty="0" sz="2150" spc="160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Constraints-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buFont typeface="Arial MT"/>
              <a:buChar char="•"/>
              <a:tabLst>
                <a:tab pos="355600" algn="l"/>
                <a:tab pos="1461770" algn="l"/>
                <a:tab pos="1957070" algn="l"/>
                <a:tab pos="2806065" algn="l"/>
                <a:tab pos="4323080" algn="l"/>
                <a:tab pos="5008880" algn="l"/>
                <a:tab pos="6353175" algn="l"/>
                <a:tab pos="7640955" algn="l"/>
              </a:tabLst>
            </a:pPr>
            <a:r>
              <a:rPr dirty="0" sz="2150">
                <a:latin typeface="Calibri"/>
                <a:cs typeface="Calibri"/>
              </a:rPr>
              <a:t>Case-</a:t>
            </a:r>
            <a:r>
              <a:rPr dirty="0" sz="2150" spc="-25">
                <a:latin typeface="Calibri"/>
                <a:cs typeface="Calibri"/>
              </a:rPr>
              <a:t>01: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For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Binary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With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Cardinality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Constraint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 spc="-70">
                <a:latin typeface="Calibri"/>
                <a:cs typeface="Calibri"/>
              </a:rPr>
              <a:t>Total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Participation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Constraint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Side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buFont typeface="Arial MT"/>
              <a:buChar char="•"/>
              <a:tabLst>
                <a:tab pos="355600" algn="l"/>
                <a:tab pos="1461770" algn="l"/>
                <a:tab pos="1957070" algn="l"/>
                <a:tab pos="2806065" algn="l"/>
                <a:tab pos="4323080" algn="l"/>
                <a:tab pos="5008880" algn="l"/>
                <a:tab pos="6353175" algn="l"/>
                <a:tab pos="7640955" algn="l"/>
              </a:tabLst>
            </a:pPr>
            <a:r>
              <a:rPr dirty="0" sz="2150">
                <a:latin typeface="Calibri"/>
                <a:cs typeface="Calibri"/>
              </a:rPr>
              <a:t>Case-</a:t>
            </a:r>
            <a:r>
              <a:rPr dirty="0" sz="2150" spc="-25">
                <a:latin typeface="Calibri"/>
                <a:cs typeface="Calibri"/>
              </a:rPr>
              <a:t>02: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For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Binary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Relationship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With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Cardinality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Constraint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 </a:t>
            </a:r>
            <a:r>
              <a:rPr dirty="0" sz="2150" spc="-70">
                <a:latin typeface="Calibri"/>
                <a:cs typeface="Calibri"/>
              </a:rPr>
              <a:t>Total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Participation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Constraint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Both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Sides-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90545" y="5817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93629" y="5817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7088" y="5817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326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/>
              <a:t>06</a:t>
            </a:r>
            <a:r>
              <a:rPr dirty="0" spc="-80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952322"/>
            <a:ext cx="6123940" cy="71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100"/>
              </a:spcBef>
              <a:tabLst>
                <a:tab pos="1147445" algn="l"/>
                <a:tab pos="1672589" algn="l"/>
                <a:tab pos="2568575" algn="l"/>
                <a:tab pos="4170679" algn="l"/>
                <a:tab pos="4885055" algn="l"/>
              </a:tabLst>
            </a:pPr>
            <a:r>
              <a:rPr dirty="0" sz="2150" spc="-10" b="1">
                <a:latin typeface="Calibri"/>
                <a:cs typeface="Calibri"/>
              </a:rPr>
              <a:t>Case-</a:t>
            </a:r>
            <a:r>
              <a:rPr dirty="0" sz="2150" spc="-25" b="1">
                <a:latin typeface="Calibri"/>
                <a:cs typeface="Calibri"/>
              </a:rPr>
              <a:t>01: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25" b="1">
                <a:latin typeface="Calibri"/>
                <a:cs typeface="Calibri"/>
              </a:rPr>
              <a:t>For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10" b="1">
                <a:latin typeface="Calibri"/>
                <a:cs typeface="Calibri"/>
              </a:rPr>
              <a:t>Binary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10" b="1">
                <a:latin typeface="Calibri"/>
                <a:cs typeface="Calibri"/>
              </a:rPr>
              <a:t>Relationship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20" b="1">
                <a:latin typeface="Calibri"/>
                <a:cs typeface="Calibri"/>
              </a:rPr>
              <a:t>With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10" b="1">
                <a:latin typeface="Calibri"/>
                <a:cs typeface="Calibri"/>
              </a:rPr>
              <a:t>Cardinality </a:t>
            </a:r>
            <a:r>
              <a:rPr dirty="0" sz="2150" spc="-65" b="1">
                <a:latin typeface="Calibri"/>
                <a:cs typeface="Calibri"/>
              </a:rPr>
              <a:t>Total</a:t>
            </a:r>
            <a:r>
              <a:rPr dirty="0" sz="2150" spc="-1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Participation</a:t>
            </a:r>
            <a:r>
              <a:rPr dirty="0" sz="2150" spc="10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Constraint</a:t>
            </a:r>
            <a:r>
              <a:rPr dirty="0" sz="2150" spc="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From</a:t>
            </a:r>
            <a:r>
              <a:rPr dirty="0" sz="2150" spc="1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One</a:t>
            </a:r>
            <a:r>
              <a:rPr dirty="0" sz="2150" spc="-35" b="1">
                <a:latin typeface="Calibri"/>
                <a:cs typeface="Calibri"/>
              </a:rPr>
              <a:t> </a:t>
            </a:r>
            <a:r>
              <a:rPr dirty="0" sz="2150" spc="-20" b="1">
                <a:latin typeface="Calibri"/>
                <a:cs typeface="Calibri"/>
              </a:rPr>
              <a:t>Side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00850" y="969390"/>
            <a:ext cx="1809114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7155" algn="l"/>
              </a:tabLst>
            </a:pPr>
            <a:r>
              <a:rPr dirty="0" sz="2150" spc="-10" b="1">
                <a:latin typeface="Calibri"/>
                <a:cs typeface="Calibri"/>
              </a:rPr>
              <a:t>Constraint</a:t>
            </a:r>
            <a:r>
              <a:rPr dirty="0" sz="2150" b="1">
                <a:latin typeface="Calibri"/>
                <a:cs typeface="Calibri"/>
              </a:rPr>
              <a:t>	</a:t>
            </a:r>
            <a:r>
              <a:rPr dirty="0" sz="2150" spc="-25" b="1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6244" y="3569334"/>
            <a:ext cx="8066405" cy="2914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marR="54610" indent="-342900">
              <a:lnSpc>
                <a:spcPct val="1036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Because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cardinality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ratio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=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1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: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combine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B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R.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Then,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required-</a:t>
            </a:r>
            <a:endParaRPr sz="2150">
              <a:latin typeface="Calibri"/>
              <a:cs typeface="Calibri"/>
            </a:endParaRPr>
          </a:p>
          <a:p>
            <a:pPr lvl="1" marL="870585" indent="-4572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870585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870585" indent="-45720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870585" algn="l"/>
              </a:tabLst>
            </a:pPr>
            <a:r>
              <a:rPr dirty="0" sz="2150">
                <a:latin typeface="Calibri"/>
                <a:cs typeface="Calibri"/>
              </a:rPr>
              <a:t>BR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4200"/>
              </a:lnSpc>
              <a:spcBef>
                <a:spcPts val="490"/>
              </a:spcBef>
              <a:buFont typeface="Arial MT"/>
              <a:buChar char="•"/>
              <a:tabLst>
                <a:tab pos="355600" algn="l"/>
                <a:tab pos="1414145" algn="l"/>
                <a:tab pos="1776095" algn="l"/>
                <a:tab pos="2443480" algn="l"/>
                <a:tab pos="4084954" algn="l"/>
                <a:tab pos="5008880" algn="l"/>
                <a:tab pos="5523865" algn="l"/>
                <a:tab pos="5934075" algn="l"/>
                <a:tab pos="6449060" algn="l"/>
                <a:tab pos="7564755" algn="l"/>
              </a:tabLst>
            </a:pPr>
            <a:r>
              <a:rPr dirty="0" sz="2150" spc="-10">
                <a:latin typeface="Calibri"/>
                <a:cs typeface="Calibri"/>
              </a:rPr>
              <a:t>Because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total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participation,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foreign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key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a1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has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acquired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NOT </a:t>
            </a:r>
            <a:r>
              <a:rPr dirty="0" sz="2150">
                <a:latin typeface="Calibri"/>
                <a:cs typeface="Calibri"/>
              </a:rPr>
              <a:t>NULL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constraint,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can’t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null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now.</a:t>
            </a:r>
            <a:endParaRPr sz="2150">
              <a:latin typeface="Calibri"/>
              <a:cs typeface="Calibri"/>
            </a:endParaRPr>
          </a:p>
          <a:p>
            <a:pPr marL="2524125">
              <a:lnSpc>
                <a:spcPct val="100000"/>
              </a:lnSpc>
              <a:spcBef>
                <a:spcPts val="545"/>
              </a:spcBef>
              <a:tabLst>
                <a:tab pos="3527425" algn="l"/>
                <a:tab pos="4070985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6211" y="1752600"/>
            <a:ext cx="5923788" cy="1799844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155</a:t>
            </a:fld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326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/>
              <a:t>06</a:t>
            </a:r>
            <a:r>
              <a:rPr dirty="0" spc="-80"/>
              <a:t> </a:t>
            </a:r>
            <a:r>
              <a:rPr dirty="0" spc="-10"/>
              <a:t>(contd..)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024527"/>
            <a:ext cx="8083550" cy="17830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29"/>
              </a:spcBef>
            </a:pPr>
            <a:r>
              <a:rPr dirty="0" sz="2150" b="1">
                <a:latin typeface="Calibri"/>
                <a:cs typeface="Calibri"/>
              </a:rPr>
              <a:t>Case-02:</a:t>
            </a:r>
            <a:r>
              <a:rPr dirty="0" sz="2150" spc="75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70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Binary</a:t>
            </a:r>
            <a:r>
              <a:rPr dirty="0" sz="2150" spc="85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Relationship</a:t>
            </a:r>
            <a:r>
              <a:rPr dirty="0" sz="2150" spc="90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70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Cardinality</a:t>
            </a:r>
            <a:r>
              <a:rPr dirty="0" sz="2150" spc="60" b="1">
                <a:latin typeface="Calibri"/>
                <a:cs typeface="Calibri"/>
              </a:rPr>
              <a:t>  </a:t>
            </a:r>
            <a:r>
              <a:rPr dirty="0" sz="2150" b="1">
                <a:latin typeface="Calibri"/>
                <a:cs typeface="Calibri"/>
              </a:rPr>
              <a:t>Constraint</a:t>
            </a:r>
            <a:r>
              <a:rPr dirty="0" sz="2150" spc="270" b="1">
                <a:latin typeface="Calibri"/>
                <a:cs typeface="Calibri"/>
              </a:rPr>
              <a:t>   </a:t>
            </a:r>
            <a:r>
              <a:rPr dirty="0" sz="2150" spc="-25" b="1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2150" spc="-65" b="1">
                <a:latin typeface="Calibri"/>
                <a:cs typeface="Calibri"/>
              </a:rPr>
              <a:t>Total</a:t>
            </a:r>
            <a:r>
              <a:rPr dirty="0" sz="2150" spc="-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Participation</a:t>
            </a:r>
            <a:r>
              <a:rPr dirty="0" sz="2150" spc="10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Constraint</a:t>
            </a:r>
            <a:r>
              <a:rPr dirty="0" sz="2150" spc="4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From</a:t>
            </a:r>
            <a:r>
              <a:rPr dirty="0" sz="2150" spc="1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Both</a:t>
            </a:r>
            <a:r>
              <a:rPr dirty="0" sz="2150" spc="-75" b="1">
                <a:latin typeface="Calibri"/>
                <a:cs typeface="Calibri"/>
              </a:rPr>
              <a:t> </a:t>
            </a:r>
            <a:r>
              <a:rPr dirty="0" sz="2150" spc="-10" b="1">
                <a:latin typeface="Calibri"/>
                <a:cs typeface="Calibri"/>
              </a:rPr>
              <a:t>Sides</a:t>
            </a:r>
            <a:endParaRPr sz="215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1899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If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constraint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1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both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sides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with </a:t>
            </a:r>
            <a:r>
              <a:rPr dirty="0" sz="2150">
                <a:latin typeface="Calibri"/>
                <a:cs typeface="Calibri"/>
              </a:rPr>
              <a:t>total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participation,</a:t>
            </a:r>
            <a:r>
              <a:rPr dirty="0" sz="2150" spc="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then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5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5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5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15">
                <a:latin typeface="Calibri"/>
                <a:cs typeface="Calibri"/>
              </a:rPr>
              <a:t>  </a:t>
            </a:r>
            <a:r>
              <a:rPr dirty="0" sz="2150" spc="-10">
                <a:latin typeface="Calibri"/>
                <a:cs typeface="Calibri"/>
              </a:rPr>
              <a:t>represented </a:t>
            </a: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single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4052" y="5189829"/>
            <a:ext cx="4013200" cy="129349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Only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10">
                <a:latin typeface="Calibri"/>
                <a:cs typeface="Calibri"/>
              </a:rPr>
              <a:t> required.</a:t>
            </a:r>
            <a:endParaRPr sz="2150">
              <a:latin typeface="Calibri"/>
              <a:cs typeface="Calibri"/>
            </a:endParaRPr>
          </a:p>
          <a:p>
            <a:pPr lvl="1" marL="882650" indent="-514984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ARB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marL="2459990">
              <a:lnSpc>
                <a:spcPct val="100000"/>
              </a:lnSpc>
              <a:spcBef>
                <a:spcPts val="2250"/>
              </a:spcBef>
              <a:tabLst>
                <a:tab pos="3465195" algn="l"/>
              </a:tabLst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2911" y="3144011"/>
            <a:ext cx="5638799" cy="19431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521275" y="6275019"/>
            <a:ext cx="65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8365997" y="6461252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158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857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RULE-</a:t>
            </a:r>
            <a:r>
              <a:rPr dirty="0" spc="-25"/>
              <a:t>07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289126"/>
            <a:ext cx="8057515" cy="115824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150" b="1">
                <a:latin typeface="Calibri"/>
                <a:cs typeface="Calibri"/>
              </a:rPr>
              <a:t>Rule-07:</a:t>
            </a:r>
            <a:r>
              <a:rPr dirty="0" sz="2150" spc="-2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For</a:t>
            </a:r>
            <a:r>
              <a:rPr dirty="0" sz="2150" spc="-1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Binary</a:t>
            </a:r>
            <a:r>
              <a:rPr dirty="0" sz="2150" spc="9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Relationship</a:t>
            </a:r>
            <a:r>
              <a:rPr dirty="0" sz="2150" spc="6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With</a:t>
            </a:r>
            <a:r>
              <a:rPr dirty="0" sz="2150" spc="40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Weak</a:t>
            </a:r>
            <a:r>
              <a:rPr dirty="0" sz="2150" spc="105" b="1">
                <a:latin typeface="Calibri"/>
                <a:cs typeface="Calibri"/>
              </a:rPr>
              <a:t> </a:t>
            </a:r>
            <a:r>
              <a:rPr dirty="0" sz="2150" b="1">
                <a:latin typeface="Calibri"/>
                <a:cs typeface="Calibri"/>
              </a:rPr>
              <a:t>Entity</a:t>
            </a:r>
            <a:r>
              <a:rPr dirty="0" sz="2150" spc="-35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  <a:tab pos="1147445" algn="l"/>
                <a:tab pos="1957070" algn="l"/>
                <a:tab pos="2454275" algn="l"/>
                <a:tab pos="3359150" algn="l"/>
                <a:tab pos="4417060" algn="l"/>
                <a:tab pos="4780280" algn="l"/>
                <a:tab pos="6191885" algn="l"/>
                <a:tab pos="6849745" algn="l"/>
              </a:tabLst>
            </a:pPr>
            <a:r>
              <a:rPr dirty="0" sz="2150" spc="-20">
                <a:latin typeface="Calibri"/>
                <a:cs typeface="Calibri"/>
              </a:rPr>
              <a:t>Weak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entity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set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always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appears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in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association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with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identifying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total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participation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constraint.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4052" y="4526356"/>
            <a:ext cx="4122420" cy="127698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2150">
                <a:latin typeface="Calibri"/>
                <a:cs typeface="Calibri"/>
              </a:rPr>
              <a:t>Here,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tables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will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required-</a:t>
            </a:r>
            <a:endParaRPr sz="2150">
              <a:latin typeface="Calibri"/>
              <a:cs typeface="Calibri"/>
            </a:endParaRPr>
          </a:p>
          <a:p>
            <a:pPr lvl="1" marL="882650" indent="-514984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a2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  <a:p>
            <a:pPr lvl="1" marL="882650" indent="-4572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882650" algn="l"/>
              </a:tabLst>
            </a:pPr>
            <a:r>
              <a:rPr dirty="0" sz="2150">
                <a:latin typeface="Calibri"/>
                <a:cs typeface="Calibri"/>
              </a:rPr>
              <a:t>BR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a1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b1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b2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1911" y="2590800"/>
            <a:ext cx="6019799" cy="18669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505327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161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4508410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1869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3657727" y="3048380"/>
            <a:ext cx="2025014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 b="1">
                <a:latin typeface="Calibri"/>
                <a:cs typeface="Calibri"/>
              </a:rPr>
              <a:t>Examples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161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4109720" y="103377"/>
            <a:ext cx="19596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ER</a:t>
            </a:r>
            <a:r>
              <a:rPr dirty="0" sz="3200" spc="3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Diagram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857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888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322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17015">
              <a:lnSpc>
                <a:spcPct val="100000"/>
              </a:lnSpc>
              <a:spcBef>
                <a:spcPts val="100"/>
              </a:spcBef>
            </a:pPr>
            <a:r>
              <a:rPr dirty="0"/>
              <a:t>ER</a:t>
            </a:r>
            <a:r>
              <a:rPr dirty="0" spc="-95"/>
              <a:t> </a:t>
            </a:r>
            <a:r>
              <a:rPr dirty="0"/>
              <a:t>Diagram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 spc="-10"/>
              <a:t>Department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976" y="1149095"/>
            <a:ext cx="8299704" cy="505510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4381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161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93875">
              <a:lnSpc>
                <a:spcPct val="100000"/>
              </a:lnSpc>
              <a:spcBef>
                <a:spcPts val="100"/>
              </a:spcBef>
            </a:pPr>
            <a:r>
              <a:rPr dirty="0"/>
              <a:t>ER</a:t>
            </a:r>
            <a:r>
              <a:rPr dirty="0" spc="-114"/>
              <a:t> </a:t>
            </a:r>
            <a:r>
              <a:rPr dirty="0"/>
              <a:t>Diagram</a:t>
            </a:r>
            <a:r>
              <a:rPr dirty="0" spc="-80"/>
              <a:t> </a:t>
            </a:r>
            <a:r>
              <a:rPr dirty="0"/>
              <a:t>for</a:t>
            </a:r>
            <a:r>
              <a:rPr dirty="0" spc="-145"/>
              <a:t> </a:t>
            </a:r>
            <a:r>
              <a:rPr dirty="0" spc="-10"/>
              <a:t>Company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" y="1219200"/>
            <a:ext cx="7958328" cy="490575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667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162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36698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132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93875">
              <a:lnSpc>
                <a:spcPct val="100000"/>
              </a:lnSpc>
              <a:spcBef>
                <a:spcPts val="100"/>
              </a:spcBef>
            </a:pPr>
            <a:r>
              <a:rPr dirty="0"/>
              <a:t>Extended</a:t>
            </a:r>
            <a:r>
              <a:rPr dirty="0" spc="30"/>
              <a:t> </a:t>
            </a:r>
            <a:r>
              <a:rPr dirty="0"/>
              <a:t>ER</a:t>
            </a:r>
            <a:r>
              <a:rPr dirty="0" spc="40"/>
              <a:t> </a:t>
            </a:r>
            <a:r>
              <a:rPr dirty="0" spc="-10"/>
              <a:t>Model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459740" y="1770634"/>
            <a:ext cx="6849109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Enhanced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ERD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high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represent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requirements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and </a:t>
            </a:r>
            <a:r>
              <a:rPr dirty="0" sz="1800" spc="-10">
                <a:latin typeface="Calibri"/>
                <a:cs typeface="Calibri"/>
              </a:rPr>
              <a:t>complexities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complex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addition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concepts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EE-R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includes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−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lr>
                <a:srgbClr val="FF8787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Calibri"/>
                <a:cs typeface="Calibri"/>
              </a:rPr>
              <a:t>Subclasses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Super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classes.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lr>
                <a:srgbClr val="FF8787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 spc="-10">
                <a:latin typeface="Calibri"/>
                <a:cs typeface="Calibri"/>
              </a:rPr>
              <a:t>Specialization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0">
                <a:latin typeface="Calibri"/>
                <a:cs typeface="Calibri"/>
              </a:rPr>
              <a:t> Generalization.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lr>
                <a:srgbClr val="FF8787"/>
              </a:buClr>
              <a:buFont typeface="Wingdings"/>
              <a:buChar char=""/>
              <a:tabLst>
                <a:tab pos="298450" algn="l"/>
              </a:tabLst>
            </a:pPr>
            <a:r>
              <a:rPr dirty="0" sz="1800">
                <a:latin typeface="Calibri"/>
                <a:cs typeface="Calibri"/>
              </a:rPr>
              <a:t>Category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FF8787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 spc="-10">
                <a:latin typeface="Calibri"/>
                <a:cs typeface="Calibri"/>
              </a:rPr>
              <a:t>Aggregation.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905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936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70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9600" y="35813"/>
            <a:ext cx="33477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Extended</a:t>
            </a:r>
            <a:r>
              <a:rPr dirty="0" sz="3200" spc="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ER</a:t>
            </a:r>
            <a:r>
              <a:rPr dirty="0" sz="3200" spc="4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Model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9740" y="1759661"/>
            <a:ext cx="44608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Calibri"/>
                <a:cs typeface="Calibri"/>
              </a:rPr>
              <a:t>Subclasses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Super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Class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983" y="2709672"/>
            <a:ext cx="6552842" cy="20574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895345" y="6122619"/>
            <a:ext cx="796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3900556" y="6122619"/>
            <a:ext cx="404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75" y="6122619"/>
            <a:ext cx="65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9600" y="35813"/>
            <a:ext cx="33477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Extended</a:t>
            </a:r>
            <a:r>
              <a:rPr dirty="0" sz="3200" spc="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ER</a:t>
            </a:r>
            <a:r>
              <a:rPr dirty="0" sz="3200" spc="4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Model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9740" y="1759661"/>
            <a:ext cx="54819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Calibri"/>
                <a:cs typeface="Calibri"/>
              </a:rPr>
              <a:t>Specialization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Generalization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240" y="2663272"/>
            <a:ext cx="6161493" cy="304385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742945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3746029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89488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93875">
              <a:lnSpc>
                <a:spcPct val="100000"/>
              </a:lnSpc>
              <a:spcBef>
                <a:spcPts val="100"/>
              </a:spcBef>
            </a:pPr>
            <a:r>
              <a:rPr dirty="0"/>
              <a:t>Extended</a:t>
            </a:r>
            <a:r>
              <a:rPr dirty="0" spc="30"/>
              <a:t> </a:t>
            </a:r>
            <a:r>
              <a:rPr dirty="0"/>
              <a:t>ER</a:t>
            </a:r>
            <a:r>
              <a:rPr dirty="0" spc="40"/>
              <a:t> </a:t>
            </a:r>
            <a:r>
              <a:rPr dirty="0" spc="-10"/>
              <a:t>Model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59740" y="1570144"/>
            <a:ext cx="7455534" cy="108458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3200">
                <a:latin typeface="Calibri"/>
                <a:cs typeface="Calibri"/>
              </a:rPr>
              <a:t>Category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Union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840"/>
              </a:spcBef>
            </a:pPr>
            <a:r>
              <a:rPr dirty="0" sz="1800" spc="-10">
                <a:latin typeface="Calibri"/>
                <a:cs typeface="Calibri"/>
              </a:rPr>
              <a:t>Relationship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super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sub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class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super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class.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3166" y="3252240"/>
            <a:ext cx="5256865" cy="205772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905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8365997" y="6461252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166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936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370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93875">
              <a:lnSpc>
                <a:spcPct val="100000"/>
              </a:lnSpc>
              <a:spcBef>
                <a:spcPts val="100"/>
              </a:spcBef>
            </a:pPr>
            <a:r>
              <a:rPr dirty="0"/>
              <a:t>Extended</a:t>
            </a:r>
            <a:r>
              <a:rPr dirty="0" spc="30"/>
              <a:t> </a:t>
            </a:r>
            <a:r>
              <a:rPr dirty="0"/>
              <a:t>ER</a:t>
            </a:r>
            <a:r>
              <a:rPr dirty="0" spc="40"/>
              <a:t> </a:t>
            </a:r>
            <a:r>
              <a:rPr dirty="0" spc="-10"/>
              <a:t>Model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59740" y="1176035"/>
            <a:ext cx="7271384" cy="1083945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3200" spc="-10">
                <a:latin typeface="Calibri"/>
                <a:cs typeface="Calibri"/>
              </a:rPr>
              <a:t>Aggregation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840"/>
              </a:spcBef>
            </a:pPr>
            <a:r>
              <a:rPr dirty="0" sz="1800" spc="-10">
                <a:latin typeface="Calibri"/>
                <a:cs typeface="Calibri"/>
              </a:rPr>
              <a:t>Represents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relationship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between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whole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object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component.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8069" y="2435344"/>
            <a:ext cx="5943944" cy="359056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124326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169</a:t>
            </a:fld>
          </a:p>
        </p:txBody>
      </p:sp>
      <p:sp>
        <p:nvSpPr>
          <p:cNvPr id="9" name="object 9" descr=""/>
          <p:cNvSpPr txBox="1"/>
          <p:nvPr/>
        </p:nvSpPr>
        <p:spPr>
          <a:xfrm>
            <a:off x="4127410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70869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044" rIns="0" bIns="0" rtlCol="0" vert="horz">
            <a:spAutoFit/>
          </a:bodyPr>
          <a:lstStyle/>
          <a:p>
            <a:pPr marL="156845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Relationship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higher</a:t>
            </a:r>
            <a:r>
              <a:rPr dirty="0" spc="-40"/>
              <a:t> </a:t>
            </a:r>
            <a:r>
              <a:rPr dirty="0" spc="-10"/>
              <a:t>degree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169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459740" y="1269605"/>
            <a:ext cx="7426959" cy="3942079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000" b="1">
                <a:latin typeface="Calibri"/>
                <a:cs typeface="Calibri"/>
              </a:rPr>
              <a:t>Degree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Relationship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830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degree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represents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types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associated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Calibri"/>
                <a:cs typeface="Calibri"/>
              </a:rPr>
              <a:t>Types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degree</a:t>
            </a:r>
            <a:endParaRPr sz="2000">
              <a:latin typeface="Calibri"/>
              <a:cs typeface="Calibri"/>
            </a:endParaRPr>
          </a:p>
          <a:p>
            <a:pPr marL="12700" marR="5080" indent="914400">
              <a:lnSpc>
                <a:spcPct val="15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linked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4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degrees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relationships.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370"/>
              </a:spcBef>
              <a:buClr>
                <a:srgbClr val="FF8787"/>
              </a:buClr>
              <a:buFont typeface="Wingdings"/>
              <a:buChar char=""/>
              <a:tabLst>
                <a:tab pos="298450" algn="l"/>
              </a:tabLst>
            </a:pPr>
            <a:r>
              <a:rPr dirty="0" sz="2000" spc="-10">
                <a:latin typeface="Calibri"/>
                <a:cs typeface="Calibri"/>
              </a:rPr>
              <a:t>Unary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lr>
                <a:srgbClr val="FF8787"/>
              </a:buClr>
              <a:buFont typeface="Wingdings"/>
              <a:buChar char=""/>
              <a:tabLst>
                <a:tab pos="298450" algn="l"/>
              </a:tabLst>
            </a:pPr>
            <a:r>
              <a:rPr dirty="0" sz="2000" spc="-10">
                <a:latin typeface="Calibri"/>
                <a:cs typeface="Calibri"/>
              </a:rPr>
              <a:t>Binary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lr>
                <a:srgbClr val="FF8787"/>
              </a:buClr>
              <a:buFont typeface="Wingdings"/>
              <a:buChar char=""/>
              <a:tabLst>
                <a:tab pos="298450" algn="l"/>
              </a:tabLst>
            </a:pPr>
            <a:r>
              <a:rPr dirty="0" sz="2000" spc="-10">
                <a:latin typeface="Calibri"/>
                <a:cs typeface="Calibri"/>
              </a:rPr>
              <a:t>Ternary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lr>
                <a:srgbClr val="FF8787"/>
              </a:buClr>
              <a:buFont typeface="Wingdings"/>
              <a:buChar char=""/>
              <a:tabLst>
                <a:tab pos="298450" algn="l"/>
              </a:tabLst>
            </a:pPr>
            <a:r>
              <a:rPr dirty="0" sz="2000">
                <a:latin typeface="Calibri"/>
                <a:cs typeface="Calibri"/>
              </a:rPr>
              <a:t>N-</a:t>
            </a:r>
            <a:r>
              <a:rPr dirty="0" sz="2000" spc="-25">
                <a:latin typeface="Calibri"/>
                <a:cs typeface="Calibri"/>
              </a:rPr>
              <a:t>ary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66745" y="5894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69829" y="5894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13288" y="5894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044" rIns="0" bIns="0" rtlCol="0" vert="horz">
            <a:spAutoFit/>
          </a:bodyPr>
          <a:lstStyle/>
          <a:p>
            <a:pPr marL="156845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Relationship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higher</a:t>
            </a:r>
            <a:r>
              <a:rPr dirty="0" spc="-40"/>
              <a:t> </a:t>
            </a:r>
            <a:r>
              <a:rPr dirty="0" spc="-10"/>
              <a:t>degree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93697"/>
            <a:ext cx="7802245" cy="234505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70"/>
              </a:spcBef>
            </a:pPr>
            <a:r>
              <a:rPr dirty="0" sz="2400" b="1">
                <a:latin typeface="Calibri"/>
                <a:cs typeface="Calibri"/>
              </a:rPr>
              <a:t>Unary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(Degree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algn="just" marL="927100">
              <a:lnSpc>
                <a:spcPct val="100000"/>
              </a:lnSpc>
              <a:spcBef>
                <a:spcPts val="400"/>
              </a:spcBef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participating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unary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relationship.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Example: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particular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class,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students,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monitors </a:t>
            </a:r>
            <a:r>
              <a:rPr dirty="0" sz="2000">
                <a:latin typeface="Calibri"/>
                <a:cs typeface="Calibri"/>
              </a:rPr>
              <a:t>too.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So,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students.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Thus,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say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only </a:t>
            </a:r>
            <a:r>
              <a:rPr dirty="0" sz="2000">
                <a:latin typeface="Calibri"/>
                <a:cs typeface="Calibri"/>
              </a:rPr>
              <a:t>students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participating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here.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degree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1.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2932" y="3592067"/>
            <a:ext cx="4125468" cy="242773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124326" y="62750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169</a:t>
            </a:fld>
          </a:p>
        </p:txBody>
      </p:sp>
      <p:sp>
        <p:nvSpPr>
          <p:cNvPr id="9" name="object 9" descr=""/>
          <p:cNvSpPr txBox="1"/>
          <p:nvPr/>
        </p:nvSpPr>
        <p:spPr>
          <a:xfrm>
            <a:off x="4127410" y="62750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70869" y="62750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044" rIns="0" bIns="0" rtlCol="0" vert="horz">
            <a:spAutoFit/>
          </a:bodyPr>
          <a:lstStyle/>
          <a:p>
            <a:pPr marL="156845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Relationship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higher</a:t>
            </a:r>
            <a:r>
              <a:rPr dirty="0" spc="-40"/>
              <a:t> </a:t>
            </a:r>
            <a:r>
              <a:rPr dirty="0" spc="-10"/>
              <a:t>degree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210263"/>
            <a:ext cx="7802880" cy="315150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65"/>
              </a:spcBef>
            </a:pP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(Degree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2)</a:t>
            </a:r>
            <a:endParaRPr sz="2000">
              <a:latin typeface="Calibri"/>
              <a:cs typeface="Calibri"/>
            </a:endParaRPr>
          </a:p>
          <a:p>
            <a:pPr algn="just" marL="12700" marR="5080" indent="966469">
              <a:lnSpc>
                <a:spcPct val="102299"/>
              </a:lnSpc>
              <a:spcBef>
                <a:spcPts val="320"/>
              </a:spcBef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participating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type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binary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relationship.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used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easily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converted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table.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2000" b="1">
                <a:latin typeface="Calibri"/>
                <a:cs typeface="Calibri"/>
              </a:rPr>
              <a:t>Example: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‘Student’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‘ID’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‘Student’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his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‘ID’.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So,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associating,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binary relationship.</a:t>
            </a:r>
            <a:endParaRPr sz="2000">
              <a:latin typeface="Calibri"/>
              <a:cs typeface="Calibri"/>
            </a:endParaRPr>
          </a:p>
          <a:p>
            <a:pPr algn="just" marL="12700" marR="762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Also,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‘Father’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‘daughters’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‘daughter’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should </a:t>
            </a:r>
            <a:r>
              <a:rPr dirty="0" sz="2000">
                <a:latin typeface="Calibri"/>
                <a:cs typeface="Calibri"/>
              </a:rPr>
              <a:t>belong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‘father.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 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one-</a:t>
            </a:r>
            <a:r>
              <a:rPr dirty="0" sz="2000" spc="-20">
                <a:latin typeface="Calibri"/>
                <a:cs typeface="Calibri"/>
              </a:rPr>
              <a:t>to-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binary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8072" y="5155691"/>
            <a:ext cx="5734811" cy="78028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285745" y="63131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88829" y="63131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32288" y="63131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170</a:t>
            </a:fld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044" rIns="0" bIns="0" rtlCol="0" vert="horz">
            <a:spAutoFit/>
          </a:bodyPr>
          <a:lstStyle/>
          <a:p>
            <a:pPr marL="156845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Relationship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higher</a:t>
            </a:r>
            <a:r>
              <a:rPr dirty="0" spc="-40"/>
              <a:t> </a:t>
            </a:r>
            <a:r>
              <a:rPr dirty="0" spc="-10"/>
              <a:t>degree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6244" y="1172432"/>
            <a:ext cx="7800975" cy="262001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spc="-25" b="1">
                <a:latin typeface="Calibri"/>
                <a:cs typeface="Calibri"/>
              </a:rPr>
              <a:t>Ternary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(Degree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3)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00"/>
              </a:spcBef>
            </a:pPr>
            <a:r>
              <a:rPr dirty="0" sz="2000">
                <a:latin typeface="Calibri"/>
                <a:cs typeface="Calibri"/>
              </a:rPr>
              <a:t>Ternary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exists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entity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degree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3.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2165"/>
              </a:spcBef>
            </a:pPr>
            <a:r>
              <a:rPr dirty="0" sz="2000" b="1">
                <a:latin typeface="Calibri"/>
                <a:cs typeface="Calibri"/>
              </a:rPr>
              <a:t>Example: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‘Teacher’,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‘Course’,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‘Class’.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teacher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teaching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particular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course,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teacher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teaches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particular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three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associating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ternary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relationship.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9116" y="4027932"/>
            <a:ext cx="5733288" cy="206806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895345" y="6236919"/>
            <a:ext cx="7962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00556" y="6236919"/>
            <a:ext cx="4044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45075" y="6236919"/>
            <a:ext cx="6502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171</a:t>
            </a:fld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044" rIns="0" bIns="0" rtlCol="0" vert="horz">
            <a:spAutoFit/>
          </a:bodyPr>
          <a:lstStyle/>
          <a:p>
            <a:pPr marL="156845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Relationship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higher</a:t>
            </a:r>
            <a:r>
              <a:rPr dirty="0" spc="-40"/>
              <a:t> </a:t>
            </a:r>
            <a:r>
              <a:rPr dirty="0" spc="-10"/>
              <a:t>degree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90030" y="6423152"/>
            <a:ext cx="414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Unit-</a:t>
            </a:r>
            <a:r>
              <a:rPr dirty="0" sz="1200" spc="-5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65997" y="6423152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172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50544" y="1134063"/>
            <a:ext cx="7802245" cy="257238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000" spc="-10" b="1">
                <a:latin typeface="Calibri"/>
                <a:cs typeface="Calibri"/>
              </a:rPr>
              <a:t>N-</a:t>
            </a:r>
            <a:r>
              <a:rPr dirty="0" sz="2000" b="1">
                <a:latin typeface="Calibri"/>
                <a:cs typeface="Calibri"/>
              </a:rPr>
              <a:t>ary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(n </a:t>
            </a:r>
            <a:r>
              <a:rPr dirty="0" sz="2000" spc="-10" b="1">
                <a:latin typeface="Calibri"/>
                <a:cs typeface="Calibri"/>
              </a:rPr>
              <a:t>Degree)</a:t>
            </a:r>
            <a:endParaRPr sz="2000">
              <a:latin typeface="Calibri"/>
              <a:cs typeface="Calibri"/>
            </a:endParaRPr>
          </a:p>
          <a:p>
            <a:pPr marL="12700" marR="5715" indent="914400">
              <a:lnSpc>
                <a:spcPct val="101099"/>
              </a:lnSpc>
              <a:spcBef>
                <a:spcPts val="345"/>
              </a:spcBef>
            </a:pP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N-</a:t>
            </a:r>
            <a:r>
              <a:rPr dirty="0" sz="2000">
                <a:latin typeface="Calibri"/>
                <a:cs typeface="Calibri"/>
              </a:rPr>
              <a:t>ary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exists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entities.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limitation of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N-</a:t>
            </a:r>
            <a:r>
              <a:rPr dirty="0" sz="2000">
                <a:latin typeface="Calibri"/>
                <a:cs typeface="Calibri"/>
              </a:rPr>
              <a:t>ary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relationship,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entities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convert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entity,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rational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table. 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https://youtu.be/M4qZ5i1LL2o?si=M-YvPZ1Vp9KZK5Kn</a:t>
            </a:r>
            <a:r>
              <a:rPr dirty="0" sz="20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https://youtu.be/010_f2HKzJY?si=82Z1Qleud-bBduii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Example: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5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entities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Teacher,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Class,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Location,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Salary,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Course.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So,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associating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n-</a:t>
            </a:r>
            <a:r>
              <a:rPr dirty="0" sz="2000">
                <a:latin typeface="Calibri"/>
                <a:cs typeface="Calibri"/>
              </a:rPr>
              <a:t>ary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relationship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5.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1600" y="3886200"/>
            <a:ext cx="5734811" cy="253593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048126" y="66179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51210" y="66179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94669" y="66179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50315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Conceptual</a:t>
            </a:r>
            <a:r>
              <a:rPr dirty="0" spc="-175"/>
              <a:t> </a:t>
            </a:r>
            <a:r>
              <a:rPr dirty="0" spc="-10"/>
              <a:t>Design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173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1530" y="1055319"/>
            <a:ext cx="8081645" cy="387604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 i="1">
                <a:latin typeface="Calibri"/>
                <a:cs typeface="Calibri"/>
              </a:rPr>
              <a:t>Conceptual design</a:t>
            </a:r>
            <a:r>
              <a:rPr dirty="0" sz="2150" spc="15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follows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requirements</a:t>
            </a:r>
            <a:r>
              <a:rPr dirty="0" sz="2150" spc="15" i="1">
                <a:latin typeface="Calibri"/>
                <a:cs typeface="Calibri"/>
              </a:rPr>
              <a:t> </a:t>
            </a:r>
            <a:r>
              <a:rPr dirty="0" sz="2150" spc="-10" i="1">
                <a:latin typeface="Calibri"/>
                <a:cs typeface="Calibri"/>
              </a:rPr>
              <a:t>analysis</a:t>
            </a:r>
            <a:r>
              <a:rPr dirty="0" sz="2150" spc="-10">
                <a:latin typeface="Calibri"/>
                <a:cs typeface="Calibri"/>
              </a:rPr>
              <a:t>,</a:t>
            </a:r>
            <a:endParaRPr sz="215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95"/>
              </a:spcBef>
              <a:buSzPct val="76744"/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Yields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high-</a:t>
            </a:r>
            <a:r>
              <a:rPr dirty="0" sz="2150">
                <a:latin typeface="Calibri"/>
                <a:cs typeface="Calibri"/>
              </a:rPr>
              <a:t>level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description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stored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model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popular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conceptual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design</a:t>
            </a:r>
            <a:endParaRPr sz="2150">
              <a:latin typeface="Calibri"/>
              <a:cs typeface="Calibri"/>
            </a:endParaRPr>
          </a:p>
          <a:p>
            <a:pPr lvl="1" marL="756285" marR="77470" indent="-287020">
              <a:lnSpc>
                <a:spcPct val="101899"/>
              </a:lnSpc>
              <a:spcBef>
                <a:spcPts val="415"/>
              </a:spcBef>
              <a:buSzPct val="76744"/>
              <a:buFont typeface="Arial MT"/>
              <a:buChar char="–"/>
              <a:tabLst>
                <a:tab pos="756285" algn="l"/>
              </a:tabLst>
            </a:pPr>
            <a:r>
              <a:rPr dirty="0" sz="2150">
                <a:latin typeface="Calibri"/>
                <a:cs typeface="Calibri"/>
              </a:rPr>
              <a:t>Constructs</a:t>
            </a:r>
            <a:r>
              <a:rPr dirty="0" sz="2150" spc="2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expressive,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close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way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people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think</a:t>
            </a:r>
            <a:r>
              <a:rPr dirty="0" sz="2150" spc="2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about </a:t>
            </a:r>
            <a:r>
              <a:rPr dirty="0" sz="2150">
                <a:latin typeface="Calibri"/>
                <a:cs typeface="Calibri"/>
              </a:rPr>
              <a:t>their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applications.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Basic</a:t>
            </a:r>
            <a:r>
              <a:rPr dirty="0" sz="2150" spc="4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constructs: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entities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430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relationships</a:t>
            </a:r>
            <a:r>
              <a:rPr dirty="0" sz="2150">
                <a:latin typeface="Calibri"/>
                <a:cs typeface="Calibri"/>
              </a:rPr>
              <a:t>,</a:t>
            </a:r>
            <a:r>
              <a:rPr dirty="0" sz="2150" spc="4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attributes</a:t>
            </a:r>
            <a:r>
              <a:rPr dirty="0" sz="2150" spc="409" i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(of</a:t>
            </a:r>
            <a:r>
              <a:rPr dirty="0" sz="2150" spc="4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entities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relationships).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  <a:tab pos="1147445" algn="l"/>
                <a:tab pos="2444750" algn="l"/>
                <a:tab pos="3845560" algn="l"/>
                <a:tab pos="4609465" algn="l"/>
                <a:tab pos="5677535" algn="l"/>
                <a:tab pos="6191250" algn="l"/>
                <a:tab pos="7650480" algn="l"/>
              </a:tabLst>
            </a:pPr>
            <a:r>
              <a:rPr dirty="0" sz="2150" spc="-20">
                <a:latin typeface="Calibri"/>
                <a:cs typeface="Calibri"/>
              </a:rPr>
              <a:t>Some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additional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constructs: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 i="1">
                <a:latin typeface="Calibri"/>
                <a:cs typeface="Calibri"/>
              </a:rPr>
              <a:t>weak</a:t>
            </a:r>
            <a:r>
              <a:rPr dirty="0" sz="2150" i="1">
                <a:latin typeface="Calibri"/>
                <a:cs typeface="Calibri"/>
              </a:rPr>
              <a:t>	</a:t>
            </a:r>
            <a:r>
              <a:rPr dirty="0" sz="2150" spc="-10" i="1">
                <a:latin typeface="Calibri"/>
                <a:cs typeface="Calibri"/>
              </a:rPr>
              <a:t>entities</a:t>
            </a:r>
            <a:r>
              <a:rPr dirty="0" sz="2150" spc="-10">
                <a:latin typeface="Calibri"/>
                <a:cs typeface="Calibri"/>
              </a:rPr>
              <a:t>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 i="1">
                <a:latin typeface="Calibri"/>
                <a:cs typeface="Calibri"/>
              </a:rPr>
              <a:t>ISA</a:t>
            </a:r>
            <a:r>
              <a:rPr dirty="0" sz="2150" i="1">
                <a:latin typeface="Calibri"/>
                <a:cs typeface="Calibri"/>
              </a:rPr>
              <a:t>	</a:t>
            </a:r>
            <a:r>
              <a:rPr dirty="0" sz="2150" spc="-10" i="1">
                <a:latin typeface="Calibri"/>
                <a:cs typeface="Calibri"/>
              </a:rPr>
              <a:t>hierarchies</a:t>
            </a:r>
            <a:r>
              <a:rPr dirty="0" sz="2150" spc="-10">
                <a:latin typeface="Calibri"/>
                <a:cs typeface="Calibri"/>
              </a:rPr>
              <a:t>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dirty="0" sz="2150" spc="-10" i="1">
                <a:latin typeface="Calibri"/>
                <a:cs typeface="Calibri"/>
              </a:rPr>
              <a:t>aggregation</a:t>
            </a:r>
            <a:r>
              <a:rPr dirty="0" sz="2150" spc="-1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Note: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variations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on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model.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38145" y="5817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5817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5817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796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ER</a:t>
            </a:r>
            <a:r>
              <a:rPr dirty="0" spc="-85"/>
              <a:t> </a:t>
            </a:r>
            <a:r>
              <a:rPr dirty="0" spc="-10"/>
              <a:t>(Contd.)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173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1530" y="1116838"/>
            <a:ext cx="8086725" cy="29171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just" marL="355600" marR="5080" indent="-342900">
              <a:lnSpc>
                <a:spcPct val="91900"/>
              </a:lnSpc>
              <a:spcBef>
                <a:spcPts val="3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design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 i="1">
                <a:latin typeface="Calibri"/>
                <a:cs typeface="Calibri"/>
              </a:rPr>
              <a:t>subjective</a:t>
            </a:r>
            <a:r>
              <a:rPr dirty="0" sz="2150">
                <a:latin typeface="Calibri"/>
                <a:cs typeface="Calibri"/>
              </a:rPr>
              <a:t>.</a:t>
            </a:r>
            <a:r>
              <a:rPr dirty="0" sz="2150" spc="5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There</a:t>
            </a:r>
            <a:r>
              <a:rPr dirty="0" sz="2150" spc="4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5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often</a:t>
            </a:r>
            <a:r>
              <a:rPr dirty="0" sz="2150" spc="4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many</a:t>
            </a:r>
            <a:r>
              <a:rPr dirty="0" sz="2150" spc="4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ways</a:t>
            </a:r>
            <a:r>
              <a:rPr dirty="0" sz="2150" spc="4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50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model</a:t>
            </a:r>
            <a:r>
              <a:rPr dirty="0" sz="2150" spc="505">
                <a:latin typeface="Calibri"/>
                <a:cs typeface="Calibri"/>
              </a:rPr>
              <a:t> 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given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scenario!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Analyzing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alternatives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can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tricky,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especially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large</a:t>
            </a:r>
            <a:r>
              <a:rPr dirty="0" sz="2150" spc="-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enterprise.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Common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choices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include:</a:t>
            </a:r>
            <a:endParaRPr sz="2150">
              <a:latin typeface="Calibri"/>
              <a:cs typeface="Calibri"/>
            </a:endParaRPr>
          </a:p>
          <a:p>
            <a:pPr algn="just" marL="756285" marR="12065" indent="-287020">
              <a:lnSpc>
                <a:spcPct val="91900"/>
              </a:lnSpc>
              <a:spcBef>
                <a:spcPts val="605"/>
              </a:spcBef>
            </a:pPr>
            <a:r>
              <a:rPr dirty="0" sz="1650">
                <a:latin typeface="Arial MT"/>
                <a:cs typeface="Arial MT"/>
              </a:rPr>
              <a:t>–</a:t>
            </a:r>
            <a:r>
              <a:rPr dirty="0" sz="1650" spc="114">
                <a:latin typeface="Arial MT"/>
                <a:cs typeface="Arial MT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29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vs.</a:t>
            </a:r>
            <a:r>
              <a:rPr dirty="0" sz="2150" spc="2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attribute,</a:t>
            </a:r>
            <a:r>
              <a:rPr dirty="0" sz="2150" spc="229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225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vs.</a:t>
            </a:r>
            <a:r>
              <a:rPr dirty="0" sz="2150" spc="2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relationship,</a:t>
            </a:r>
            <a:r>
              <a:rPr dirty="0" sz="2150" spc="22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binary</a:t>
            </a:r>
            <a:r>
              <a:rPr dirty="0" sz="2150" spc="229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210">
                <a:latin typeface="Calibri"/>
                <a:cs typeface="Calibri"/>
              </a:rPr>
              <a:t>  </a:t>
            </a:r>
            <a:r>
              <a:rPr dirty="0" sz="2150">
                <a:latin typeface="Calibri"/>
                <a:cs typeface="Calibri"/>
              </a:rPr>
              <a:t>n-</a:t>
            </a:r>
            <a:r>
              <a:rPr dirty="0" sz="2150" spc="-25">
                <a:latin typeface="Calibri"/>
                <a:cs typeface="Calibri"/>
              </a:rPr>
              <a:t>ary </a:t>
            </a:r>
            <a:r>
              <a:rPr dirty="0" sz="2150">
                <a:latin typeface="Calibri"/>
                <a:cs typeface="Calibri"/>
              </a:rPr>
              <a:t>relationship,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whether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ISA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hierarchies,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whether </a:t>
            </a:r>
            <a:r>
              <a:rPr dirty="0" sz="2150">
                <a:latin typeface="Calibri"/>
                <a:cs typeface="Calibri"/>
              </a:rPr>
              <a:t>or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aggregation.</a:t>
            </a:r>
            <a:endParaRPr sz="2150">
              <a:latin typeface="Calibri"/>
              <a:cs typeface="Calibri"/>
            </a:endParaRPr>
          </a:p>
          <a:p>
            <a:pPr algn="just" marL="355600" marR="10160" indent="-342900">
              <a:lnSpc>
                <a:spcPts val="238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Ensuring</a:t>
            </a:r>
            <a:r>
              <a:rPr dirty="0" sz="2150" spc="3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good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3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design: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resulting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relational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schema</a:t>
            </a:r>
            <a:r>
              <a:rPr dirty="0" sz="2150" spc="3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should </a:t>
            </a:r>
            <a:r>
              <a:rPr dirty="0" sz="2150">
                <a:latin typeface="Calibri"/>
                <a:cs typeface="Calibri"/>
              </a:rPr>
              <a:t>be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analyzed</a:t>
            </a:r>
            <a:r>
              <a:rPr dirty="0" sz="2150" spc="2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refined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further.</a:t>
            </a:r>
            <a:r>
              <a:rPr dirty="0" sz="2150" spc="2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FD</a:t>
            </a:r>
            <a:r>
              <a:rPr dirty="0" sz="2150" spc="2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information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7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normalization </a:t>
            </a:r>
            <a:r>
              <a:rPr dirty="0" sz="2150">
                <a:latin typeface="Calibri"/>
                <a:cs typeface="Calibri"/>
              </a:rPr>
              <a:t>techniques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especially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useful.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90545" y="5817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93629" y="5817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7088" y="5817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044" rIns="0" bIns="0" rtlCol="0" vert="horz">
            <a:spAutoFit/>
          </a:bodyPr>
          <a:lstStyle/>
          <a:p>
            <a:pPr marL="156845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15"/>
              <a:t> </a:t>
            </a:r>
            <a:r>
              <a:rPr dirty="0"/>
              <a:t>Cases</a:t>
            </a:r>
            <a:r>
              <a:rPr dirty="0" spc="-20"/>
              <a:t> </a:t>
            </a:r>
            <a:r>
              <a:rPr dirty="0" spc="-10"/>
              <a:t>Videos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173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1342136" y="2760091"/>
            <a:ext cx="570738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https://youtu.be/M4qZ5i1LL2o?si=M-YvPZ1Vp9KZK5Kn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https://youtu.be/010_f2HKzJY?si=82Z1Qleud-bBduii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09545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12629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56088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8577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Topic</a:t>
            </a:r>
            <a:r>
              <a:rPr dirty="0" spc="-165"/>
              <a:t> </a:t>
            </a:r>
            <a:r>
              <a:rPr dirty="0" spc="-20"/>
              <a:t>Links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0571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02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036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07186" y="1269619"/>
            <a:ext cx="7192645" cy="1675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eriod"/>
              <a:tabLst>
                <a:tab pos="354965" algn="l"/>
              </a:tabLst>
            </a:pP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https://www.geeksforgeeks.org/last-</a:t>
            </a:r>
            <a:r>
              <a:rPr dirty="0" u="sng" sz="18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minute-notes-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dbms/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35"/>
              </a:lnSpc>
              <a:buClr>
                <a:srgbClr val="000000"/>
              </a:buClr>
              <a:buAutoNum type="arabicPeriod"/>
              <a:tabLst>
                <a:tab pos="354965" algn="l"/>
              </a:tabLst>
            </a:pPr>
            <a:r>
              <a:rPr dirty="0" u="sng" sz="18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https://www.geeksforgeeks.org/quiz-corner-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gq/#DBMS%20Mock%20Tests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35"/>
              </a:lnSpc>
              <a:buClr>
                <a:srgbClr val="000000"/>
              </a:buClr>
              <a:buAutoNum type="arabicPeriod"/>
              <a:tabLst>
                <a:tab pos="354965" algn="l"/>
              </a:tabLst>
            </a:pPr>
            <a:r>
              <a:rPr dirty="0" u="sng" sz="18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https://www.geeksforgeeks.org/commonly-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asked-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dbms-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interview-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questions/</a:t>
            </a:r>
            <a:endParaRPr sz="1800">
              <a:latin typeface="Calibri"/>
              <a:cs typeface="Calibri"/>
            </a:endParaRPr>
          </a:p>
          <a:p>
            <a:pPr marL="355600" marR="721995" indent="-342900">
              <a:lnSpc>
                <a:spcPts val="2100"/>
              </a:lnSpc>
              <a:spcBef>
                <a:spcPts val="229"/>
              </a:spcBef>
              <a:buClr>
                <a:srgbClr val="000000"/>
              </a:buClr>
              <a:buAutoNum type="arabicPeriod" startAt="4"/>
              <a:tabLst>
                <a:tab pos="355600" algn="l"/>
              </a:tabLst>
            </a:pP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https://www.geeksforgeeks.org/commonly-asked-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dbms-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interview-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  <a:hlinkClick r:id="rId7"/>
              </a:rPr>
              <a:t> 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questions-set-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2/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47140" y="1496694"/>
            <a:ext cx="6951980" cy="3627754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Define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Database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understand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independence?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Explain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types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attributes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diagram.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generalization.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understand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primary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key?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Explain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participation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Explain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Types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keys.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25">
                <a:latin typeface="Calibri"/>
                <a:cs typeface="Calibri"/>
              </a:rPr>
              <a:t>Differentiate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primary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key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candidate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57145" y="61607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0229" y="61607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03688" y="61607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176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33395">
              <a:lnSpc>
                <a:spcPct val="100000"/>
              </a:lnSpc>
              <a:spcBef>
                <a:spcPts val="100"/>
              </a:spcBef>
            </a:pPr>
            <a:r>
              <a:rPr dirty="0"/>
              <a:t>Daily</a:t>
            </a:r>
            <a:r>
              <a:rPr dirty="0" spc="-114"/>
              <a:t> </a:t>
            </a:r>
            <a:r>
              <a:rPr dirty="0" spc="-20"/>
              <a:t>Quiz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12444" y="1145539"/>
            <a:ext cx="6955155" cy="3851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represented</a:t>
            </a:r>
            <a:r>
              <a:rPr dirty="0" sz="2150" spc="2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E-R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 spc="-35">
                <a:latin typeface="Calibri"/>
                <a:cs typeface="Calibri"/>
              </a:rPr>
              <a:t>as</a:t>
            </a:r>
            <a:endParaRPr sz="2150">
              <a:latin typeface="Calibri"/>
              <a:cs typeface="Calibri"/>
            </a:endParaRPr>
          </a:p>
          <a:p>
            <a:pPr lvl="1" marL="631825" indent="-276225">
              <a:lnSpc>
                <a:spcPct val="100000"/>
              </a:lnSpc>
              <a:spcBef>
                <a:spcPts val="100"/>
              </a:spcBef>
              <a:buAutoNum type="alphaLcParenR"/>
              <a:tabLst>
                <a:tab pos="631825" algn="l"/>
              </a:tabLst>
            </a:pPr>
            <a:r>
              <a:rPr dirty="0" sz="2150">
                <a:latin typeface="Calibri"/>
                <a:cs typeface="Calibri"/>
              </a:rPr>
              <a:t>Double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diamonds</a:t>
            </a:r>
            <a:endParaRPr sz="2150">
              <a:latin typeface="Calibri"/>
              <a:cs typeface="Calibri"/>
            </a:endParaRPr>
          </a:p>
          <a:p>
            <a:pPr lvl="1" marL="650240" indent="-294640">
              <a:lnSpc>
                <a:spcPct val="100000"/>
              </a:lnSpc>
              <a:buAutoNum type="alphaLcParenR"/>
              <a:tabLst>
                <a:tab pos="650240" algn="l"/>
              </a:tabLst>
            </a:pPr>
            <a:r>
              <a:rPr dirty="0" sz="2150">
                <a:latin typeface="Calibri"/>
                <a:cs typeface="Calibri"/>
              </a:rPr>
              <a:t>Undivided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rectangles</a:t>
            </a:r>
            <a:endParaRPr sz="2150">
              <a:latin typeface="Calibri"/>
              <a:cs typeface="Calibri"/>
            </a:endParaRPr>
          </a:p>
          <a:p>
            <a:pPr lvl="1" marL="621665" indent="-266065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621665" algn="l"/>
              </a:tabLst>
            </a:pPr>
            <a:r>
              <a:rPr dirty="0" sz="2150">
                <a:latin typeface="Calibri"/>
                <a:cs typeface="Calibri"/>
              </a:rPr>
              <a:t>Dashed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lines</a:t>
            </a:r>
            <a:endParaRPr sz="2150">
              <a:latin typeface="Calibri"/>
              <a:cs typeface="Calibri"/>
            </a:endParaRPr>
          </a:p>
          <a:p>
            <a:pPr lvl="1" marL="650240" indent="-294640">
              <a:lnSpc>
                <a:spcPct val="100000"/>
              </a:lnSpc>
              <a:spcBef>
                <a:spcPts val="110"/>
              </a:spcBef>
              <a:buAutoNum type="alphaLcParenR"/>
              <a:tabLst>
                <a:tab pos="650240" algn="l"/>
              </a:tabLst>
            </a:pPr>
            <a:r>
              <a:rPr dirty="0" sz="2150" spc="-10" b="1">
                <a:latin typeface="Calibri"/>
                <a:cs typeface="Calibri"/>
              </a:rPr>
              <a:t>Diamond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95"/>
              </a:spcBef>
              <a:buAutoNum type="alphaLcParenR"/>
            </a:pP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Rectangles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divided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into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two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parts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represents</a:t>
            </a:r>
            <a:endParaRPr sz="2150">
              <a:latin typeface="Calibri"/>
              <a:cs typeface="Calibri"/>
            </a:endParaRPr>
          </a:p>
          <a:p>
            <a:pPr lvl="1" marL="641350" indent="-285750">
              <a:lnSpc>
                <a:spcPct val="100000"/>
              </a:lnSpc>
              <a:buAutoNum type="alphaLcParenR"/>
              <a:tabLst>
                <a:tab pos="641350" algn="l"/>
              </a:tabLst>
            </a:pPr>
            <a:r>
              <a:rPr dirty="0" sz="2150" b="1">
                <a:latin typeface="Calibri"/>
                <a:cs typeface="Calibri"/>
              </a:rPr>
              <a:t>Entity</a:t>
            </a:r>
            <a:r>
              <a:rPr dirty="0" sz="2150" spc="10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lvl="1" marL="650240" indent="-294640">
              <a:lnSpc>
                <a:spcPct val="100000"/>
              </a:lnSpc>
              <a:spcBef>
                <a:spcPts val="100"/>
              </a:spcBef>
              <a:buAutoNum type="alphaLcParenR"/>
              <a:tabLst>
                <a:tab pos="650240" algn="l"/>
              </a:tabLst>
            </a:pP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lvl="1" marL="621665" indent="-266065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621665" algn="l"/>
              </a:tabLst>
            </a:pPr>
            <a:r>
              <a:rPr dirty="0" sz="2150" spc="-10">
                <a:latin typeface="Calibri"/>
                <a:cs typeface="Calibri"/>
              </a:rPr>
              <a:t>Attributes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relationship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lvl="1" marL="650240" indent="-294640">
              <a:lnSpc>
                <a:spcPct val="100000"/>
              </a:lnSpc>
              <a:spcBef>
                <a:spcPts val="105"/>
              </a:spcBef>
              <a:buAutoNum type="alphaLcParenR"/>
              <a:tabLst>
                <a:tab pos="650240" algn="l"/>
              </a:tabLst>
            </a:pP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key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178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38829">
              <a:lnSpc>
                <a:spcPct val="100000"/>
              </a:lnSpc>
              <a:spcBef>
                <a:spcPts val="100"/>
              </a:spcBef>
            </a:pPr>
            <a:r>
              <a:rPr dirty="0"/>
              <a:t>MCQ</a:t>
            </a:r>
            <a:r>
              <a:rPr dirty="0" spc="-110"/>
              <a:t> </a:t>
            </a:r>
            <a:r>
              <a:rPr dirty="0" spc="-50"/>
              <a:t>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819145" y="5970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22229" y="5970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365688" y="5970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12444" y="1145539"/>
            <a:ext cx="7776845" cy="4511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 set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that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does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not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have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sufficient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form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  <a:tabLst>
                <a:tab pos="4505325" algn="l"/>
              </a:tabLst>
            </a:pPr>
            <a:r>
              <a:rPr dirty="0" sz="2150">
                <a:latin typeface="Calibri"/>
                <a:cs typeface="Calibri"/>
              </a:rPr>
              <a:t>primary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key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termed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</a:t>
            </a:r>
            <a:r>
              <a:rPr dirty="0" u="heavy" sz="21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2150">
              <a:latin typeface="Calibri"/>
              <a:cs typeface="Calibri"/>
            </a:endParaRPr>
          </a:p>
          <a:p>
            <a:pPr lvl="1" marL="632460" indent="-276860">
              <a:lnSpc>
                <a:spcPct val="100000"/>
              </a:lnSpc>
              <a:buAutoNum type="alphaLcParenR"/>
              <a:tabLst>
                <a:tab pos="632460" algn="l"/>
              </a:tabLst>
            </a:pPr>
            <a:r>
              <a:rPr dirty="0" sz="2150">
                <a:latin typeface="Calibri"/>
                <a:cs typeface="Calibri"/>
              </a:rPr>
              <a:t>Strong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lvl="1" marL="650875" indent="-295275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650875" algn="l"/>
              </a:tabLst>
            </a:pPr>
            <a:r>
              <a:rPr dirty="0" sz="2150" spc="-30">
                <a:latin typeface="Calibri"/>
                <a:cs typeface="Calibri"/>
              </a:rPr>
              <a:t>Variant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lvl="1" marL="621665" indent="-266065">
              <a:lnSpc>
                <a:spcPct val="100000"/>
              </a:lnSpc>
              <a:spcBef>
                <a:spcPts val="110"/>
              </a:spcBef>
              <a:buAutoNum type="alphaLcParenR"/>
              <a:tabLst>
                <a:tab pos="621665" algn="l"/>
              </a:tabLst>
            </a:pPr>
            <a:r>
              <a:rPr dirty="0" sz="2150" b="1">
                <a:latin typeface="Calibri"/>
                <a:cs typeface="Calibri"/>
              </a:rPr>
              <a:t>Weak entity</a:t>
            </a:r>
            <a:r>
              <a:rPr dirty="0" sz="2150" spc="-85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lvl="1" marL="650240" indent="-294640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650240" algn="l"/>
              </a:tabLst>
            </a:pPr>
            <a:r>
              <a:rPr dirty="0" sz="2150" spc="-20">
                <a:latin typeface="Calibri"/>
                <a:cs typeface="Calibri"/>
              </a:rPr>
              <a:t>Variable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set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50"/>
              </a:spcBef>
              <a:buAutoNum type="alphaLcParenR"/>
            </a:pP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01899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What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term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used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-8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refer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 a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specific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record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your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music </a:t>
            </a:r>
            <a:r>
              <a:rPr dirty="0" sz="2150">
                <a:latin typeface="Calibri"/>
                <a:cs typeface="Calibri"/>
              </a:rPr>
              <a:t>database;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instance;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information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stored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about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specific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album?</a:t>
            </a:r>
            <a:endParaRPr sz="2150">
              <a:latin typeface="Calibri"/>
              <a:cs typeface="Calibri"/>
            </a:endParaRPr>
          </a:p>
          <a:p>
            <a:pPr lvl="1" marL="632460" indent="-276860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632460" algn="l"/>
              </a:tabLst>
            </a:pPr>
            <a:r>
              <a:rPr dirty="0" sz="2150" spc="-10">
                <a:latin typeface="Calibri"/>
                <a:cs typeface="Calibri"/>
              </a:rPr>
              <a:t>Relation</a:t>
            </a:r>
            <a:endParaRPr sz="2150">
              <a:latin typeface="Calibri"/>
              <a:cs typeface="Calibri"/>
            </a:endParaRPr>
          </a:p>
          <a:p>
            <a:pPr lvl="1" marL="650875" indent="-295275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650875" algn="l"/>
              </a:tabLst>
            </a:pPr>
            <a:r>
              <a:rPr dirty="0" sz="2150" spc="-10" b="1">
                <a:latin typeface="Calibri"/>
                <a:cs typeface="Calibri"/>
              </a:rPr>
              <a:t>Instance</a:t>
            </a:r>
            <a:endParaRPr sz="2150">
              <a:latin typeface="Calibri"/>
              <a:cs typeface="Calibri"/>
            </a:endParaRPr>
          </a:p>
          <a:p>
            <a:pPr lvl="1" marL="621665" indent="-266065">
              <a:lnSpc>
                <a:spcPct val="100000"/>
              </a:lnSpc>
              <a:spcBef>
                <a:spcPts val="100"/>
              </a:spcBef>
              <a:buAutoNum type="alphaLcParenR"/>
              <a:tabLst>
                <a:tab pos="621665" algn="l"/>
              </a:tabLst>
            </a:pPr>
            <a:r>
              <a:rPr dirty="0" sz="2150" spc="-10">
                <a:latin typeface="Calibri"/>
                <a:cs typeface="Calibri"/>
              </a:rPr>
              <a:t>Table</a:t>
            </a:r>
            <a:endParaRPr sz="2150">
              <a:latin typeface="Calibri"/>
              <a:cs typeface="Calibri"/>
            </a:endParaRPr>
          </a:p>
          <a:p>
            <a:pPr lvl="1" marL="650240" indent="-294640">
              <a:lnSpc>
                <a:spcPct val="100000"/>
              </a:lnSpc>
              <a:buAutoNum type="alphaLcParenR"/>
              <a:tabLst>
                <a:tab pos="650240" algn="l"/>
              </a:tabLst>
            </a:pPr>
            <a:r>
              <a:rPr dirty="0" sz="2150" spc="-10">
                <a:latin typeface="Calibri"/>
                <a:cs typeface="Calibri"/>
              </a:rPr>
              <a:t>Column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00526" y="63893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03610" y="63893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747069" y="63893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179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38829">
              <a:lnSpc>
                <a:spcPct val="100000"/>
              </a:lnSpc>
              <a:spcBef>
                <a:spcPts val="100"/>
              </a:spcBef>
            </a:pPr>
            <a:r>
              <a:rPr dirty="0"/>
              <a:t>MCQ</a:t>
            </a:r>
            <a:r>
              <a:rPr dirty="0" spc="-110"/>
              <a:t> </a:t>
            </a:r>
            <a:r>
              <a:rPr dirty="0" spc="-50"/>
              <a:t>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61235">
              <a:lnSpc>
                <a:spcPct val="100000"/>
              </a:lnSpc>
              <a:spcBef>
                <a:spcPts val="100"/>
              </a:spcBef>
            </a:pPr>
            <a:r>
              <a:rPr dirty="0"/>
              <a:t>Glossary</a:t>
            </a:r>
            <a:r>
              <a:rPr dirty="0" spc="-75"/>
              <a:t> </a:t>
            </a:r>
            <a:r>
              <a:rPr dirty="0" spc="-10"/>
              <a:t>Questions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63016" y="1400302"/>
            <a:ext cx="7588884" cy="33515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22275" algn="l"/>
              </a:tabLst>
            </a:pPr>
            <a:r>
              <a:rPr dirty="0" sz="2400" spc="-10">
                <a:latin typeface="Calibri"/>
                <a:cs typeface="Calibri"/>
              </a:rPr>
              <a:t>What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 the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features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Database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language</a:t>
            </a:r>
            <a:r>
              <a:rPr dirty="0" sz="2400" spc="-1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22275" algn="l"/>
              </a:tabLst>
            </a:pP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Data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Independence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database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system?</a:t>
            </a:r>
            <a:endParaRPr sz="24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422275" algn="l"/>
              </a:tabLst>
            </a:pPr>
            <a:r>
              <a:rPr dirty="0" sz="2400">
                <a:latin typeface="Calibri"/>
                <a:cs typeface="Calibri"/>
              </a:rPr>
              <a:t>Define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database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model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422275" algn="l"/>
              </a:tabLst>
            </a:pPr>
            <a:r>
              <a:rPr dirty="0" sz="2400" spc="-20">
                <a:latin typeface="Calibri"/>
                <a:cs typeface="Calibri"/>
              </a:rPr>
              <a:t>What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SQL</a:t>
            </a:r>
            <a:r>
              <a:rPr dirty="0" sz="2400" spc="-2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422275" algn="l"/>
              </a:tabLst>
            </a:pPr>
            <a:r>
              <a:rPr dirty="0" sz="2400" spc="-20">
                <a:latin typeface="Calibri"/>
                <a:cs typeface="Calibri"/>
              </a:rPr>
              <a:t>Enlist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various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relationships</a:t>
            </a:r>
            <a:r>
              <a:rPr dirty="0" sz="2400" spc="-114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database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22275" algn="l"/>
              </a:tabLst>
            </a:pPr>
            <a:r>
              <a:rPr dirty="0" sz="2400">
                <a:latin typeface="Calibri"/>
                <a:cs typeface="Calibri"/>
              </a:rPr>
              <a:t>Define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DDL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DML</a:t>
            </a:r>
            <a:r>
              <a:rPr dirty="0" sz="2400" spc="-2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22275" algn="l"/>
              </a:tabLst>
            </a:pPr>
            <a:r>
              <a:rPr dirty="0" sz="2400" spc="-10">
                <a:latin typeface="Calibri"/>
                <a:cs typeface="Calibri"/>
              </a:rPr>
              <a:t>Enlist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commands</a:t>
            </a:r>
            <a:r>
              <a:rPr dirty="0" sz="2400" spc="-1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DDL</a:t>
            </a:r>
            <a:r>
              <a:rPr dirty="0" sz="2400" spc="-2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22275" marR="5080" indent="-410209">
              <a:lnSpc>
                <a:spcPts val="2900"/>
              </a:lnSpc>
              <a:spcBef>
                <a:spcPts val="95"/>
              </a:spcBef>
              <a:buAutoNum type="arabicPeriod"/>
              <a:tabLst>
                <a:tab pos="422275" algn="l"/>
              </a:tabLst>
            </a:pP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key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concepts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Entity-</a:t>
            </a:r>
            <a:r>
              <a:rPr dirty="0" sz="2400" b="1">
                <a:latin typeface="Calibri"/>
                <a:cs typeface="Calibri"/>
              </a:rPr>
              <a:t>Relationship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(ER) </a:t>
            </a:r>
            <a:r>
              <a:rPr dirty="0" sz="2400" b="1">
                <a:latin typeface="Calibri"/>
                <a:cs typeface="Calibri"/>
              </a:rPr>
              <a:t>Model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modelling?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38145" y="5741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41229" y="5741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688" y="5741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12444" y="1073737"/>
            <a:ext cx="8079740" cy="155575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Define: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Data,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Database,</a:t>
            </a:r>
            <a:r>
              <a:rPr dirty="0" sz="2150" spc="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Database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System.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What</a:t>
            </a:r>
            <a:r>
              <a:rPr dirty="0" sz="2150" spc="2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2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independence?</a:t>
            </a:r>
            <a:r>
              <a:rPr dirty="0" sz="2150" spc="2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What</a:t>
            </a:r>
            <a:r>
              <a:rPr dirty="0" sz="2150" spc="229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are</a:t>
            </a:r>
            <a:r>
              <a:rPr dirty="0" sz="2150" spc="2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differences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24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Logical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Independence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Physical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Independence?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  <a:tab pos="1009015" algn="l"/>
                <a:tab pos="2111375" algn="l"/>
                <a:tab pos="2496820" algn="l"/>
                <a:tab pos="3479800" algn="l"/>
                <a:tab pos="4921885" algn="l"/>
                <a:tab pos="5757545" algn="l"/>
                <a:tab pos="6798309" algn="l"/>
                <a:tab pos="7374255" algn="l"/>
              </a:tabLst>
            </a:pPr>
            <a:r>
              <a:rPr dirty="0" sz="2150" spc="-20">
                <a:latin typeface="Calibri"/>
                <a:cs typeface="Calibri"/>
              </a:rPr>
              <a:t>Give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example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Simple,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Composite,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Single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–valued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Multi-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612444" y="2527899"/>
            <a:ext cx="6304280" cy="118046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745"/>
              </a:spcBef>
            </a:pPr>
            <a:r>
              <a:rPr dirty="0" sz="2150">
                <a:latin typeface="Calibri"/>
                <a:cs typeface="Calibri"/>
              </a:rPr>
              <a:t>valued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entity.</a:t>
            </a:r>
            <a:endParaRPr sz="2150">
              <a:latin typeface="Calibri"/>
              <a:cs typeface="Calibri"/>
            </a:endParaRPr>
          </a:p>
          <a:p>
            <a:pPr marL="423545" indent="-410845">
              <a:lnSpc>
                <a:spcPct val="100000"/>
              </a:lnSpc>
              <a:spcBef>
                <a:spcPts val="645"/>
              </a:spcBef>
              <a:buSzPct val="83720"/>
              <a:buFont typeface="Arial MT"/>
              <a:buChar char="•"/>
              <a:tabLst>
                <a:tab pos="423545" algn="l"/>
                <a:tab pos="1459865" algn="l"/>
                <a:tab pos="3223895" algn="l"/>
                <a:tab pos="4347210" algn="l"/>
                <a:tab pos="6104890" algn="l"/>
              </a:tabLst>
            </a:pPr>
            <a:r>
              <a:rPr dirty="0" sz="2150">
                <a:latin typeface="Calibri"/>
                <a:cs typeface="Calibri"/>
              </a:rPr>
              <a:t>What</a:t>
            </a:r>
            <a:r>
              <a:rPr dirty="0" sz="2150" spc="484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is</a:t>
            </a:r>
            <a:r>
              <a:rPr dirty="0" sz="2150">
                <a:latin typeface="Calibri"/>
                <a:cs typeface="Calibri"/>
              </a:rPr>
              <a:t>	the</a:t>
            </a:r>
            <a:r>
              <a:rPr dirty="0" sz="2150" spc="49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difference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between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Generalization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50">
                <a:latin typeface="Calibri"/>
                <a:cs typeface="Calibri"/>
              </a:rPr>
              <a:t>&amp;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5"/>
              </a:spcBef>
            </a:pP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respect</a:t>
            </a:r>
            <a:r>
              <a:rPr dirty="0" sz="2150" spc="1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Database?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45273" y="3019755"/>
            <a:ext cx="154940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latin typeface="Calibri"/>
                <a:cs typeface="Calibri"/>
              </a:rPr>
              <a:t>Specialization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2444" y="3753358"/>
            <a:ext cx="8094980" cy="1761489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just" marL="355600" marR="8890" indent="-342900">
              <a:lnSpc>
                <a:spcPct val="101899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What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is</a:t>
            </a:r>
            <a:r>
              <a:rPr dirty="0" sz="2150" spc="3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difference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3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total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partial</a:t>
            </a:r>
            <a:r>
              <a:rPr dirty="0" sz="2150" spc="2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participation?</a:t>
            </a:r>
            <a:r>
              <a:rPr dirty="0" sz="2150" spc="29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Explain </a:t>
            </a:r>
            <a:r>
              <a:rPr dirty="0" sz="2150">
                <a:latin typeface="Calibri"/>
                <a:cs typeface="Calibri"/>
              </a:rPr>
              <a:t>by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suitable </a:t>
            </a:r>
            <a:r>
              <a:rPr dirty="0" sz="2150" spc="-10">
                <a:latin typeface="Calibri"/>
                <a:cs typeface="Calibri"/>
              </a:rPr>
              <a:t>example.</a:t>
            </a: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3099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Construct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E-</a:t>
            </a:r>
            <a:r>
              <a:rPr dirty="0" sz="2150">
                <a:latin typeface="Calibri"/>
                <a:cs typeface="Calibri"/>
              </a:rPr>
              <a:t>R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hospital</a:t>
            </a:r>
            <a:r>
              <a:rPr dirty="0" sz="2150" spc="1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1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patients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medical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doctors.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Associated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patient,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log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5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various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tests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examinations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conducted.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3135">
              <a:lnSpc>
                <a:spcPct val="100000"/>
              </a:lnSpc>
              <a:spcBef>
                <a:spcPts val="100"/>
              </a:spcBef>
            </a:pPr>
            <a:r>
              <a:rPr dirty="0"/>
              <a:t>Weekly</a:t>
            </a:r>
            <a:r>
              <a:rPr dirty="0" spc="-190"/>
              <a:t> </a:t>
            </a:r>
            <a:r>
              <a:rPr dirty="0" spc="-10"/>
              <a:t>Assignment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3429127" y="59702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32210" y="59702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75669" y="59702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757834" y="1493012"/>
            <a:ext cx="7468234" cy="2907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5600" marR="5080" indent="-342900">
              <a:lnSpc>
                <a:spcPct val="103699"/>
              </a:lnSpc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http://www.aktuonline.com/papers/btech-</a:t>
            </a:r>
            <a:r>
              <a:rPr dirty="0" u="sng" sz="2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cs-5-sem-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data-base-</a:t>
            </a:r>
            <a:r>
              <a:rPr dirty="0" sz="215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215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management-</a:t>
            </a:r>
            <a:r>
              <a:rPr dirty="0" u="sng" sz="215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system-</a:t>
            </a:r>
            <a:r>
              <a:rPr dirty="0" u="sng" sz="215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KCS501-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2020.pdf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00"/>
              </a:buClr>
              <a:buFont typeface="Arial MT"/>
              <a:buChar char="•"/>
              <a:tabLst>
                <a:tab pos="354965" algn="l"/>
              </a:tabLst>
            </a:pP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http://www.aktuonline.com/papers/btech-</a:t>
            </a:r>
            <a:r>
              <a:rPr dirty="0" u="sng" sz="2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cs-5-sem-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database-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u="sng" sz="215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management-</a:t>
            </a:r>
            <a:r>
              <a:rPr dirty="0" u="sng" sz="215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system-</a:t>
            </a:r>
            <a:r>
              <a:rPr dirty="0" u="sng" sz="215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KCS-</a:t>
            </a:r>
            <a:r>
              <a:rPr dirty="0" u="sng" sz="2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501-2018-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19.pdf</a:t>
            </a:r>
            <a:endParaRPr sz="2150">
              <a:latin typeface="Calibri"/>
              <a:cs typeface="Calibri"/>
            </a:endParaRPr>
          </a:p>
          <a:p>
            <a:pPr marL="355600" marR="90170" indent="-342900">
              <a:lnSpc>
                <a:spcPct val="104700"/>
              </a:lnSpc>
              <a:spcBef>
                <a:spcPts val="49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http://www.aktuonline.com/papers/btech-</a:t>
            </a:r>
            <a:r>
              <a:rPr dirty="0" u="sng" sz="2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cs-5-sem-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database-</a:t>
            </a:r>
            <a:r>
              <a:rPr dirty="0" sz="2150" spc="-10">
                <a:solidFill>
                  <a:srgbClr val="0000FF"/>
                </a:solidFill>
                <a:latin typeface="Calibri"/>
                <a:cs typeface="Calibri"/>
                <a:hlinkClick r:id="rId6"/>
              </a:rPr>
              <a:t> </a:t>
            </a:r>
            <a:r>
              <a:rPr dirty="0" u="sng" sz="215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management-</a:t>
            </a:r>
            <a:r>
              <a:rPr dirty="0" u="sng" sz="215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system-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ncs-</a:t>
            </a:r>
            <a:r>
              <a:rPr dirty="0" u="sng" sz="2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502-2017-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18.pdf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lr>
                <a:srgbClr val="000000"/>
              </a:buClr>
              <a:buFont typeface="Arial MT"/>
              <a:buChar char="•"/>
              <a:tabLst>
                <a:tab pos="354965" algn="l"/>
              </a:tabLst>
            </a:pP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http://www.aktuonline.com/papers/btech-</a:t>
            </a:r>
            <a:r>
              <a:rPr dirty="0" u="sng" sz="2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cs-5-sem-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database-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u="sng" sz="215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management-</a:t>
            </a:r>
            <a:r>
              <a:rPr dirty="0" u="sng" sz="215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system-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ncs-</a:t>
            </a:r>
            <a:r>
              <a:rPr dirty="0" u="sng" sz="21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502-2016-</a:t>
            </a:r>
            <a:r>
              <a:rPr dirty="0" u="sng" sz="2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17.pdf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180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65985">
              <a:lnSpc>
                <a:spcPct val="100000"/>
              </a:lnSpc>
              <a:spcBef>
                <a:spcPts val="100"/>
              </a:spcBef>
            </a:pPr>
            <a:r>
              <a:rPr dirty="0"/>
              <a:t>Old</a:t>
            </a:r>
            <a:r>
              <a:rPr dirty="0" spc="5"/>
              <a:t> </a:t>
            </a:r>
            <a:r>
              <a:rPr dirty="0"/>
              <a:t>Question</a:t>
            </a:r>
            <a:r>
              <a:rPr dirty="0" spc="-170"/>
              <a:t> </a:t>
            </a:r>
            <a:r>
              <a:rPr dirty="0" spc="-10"/>
              <a:t>Papers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285745" y="57416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88829" y="57416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32288" y="57416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612444" y="1073737"/>
            <a:ext cx="8010525" cy="115760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Explain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types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attributes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ER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diagram.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Explain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difference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between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weak</a:t>
            </a:r>
            <a:r>
              <a:rPr dirty="0" sz="2150" spc="1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strong</a:t>
            </a:r>
            <a:r>
              <a:rPr dirty="0" sz="2150" spc="20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entity</a:t>
            </a:r>
            <a:r>
              <a:rPr dirty="0" sz="2150" spc="1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5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with</a:t>
            </a:r>
            <a:endParaRPr sz="21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dirty="0" sz="2150" spc="-10">
                <a:latin typeface="Calibri"/>
                <a:cs typeface="Calibri"/>
              </a:rPr>
              <a:t>example.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52591" y="2290063"/>
            <a:ext cx="292798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47445" algn="l"/>
                <a:tab pos="2691765" algn="l"/>
              </a:tabLst>
            </a:pPr>
            <a:r>
              <a:rPr dirty="0" sz="2150" spc="-10">
                <a:latin typeface="Calibri"/>
                <a:cs typeface="Calibri"/>
              </a:rPr>
              <a:t>schemas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architecture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2444" y="2279142"/>
            <a:ext cx="8070850" cy="151892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355600" marR="3084830" indent="-342900">
              <a:lnSpc>
                <a:spcPct val="101899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  <a:tab pos="1337945" algn="l"/>
                <a:tab pos="2111375" algn="l"/>
                <a:tab pos="2806065" algn="l"/>
                <a:tab pos="3197860" algn="l"/>
                <a:tab pos="4742180" algn="l"/>
              </a:tabLst>
            </a:pPr>
            <a:r>
              <a:rPr dirty="0" sz="2150" spc="-10">
                <a:latin typeface="Calibri"/>
                <a:cs typeface="Calibri"/>
              </a:rPr>
              <a:t>Discuss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three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level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of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abstractions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40">
                <a:latin typeface="Calibri"/>
                <a:cs typeface="Calibri"/>
              </a:rPr>
              <a:t>or </a:t>
            </a:r>
            <a:r>
              <a:rPr dirty="0" sz="2150" spc="-10">
                <a:latin typeface="Calibri"/>
                <a:cs typeface="Calibri"/>
              </a:rPr>
              <a:t>DBMS.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Define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constraint</a:t>
            </a:r>
            <a:r>
              <a:rPr dirty="0" sz="2150" spc="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its</a:t>
            </a:r>
            <a:r>
              <a:rPr dirty="0" sz="2150" spc="-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types</a:t>
            </a:r>
            <a:r>
              <a:rPr dirty="0" sz="2150" spc="1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DBMS.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1614170" algn="l"/>
                <a:tab pos="3559175" algn="l"/>
                <a:tab pos="5333365" algn="l"/>
                <a:tab pos="5982970" algn="l"/>
                <a:tab pos="7555865" algn="l"/>
              </a:tabLst>
            </a:pPr>
            <a:r>
              <a:rPr dirty="0" sz="2150" spc="-10">
                <a:latin typeface="Calibri"/>
                <a:cs typeface="Calibri"/>
              </a:rPr>
              <a:t>Compare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Generalization,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Specialization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5">
                <a:latin typeface="Calibri"/>
                <a:cs typeface="Calibri"/>
              </a:rPr>
              <a:t>and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10">
                <a:latin typeface="Calibri"/>
                <a:cs typeface="Calibri"/>
              </a:rPr>
              <a:t>aggregation</a:t>
            </a:r>
            <a:r>
              <a:rPr dirty="0" sz="2150">
                <a:latin typeface="Calibri"/>
                <a:cs typeface="Calibri"/>
              </a:rPr>
              <a:t>	</a:t>
            </a:r>
            <a:r>
              <a:rPr dirty="0" sz="2150" spc="-20">
                <a:latin typeface="Calibri"/>
                <a:cs typeface="Calibri"/>
              </a:rPr>
              <a:t>with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2444" y="3692347"/>
            <a:ext cx="8096250" cy="1898014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just" marL="355600">
              <a:lnSpc>
                <a:spcPct val="100000"/>
              </a:lnSpc>
              <a:spcBef>
                <a:spcPts val="700"/>
              </a:spcBef>
            </a:pPr>
            <a:r>
              <a:rPr dirty="0" sz="2150">
                <a:latin typeface="Calibri"/>
                <a:cs typeface="Calibri"/>
              </a:rPr>
              <a:t>suitable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examples.</a:t>
            </a:r>
            <a:endParaRPr sz="2150">
              <a:latin typeface="Calibri"/>
              <a:cs typeface="Calibri"/>
            </a:endParaRPr>
          </a:p>
          <a:p>
            <a:pPr algn="just" marL="356235" indent="-3435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2150">
                <a:latin typeface="Calibri"/>
                <a:cs typeface="Calibri"/>
              </a:rPr>
              <a:t>Draw overall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structure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DBMS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explain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its</a:t>
            </a:r>
            <a:r>
              <a:rPr dirty="0" sz="2150" spc="-2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components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</a:t>
            </a:r>
            <a:r>
              <a:rPr dirty="0" sz="2150" spc="-8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brief.</a:t>
            </a:r>
            <a:endParaRPr sz="21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3000"/>
              </a:lnSpc>
              <a:spcBef>
                <a:spcPts val="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150">
                <a:latin typeface="Calibri"/>
                <a:cs typeface="Calibri"/>
              </a:rPr>
              <a:t>Construct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E-</a:t>
            </a:r>
            <a:r>
              <a:rPr dirty="0" sz="2150">
                <a:latin typeface="Calibri"/>
                <a:cs typeface="Calibri"/>
              </a:rPr>
              <a:t>R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diagram</a:t>
            </a:r>
            <a:r>
              <a:rPr dirty="0" sz="2150" spc="1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1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hospital</a:t>
            </a:r>
            <a:r>
              <a:rPr dirty="0" sz="2150" spc="1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1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1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1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patients</a:t>
            </a:r>
            <a:r>
              <a:rPr dirty="0" sz="2150" spc="1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210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 </a:t>
            </a:r>
            <a:r>
              <a:rPr dirty="0" sz="2150">
                <a:latin typeface="Calibri"/>
                <a:cs typeface="Calibri"/>
              </a:rPr>
              <a:t>set</a:t>
            </a:r>
            <a:r>
              <a:rPr dirty="0" sz="2150" spc="3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medical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doctors.</a:t>
            </a:r>
            <a:r>
              <a:rPr dirty="0" sz="2150" spc="3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Associated</a:t>
            </a:r>
            <a:r>
              <a:rPr dirty="0" sz="2150" spc="3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3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each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patient,</a:t>
            </a:r>
            <a:r>
              <a:rPr dirty="0" sz="2150" spc="3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</a:t>
            </a:r>
            <a:r>
              <a:rPr dirty="0" sz="2150" spc="3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log</a:t>
            </a:r>
            <a:r>
              <a:rPr dirty="0" sz="2150" spc="37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of</a:t>
            </a:r>
            <a:r>
              <a:rPr dirty="0" sz="2150" spc="365">
                <a:latin typeface="Calibri"/>
                <a:cs typeface="Calibri"/>
              </a:rPr>
              <a:t> </a:t>
            </a:r>
            <a:r>
              <a:rPr dirty="0" sz="2150" spc="-25">
                <a:latin typeface="Calibri"/>
                <a:cs typeface="Calibri"/>
              </a:rPr>
              <a:t>the </a:t>
            </a:r>
            <a:r>
              <a:rPr dirty="0" sz="2150">
                <a:latin typeface="Calibri"/>
                <a:cs typeface="Calibri"/>
              </a:rPr>
              <a:t>various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tests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examinations</a:t>
            </a:r>
            <a:r>
              <a:rPr dirty="0" sz="2150" spc="2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conducted.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11505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Calibri"/>
                <a:cs typeface="Calibri"/>
              </a:rPr>
              <a:t>Expected</a:t>
            </a:r>
            <a:r>
              <a:rPr dirty="0" spc="-8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Questions</a:t>
            </a:r>
            <a:r>
              <a:rPr dirty="0" spc="-1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for</a:t>
            </a:r>
            <a:r>
              <a:rPr dirty="0" spc="-6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University</a:t>
            </a:r>
            <a:r>
              <a:rPr dirty="0" spc="-110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Exam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3048126" y="61988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51210" y="61988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94669" y="61988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99069" y="627501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183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09116" y="0"/>
            <a:ext cx="7835265" cy="833755"/>
            <a:chOff x="1309116" y="0"/>
            <a:chExt cx="7835265" cy="8337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072" y="0"/>
              <a:ext cx="7805928" cy="7879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0"/>
              <a:ext cx="7834883" cy="8336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56535">
              <a:lnSpc>
                <a:spcPct val="100000"/>
              </a:lnSpc>
              <a:spcBef>
                <a:spcPts val="100"/>
              </a:spcBef>
            </a:pPr>
            <a:r>
              <a:rPr dirty="0"/>
              <a:t>Recap</a:t>
            </a:r>
            <a:r>
              <a:rPr dirty="0" spc="-15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 spc="-20"/>
              <a:t>Unit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8365997" y="6461252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184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32712" y="1961464"/>
            <a:ext cx="6159500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20">
                <a:latin typeface="Calibri"/>
                <a:cs typeface="Calibri"/>
              </a:rPr>
              <a:t>Knowledge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database</a:t>
            </a:r>
            <a:r>
              <a:rPr dirty="0" sz="2400" spc="-1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architecture.</a:t>
            </a:r>
            <a:endParaRPr sz="24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20">
                <a:latin typeface="Calibri"/>
                <a:cs typeface="Calibri"/>
              </a:rPr>
              <a:t>Knowledge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Entity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Relationship</a:t>
            </a:r>
            <a:r>
              <a:rPr dirty="0" sz="2400" spc="-1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model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its </a:t>
            </a:r>
            <a:r>
              <a:rPr dirty="0" sz="2400" spc="-10">
                <a:latin typeface="Calibri"/>
                <a:cs typeface="Calibri"/>
              </a:rPr>
              <a:t>concepts.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 spc="-10">
                <a:latin typeface="Calibri"/>
                <a:cs typeface="Calibri"/>
              </a:rPr>
              <a:t>Databse</a:t>
            </a:r>
            <a:r>
              <a:rPr dirty="0" sz="2400" spc="-19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V/S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61945" y="6046419"/>
            <a:ext cx="794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65029" y="6046419"/>
            <a:ext cx="403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08488" y="6046419"/>
            <a:ext cx="648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53" y="102081"/>
            <a:ext cx="1129004" cy="67744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257760" y="2809425"/>
            <a:ext cx="4563110" cy="700405"/>
            <a:chOff x="2257760" y="2809425"/>
            <a:chExt cx="4563110" cy="70040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7760" y="2809425"/>
              <a:ext cx="4561042" cy="69996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8384" y="2817367"/>
              <a:ext cx="4502150" cy="62115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828545" y="6084519"/>
            <a:ext cx="79438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78787"/>
                </a:solidFill>
                <a:latin typeface="Calibri"/>
                <a:cs typeface="Calibri"/>
              </a:rPr>
              <a:t>Neeti</a:t>
            </a:r>
            <a:r>
              <a:rPr dirty="0" sz="1200" spc="-65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Taneja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31629" y="6084519"/>
            <a:ext cx="4032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0">
                <a:solidFill>
                  <a:srgbClr val="878787"/>
                </a:solidFill>
                <a:latin typeface="Calibri"/>
                <a:cs typeface="Calibri"/>
              </a:rPr>
              <a:t>DBMS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75088" y="6084519"/>
            <a:ext cx="64833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78787"/>
                </a:solidFill>
                <a:latin typeface="Calibri"/>
                <a:cs typeface="Calibri"/>
              </a:rPr>
              <a:t>ACSE0506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1932" rIns="0" bIns="0" rtlCol="0" vert="horz">
            <a:spAutoFit/>
          </a:bodyPr>
          <a:lstStyle/>
          <a:p>
            <a:pPr marL="275590">
              <a:lnSpc>
                <a:spcPts val="1240"/>
              </a:lnSpc>
            </a:pPr>
            <a:r>
              <a:rPr dirty="0" spc="-10"/>
              <a:t>Unit-</a:t>
            </a:r>
            <a:r>
              <a:rPr dirty="0" spc="-50"/>
              <a:t>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8365997" y="6461252"/>
            <a:ext cx="2590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878787"/>
                </a:solidFill>
                <a:latin typeface="Calibri"/>
                <a:cs typeface="Calibri"/>
              </a:rPr>
              <a:t>185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2024-12-23T16:54:21Z</dcterms:created>
  <dcterms:modified xsi:type="dcterms:W3CDTF">2024-12-23T16:54:21Z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2024-12-23T00:00:00Z</vt:filetime>
  </property>
  <property fmtid="{D5CDD505-2E9C-101B-9397-08002B2CF9AE}" pid="5" name="Producer">
    <vt:lpwstr>www.ilovepdf.com</vt:lpwstr>
  </property>
</Properties>
</file>