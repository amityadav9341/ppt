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handoutMasterIdLst>
    <p:handoutMasterId r:id="rId61"/>
  </p:handoutMasterIdLst>
  <p:sldIdLst>
    <p:sldId id="872" r:id="rId2"/>
    <p:sldId id="604" r:id="rId3"/>
    <p:sldId id="607" r:id="rId4"/>
    <p:sldId id="608" r:id="rId5"/>
    <p:sldId id="609" r:id="rId6"/>
    <p:sldId id="610" r:id="rId7"/>
    <p:sldId id="583" r:id="rId8"/>
    <p:sldId id="257" r:id="rId9"/>
    <p:sldId id="581" r:id="rId10"/>
    <p:sldId id="834" r:id="rId11"/>
    <p:sldId id="835" r:id="rId12"/>
    <p:sldId id="838" r:id="rId13"/>
    <p:sldId id="837" r:id="rId14"/>
    <p:sldId id="836" r:id="rId15"/>
    <p:sldId id="839" r:id="rId16"/>
    <p:sldId id="840" r:id="rId17"/>
    <p:sldId id="841" r:id="rId18"/>
    <p:sldId id="842" r:id="rId19"/>
    <p:sldId id="843" r:id="rId20"/>
    <p:sldId id="844" r:id="rId21"/>
    <p:sldId id="845" r:id="rId22"/>
    <p:sldId id="846" r:id="rId23"/>
    <p:sldId id="847" r:id="rId24"/>
    <p:sldId id="848" r:id="rId25"/>
    <p:sldId id="849" r:id="rId26"/>
    <p:sldId id="850" r:id="rId27"/>
    <p:sldId id="851" r:id="rId28"/>
    <p:sldId id="852" r:id="rId29"/>
    <p:sldId id="853" r:id="rId30"/>
    <p:sldId id="854" r:id="rId31"/>
    <p:sldId id="855" r:id="rId32"/>
    <p:sldId id="856" r:id="rId33"/>
    <p:sldId id="857" r:id="rId34"/>
    <p:sldId id="858" r:id="rId35"/>
    <p:sldId id="859" r:id="rId36"/>
    <p:sldId id="860" r:id="rId37"/>
    <p:sldId id="861" r:id="rId38"/>
    <p:sldId id="862" r:id="rId39"/>
    <p:sldId id="863" r:id="rId40"/>
    <p:sldId id="864" r:id="rId41"/>
    <p:sldId id="869" r:id="rId42"/>
    <p:sldId id="865" r:id="rId43"/>
    <p:sldId id="866" r:id="rId44"/>
    <p:sldId id="867" r:id="rId45"/>
    <p:sldId id="868" r:id="rId46"/>
    <p:sldId id="870" r:id="rId47"/>
    <p:sldId id="871" r:id="rId48"/>
    <p:sldId id="829" r:id="rId49"/>
    <p:sldId id="761" r:id="rId50"/>
    <p:sldId id="789" r:id="rId51"/>
    <p:sldId id="830" r:id="rId52"/>
    <p:sldId id="831" r:id="rId53"/>
    <p:sldId id="832" r:id="rId54"/>
    <p:sldId id="765" r:id="rId55"/>
    <p:sldId id="833" r:id="rId56"/>
    <p:sldId id="767" r:id="rId57"/>
    <p:sldId id="768" r:id="rId58"/>
    <p:sldId id="76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86496" autoAdjust="0"/>
  </p:normalViewPr>
  <p:slideViewPr>
    <p:cSldViewPr>
      <p:cViewPr varScale="1">
        <p:scale>
          <a:sx n="89" d="100"/>
          <a:sy n="89" d="100"/>
        </p:scale>
        <p:origin x="365" y="8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Collections-Container datatypes, Tkinter-GUI applications, Requests-HTTP requests, BeautifulSoup4-web scraping, Scrapy, Zappa, Dash, CherryPy, TurboGears, Flask, Web2Py,</a:t>
          </a:r>
        </a:p>
        <a:p>
          <a:r>
            <a:rPr lang="en-US" sz="2700" dirty="0"/>
            <a:t>Bottle, Falcon, CubicWeb, Quixote, Pyramid.</a:t>
          </a:r>
        </a:p>
        <a:p>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LinFactNeighborX="-239" custLinFactNeighborY="-980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8632B43A-A1FB-4963-84A0-F0A61C5BFA59}">
      <dgm:prSet custT="1"/>
      <dgm:spPr/>
      <dgm:t>
        <a:bodyPr/>
        <a:lstStyle/>
        <a:p>
          <a:r>
            <a:rPr lang="en-US" sz="2700" dirty="0"/>
            <a:t>Understanding Django environment, Features of Django and Django architecture, MVC &amp;MTV, Urls and Views, Mapping the views to URLs, Django Template, Template inheritance Django Models, Creating model for site, Converting the model into a table, Fields in Models, Integrating Bootstrap into Django, Creating tables, Creating grids, Creating carousels.</a:t>
          </a:r>
          <a:endParaRPr lang="en-US" sz="2700" b="0" dirty="0"/>
        </a:p>
      </dgm:t>
    </dgm:pt>
    <dgm:pt modelId="{8954BA86-F411-4F2D-BEFA-BBF9617D879B}" type="parTrans" cxnId="{6F0FFE21-F288-41B6-AC2F-F6C2F97FC76B}">
      <dgm:prSet/>
      <dgm:spPr/>
      <dgm:t>
        <a:bodyPr/>
        <a:lstStyle/>
        <a:p>
          <a:endParaRPr lang="en-US"/>
        </a:p>
      </dgm:t>
    </dgm:pt>
    <dgm:pt modelId="{B34E360E-2AF5-434A-80B9-E34DD0DE11AF}" type="sibTrans" cxnId="{6F0FFE21-F288-41B6-AC2F-F6C2F97FC76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6DCBBEC5-5B01-4132-A331-9D4D3453D65C}" type="pres">
      <dgm:prSet presAssocID="{8632B43A-A1FB-4963-84A0-F0A61C5BFA59}" presName="parentText" presStyleLbl="node1" presStyleIdx="0" presStyleCnt="1" custScaleY="894540" custLinFactNeighborY="-25629">
        <dgm:presLayoutVars>
          <dgm:chMax val="0"/>
          <dgm:bulletEnabled val="1"/>
        </dgm:presLayoutVars>
      </dgm:prSet>
      <dgm:spPr/>
    </dgm:pt>
  </dgm:ptLst>
  <dgm:cxnLst>
    <dgm:cxn modelId="{6F0FFE21-F288-41B6-AC2F-F6C2F97FC76B}" srcId="{18EA6042-2EA2-4065-81DF-7A18BEC42C1C}" destId="{8632B43A-A1FB-4963-84A0-F0A61C5BFA59}" srcOrd="0" destOrd="0" parTransId="{8954BA86-F411-4F2D-BEFA-BBF9617D879B}" sibTransId="{B34E360E-2AF5-434A-80B9-E34DD0DE11AF}"/>
    <dgm:cxn modelId="{C48F0660-5664-41FE-99C0-FABF7335C0CC}" type="presOf" srcId="{8632B43A-A1FB-4963-84A0-F0A61C5BFA59}" destId="{6DCBBEC5-5B01-4132-A331-9D4D3453D65C}"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9D7AB4E3-F7D3-46CD-8818-41B8682B7C05}" type="presParOf" srcId="{5935E145-FD17-4F9E-B302-F21214F4A468}" destId="{6DCBBEC5-5B01-4132-A331-9D4D3453D65C}"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Introduction to Django Authentication System, Security Problem &amp; Solution with Django Creating Registration Form using Django, Adding Email Field In Forms, Configuring email settings, Sending emails with Django, Adding Grid Layout On Registration Page, Adding Page Restrictions, Login Functionality Test and Logout.</a:t>
          </a:r>
          <a:endParaRPr lang="en-US" sz="2700" b="0" baseline="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ScaleY="848527" custLinFactNeighborY="-2509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D8C5DAEA-C992-4E2A-9A51-E215DE48D2A6}">
      <dgm:prSet custT="1"/>
      <dgm:spPr/>
      <dgm:t>
        <a:bodyPr/>
        <a:lstStyle/>
        <a:p>
          <a:r>
            <a:rPr lang="en-US" sz="2700" dirty="0"/>
            <a:t>Database Migrations, Fetch Data From Database, Displaying Data On Templates, Adding Condition On Data, Sending data from url to view, Sending data from view to template, Saving objects into database, Sorting objects, Filtering objects, Deleting objects, Difference between session and cookie, Creating sessions and cookies in Django.</a:t>
          </a:r>
          <a:endParaRPr lang="en-IN" sz="2700" b="0" dirty="0"/>
        </a:p>
      </dgm:t>
    </dgm:pt>
    <dgm:pt modelId="{0A91DE68-EA12-436C-90AD-A77B8BC894D9}" type="parTrans" cxnId="{A8956CE6-FC52-435B-B274-B2464F6589BB}">
      <dgm:prSet/>
      <dgm:spPr/>
      <dgm:t>
        <a:bodyPr/>
        <a:lstStyle/>
        <a:p>
          <a:endParaRPr lang="en-US"/>
        </a:p>
      </dgm:t>
    </dgm:pt>
    <dgm:pt modelId="{A7454706-B742-4409-A511-DC9BD534002F}" type="sibTrans" cxnId="{A8956CE6-FC52-435B-B274-B2464F6589B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C8F18B38-BDBB-470A-815C-35A2A46B78E0}" type="pres">
      <dgm:prSet presAssocID="{D8C5DAEA-C992-4E2A-9A51-E215DE48D2A6}" presName="parentText" presStyleLbl="node1" presStyleIdx="0" presStyleCnt="1" custLinFactNeighborX="-148" custLinFactNeighborY="-7917">
        <dgm:presLayoutVars>
          <dgm:chMax val="0"/>
          <dgm:bulletEnabled val="1"/>
        </dgm:presLayoutVars>
      </dgm:prSet>
      <dgm:spPr/>
    </dgm:pt>
  </dgm:ptLst>
  <dgm:cxnLst>
    <dgm:cxn modelId="{1A102205-18B3-446C-A3D0-E5B8DBD2AEBB}" type="presOf" srcId="{D8C5DAEA-C992-4E2A-9A51-E215DE48D2A6}" destId="{C8F18B38-BDBB-470A-815C-35A2A46B78E0}"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A8956CE6-FC52-435B-B274-B2464F6589BB}" srcId="{18EA6042-2EA2-4065-81DF-7A18BEC42C1C}" destId="{D8C5DAEA-C992-4E2A-9A51-E215DE48D2A6}" srcOrd="0" destOrd="0" parTransId="{0A91DE68-EA12-436C-90AD-A77B8BC894D9}" sibTransId="{A7454706-B742-4409-A511-DC9BD534002F}"/>
    <dgm:cxn modelId="{C10C5AFD-0029-4F37-A899-5D5BE25480F0}" type="presParOf" srcId="{5935E145-FD17-4F9E-B302-F21214F4A468}" destId="{C8F18B38-BDBB-470A-815C-35A2A46B78E0}"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Creating a functional website in Django, Four Important Pillars to Deploy, Registering on </a:t>
          </a:r>
          <a:r>
            <a:rPr lang="en-US" sz="2700" dirty="0" err="1"/>
            <a:t>Heroku</a:t>
          </a:r>
          <a:r>
            <a:rPr lang="en-US" sz="2700" dirty="0"/>
            <a:t> and GitHub, Push project from Local System to GitHub, Working with Django </a:t>
          </a:r>
          <a:r>
            <a:rPr lang="en-US" sz="2700" dirty="0" err="1"/>
            <a:t>Heroku</a:t>
          </a:r>
          <a:endParaRPr lang="en-US" sz="2700" dirty="0"/>
        </a:p>
        <a:p>
          <a:r>
            <a:rPr lang="en-US" sz="2700" dirty="0"/>
            <a:t>Working with Static Root, Handling WSGI with </a:t>
          </a:r>
          <a:r>
            <a:rPr lang="en-US" sz="2700" dirty="0" err="1"/>
            <a:t>gunicorn</a:t>
          </a:r>
          <a:r>
            <a:rPr lang="en-US" sz="2700" dirty="0"/>
            <a:t>, Setting up Database &amp; adding users</a:t>
          </a:r>
        </a:p>
      </dgm:t>
    </dgm:pt>
    <dgm:pt modelId="{5A57522C-1C32-440C-9F64-9EF818720D9C}" type="sibTrans" cxnId="{F61405CD-BF4D-4132-A8F6-94A55AFF2516}">
      <dgm:prSet/>
      <dgm:spPr/>
      <dgm:t>
        <a:bodyPr/>
        <a:lstStyle/>
        <a:p>
          <a:endParaRPr lang="en-IN"/>
        </a:p>
      </dgm:t>
    </dgm:pt>
    <dgm:pt modelId="{317883E6-23F7-434D-A777-EB6C46138693}" type="par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LinFactNeighborY="21758">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0625"/>
          <a:ext cx="10020299" cy="25857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Collections-Container datatypes, Tkinter-GUI applications, Requests-HTTP requests, BeautifulSoup4-web scraping, Scrapy, Zappa, Dash, CherryPy, TurboGears, Flask, Web2Py,</a:t>
          </a:r>
        </a:p>
        <a:p>
          <a:pPr marL="0" lvl="0" indent="0" algn="l" defTabSz="1200150">
            <a:lnSpc>
              <a:spcPct val="90000"/>
            </a:lnSpc>
            <a:spcBef>
              <a:spcPct val="0"/>
            </a:spcBef>
            <a:spcAft>
              <a:spcPct val="35000"/>
            </a:spcAft>
            <a:buNone/>
          </a:pPr>
          <a:r>
            <a:rPr lang="en-US" sz="2700" kern="1200" dirty="0"/>
            <a:t>Bottle, Falcon, CubicWeb, Quixote, Pyramid.</a:t>
          </a:r>
        </a:p>
        <a:p>
          <a:pPr marL="0" lvl="0" indent="0" algn="l" defTabSz="1200150">
            <a:lnSpc>
              <a:spcPct val="90000"/>
            </a:lnSpc>
            <a:spcBef>
              <a:spcPct val="0"/>
            </a:spcBef>
            <a:spcAft>
              <a:spcPct val="35000"/>
            </a:spcAft>
            <a:buNone/>
          </a:pPr>
          <a:endParaRPr lang="en-IN" sz="2000" kern="1200" dirty="0"/>
        </a:p>
      </dsp:txBody>
      <dsp:txXfrm>
        <a:off x="126223" y="176848"/>
        <a:ext cx="9767853" cy="23332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BBEC5-5B01-4132-A331-9D4D3453D65C}">
      <dsp:nvSpPr>
        <dsp:cNvPr id="0" name=""/>
        <dsp:cNvSpPr/>
      </dsp:nvSpPr>
      <dsp:spPr>
        <a:xfrm>
          <a:off x="0" y="0"/>
          <a:ext cx="11201399" cy="2770812"/>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Understanding Django environment, Features of Django and Django architecture, MVC &amp;MTV, Urls and Views, Mapping the views to URLs, Django Template, Template inheritance Django Models, Creating model for site, Converting the model into a table, Fields in Models, Integrating Bootstrap into Django, Creating tables, Creating grids, Creating carousels.</a:t>
          </a:r>
          <a:endParaRPr lang="en-US" sz="2700" b="0" kern="1200" dirty="0"/>
        </a:p>
      </dsp:txBody>
      <dsp:txXfrm>
        <a:off x="135260" y="135260"/>
        <a:ext cx="10930879" cy="25002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26262"/>
          <a:ext cx="11430000" cy="2628288"/>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Introduction to Django Authentication System, Security Problem &amp; Solution with Django Creating Registration Form using Django, Adding Email Field In Forms, Configuring email settings, Sending emails with Django, Adding Grid Layout On Registration Page, Adding Page Restrictions, Login Functionality Test and Logout.</a:t>
          </a:r>
          <a:endParaRPr lang="en-US" sz="2700" b="0" kern="1200" baseline="0" dirty="0"/>
        </a:p>
      </dsp:txBody>
      <dsp:txXfrm>
        <a:off x="128302" y="154564"/>
        <a:ext cx="11173396" cy="23716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18B38-BDBB-470A-815C-35A2A46B78E0}">
      <dsp:nvSpPr>
        <dsp:cNvPr id="0" name=""/>
        <dsp:cNvSpPr/>
      </dsp:nvSpPr>
      <dsp:spPr>
        <a:xfrm>
          <a:off x="0" y="371100"/>
          <a:ext cx="10591799" cy="231952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Database Migrations, Fetch Data From Database, Displaying Data On Templates, Adding Condition On Data, Sending data from url to view, Sending data from view to template, Saving objects into database, Sorting objects, Filtering objects, Deleting objects, Difference between session and cookie, Creating sessions and cookies in Django.</a:t>
          </a:r>
          <a:endParaRPr lang="en-IN" sz="2700" b="0" kern="1200" dirty="0"/>
        </a:p>
      </dsp:txBody>
      <dsp:txXfrm>
        <a:off x="113230" y="484330"/>
        <a:ext cx="10365339" cy="20930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52841"/>
          <a:ext cx="9982200" cy="250965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Creating a functional website in Django, Four Important Pillars to Deploy, Registering on </a:t>
          </a:r>
          <a:r>
            <a:rPr lang="en-US" sz="2700" kern="1200" dirty="0" err="1"/>
            <a:t>Heroku</a:t>
          </a:r>
          <a:r>
            <a:rPr lang="en-US" sz="2700" kern="1200" dirty="0"/>
            <a:t> and GitHub, Push project from Local System to GitHub, Working with Django </a:t>
          </a:r>
          <a:r>
            <a:rPr lang="en-US" sz="2700" kern="1200" dirty="0" err="1"/>
            <a:t>Heroku</a:t>
          </a:r>
          <a:endParaRPr lang="en-US" sz="2700" kern="1200" dirty="0"/>
        </a:p>
        <a:p>
          <a:pPr marL="0" lvl="0" indent="0" algn="l" defTabSz="1200150">
            <a:lnSpc>
              <a:spcPct val="90000"/>
            </a:lnSpc>
            <a:spcBef>
              <a:spcPct val="0"/>
            </a:spcBef>
            <a:spcAft>
              <a:spcPct val="35000"/>
            </a:spcAft>
            <a:buNone/>
          </a:pPr>
          <a:r>
            <a:rPr lang="en-US" sz="2700" kern="1200" dirty="0"/>
            <a:t>Working with Static Root, Handling WSGI with </a:t>
          </a:r>
          <a:r>
            <a:rPr lang="en-US" sz="2700" kern="1200" dirty="0" err="1"/>
            <a:t>gunicorn</a:t>
          </a:r>
          <a:r>
            <a:rPr lang="en-US" sz="2700" kern="1200" dirty="0"/>
            <a:t>, Setting up Database &amp; adding users</a:t>
          </a:r>
        </a:p>
      </dsp:txBody>
      <dsp:txXfrm>
        <a:off x="122511" y="675352"/>
        <a:ext cx="9737178" cy="226462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11/4/2024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11/4/2024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340276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dirty="0"/>
          </a:p>
        </p:txBody>
      </p:sp>
    </p:spTree>
    <p:extLst>
      <p:ext uri="{BB962C8B-B14F-4D97-AF65-F5344CB8AC3E}">
        <p14:creationId xmlns:p14="http://schemas.microsoft.com/office/powerpoint/2010/main" val="4129887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a:t>
            </a:fld>
            <a:endParaRPr lang="en-US" dirty="0"/>
          </a:p>
        </p:txBody>
      </p:sp>
    </p:spTree>
    <p:extLst>
      <p:ext uri="{BB962C8B-B14F-4D97-AF65-F5344CB8AC3E}">
        <p14:creationId xmlns:p14="http://schemas.microsoft.com/office/powerpoint/2010/main" val="46466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a:t>
            </a:fld>
            <a:endParaRPr lang="en-US" dirty="0"/>
          </a:p>
        </p:txBody>
      </p:sp>
    </p:spTree>
    <p:extLst>
      <p:ext uri="{BB962C8B-B14F-4D97-AF65-F5344CB8AC3E}">
        <p14:creationId xmlns:p14="http://schemas.microsoft.com/office/powerpoint/2010/main" val="1043892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592596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28177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3091452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54D7435-0B2B-4167-8E9C-55412D2EF2F4}" type="datetime1">
              <a:rPr lang="en-US" smtClean="0"/>
              <a:t>11/4/2024</a:t>
            </a:fld>
            <a:endParaRPr lang="en-US"/>
          </a:p>
        </p:txBody>
      </p:sp>
      <p:sp>
        <p:nvSpPr>
          <p:cNvPr id="5" name="Footer Placeholder 4"/>
          <p:cNvSpPr>
            <a:spLocks noGrp="1"/>
          </p:cNvSpPr>
          <p:nvPr>
            <p:ph type="ftr" sz="quarter" idx="11"/>
          </p:nvPr>
        </p:nvSpPr>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50497B-9831-4A97-91F8-874F84FD2DDC}" type="datetime1">
              <a:rPr lang="en-US" smtClean="0"/>
              <a:t>11/4/2024</a:t>
            </a:fld>
            <a:endParaRPr lang="en-US"/>
          </a:p>
        </p:txBody>
      </p:sp>
      <p:sp>
        <p:nvSpPr>
          <p:cNvPr id="5" name="Footer Placeholder 4"/>
          <p:cNvSpPr>
            <a:spLocks noGrp="1"/>
          </p:cNvSpPr>
          <p:nvPr>
            <p:ph type="ftr" sz="quarter" idx="11"/>
          </p:nvPr>
        </p:nvSpPr>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15E2E4-DD80-427D-B581-82A5BEA657C6}" type="datetime1">
              <a:rPr lang="en-US" smtClean="0"/>
              <a:t>11/4/2024</a:t>
            </a:fld>
            <a:endParaRPr lang="en-US"/>
          </a:p>
        </p:txBody>
      </p:sp>
      <p:sp>
        <p:nvSpPr>
          <p:cNvPr id="5" name="Footer Placeholder 4"/>
          <p:cNvSpPr>
            <a:spLocks noGrp="1"/>
          </p:cNvSpPr>
          <p:nvPr>
            <p:ph type="ftr" sz="quarter" idx="11"/>
          </p:nvPr>
        </p:nvSpPr>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92135FC-A94C-428C-9C09-712DD3FD5063}" type="datetime1">
              <a:rPr lang="en-US" smtClean="0"/>
              <a:t>11/4/2024</a:t>
            </a:fld>
            <a:endParaRPr lang="en-US"/>
          </a:p>
        </p:txBody>
      </p:sp>
      <p:sp>
        <p:nvSpPr>
          <p:cNvPr id="6" name="Footer Placeholder 5"/>
          <p:cNvSpPr>
            <a:spLocks noGrp="1"/>
          </p:cNvSpPr>
          <p:nvPr>
            <p:ph type="ftr" sz="quarter" idx="11"/>
          </p:nvPr>
        </p:nvSpPr>
        <p:spPr/>
        <p:txBody>
          <a:bodyPr/>
          <a:lstStyle/>
          <a:p>
            <a:r>
              <a:rPr lang="en-US"/>
              <a:t>Ritesh Kumar Singh                Connecting SQlite with Django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5D9CC6-085D-42EE-A13F-3DFC85070736}" type="datetime1">
              <a:rPr lang="en-US" smtClean="0"/>
              <a:t>11/4/2024</a:t>
            </a:fld>
            <a:endParaRPr lang="en-US"/>
          </a:p>
        </p:txBody>
      </p:sp>
      <p:sp>
        <p:nvSpPr>
          <p:cNvPr id="8" name="Footer Placeholder 7"/>
          <p:cNvSpPr>
            <a:spLocks noGrp="1"/>
          </p:cNvSpPr>
          <p:nvPr>
            <p:ph type="ftr" sz="quarter" idx="11"/>
          </p:nvPr>
        </p:nvSpPr>
        <p:spPr/>
        <p:txBody>
          <a:bodyPr/>
          <a:lstStyle/>
          <a:p>
            <a:r>
              <a:rPr lang="en-US"/>
              <a:t>Ritesh Kumar Singh                Connecting SQlite with Django                          Unit IV</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6161E34-26F1-456D-BC57-0C3A6908A014}" type="datetime1">
              <a:rPr lang="en-US" smtClean="0"/>
              <a:t>11/4/2024</a:t>
            </a:fld>
            <a:endParaRPr lang="en-US"/>
          </a:p>
        </p:txBody>
      </p:sp>
      <p:sp>
        <p:nvSpPr>
          <p:cNvPr id="4" name="Footer Placeholder 3"/>
          <p:cNvSpPr>
            <a:spLocks noGrp="1"/>
          </p:cNvSpPr>
          <p:nvPr>
            <p:ph type="ftr" sz="quarter" idx="11"/>
          </p:nvPr>
        </p:nvSpPr>
        <p:spPr/>
        <p:txBody>
          <a:bodyPr/>
          <a:lstStyle/>
          <a:p>
            <a:r>
              <a:rPr lang="en-US"/>
              <a:t>Ritesh Kumar Singh                Connecting SQlite with Django                          Unit IV</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BA04AB-60EF-4FC1-B998-C0B3BD72DD1B}" type="datetime1">
              <a:rPr lang="en-US" smtClean="0"/>
              <a:t>11/4/2024</a:t>
            </a:fld>
            <a:endParaRPr lang="en-US"/>
          </a:p>
        </p:txBody>
      </p:sp>
      <p:sp>
        <p:nvSpPr>
          <p:cNvPr id="3" name="Footer Placeholder 2"/>
          <p:cNvSpPr>
            <a:spLocks noGrp="1"/>
          </p:cNvSpPr>
          <p:nvPr>
            <p:ph type="ftr" sz="quarter" idx="11"/>
          </p:nvPr>
        </p:nvSpPr>
        <p:spPr/>
        <p:txBody>
          <a:bodyPr/>
          <a:lstStyle/>
          <a:p>
            <a:r>
              <a:rPr lang="en-US"/>
              <a:t>Ritesh Kumar Singh                Connecting SQlite with Django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FCA50D-C4C2-4D3B-97AB-07F2BC5107BE}" type="datetime1">
              <a:rPr lang="en-US" smtClean="0"/>
              <a:t>11/4/2024</a:t>
            </a:fld>
            <a:endParaRPr lang="en-US"/>
          </a:p>
        </p:txBody>
      </p:sp>
      <p:sp>
        <p:nvSpPr>
          <p:cNvPr id="6" name="Footer Placeholder 5"/>
          <p:cNvSpPr>
            <a:spLocks noGrp="1"/>
          </p:cNvSpPr>
          <p:nvPr>
            <p:ph type="ftr" sz="quarter" idx="11"/>
          </p:nvPr>
        </p:nvSpPr>
        <p:spPr/>
        <p:txBody>
          <a:bodyPr/>
          <a:lstStyle/>
          <a:p>
            <a:r>
              <a:rPr lang="en-US"/>
              <a:t>Ritesh Kumar Singh                Connecting SQlite with Django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8467E3-DB44-4370-A97F-1C64F576B2E3}" type="datetime1">
              <a:rPr lang="en-US" smtClean="0"/>
              <a:t>11/4/2024</a:t>
            </a:fld>
            <a:endParaRPr lang="en-US"/>
          </a:p>
        </p:txBody>
      </p:sp>
      <p:sp>
        <p:nvSpPr>
          <p:cNvPr id="6" name="Footer Placeholder 5"/>
          <p:cNvSpPr>
            <a:spLocks noGrp="1"/>
          </p:cNvSpPr>
          <p:nvPr>
            <p:ph type="ftr" sz="quarter" idx="11"/>
          </p:nvPr>
        </p:nvSpPr>
        <p:spPr/>
        <p:txBody>
          <a:bodyPr/>
          <a:lstStyle/>
          <a:p>
            <a:r>
              <a:rPr lang="en-US"/>
              <a:t>Ritesh Kumar Singh                Connecting SQlite with Django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865575-5E54-4059-868B-3FDB1483F55E}" type="datetime1">
              <a:rPr lang="en-US" smtClean="0"/>
              <a:t>11/4/2024</a:t>
            </a:fld>
            <a:endParaRPr lang="en-US"/>
          </a:p>
        </p:txBody>
      </p:sp>
      <p:sp>
        <p:nvSpPr>
          <p:cNvPr id="5" name="Footer Placeholder 4"/>
          <p:cNvSpPr>
            <a:spLocks noGrp="1"/>
          </p:cNvSpPr>
          <p:nvPr>
            <p:ph type="ftr" sz="quarter" idx="11"/>
          </p:nvPr>
        </p:nvSpPr>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274BBB-6AD8-4B85-B996-FF4469840F78}" type="datetime1">
              <a:rPr lang="en-US" smtClean="0"/>
              <a:t>11/4/2024</a:t>
            </a:fld>
            <a:endParaRPr lang="en-US"/>
          </a:p>
        </p:txBody>
      </p:sp>
      <p:sp>
        <p:nvSpPr>
          <p:cNvPr id="5" name="Footer Placeholder 4"/>
          <p:cNvSpPr>
            <a:spLocks noGrp="1"/>
          </p:cNvSpPr>
          <p:nvPr>
            <p:ph type="ftr" sz="quarter" idx="11"/>
          </p:nvPr>
        </p:nvSpPr>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7"/>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0E4454-FF72-47F1-A044-4245153C06E2}" type="datetime1">
              <a:rPr lang="en-US" smtClean="0"/>
              <a:t>11/4/2024</a:t>
            </a:fld>
            <a:endParaRPr lang="en-US"/>
          </a:p>
        </p:txBody>
      </p:sp>
      <p:sp>
        <p:nvSpPr>
          <p:cNvPr id="5" name="Footer Placeholder 4"/>
          <p:cNvSpPr>
            <a:spLocks noGrp="1"/>
          </p:cNvSpPr>
          <p:nvPr>
            <p:ph type="ftr" sz="quarter" idx="3"/>
          </p:nvPr>
        </p:nvSpPr>
        <p:spPr>
          <a:xfrm>
            <a:off x="4165600" y="6356357"/>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Ritesh Kumar Singh                Connecting SQlite with Django                          Unit IV</a:t>
            </a:r>
            <a:endParaRPr lang="en-US" dirty="0"/>
          </a:p>
        </p:txBody>
      </p:sp>
      <p:sp>
        <p:nvSpPr>
          <p:cNvPr id="6" name="Slide Number Placeholder 5"/>
          <p:cNvSpPr>
            <a:spLocks noGrp="1"/>
          </p:cNvSpPr>
          <p:nvPr>
            <p:ph type="sldNum" sz="quarter" idx="4"/>
          </p:nvPr>
        </p:nvSpPr>
        <p:spPr>
          <a:xfrm>
            <a:off x="8737600" y="6356357"/>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9833" y="13570"/>
            <a:ext cx="1401117" cy="74843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shop.tsinfo.com/products/12"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shop.tsinfo.com/products/12"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docs.djangoproject.com/en/dev/ref/request-response/#django.http.HttpResponse"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djangoproject.com/start/overview/" TargetMode="Externa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youtu.be/tA42nHmmEKw?list=PLh2mXjKcTPSACrQxPM2_1Ojus5HX88ht7" TargetMode="External"/><Relationship Id="rId7" Type="http://schemas.openxmlformats.org/officeDocument/2006/relationships/image" Target="../media/image3.jpeg"/><Relationship Id="rId2" Type="http://schemas.openxmlformats.org/officeDocument/2006/relationships/hyperlink" Target="https://youtu.be/eoPsX7MKfe8?list=PLIdgECt554OVFKXRpo_kuI0XpUQKk0ycO" TargetMode="External"/><Relationship Id="rId1" Type="http://schemas.openxmlformats.org/officeDocument/2006/relationships/slideLayout" Target="../slideLayouts/slideLayout2.xml"/><Relationship Id="rId6" Type="http://schemas.openxmlformats.org/officeDocument/2006/relationships/hyperlink" Target="https://youtu.be/9MmC_uGjBsM?list=PL3pGy4HtqwD02GVgM96-V0sq4_DSinqvf" TargetMode="External"/><Relationship Id="rId5" Type="http://schemas.openxmlformats.org/officeDocument/2006/relationships/hyperlink" Target="https://youtu.be/QXeEoD0pB3E?list=PLsyeobzWxl7poL9JTVyndKe62ieoN-MZ3" TargetMode="External"/><Relationship Id="rId4" Type="http://schemas.openxmlformats.org/officeDocument/2006/relationships/hyperlink" Target="https://youtu.be/8ndsDXohLMQ?list=PLDsnL5pk7-N_9oy2RN4A65Z-PEnvtc7rf" TargetMode="Externa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7"/>
            <a:ext cx="105918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3200" dirty="0"/>
              <a:t>Noida Institute of Engineering and Technology, Greater Noida</a:t>
            </a:r>
          </a:p>
        </p:txBody>
      </p:sp>
      <p:sp>
        <p:nvSpPr>
          <p:cNvPr id="3" name="Subtitle 2"/>
          <p:cNvSpPr>
            <a:spLocks noGrp="1"/>
          </p:cNvSpPr>
          <p:nvPr>
            <p:ph type="subTitle" idx="1"/>
          </p:nvPr>
        </p:nvSpPr>
        <p:spPr>
          <a:xfrm>
            <a:off x="2971800" y="914400"/>
            <a:ext cx="6324600" cy="1372484"/>
          </a:xfrm>
        </p:spPr>
        <p:style>
          <a:lnRef idx="2">
            <a:schemeClr val="accent5"/>
          </a:lnRef>
          <a:fillRef idx="1">
            <a:schemeClr val="lt1"/>
          </a:fillRef>
          <a:effectRef idx="0">
            <a:schemeClr val="accent5"/>
          </a:effectRef>
          <a:fontRef idx="minor">
            <a:schemeClr val="dk1"/>
          </a:fontRef>
        </p:style>
        <p:txBody>
          <a:bodyPr anchor="ctr">
            <a:normAutofit/>
          </a:bodyPr>
          <a:lstStyle/>
          <a:p>
            <a:r>
              <a:rPr lang="en-US" sz="3600" dirty="0">
                <a:solidFill>
                  <a:schemeClr val="tx1"/>
                </a:solidFill>
              </a:rPr>
              <a:t> Python Web Development with Django</a:t>
            </a:r>
          </a:p>
        </p:txBody>
      </p:sp>
      <p:sp>
        <p:nvSpPr>
          <p:cNvPr id="6" name="Subtitle 2"/>
          <p:cNvSpPr txBox="1">
            <a:spLocks/>
          </p:cNvSpPr>
          <p:nvPr/>
        </p:nvSpPr>
        <p:spPr>
          <a:xfrm>
            <a:off x="8382000" y="40386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algn="ctr">
              <a:spcBef>
                <a:spcPct val="20000"/>
              </a:spcBef>
              <a:defRPr/>
            </a:pPr>
            <a:endParaRPr lang="en-US" sz="2400" dirty="0">
              <a:solidFill>
                <a:schemeClr val="tx1"/>
              </a:solidFill>
            </a:endParaRPr>
          </a:p>
          <a:p>
            <a:pPr algn="ctr">
              <a:spcBef>
                <a:spcPct val="20000"/>
              </a:spcBef>
              <a:defRPr/>
            </a:pPr>
            <a:r>
              <a:rPr lang="en-US" sz="2800" dirty="0">
                <a:solidFill>
                  <a:schemeClr val="tx1"/>
                </a:solidFill>
              </a:rPr>
              <a:t>Ritesh Kumar Singh </a:t>
            </a:r>
          </a:p>
          <a:p>
            <a:pPr algn="ctr">
              <a:spcBef>
                <a:spcPct val="20000"/>
              </a:spcBef>
              <a:defRPr/>
            </a:pPr>
            <a:r>
              <a:rPr lang="en-US" sz="2400" dirty="0">
                <a:solidFill>
                  <a:schemeClr val="tx1"/>
                </a:solidFill>
              </a:rPr>
              <a:t> (Asst. Professor)</a:t>
            </a:r>
          </a:p>
          <a:p>
            <a:pPr algn="ctr">
              <a:spcBef>
                <a:spcPct val="20000"/>
              </a:spcBef>
              <a:defRPr/>
            </a:pPr>
            <a:r>
              <a:rPr lang="en-US" sz="2400" dirty="0">
                <a:solidFill>
                  <a:schemeClr val="tx1"/>
                </a:solidFill>
              </a:rPr>
              <a:t>CSE Department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417320" y="5897568"/>
            <a:ext cx="533400" cy="533400"/>
          </a:xfrm>
          <a:prstGeom prst="rect">
            <a:avLst/>
          </a:prstGeom>
          <a:noFill/>
        </p:spPr>
      </p:pic>
      <p:sp>
        <p:nvSpPr>
          <p:cNvPr id="9" name="Date Placeholder 8"/>
          <p:cNvSpPr>
            <a:spLocks noGrp="1"/>
          </p:cNvSpPr>
          <p:nvPr>
            <p:ph type="dt" sz="half" idx="10"/>
          </p:nvPr>
        </p:nvSpPr>
        <p:spPr>
          <a:xfrm>
            <a:off x="1482634" y="6430968"/>
            <a:ext cx="2133600" cy="365125"/>
          </a:xfrm>
        </p:spPr>
        <p:txBody>
          <a:bodyPr/>
          <a:lstStyle/>
          <a:p>
            <a:fld id="{5A3DD15A-19B6-45C5-995B-9FFD7591044D}" type="datetime1">
              <a:rPr lang="en-US" smtClean="0"/>
              <a:t>11/4/2024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sp>
        <p:nvSpPr>
          <p:cNvPr id="12" name="Subtitle 2"/>
          <p:cNvSpPr txBox="1">
            <a:spLocks/>
          </p:cNvSpPr>
          <p:nvPr/>
        </p:nvSpPr>
        <p:spPr>
          <a:xfrm>
            <a:off x="14478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IV</a:t>
            </a:r>
          </a:p>
        </p:txBody>
      </p:sp>
      <p:sp>
        <p:nvSpPr>
          <p:cNvPr id="13" name="Footer Placeholder 12"/>
          <p:cNvSpPr>
            <a:spLocks noGrp="1"/>
          </p:cNvSpPr>
          <p:nvPr>
            <p:ph type="ftr" sz="quarter" idx="11"/>
          </p:nvPr>
        </p:nvSpPr>
        <p:spPr>
          <a:xfrm>
            <a:off x="4078514" y="6430967"/>
            <a:ext cx="6324600" cy="365125"/>
          </a:xfrm>
        </p:spPr>
        <p:txBody>
          <a:bodyPr/>
          <a:lstStyle/>
          <a:p>
            <a:r>
              <a:rPr lang="en-US"/>
              <a:t>Ritesh Kumar Singh                Connecting SQlite with Django                          Unit IV</a:t>
            </a:r>
            <a:endParaRPr lang="en-US" dirty="0"/>
          </a:p>
        </p:txBody>
      </p:sp>
      <p:sp>
        <p:nvSpPr>
          <p:cNvPr id="14" name="Subtitle 2"/>
          <p:cNvSpPr txBox="1">
            <a:spLocks/>
          </p:cNvSpPr>
          <p:nvPr/>
        </p:nvSpPr>
        <p:spPr>
          <a:xfrm>
            <a:off x="14478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r>
              <a:rPr lang="en-US" sz="2400" dirty="0">
                <a:solidFill>
                  <a:schemeClr val="tx1"/>
                </a:solidFill>
              </a:rPr>
              <a:t>Connecting SQLite with Django</a:t>
            </a:r>
            <a:r>
              <a:rPr lang="en-US" sz="2000" dirty="0">
                <a:solidFill>
                  <a:schemeClr val="tx1"/>
                </a:solidFill>
              </a:rPr>
              <a:t>  </a:t>
            </a:r>
            <a:endParaRPr lang="en-US" sz="2000" b="1" dirty="0">
              <a:solidFill>
                <a:schemeClr val="tx1"/>
              </a:solidFill>
            </a:endParaRPr>
          </a:p>
        </p:txBody>
      </p:sp>
      <p:sp>
        <p:nvSpPr>
          <p:cNvPr id="15" name="Subtitle 2"/>
          <p:cNvSpPr txBox="1">
            <a:spLocks/>
          </p:cNvSpPr>
          <p:nvPr/>
        </p:nvSpPr>
        <p:spPr>
          <a:xfrm>
            <a:off x="14478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5</a:t>
            </a:r>
            <a:r>
              <a:rPr lang="en-US" sz="2000" baseline="30000" dirty="0">
                <a:solidFill>
                  <a:schemeClr val="tx1"/>
                </a:solidFill>
              </a:rPr>
              <a:t>th</a:t>
            </a:r>
            <a:r>
              <a:rPr lang="en-US" sz="2000" dirty="0">
                <a:solidFill>
                  <a:schemeClr val="tx1"/>
                </a:solidFill>
              </a:rPr>
              <a:t> Sem)</a:t>
            </a:r>
          </a:p>
        </p:txBody>
      </p:sp>
      <p:pic>
        <p:nvPicPr>
          <p:cNvPr id="16" name="Picture 15"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pic>
        <p:nvPicPr>
          <p:cNvPr id="4" name="Picture 4">
            <a:extLst>
              <a:ext uri="{FF2B5EF4-FFF2-40B4-BE49-F238E27FC236}">
                <a16:creationId xmlns:a16="http://schemas.microsoft.com/office/drawing/2014/main" id="{24B37139-67CE-B45C-DFD0-A89734A1F42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p:blipFill>
        <p:spPr bwMode="auto">
          <a:xfrm>
            <a:off x="9067800" y="2469452"/>
            <a:ext cx="1516498" cy="1516498"/>
          </a:xfrm>
          <a:prstGeom prst="rect">
            <a:avLst/>
          </a:prstGeom>
          <a:noFill/>
        </p:spPr>
      </p:pic>
    </p:spTree>
    <p:extLst>
      <p:ext uri="{BB962C8B-B14F-4D97-AF65-F5344CB8AC3E}">
        <p14:creationId xmlns:p14="http://schemas.microsoft.com/office/powerpoint/2010/main" val="1337356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FDB8E7-6DA4-409B-B67F-91BEAABE3A05}" type="datetime1">
              <a:rPr lang="en-US" smtClean="0"/>
              <a:t>11/4/2024</a:t>
            </a:fld>
            <a:endParaRPr lang="en-US" dirty="0"/>
          </a:p>
        </p:txBody>
      </p:sp>
      <p:sp>
        <p:nvSpPr>
          <p:cNvPr id="5" name="Footer Placeholder 4"/>
          <p:cNvSpPr>
            <a:spLocks noGrp="1"/>
          </p:cNvSpPr>
          <p:nvPr>
            <p:ph type="ftr" sz="quarter" idx="11"/>
          </p:nvPr>
        </p:nvSpPr>
        <p:spPr>
          <a:xfrm>
            <a:off x="3810000" y="6455769"/>
            <a:ext cx="6858000"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63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 </a:t>
            </a:r>
            <a:r>
              <a:rPr lang="en-US" sz="2800" b="1" dirty="0"/>
              <a:t> Python libraries for web development</a:t>
            </a:r>
            <a:endParaRPr lang="en-IN" sz="28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4083313355"/>
              </p:ext>
            </p:extLst>
          </p:nvPr>
        </p:nvGraphicFramePr>
        <p:xfrm>
          <a:off x="1447800" y="2158974"/>
          <a:ext cx="100203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4463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23"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1EB5439-951C-40A3-9D96-0EE012A63F56}" type="datetime1">
              <a:rPr lang="en-US" smtClean="0"/>
              <a:t>11/4/2024</a:t>
            </a:fld>
            <a:endParaRPr lang="en-US" dirty="0"/>
          </a:p>
        </p:txBody>
      </p:sp>
      <p:sp>
        <p:nvSpPr>
          <p:cNvPr id="5" name="Footer Placeholder 4"/>
          <p:cNvSpPr>
            <a:spLocks noGrp="1"/>
          </p:cNvSpPr>
          <p:nvPr>
            <p:ph type="ftr" sz="quarter" idx="11"/>
          </p:nvPr>
        </p:nvSpPr>
        <p:spPr>
          <a:xfrm>
            <a:off x="4032794" y="6373774"/>
            <a:ext cx="6711406"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47800" y="1162288"/>
            <a:ext cx="662940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UNIT-II:  Introduction to Django Framework   </a:t>
            </a:r>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530179346"/>
              </p:ext>
            </p:extLst>
          </p:nvPr>
        </p:nvGraphicFramePr>
        <p:xfrm>
          <a:off x="762000" y="2429460"/>
          <a:ext cx="11201400" cy="28230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5622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23"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B6D640-539F-4959-A1A4-85F5B8E9A182}" type="datetime1">
              <a:rPr lang="en-US" smtClean="0"/>
              <a:t>11/4/2024</a:t>
            </a:fld>
            <a:endParaRPr lang="en-US" dirty="0"/>
          </a:p>
        </p:txBody>
      </p:sp>
      <p:sp>
        <p:nvSpPr>
          <p:cNvPr id="5" name="Footer Placeholder 4"/>
          <p:cNvSpPr>
            <a:spLocks noGrp="1"/>
          </p:cNvSpPr>
          <p:nvPr>
            <p:ph type="ftr" sz="quarter" idx="11"/>
          </p:nvPr>
        </p:nvSpPr>
        <p:spPr>
          <a:xfrm>
            <a:off x="4343400" y="6248406"/>
            <a:ext cx="6248400"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78280" y="1162431"/>
            <a:ext cx="957072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UNIT-III: </a:t>
            </a:r>
            <a:r>
              <a:rPr lang="en-US" sz="2800" b="1" dirty="0"/>
              <a:t> Integrating Accounts &amp; Authentication on Django </a:t>
            </a:r>
            <a:endParaRPr lang="en-IN" sz="28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597070583"/>
              </p:ext>
            </p:extLst>
          </p:nvPr>
        </p:nvGraphicFramePr>
        <p:xfrm>
          <a:off x="609600" y="2162276"/>
          <a:ext cx="11430000" cy="2836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53235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EB2478-8734-4073-AB45-C4772669E20D}" type="datetime1">
              <a:rPr lang="en-US" smtClean="0"/>
              <a:t>11/4/2024</a:t>
            </a:fld>
            <a:endParaRPr lang="en-US" dirty="0"/>
          </a:p>
        </p:txBody>
      </p:sp>
      <p:sp>
        <p:nvSpPr>
          <p:cNvPr id="5" name="Footer Placeholder 4"/>
          <p:cNvSpPr>
            <a:spLocks noGrp="1"/>
          </p:cNvSpPr>
          <p:nvPr>
            <p:ph type="ftr" sz="quarter" idx="11"/>
          </p:nvPr>
        </p:nvSpPr>
        <p:spPr>
          <a:xfrm>
            <a:off x="4343400" y="6248406"/>
            <a:ext cx="6705600"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67394" y="1245982"/>
            <a:ext cx="7600406"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UNIT-IV: </a:t>
            </a:r>
            <a:r>
              <a:rPr lang="en-US" sz="2800" b="1" dirty="0"/>
              <a:t>Connecting  SQLite  with Django</a:t>
            </a:r>
            <a:r>
              <a:rPr lang="en-IN" sz="2800" b="1" dirty="0"/>
              <a:t> </a:t>
            </a:r>
            <a:endParaRPr lang="en-IN" sz="30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285603072"/>
              </p:ext>
            </p:extLst>
          </p:nvPr>
        </p:nvGraphicFramePr>
        <p:xfrm>
          <a:off x="1143000" y="2209800"/>
          <a:ext cx="10591800" cy="3429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48376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DF210F-390E-468E-9754-7DB627BE0335}" type="datetime1">
              <a:rPr lang="en-US" smtClean="0"/>
              <a:t>11/4/2024</a:t>
            </a:fld>
            <a:endParaRPr lang="en-US" dirty="0"/>
          </a:p>
        </p:txBody>
      </p:sp>
      <p:sp>
        <p:nvSpPr>
          <p:cNvPr id="5" name="Footer Placeholder 4"/>
          <p:cNvSpPr>
            <a:spLocks noGrp="1"/>
          </p:cNvSpPr>
          <p:nvPr>
            <p:ph type="ftr" sz="quarter" idx="11"/>
          </p:nvPr>
        </p:nvSpPr>
        <p:spPr>
          <a:xfrm>
            <a:off x="4343400" y="6248406"/>
            <a:ext cx="6629400"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47800" y="1213828"/>
            <a:ext cx="861060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UNIT-V: </a:t>
            </a:r>
            <a:r>
              <a:rPr lang="en-US" sz="2800" b="1" dirty="0"/>
              <a:t> Deploying Django Web Application on Cloud</a:t>
            </a:r>
            <a:r>
              <a:rPr lang="en-IN" sz="2800" b="1" dirty="0"/>
              <a:t> </a:t>
            </a:r>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911545463"/>
              </p:ext>
            </p:extLst>
          </p:nvPr>
        </p:nvGraphicFramePr>
        <p:xfrm>
          <a:off x="1447800" y="1966709"/>
          <a:ext cx="9982200" cy="30624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72850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CF9A600-39C0-424B-AA6B-849E466EFE71}" type="datetime1">
              <a:rPr lang="en-US" smtClean="0"/>
              <a:t>11/4/2024</a:t>
            </a:fld>
            <a:endParaRPr lang="en-US" dirty="0"/>
          </a:p>
        </p:txBody>
      </p:sp>
      <p:sp>
        <p:nvSpPr>
          <p:cNvPr id="5" name="Footer Placeholder 4"/>
          <p:cNvSpPr>
            <a:spLocks noGrp="1"/>
          </p:cNvSpPr>
          <p:nvPr>
            <p:ph type="ftr" sz="quarter" idx="11"/>
          </p:nvPr>
        </p:nvSpPr>
        <p:spPr>
          <a:xfrm>
            <a:off x="4343400" y="6248406"/>
            <a:ext cx="6705600"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b="1" dirty="0"/>
              <a:t>Branch Wise Application</a:t>
            </a:r>
            <a:endParaRPr lang="en-IN" sz="3200" dirty="0"/>
          </a:p>
        </p:txBody>
      </p:sp>
      <p:graphicFrame>
        <p:nvGraphicFramePr>
          <p:cNvPr id="9" name="Table 8"/>
          <p:cNvGraphicFramePr>
            <a:graphicFrameLocks noGrp="1"/>
          </p:cNvGraphicFramePr>
          <p:nvPr>
            <p:extLst>
              <p:ext uri="{D42A27DB-BD31-4B8C-83A1-F6EECF244321}">
                <p14:modId xmlns:p14="http://schemas.microsoft.com/office/powerpoint/2010/main" val="3479779763"/>
              </p:ext>
            </p:extLst>
          </p:nvPr>
        </p:nvGraphicFramePr>
        <p:xfrm>
          <a:off x="1143000" y="1317623"/>
          <a:ext cx="10134600" cy="4703637"/>
        </p:xfrm>
        <a:graphic>
          <a:graphicData uri="http://schemas.openxmlformats.org/drawingml/2006/table">
            <a:tbl>
              <a:tblPr firstRow="1" bandRow="1">
                <a:tableStyleId>{5C22544A-7EE6-4342-B048-85BDC9FD1C3A}</a:tableStyleId>
              </a:tblPr>
              <a:tblGrid>
                <a:gridCol w="10134600">
                  <a:extLst>
                    <a:ext uri="{9D8B030D-6E8A-4147-A177-3AD203B41FA5}">
                      <a16:colId xmlns:a16="http://schemas.microsoft.com/office/drawing/2014/main" val="3381697907"/>
                    </a:ext>
                  </a:extLst>
                </a:gridCol>
              </a:tblGrid>
              <a:tr h="370840">
                <a:tc>
                  <a:txBody>
                    <a:bodyPr/>
                    <a:lstStyle/>
                    <a:p>
                      <a:r>
                        <a:rPr lang="en-US" sz="2400" b="0" dirty="0">
                          <a:solidFill>
                            <a:schemeClr val="accent4">
                              <a:lumMod val="50000"/>
                            </a:schemeClr>
                          </a:solidFill>
                        </a:rPr>
                        <a:t>1. Real time web analytics</a:t>
                      </a:r>
                    </a:p>
                  </a:txBody>
                  <a:tcPr>
                    <a:solidFill>
                      <a:schemeClr val="accent3"/>
                    </a:solidFill>
                  </a:tcPr>
                </a:tc>
                <a:extLst>
                  <a:ext uri="{0D108BD9-81ED-4DB2-BD59-A6C34878D82A}">
                    <a16:rowId xmlns:a16="http://schemas.microsoft.com/office/drawing/2014/main" val="2041522289"/>
                  </a:ext>
                </a:extLst>
              </a:tr>
              <a:tr h="370840">
                <a:tc>
                  <a:txBody>
                    <a:bodyPr/>
                    <a:lstStyle/>
                    <a:p>
                      <a:pPr marL="0" indent="0">
                        <a:lnSpc>
                          <a:spcPct val="120000"/>
                        </a:lnSpc>
                        <a:buNone/>
                      </a:pPr>
                      <a:r>
                        <a:rPr lang="en-US" sz="2400" b="0" dirty="0">
                          <a:solidFill>
                            <a:schemeClr val="accent4">
                              <a:lumMod val="50000"/>
                            </a:schemeClr>
                          </a:solidFill>
                        </a:rPr>
                        <a:t>2. Digital Advertising</a:t>
                      </a:r>
                    </a:p>
                  </a:txBody>
                  <a:tcPr>
                    <a:solidFill>
                      <a:srgbClr val="00B0F0"/>
                    </a:solidFill>
                  </a:tcPr>
                </a:tc>
                <a:extLst>
                  <a:ext uri="{0D108BD9-81ED-4DB2-BD59-A6C34878D82A}">
                    <a16:rowId xmlns:a16="http://schemas.microsoft.com/office/drawing/2014/main" val="4237819354"/>
                  </a:ext>
                </a:extLst>
              </a:tr>
              <a:tr h="370840">
                <a:tc>
                  <a:txBody>
                    <a:bodyPr/>
                    <a:lstStyle/>
                    <a:p>
                      <a:r>
                        <a:rPr lang="en-US" sz="2400" b="0" dirty="0">
                          <a:solidFill>
                            <a:schemeClr val="accent4">
                              <a:lumMod val="50000"/>
                            </a:schemeClr>
                          </a:solidFill>
                        </a:rPr>
                        <a:t>3. E-Commerce</a:t>
                      </a:r>
                    </a:p>
                  </a:txBody>
                  <a:tcPr>
                    <a:solidFill>
                      <a:schemeClr val="accent4"/>
                    </a:solidFill>
                  </a:tcPr>
                </a:tc>
                <a:extLst>
                  <a:ext uri="{0D108BD9-81ED-4DB2-BD59-A6C34878D82A}">
                    <a16:rowId xmlns:a16="http://schemas.microsoft.com/office/drawing/2014/main" val="3364231830"/>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400" b="0" dirty="0">
                          <a:solidFill>
                            <a:schemeClr val="accent4">
                              <a:lumMod val="50000"/>
                            </a:schemeClr>
                          </a:solidFill>
                        </a:rPr>
                        <a:t>4. Publishing</a:t>
                      </a:r>
                    </a:p>
                  </a:txBody>
                  <a:tcPr>
                    <a:solidFill>
                      <a:schemeClr val="accent6"/>
                    </a:solidFill>
                  </a:tcPr>
                </a:tc>
                <a:extLst>
                  <a:ext uri="{0D108BD9-81ED-4DB2-BD59-A6C34878D82A}">
                    <a16:rowId xmlns:a16="http://schemas.microsoft.com/office/drawing/2014/main" val="859735425"/>
                  </a:ext>
                </a:extLst>
              </a:tr>
              <a:tr h="370840">
                <a:tc>
                  <a:txBody>
                    <a:bodyPr/>
                    <a:lstStyle/>
                    <a:p>
                      <a:pPr marL="0" indent="0">
                        <a:lnSpc>
                          <a:spcPct val="120000"/>
                        </a:lnSpc>
                        <a:buNone/>
                      </a:pPr>
                      <a:r>
                        <a:rPr lang="en-US" sz="2400" b="0" dirty="0">
                          <a:solidFill>
                            <a:schemeClr val="accent4">
                              <a:lumMod val="50000"/>
                            </a:schemeClr>
                          </a:solidFill>
                        </a:rPr>
                        <a:t>5. Massively Multiplayer Online Games</a:t>
                      </a:r>
                    </a:p>
                  </a:txBody>
                  <a:tcPr>
                    <a:solidFill>
                      <a:schemeClr val="tx2"/>
                    </a:solidFill>
                  </a:tcPr>
                </a:tc>
                <a:extLst>
                  <a:ext uri="{0D108BD9-81ED-4DB2-BD59-A6C34878D82A}">
                    <a16:rowId xmlns:a16="http://schemas.microsoft.com/office/drawing/2014/main" val="3838202114"/>
                  </a:ext>
                </a:extLst>
              </a:tr>
              <a:tr h="370840">
                <a:tc>
                  <a:txBody>
                    <a:bodyPr/>
                    <a:lstStyle/>
                    <a:p>
                      <a:r>
                        <a:rPr lang="en-US" sz="2400" b="0" dirty="0">
                          <a:solidFill>
                            <a:schemeClr val="accent4">
                              <a:lumMod val="50000"/>
                            </a:schemeClr>
                          </a:solidFill>
                        </a:rPr>
                        <a:t>6. Backend Services and Messaging</a:t>
                      </a:r>
                    </a:p>
                  </a:txBody>
                  <a:tcPr>
                    <a:solidFill>
                      <a:schemeClr val="accent4"/>
                    </a:solidFill>
                  </a:tcPr>
                </a:tc>
                <a:extLst>
                  <a:ext uri="{0D108BD9-81ED-4DB2-BD59-A6C34878D82A}">
                    <a16:rowId xmlns:a16="http://schemas.microsoft.com/office/drawing/2014/main" val="2179510869"/>
                  </a:ext>
                </a:extLst>
              </a:tr>
              <a:tr h="370840">
                <a:tc>
                  <a:txBody>
                    <a:bodyPr/>
                    <a:lstStyle/>
                    <a:p>
                      <a:r>
                        <a:rPr lang="en-US" sz="2400" b="0" dirty="0">
                          <a:solidFill>
                            <a:schemeClr val="accent4">
                              <a:lumMod val="50000"/>
                            </a:schemeClr>
                          </a:solidFill>
                        </a:rPr>
                        <a:t>7. Project Management &amp; Collaboration</a:t>
                      </a:r>
                    </a:p>
                  </a:txBody>
                  <a:tcPr>
                    <a:solidFill>
                      <a:srgbClr val="FFC000"/>
                    </a:solidFill>
                  </a:tcPr>
                </a:tc>
                <a:extLst>
                  <a:ext uri="{0D108BD9-81ED-4DB2-BD59-A6C34878D82A}">
                    <a16:rowId xmlns:a16="http://schemas.microsoft.com/office/drawing/2014/main" val="4231919225"/>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400" b="0" dirty="0">
                          <a:solidFill>
                            <a:schemeClr val="accent4">
                              <a:lumMod val="50000"/>
                            </a:schemeClr>
                          </a:solidFill>
                        </a:rPr>
                        <a:t>8. Real time Monitoring Services</a:t>
                      </a:r>
                    </a:p>
                  </a:txBody>
                  <a:tcPr>
                    <a:solidFill>
                      <a:schemeClr val="accent6">
                        <a:lumMod val="75000"/>
                      </a:schemeClr>
                    </a:solidFill>
                  </a:tcPr>
                </a:tc>
                <a:extLst>
                  <a:ext uri="{0D108BD9-81ED-4DB2-BD59-A6C34878D82A}">
                    <a16:rowId xmlns:a16="http://schemas.microsoft.com/office/drawing/2014/main" val="2668177381"/>
                  </a:ext>
                </a:extLst>
              </a:tr>
              <a:tr h="370840">
                <a:tc>
                  <a:txBody>
                    <a:bodyPr/>
                    <a:lstStyle/>
                    <a:p>
                      <a:r>
                        <a:rPr lang="en-US" sz="2400" b="0" dirty="0">
                          <a:solidFill>
                            <a:schemeClr val="accent4">
                              <a:lumMod val="50000"/>
                            </a:schemeClr>
                          </a:solidFill>
                        </a:rPr>
                        <a:t>9.Live Charting and Graphing</a:t>
                      </a:r>
                    </a:p>
                  </a:txBody>
                  <a:tcPr>
                    <a:solidFill>
                      <a:srgbClr val="00B0F0"/>
                    </a:solidFill>
                  </a:tcPr>
                </a:tc>
                <a:extLst>
                  <a:ext uri="{0D108BD9-81ED-4DB2-BD59-A6C34878D82A}">
                    <a16:rowId xmlns:a16="http://schemas.microsoft.com/office/drawing/2014/main" val="3851611393"/>
                  </a:ext>
                </a:extLst>
              </a:tr>
              <a:tr h="370840">
                <a:tc>
                  <a:txBody>
                    <a:bodyPr/>
                    <a:lstStyle/>
                    <a:p>
                      <a:pPr marL="0" indent="0">
                        <a:lnSpc>
                          <a:spcPct val="120000"/>
                        </a:lnSpc>
                        <a:buNone/>
                      </a:pPr>
                      <a:r>
                        <a:rPr lang="en-US" sz="2400" b="0" dirty="0">
                          <a:solidFill>
                            <a:schemeClr val="accent4">
                              <a:lumMod val="50000"/>
                            </a:schemeClr>
                          </a:solidFill>
                        </a:rPr>
                        <a:t>10. Group and Private Chat</a:t>
                      </a:r>
                    </a:p>
                  </a:txBody>
                  <a:tcPr>
                    <a:solidFill>
                      <a:schemeClr val="accent2"/>
                    </a:solidFill>
                  </a:tcPr>
                </a:tc>
                <a:extLst>
                  <a:ext uri="{0D108BD9-81ED-4DB2-BD59-A6C34878D82A}">
                    <a16:rowId xmlns:a16="http://schemas.microsoft.com/office/drawing/2014/main" val="3340821400"/>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79124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415142" y="854307"/>
            <a:ext cx="10700657" cy="5311776"/>
          </a:xfrm>
          <a:solidFill>
            <a:schemeClr val="bg2">
              <a:lumMod val="10000"/>
            </a:schemeClr>
          </a:solidFill>
          <a:ln w="19050">
            <a:solidFill>
              <a:schemeClr val="tx1"/>
            </a:solidFill>
          </a:ln>
        </p:spPr>
        <p:txBody>
          <a:bodyPr>
            <a:normAutofit fontScale="92500" lnSpcReduction="20000"/>
          </a:bodyPr>
          <a:lstStyle/>
          <a:p>
            <a:pPr>
              <a:lnSpc>
                <a:spcPct val="120000"/>
              </a:lnSpc>
            </a:pPr>
            <a:endParaRPr lang="en-US" dirty="0">
              <a:solidFill>
                <a:srgbClr val="00B050"/>
              </a:solidFill>
            </a:endParaRPr>
          </a:p>
          <a:p>
            <a:pPr>
              <a:lnSpc>
                <a:spcPct val="120000"/>
              </a:lnSpc>
            </a:pPr>
            <a:r>
              <a:rPr lang="en-US" dirty="0">
                <a:solidFill>
                  <a:srgbClr val="00B050"/>
                </a:solidFill>
              </a:rPr>
              <a:t>Database Migrations.</a:t>
            </a:r>
          </a:p>
          <a:p>
            <a:pPr>
              <a:lnSpc>
                <a:spcPct val="120000"/>
              </a:lnSpc>
            </a:pPr>
            <a:r>
              <a:rPr lang="en-US" dirty="0">
                <a:solidFill>
                  <a:srgbClr val="00B050"/>
                </a:solidFill>
              </a:rPr>
              <a:t>Fetch Data From Database. </a:t>
            </a:r>
          </a:p>
          <a:p>
            <a:pPr>
              <a:lnSpc>
                <a:spcPct val="120000"/>
              </a:lnSpc>
            </a:pPr>
            <a:r>
              <a:rPr lang="en-US" dirty="0">
                <a:solidFill>
                  <a:srgbClr val="00B050"/>
                </a:solidFill>
              </a:rPr>
              <a:t>Displaying Data On Templates.</a:t>
            </a:r>
          </a:p>
          <a:p>
            <a:pPr>
              <a:lnSpc>
                <a:spcPct val="120000"/>
              </a:lnSpc>
            </a:pPr>
            <a:r>
              <a:rPr lang="en-US" dirty="0">
                <a:solidFill>
                  <a:srgbClr val="00B050"/>
                </a:solidFill>
              </a:rPr>
              <a:t>Adding Condition On Data.</a:t>
            </a:r>
          </a:p>
          <a:p>
            <a:pPr>
              <a:lnSpc>
                <a:spcPct val="120000"/>
              </a:lnSpc>
            </a:pPr>
            <a:r>
              <a:rPr lang="en-US" dirty="0">
                <a:solidFill>
                  <a:srgbClr val="00B050"/>
                </a:solidFill>
              </a:rPr>
              <a:t>Sending data from url to view.</a:t>
            </a:r>
          </a:p>
          <a:p>
            <a:pPr>
              <a:lnSpc>
                <a:spcPct val="120000"/>
              </a:lnSpc>
            </a:pPr>
            <a:r>
              <a:rPr lang="en-US" dirty="0">
                <a:solidFill>
                  <a:srgbClr val="00B050"/>
                </a:solidFill>
              </a:rPr>
              <a:t>Sending data from view to template.</a:t>
            </a:r>
          </a:p>
          <a:p>
            <a:pPr>
              <a:lnSpc>
                <a:spcPct val="120000"/>
              </a:lnSpc>
            </a:pPr>
            <a:r>
              <a:rPr lang="en-US" dirty="0">
                <a:solidFill>
                  <a:srgbClr val="00B050"/>
                </a:solidFill>
              </a:rPr>
              <a:t>Saving objects into database, Sorting objects, Filtering objects, Deleting objects.</a:t>
            </a:r>
          </a:p>
          <a:p>
            <a:pPr>
              <a:lnSpc>
                <a:spcPct val="120000"/>
              </a:lnSpc>
            </a:pPr>
            <a:r>
              <a:rPr lang="en-US" dirty="0">
                <a:solidFill>
                  <a:srgbClr val="00B050"/>
                </a:solidFill>
              </a:rPr>
              <a:t>Difference between session and cookie, Creating sessions and cookies in Django.</a:t>
            </a:r>
            <a:endParaRPr lang="en-US" dirty="0"/>
          </a:p>
          <a:p>
            <a:pPr marL="0" indent="0">
              <a:buNone/>
            </a:pPr>
            <a:endParaRPr lang="en-US" sz="400" dirty="0"/>
          </a:p>
        </p:txBody>
      </p:sp>
      <p:sp>
        <p:nvSpPr>
          <p:cNvPr id="6" name="Date Placeholder 5"/>
          <p:cNvSpPr>
            <a:spLocks noGrp="1"/>
          </p:cNvSpPr>
          <p:nvPr>
            <p:ph type="dt" sz="half" idx="10"/>
          </p:nvPr>
        </p:nvSpPr>
        <p:spPr/>
        <p:txBody>
          <a:bodyPr/>
          <a:lstStyle/>
          <a:p>
            <a:fld id="{272373F7-2965-470A-994C-AD7A0B5043B5}" type="datetime1">
              <a:rPr lang="en-US" smtClean="0"/>
              <a:t>11/4/2024</a:t>
            </a:fld>
            <a:endParaRPr lang="en-US" dirty="0"/>
          </a:p>
        </p:txBody>
      </p:sp>
      <p:sp>
        <p:nvSpPr>
          <p:cNvPr id="10" name="Footer Placeholder 9"/>
          <p:cNvSpPr>
            <a:spLocks noGrp="1"/>
          </p:cNvSpPr>
          <p:nvPr>
            <p:ph type="ftr" sz="quarter" idx="11"/>
          </p:nvPr>
        </p:nvSpPr>
        <p:spPr>
          <a:xfrm>
            <a:off x="4165600" y="6356357"/>
            <a:ext cx="5816600" cy="365125"/>
          </a:xfrm>
        </p:spPr>
        <p:txBody>
          <a:bodyPr/>
          <a:lstStyle/>
          <a:p>
            <a:r>
              <a:rPr lang="en-US"/>
              <a:t>Ritesh Kumar Singh                Connecting SQlite with Django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8</a:t>
            </a:fld>
            <a:endParaRPr lang="en-US" dirty="0"/>
          </a:p>
        </p:txBody>
      </p:sp>
      <p:sp>
        <p:nvSpPr>
          <p:cNvPr id="8" name="Title 1"/>
          <p:cNvSpPr txBox="1">
            <a:spLocks/>
          </p:cNvSpPr>
          <p:nvPr/>
        </p:nvSpPr>
        <p:spPr>
          <a:xfrm>
            <a:off x="1447800" y="7"/>
            <a:ext cx="10668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Unit IV Content</a:t>
            </a: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1219201"/>
            <a:ext cx="10134600" cy="3276599"/>
          </a:xfrm>
          <a:solidFill>
            <a:schemeClr val="accent5">
              <a:lumMod val="40000"/>
              <a:lumOff val="60000"/>
            </a:schemeClr>
          </a:solidFill>
          <a:ln w="12700">
            <a:solidFill>
              <a:schemeClr val="tx1"/>
            </a:solidFill>
          </a:ln>
        </p:spPr>
        <p:txBody>
          <a:bodyPr>
            <a:normAutofit fontScale="92500" lnSpcReduction="20000"/>
          </a:bodyPr>
          <a:lstStyle/>
          <a:p>
            <a:pPr marL="0" indent="0" algn="just">
              <a:buNone/>
            </a:pPr>
            <a:r>
              <a:rPr lang="en-US" sz="2800" dirty="0"/>
              <a:t>In Unit IV, the students will be able to find</a:t>
            </a:r>
          </a:p>
          <a:p>
            <a:pPr algn="just"/>
            <a:r>
              <a:rPr lang="en-US" sz="2800" dirty="0"/>
              <a:t>Definitions of  terms Database Migrations.</a:t>
            </a:r>
          </a:p>
          <a:p>
            <a:pPr algn="just"/>
            <a:r>
              <a:rPr lang="en-US" sz="2800" dirty="0"/>
              <a:t>How Fetch Data From Database &amp; Displaying Data On Templates.</a:t>
            </a:r>
          </a:p>
          <a:p>
            <a:pPr algn="just"/>
            <a:r>
              <a:rPr lang="en-US" sz="2800" dirty="0"/>
              <a:t>How to Send data from url to view.</a:t>
            </a:r>
          </a:p>
          <a:p>
            <a:pPr algn="just"/>
            <a:r>
              <a:rPr lang="en-US" sz="2800" dirty="0"/>
              <a:t>How to Send data from view to template.</a:t>
            </a:r>
          </a:p>
          <a:p>
            <a:pPr algn="just"/>
            <a:r>
              <a:rPr lang="en-US" sz="2800" dirty="0"/>
              <a:t>The idea of a python Library </a:t>
            </a:r>
            <a:r>
              <a:rPr lang="en-IN" sz="2800" dirty="0"/>
              <a:t>.</a:t>
            </a:r>
            <a:endParaRPr lang="en-US" sz="2800" dirty="0"/>
          </a:p>
          <a:p>
            <a:pPr algn="just"/>
            <a:r>
              <a:rPr lang="en-US" sz="2800" dirty="0"/>
              <a:t>Difference between session and cookie, Creating sessions and cookies in Django</a:t>
            </a:r>
          </a:p>
        </p:txBody>
      </p:sp>
      <p:sp>
        <p:nvSpPr>
          <p:cNvPr id="4" name="Date Placeholder 3"/>
          <p:cNvSpPr>
            <a:spLocks noGrp="1"/>
          </p:cNvSpPr>
          <p:nvPr>
            <p:ph type="dt" sz="half" idx="10"/>
          </p:nvPr>
        </p:nvSpPr>
        <p:spPr/>
        <p:txBody>
          <a:bodyPr/>
          <a:lstStyle/>
          <a:p>
            <a:fld id="{1DF08AD6-CAEA-425A-AC8F-E0552F8F6E0A}" type="datetime1">
              <a:rPr lang="en-US" smtClean="0"/>
              <a:t>11/4/2024</a:t>
            </a:fld>
            <a:endParaRPr lang="en-US" dirty="0"/>
          </a:p>
        </p:txBody>
      </p:sp>
      <p:sp>
        <p:nvSpPr>
          <p:cNvPr id="5" name="Footer Placeholder 4"/>
          <p:cNvSpPr>
            <a:spLocks noGrp="1"/>
          </p:cNvSpPr>
          <p:nvPr>
            <p:ph type="ftr" sz="quarter" idx="11"/>
          </p:nvPr>
        </p:nvSpPr>
        <p:spPr>
          <a:xfrm>
            <a:off x="4343400" y="6248406"/>
            <a:ext cx="6781800"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Unit IV Objective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611296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8623321-D2E5-4051-9F09-362C92F27586}" type="datetime1">
              <a:rPr lang="en-US" smtClean="0"/>
              <a:t>11/4/2024</a:t>
            </a:fld>
            <a:endParaRPr lang="en-US" dirty="0"/>
          </a:p>
        </p:txBody>
      </p:sp>
      <p:sp>
        <p:nvSpPr>
          <p:cNvPr id="5" name="Footer Placeholder 4"/>
          <p:cNvSpPr>
            <a:spLocks noGrp="1"/>
          </p:cNvSpPr>
          <p:nvPr>
            <p:ph type="ftr" sz="quarter" idx="11"/>
          </p:nvPr>
        </p:nvSpPr>
        <p:spPr>
          <a:xfrm>
            <a:off x="3742508" y="6336763"/>
            <a:ext cx="6468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Database Migrations</a:t>
            </a:r>
            <a:endParaRPr lang="en-US" sz="3200" dirty="0"/>
          </a:p>
        </p:txBody>
      </p:sp>
      <p:sp>
        <p:nvSpPr>
          <p:cNvPr id="9" name="Rectangle 8"/>
          <p:cNvSpPr/>
          <p:nvPr/>
        </p:nvSpPr>
        <p:spPr>
          <a:xfrm>
            <a:off x="457200" y="851985"/>
            <a:ext cx="11527971" cy="5386090"/>
          </a:xfrm>
          <a:prstGeom prst="rect">
            <a:avLst/>
          </a:prstGeom>
          <a:solidFill>
            <a:schemeClr val="tx2">
              <a:lumMod val="60000"/>
              <a:lumOff val="40000"/>
            </a:schemeClr>
          </a:solidFill>
          <a:ln w="9525">
            <a:solidFill>
              <a:schemeClr val="tx1"/>
            </a:solidFill>
          </a:ln>
        </p:spPr>
        <p:txBody>
          <a:bodyPr wrap="square">
            <a:spAutoFit/>
          </a:bodyPr>
          <a:lstStyle/>
          <a:p>
            <a:r>
              <a:rPr lang="en-US" sz="2800" b="1" u="sng" dirty="0"/>
              <a:t>Database migration: Concepts and principles</a:t>
            </a:r>
          </a:p>
          <a:p>
            <a:endParaRPr lang="en-US" sz="2800" b="1" u="sng" dirty="0"/>
          </a:p>
          <a:p>
            <a:pPr marL="342900" indent="-342900">
              <a:buFont typeface="Wingdings" panose="05000000000000000000" pitchFamily="2" charset="2"/>
              <a:buChar char="Ø"/>
            </a:pPr>
            <a:r>
              <a:rPr lang="en-US" sz="2400" dirty="0"/>
              <a:t>Database migration is the process of migrating data from one or more source databases to one or more target databases by using a database migration service. </a:t>
            </a:r>
          </a:p>
          <a:p>
            <a:endParaRPr lang="en-US" sz="2400" dirty="0"/>
          </a:p>
          <a:p>
            <a:pPr marL="342900" indent="-342900">
              <a:buFont typeface="Wingdings" panose="05000000000000000000" pitchFamily="2" charset="2"/>
              <a:buChar char="Ø"/>
            </a:pPr>
            <a:r>
              <a:rPr lang="en-US" sz="2400" dirty="0"/>
              <a:t>When a migration is finished, the dataset in the source databases resides fully, though possibly restructured, in the target databases. Clients that accessed the source databases are then switched over to the target databases, and the source databases are turned down.</a:t>
            </a:r>
          </a:p>
          <a:p>
            <a:endParaRPr lang="en-US" sz="2400" dirty="0"/>
          </a:p>
          <a:p>
            <a:pPr marL="342900" indent="-342900">
              <a:buFont typeface="Wingdings" panose="05000000000000000000" pitchFamily="2" charset="2"/>
              <a:buChar char="Ø"/>
            </a:pPr>
            <a:r>
              <a:rPr lang="en-US" sz="2400" dirty="0"/>
              <a:t>A database migration service runs within Google Cloud and accesses both source and target databases. Two variants are represented: (a) shows the migration from a source database in an on-premises data center or a remote cloud to a managed database like Cloud Spanner; (b) shows a migration to a database on Compute Engine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255297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4E63BAB-BE74-4B37-B349-C578322DE517}" type="datetime1">
              <a:rPr lang="en-US" smtClean="0"/>
              <a:t>11/4/2024</a:t>
            </a:fld>
            <a:endParaRPr lang="en-US" dirty="0"/>
          </a:p>
        </p:txBody>
      </p:sp>
      <p:sp>
        <p:nvSpPr>
          <p:cNvPr id="5" name="Footer Placeholder 4"/>
          <p:cNvSpPr>
            <a:spLocks noGrp="1"/>
          </p:cNvSpPr>
          <p:nvPr>
            <p:ph type="ftr" sz="quarter" idx="11"/>
          </p:nvPr>
        </p:nvSpPr>
        <p:spPr>
          <a:xfrm>
            <a:off x="3742508" y="6336763"/>
            <a:ext cx="66968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Database Migrations</a:t>
            </a:r>
            <a:endParaRPr lang="en-US" sz="3200" dirty="0"/>
          </a:p>
        </p:txBody>
      </p:sp>
      <p:pic>
        <p:nvPicPr>
          <p:cNvPr id="3" name="Picture 2"/>
          <p:cNvPicPr>
            <a:picLocks noChangeAspect="1"/>
          </p:cNvPicPr>
          <p:nvPr/>
        </p:nvPicPr>
        <p:blipFill>
          <a:blip r:embed="rId2"/>
          <a:stretch>
            <a:fillRect/>
          </a:stretch>
        </p:blipFill>
        <p:spPr>
          <a:xfrm>
            <a:off x="831930" y="1752600"/>
            <a:ext cx="10545557" cy="4305497"/>
          </a:xfrm>
          <a:prstGeom prst="rect">
            <a:avLst/>
          </a:prstGeom>
          <a:ln w="9525">
            <a:solidFill>
              <a:schemeClr val="accent1"/>
            </a:solidFill>
          </a:ln>
        </p:spPr>
      </p:pic>
      <p:sp>
        <p:nvSpPr>
          <p:cNvPr id="8" name="TextBox 7"/>
          <p:cNvSpPr txBox="1"/>
          <p:nvPr/>
        </p:nvSpPr>
        <p:spPr>
          <a:xfrm>
            <a:off x="1447800" y="927855"/>
            <a:ext cx="4331635" cy="523220"/>
          </a:xfrm>
          <a:prstGeom prst="rect">
            <a:avLst/>
          </a:prstGeom>
          <a:noFill/>
        </p:spPr>
        <p:txBody>
          <a:bodyPr wrap="none" rtlCol="0">
            <a:spAutoFit/>
          </a:bodyPr>
          <a:lstStyle/>
          <a:p>
            <a:r>
              <a:rPr lang="en-US" sz="2800" b="1" u="sng" dirty="0"/>
              <a:t>Database Migration Process</a:t>
            </a: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428991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D9857C6-E3F7-4EF7-AB9D-D0B58D3544F1}" type="datetime1">
              <a:rPr lang="en-US" smtClean="0"/>
              <a:t>11/4/2024</a:t>
            </a:fld>
            <a:endParaRPr lang="en-US" dirty="0"/>
          </a:p>
        </p:txBody>
      </p:sp>
      <p:sp>
        <p:nvSpPr>
          <p:cNvPr id="5" name="Footer Placeholder 4"/>
          <p:cNvSpPr>
            <a:spLocks noGrp="1"/>
          </p:cNvSpPr>
          <p:nvPr>
            <p:ph type="ftr" sz="quarter" idx="11"/>
          </p:nvPr>
        </p:nvSpPr>
        <p:spPr>
          <a:xfrm>
            <a:off x="3742508" y="6336763"/>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Database Migrations</a:t>
            </a:r>
            <a:endParaRPr lang="en-US" sz="3200" dirty="0"/>
          </a:p>
        </p:txBody>
      </p:sp>
      <p:sp>
        <p:nvSpPr>
          <p:cNvPr id="9" name="Rectangle 8"/>
          <p:cNvSpPr/>
          <p:nvPr/>
        </p:nvSpPr>
        <p:spPr>
          <a:xfrm>
            <a:off x="317863" y="914400"/>
            <a:ext cx="11573691" cy="4770537"/>
          </a:xfrm>
          <a:prstGeom prst="rect">
            <a:avLst/>
          </a:prstGeom>
          <a:solidFill>
            <a:schemeClr val="tx2">
              <a:lumMod val="60000"/>
              <a:lumOff val="40000"/>
            </a:schemeClr>
          </a:solidFill>
          <a:ln w="12700">
            <a:solidFill>
              <a:schemeClr val="tx1"/>
            </a:solidFill>
          </a:ln>
        </p:spPr>
        <p:txBody>
          <a:bodyPr wrap="square">
            <a:spAutoFit/>
          </a:bodyPr>
          <a:lstStyle/>
          <a:p>
            <a:r>
              <a:rPr lang="en-US" sz="2800" b="1" u="sng" dirty="0"/>
              <a:t>We describe Database migration from an architectural stand pointwise:-</a:t>
            </a:r>
          </a:p>
          <a:p>
            <a:endParaRPr lang="en-US" sz="2400" dirty="0"/>
          </a:p>
          <a:p>
            <a:pPr marL="342900" indent="-342900">
              <a:buFont typeface="Wingdings" panose="05000000000000000000" pitchFamily="2" charset="2"/>
              <a:buChar char="ü"/>
            </a:pPr>
            <a:r>
              <a:rPr lang="en-US" sz="2800" dirty="0"/>
              <a:t>The services and technologies involved in database migration.</a:t>
            </a:r>
          </a:p>
          <a:p>
            <a:pPr marL="342900" indent="-342900">
              <a:buFont typeface="Wingdings" panose="05000000000000000000" pitchFamily="2" charset="2"/>
              <a:buChar char="ü"/>
            </a:pPr>
            <a:r>
              <a:rPr lang="en-US" sz="2800" dirty="0"/>
              <a:t>The differences between homogeneous and heterogeneous database migration.</a:t>
            </a:r>
          </a:p>
          <a:p>
            <a:pPr marL="342900" indent="-342900">
              <a:buFont typeface="Wingdings" panose="05000000000000000000" pitchFamily="2" charset="2"/>
              <a:buChar char="ü"/>
            </a:pPr>
            <a:r>
              <a:rPr lang="en-US" sz="2800" dirty="0"/>
              <a:t>The tradeoffs and selection of a migration downtime tolerance.</a:t>
            </a:r>
          </a:p>
          <a:p>
            <a:pPr marL="342900" indent="-342900">
              <a:buFont typeface="Wingdings" panose="05000000000000000000" pitchFamily="2" charset="2"/>
              <a:buChar char="ü"/>
            </a:pPr>
            <a:r>
              <a:rPr lang="en-US" sz="2800" dirty="0"/>
              <a:t>A setup architecture that supports a fallback if unforeseen errors occur during a migration.</a:t>
            </a:r>
          </a:p>
          <a:p>
            <a:pPr marL="342900" indent="-342900">
              <a:buFont typeface="Wingdings" panose="05000000000000000000" pitchFamily="2" charset="2"/>
              <a:buChar char="ü"/>
            </a:pPr>
            <a:r>
              <a:rPr lang="en-US" sz="2800" dirty="0"/>
              <a:t>This document does not describe how you set up a particular database migration technology. Rather, it introduces database migration in fundamental, conceptual, and principle terms.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661734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B8ADE9A-03AB-4A61-8068-4ABEE2D998D3}" type="datetime1">
              <a:rPr lang="en-US" smtClean="0"/>
              <a:t>11/4/2024</a:t>
            </a:fld>
            <a:endParaRPr lang="en-US" dirty="0"/>
          </a:p>
        </p:txBody>
      </p:sp>
      <p:sp>
        <p:nvSpPr>
          <p:cNvPr id="5" name="Footer Placeholder 4"/>
          <p:cNvSpPr>
            <a:spLocks noGrp="1"/>
          </p:cNvSpPr>
          <p:nvPr>
            <p:ph type="ftr" sz="quarter" idx="11"/>
          </p:nvPr>
        </p:nvSpPr>
        <p:spPr>
          <a:xfrm>
            <a:off x="3742509" y="6336763"/>
            <a:ext cx="4724400"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Database Migrations</a:t>
            </a:r>
            <a:endParaRPr lang="en-US" sz="3200" dirty="0"/>
          </a:p>
        </p:txBody>
      </p:sp>
      <p:pic>
        <p:nvPicPr>
          <p:cNvPr id="2" name="Picture 1"/>
          <p:cNvPicPr>
            <a:picLocks noChangeAspect="1"/>
          </p:cNvPicPr>
          <p:nvPr/>
        </p:nvPicPr>
        <p:blipFill>
          <a:blip r:embed="rId2"/>
          <a:stretch>
            <a:fillRect/>
          </a:stretch>
        </p:blipFill>
        <p:spPr>
          <a:xfrm>
            <a:off x="151278" y="1469847"/>
            <a:ext cx="11906862" cy="4200718"/>
          </a:xfrm>
          <a:prstGeom prst="rect">
            <a:avLst/>
          </a:prstGeom>
          <a:ln w="19050">
            <a:solidFill>
              <a:schemeClr val="tx1"/>
            </a:solidFill>
          </a:ln>
        </p:spPr>
      </p:pic>
      <p:sp>
        <p:nvSpPr>
          <p:cNvPr id="3" name="TextBox 2"/>
          <p:cNvSpPr txBox="1"/>
          <p:nvPr/>
        </p:nvSpPr>
        <p:spPr>
          <a:xfrm>
            <a:off x="1415869" y="810464"/>
            <a:ext cx="5265096" cy="523220"/>
          </a:xfrm>
          <a:prstGeom prst="rect">
            <a:avLst/>
          </a:prstGeom>
          <a:noFill/>
        </p:spPr>
        <p:txBody>
          <a:bodyPr wrap="none" rtlCol="0">
            <a:spAutoFit/>
          </a:bodyPr>
          <a:lstStyle/>
          <a:p>
            <a:r>
              <a:rPr lang="en-US" sz="2800" b="1" u="sng" dirty="0"/>
              <a:t>Database Migration Architecture:-</a:t>
            </a:r>
          </a:p>
        </p:txBody>
      </p:sp>
      <p:sp>
        <p:nvSpPr>
          <p:cNvPr id="9" name="Rectangle 8"/>
          <p:cNvSpPr/>
          <p:nvPr/>
        </p:nvSpPr>
        <p:spPr>
          <a:xfrm>
            <a:off x="151278" y="5806728"/>
            <a:ext cx="11906862" cy="830997"/>
          </a:xfrm>
          <a:prstGeom prst="rect">
            <a:avLst/>
          </a:prstGeom>
          <a:solidFill>
            <a:schemeClr val="tx2">
              <a:lumMod val="60000"/>
              <a:lumOff val="40000"/>
            </a:schemeClr>
          </a:solidFill>
          <a:ln w="9525">
            <a:solidFill>
              <a:schemeClr val="tx1"/>
            </a:solidFill>
          </a:ln>
        </p:spPr>
        <p:txBody>
          <a:bodyPr wrap="square">
            <a:spAutoFit/>
          </a:bodyPr>
          <a:lstStyle/>
          <a:p>
            <a:r>
              <a:rPr lang="en-US" sz="2400" dirty="0"/>
              <a:t>Even though the target databases are different in type (managed and unmanaged) and setup, the database migration architecture and configuration is the same for both cases.</a:t>
            </a:r>
          </a:p>
        </p:txBody>
      </p:sp>
      <p:pic>
        <p:nvPicPr>
          <p:cNvPr id="10" name="Picture 9"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3440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EF62ED2-A5BB-480B-9028-CE90FCACB020}" type="datetime1">
              <a:rPr lang="en-US" smtClean="0"/>
              <a:t>11/4/2024</a:t>
            </a:fld>
            <a:endParaRPr lang="en-US" dirty="0"/>
          </a:p>
        </p:txBody>
      </p:sp>
      <p:sp>
        <p:nvSpPr>
          <p:cNvPr id="5" name="Footer Placeholder 4"/>
          <p:cNvSpPr>
            <a:spLocks noGrp="1"/>
          </p:cNvSpPr>
          <p:nvPr>
            <p:ph type="ftr" sz="quarter" idx="11"/>
          </p:nvPr>
        </p:nvSpPr>
        <p:spPr>
          <a:xfrm>
            <a:off x="3742508" y="6336763"/>
            <a:ext cx="69254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Database Migrations</a:t>
            </a:r>
            <a:endParaRPr lang="en-US" sz="3200" dirty="0"/>
          </a:p>
        </p:txBody>
      </p:sp>
      <p:sp>
        <p:nvSpPr>
          <p:cNvPr id="9" name="Rectangle 8"/>
          <p:cNvSpPr/>
          <p:nvPr/>
        </p:nvSpPr>
        <p:spPr>
          <a:xfrm>
            <a:off x="457200" y="851985"/>
            <a:ext cx="11527971" cy="523220"/>
          </a:xfrm>
          <a:prstGeom prst="rect">
            <a:avLst/>
          </a:prstGeom>
          <a:solidFill>
            <a:schemeClr val="tx2">
              <a:lumMod val="60000"/>
              <a:lumOff val="40000"/>
            </a:schemeClr>
          </a:solidFill>
          <a:ln w="9525">
            <a:solidFill>
              <a:schemeClr val="tx1"/>
            </a:solidFill>
          </a:ln>
        </p:spPr>
        <p:txBody>
          <a:bodyPr wrap="square">
            <a:spAutoFit/>
          </a:bodyPr>
          <a:lstStyle/>
          <a:p>
            <a:r>
              <a:rPr lang="en-US" sz="2800" b="1" u="sng" dirty="0"/>
              <a:t>Terminology :-</a:t>
            </a:r>
          </a:p>
        </p:txBody>
      </p:sp>
      <p:pic>
        <p:nvPicPr>
          <p:cNvPr id="2" name="Picture 1"/>
          <p:cNvPicPr>
            <a:picLocks noChangeAspect="1"/>
          </p:cNvPicPr>
          <p:nvPr/>
        </p:nvPicPr>
        <p:blipFill>
          <a:blip r:embed="rId2"/>
          <a:stretch>
            <a:fillRect/>
          </a:stretch>
        </p:blipFill>
        <p:spPr>
          <a:xfrm>
            <a:off x="273589" y="1640261"/>
            <a:ext cx="11662239" cy="4455394"/>
          </a:xfrm>
          <a:prstGeom prst="rect">
            <a:avLst/>
          </a:prstGeom>
          <a:solidFill>
            <a:schemeClr val="tx2">
              <a:lumMod val="60000"/>
              <a:lumOff val="40000"/>
            </a:schemeClr>
          </a:solidFill>
          <a:ln w="1270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18614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B04892-2891-4FF7-82C5-320C86233F89}" type="datetime1">
              <a:rPr lang="en-US" smtClean="0"/>
              <a:t>11/4/2024</a:t>
            </a:fld>
            <a:endParaRPr lang="en-US" dirty="0"/>
          </a:p>
        </p:txBody>
      </p:sp>
      <p:sp>
        <p:nvSpPr>
          <p:cNvPr id="5" name="Footer Placeholder 4"/>
          <p:cNvSpPr>
            <a:spLocks noGrp="1"/>
          </p:cNvSpPr>
          <p:nvPr>
            <p:ph type="ftr" sz="quarter" idx="11"/>
          </p:nvPr>
        </p:nvSpPr>
        <p:spPr>
          <a:xfrm>
            <a:off x="3742508" y="6336763"/>
            <a:ext cx="71540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Database Migrations</a:t>
            </a:r>
            <a:endParaRPr lang="en-US" sz="3200" dirty="0"/>
          </a:p>
        </p:txBody>
      </p:sp>
      <p:sp>
        <p:nvSpPr>
          <p:cNvPr id="9" name="Rectangle 8"/>
          <p:cNvSpPr/>
          <p:nvPr/>
        </p:nvSpPr>
        <p:spPr>
          <a:xfrm>
            <a:off x="4572000" y="851985"/>
            <a:ext cx="2362200" cy="523220"/>
          </a:xfrm>
          <a:prstGeom prst="rect">
            <a:avLst/>
          </a:prstGeom>
          <a:solidFill>
            <a:schemeClr val="tx2">
              <a:lumMod val="60000"/>
              <a:lumOff val="40000"/>
            </a:schemeClr>
          </a:solidFill>
          <a:ln w="9525">
            <a:solidFill>
              <a:schemeClr val="tx1"/>
            </a:solidFill>
          </a:ln>
        </p:spPr>
        <p:txBody>
          <a:bodyPr wrap="square">
            <a:spAutoFit/>
          </a:bodyPr>
          <a:lstStyle/>
          <a:p>
            <a:r>
              <a:rPr lang="en-US" sz="2800" b="1" u="sng" dirty="0"/>
              <a:t>Terminology :-</a:t>
            </a:r>
          </a:p>
        </p:txBody>
      </p:sp>
      <p:pic>
        <p:nvPicPr>
          <p:cNvPr id="3" name="Picture 2"/>
          <p:cNvPicPr>
            <a:picLocks noChangeAspect="1"/>
          </p:cNvPicPr>
          <p:nvPr/>
        </p:nvPicPr>
        <p:blipFill>
          <a:blip r:embed="rId2"/>
          <a:stretch>
            <a:fillRect/>
          </a:stretch>
        </p:blipFill>
        <p:spPr>
          <a:xfrm>
            <a:off x="158931" y="1541384"/>
            <a:ext cx="11832771" cy="4534877"/>
          </a:xfrm>
          <a:prstGeom prst="rect">
            <a:avLst/>
          </a:prstGeom>
          <a:ln w="1270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150608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80BA7D0-5BBD-456D-A215-B53EBA4A299F}" type="datetime1">
              <a:rPr lang="en-US" smtClean="0"/>
              <a:t>11/4/2024</a:t>
            </a:fld>
            <a:endParaRPr lang="en-US" dirty="0"/>
          </a:p>
        </p:txBody>
      </p:sp>
      <p:sp>
        <p:nvSpPr>
          <p:cNvPr id="5" name="Footer Placeholder 4"/>
          <p:cNvSpPr>
            <a:spLocks noGrp="1"/>
          </p:cNvSpPr>
          <p:nvPr>
            <p:ph type="ftr" sz="quarter" idx="11"/>
          </p:nvPr>
        </p:nvSpPr>
        <p:spPr>
          <a:xfrm>
            <a:off x="3742508" y="6336763"/>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Database Migrations</a:t>
            </a:r>
            <a:endParaRPr lang="en-US" sz="3200" dirty="0"/>
          </a:p>
        </p:txBody>
      </p:sp>
      <p:sp>
        <p:nvSpPr>
          <p:cNvPr id="3" name="Rectangle 2"/>
          <p:cNvSpPr/>
          <p:nvPr/>
        </p:nvSpPr>
        <p:spPr>
          <a:xfrm>
            <a:off x="228600" y="959528"/>
            <a:ext cx="11811000" cy="5755422"/>
          </a:xfrm>
          <a:prstGeom prst="rect">
            <a:avLst/>
          </a:prstGeom>
          <a:solidFill>
            <a:schemeClr val="tx2">
              <a:lumMod val="60000"/>
              <a:lumOff val="40000"/>
            </a:schemeClr>
          </a:solidFill>
          <a:ln w="12700">
            <a:solidFill>
              <a:schemeClr val="tx1"/>
            </a:solidFill>
          </a:ln>
        </p:spPr>
        <p:txBody>
          <a:bodyPr wrap="square">
            <a:spAutoFit/>
          </a:bodyPr>
          <a:lstStyle/>
          <a:p>
            <a:r>
              <a:rPr lang="en-US" sz="3200" b="1" u="sng" dirty="0"/>
              <a:t>Database migration architecture :-</a:t>
            </a:r>
          </a:p>
          <a:p>
            <a:endParaRPr lang="en-US" sz="3200" b="1" u="sng" dirty="0"/>
          </a:p>
          <a:p>
            <a:r>
              <a:rPr lang="en-US" sz="2400" dirty="0"/>
              <a:t>A database migration architecture describes the various components required for executing a database migration. This section introduces a generic deployment architecture and treats the database migration system as a separate component. It also discusses the features of a database management system that support data migration as well as non-functional properties that are important for many use cases.</a:t>
            </a:r>
          </a:p>
          <a:p>
            <a:endParaRPr lang="en-US" sz="2400" dirty="0"/>
          </a:p>
          <a:p>
            <a:r>
              <a:rPr lang="en-US" sz="3200" b="1" u="sng" dirty="0"/>
              <a:t>Deployment architecture:-</a:t>
            </a:r>
          </a:p>
          <a:p>
            <a:endParaRPr lang="en-US" sz="3200" b="1" u="sng" dirty="0"/>
          </a:p>
          <a:p>
            <a:r>
              <a:rPr lang="en-US" sz="2400" dirty="0"/>
              <a:t>A database migration can occur between source and target databases located in any environment, like on-premises or different clouds. Each source and target database can be in a different environment; it is not necessary that all are collocated in the same environment.</a:t>
            </a:r>
          </a:p>
          <a:p>
            <a:endParaRPr lang="en-US" sz="2400"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492715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E155DE4-E6F5-4B2F-AED0-14DE54A0550F}" type="datetime1">
              <a:rPr lang="en-US" smtClean="0"/>
              <a:t>11/4/2024</a:t>
            </a:fld>
            <a:endParaRPr lang="en-US" dirty="0"/>
          </a:p>
        </p:txBody>
      </p:sp>
      <p:sp>
        <p:nvSpPr>
          <p:cNvPr id="5" name="Footer Placeholder 4"/>
          <p:cNvSpPr>
            <a:spLocks noGrp="1"/>
          </p:cNvSpPr>
          <p:nvPr>
            <p:ph type="ftr" sz="quarter" idx="11"/>
          </p:nvPr>
        </p:nvSpPr>
        <p:spPr>
          <a:xfrm>
            <a:off x="3742508" y="6336763"/>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Database Migrations</a:t>
            </a:r>
            <a:endParaRPr lang="en-US" sz="3200" dirty="0"/>
          </a:p>
        </p:txBody>
      </p:sp>
      <p:pic>
        <p:nvPicPr>
          <p:cNvPr id="2" name="Picture 1"/>
          <p:cNvPicPr>
            <a:picLocks noChangeAspect="1"/>
          </p:cNvPicPr>
          <p:nvPr/>
        </p:nvPicPr>
        <p:blipFill>
          <a:blip r:embed="rId2"/>
          <a:stretch>
            <a:fillRect/>
          </a:stretch>
        </p:blipFill>
        <p:spPr>
          <a:xfrm>
            <a:off x="609600" y="1043437"/>
            <a:ext cx="10994899" cy="4977060"/>
          </a:xfrm>
          <a:prstGeom prst="rect">
            <a:avLst/>
          </a:prstGeom>
          <a:ln w="1270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630199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8B410C6-64F3-488F-8010-D75D1DB3BF89}" type="datetime1">
              <a:rPr lang="en-US" smtClean="0"/>
              <a:t>11/4/2024</a:t>
            </a:fld>
            <a:endParaRPr lang="en-US" dirty="0"/>
          </a:p>
        </p:txBody>
      </p:sp>
      <p:sp>
        <p:nvSpPr>
          <p:cNvPr id="5" name="Footer Placeholder 4"/>
          <p:cNvSpPr>
            <a:spLocks noGrp="1"/>
          </p:cNvSpPr>
          <p:nvPr>
            <p:ph type="ftr" sz="quarter" idx="11"/>
          </p:nvPr>
        </p:nvSpPr>
        <p:spPr>
          <a:xfrm>
            <a:off x="3742508" y="6336763"/>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Fetch Data From Database</a:t>
            </a:r>
          </a:p>
        </p:txBody>
      </p:sp>
      <p:sp>
        <p:nvSpPr>
          <p:cNvPr id="9" name="Rectangle 8"/>
          <p:cNvSpPr/>
          <p:nvPr/>
        </p:nvSpPr>
        <p:spPr>
          <a:xfrm>
            <a:off x="76200" y="975501"/>
            <a:ext cx="11963400" cy="5109091"/>
          </a:xfrm>
          <a:prstGeom prst="rect">
            <a:avLst/>
          </a:prstGeom>
          <a:solidFill>
            <a:schemeClr val="tx2">
              <a:lumMod val="60000"/>
              <a:lumOff val="40000"/>
            </a:schemeClr>
          </a:solidFill>
          <a:ln w="12700">
            <a:solidFill>
              <a:schemeClr val="tx1"/>
            </a:solidFill>
          </a:ln>
        </p:spPr>
        <p:txBody>
          <a:bodyPr wrap="square">
            <a:spAutoFit/>
          </a:bodyPr>
          <a:lstStyle/>
          <a:p>
            <a:r>
              <a:rPr lang="en-US" sz="2800" b="1" u="sng" dirty="0"/>
              <a:t>How to fetch data from database in django?</a:t>
            </a:r>
          </a:p>
          <a:p>
            <a:endParaRPr lang="en-US" sz="2800" b="1" u="sng" dirty="0"/>
          </a:p>
          <a:p>
            <a:pPr marL="457200" indent="-457200">
              <a:buFont typeface="Wingdings" panose="05000000000000000000" pitchFamily="2" charset="2"/>
              <a:buChar char="Ø"/>
            </a:pPr>
            <a:r>
              <a:rPr lang="en-US" sz="2800" dirty="0"/>
              <a:t>In django, we retrieve the data in the views.py file, where we write our functions.</a:t>
            </a:r>
          </a:p>
          <a:p>
            <a:pPr marL="457200" indent="-457200">
              <a:buFont typeface="Wingdings" panose="05000000000000000000" pitchFamily="2" charset="2"/>
              <a:buChar char="Ø"/>
            </a:pPr>
            <a:r>
              <a:rPr lang="en-US" sz="2800" dirty="0"/>
              <a:t>To retrieve data from database, first we have to create a url for that. Open the urls.py file inside the application folder, and create a new path as shown below:</a:t>
            </a:r>
          </a:p>
          <a:p>
            <a:r>
              <a:rPr lang="en-US" sz="2800" dirty="0">
                <a:solidFill>
                  <a:schemeClr val="bg1"/>
                </a:solidFill>
              </a:rPr>
              <a:t>                    path('students/', </a:t>
            </a:r>
            <a:r>
              <a:rPr lang="en-US" sz="2800" dirty="0" err="1">
                <a:solidFill>
                  <a:schemeClr val="bg1"/>
                </a:solidFill>
              </a:rPr>
              <a:t>views.students</a:t>
            </a:r>
            <a:r>
              <a:rPr lang="en-US" sz="2800" dirty="0">
                <a:solidFill>
                  <a:schemeClr val="bg1"/>
                </a:solidFill>
              </a:rPr>
              <a:t>, name="students"),</a:t>
            </a:r>
          </a:p>
          <a:p>
            <a:endParaRPr lang="en-US" sz="2800" dirty="0">
              <a:solidFill>
                <a:schemeClr val="bg1"/>
              </a:solidFill>
            </a:endParaRPr>
          </a:p>
          <a:p>
            <a:r>
              <a:rPr lang="en-US" sz="2800" dirty="0">
                <a:solidFill>
                  <a:schemeClr val="bg1"/>
                </a:solidFill>
              </a:rPr>
              <a:t> </a:t>
            </a:r>
            <a:r>
              <a:rPr lang="en-US" sz="2800" dirty="0"/>
              <a:t>Now create a function in the views.py file, with the name "students" as shown in   </a:t>
            </a:r>
            <a:br>
              <a:rPr lang="en-US" sz="2800" dirty="0"/>
            </a:br>
            <a:r>
              <a:rPr lang="en-US" sz="2800" dirty="0"/>
              <a:t> the above path.</a:t>
            </a:r>
          </a:p>
          <a:p>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385751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C55450-7F85-4BBB-A416-CA76245DE701}" type="datetime1">
              <a:rPr lang="en-US" smtClean="0"/>
              <a:t>11/4/2024</a:t>
            </a:fld>
            <a:endParaRPr lang="en-US" dirty="0"/>
          </a:p>
        </p:txBody>
      </p:sp>
      <p:sp>
        <p:nvSpPr>
          <p:cNvPr id="5" name="Footer Placeholder 4"/>
          <p:cNvSpPr>
            <a:spLocks noGrp="1"/>
          </p:cNvSpPr>
          <p:nvPr>
            <p:ph type="ftr" sz="quarter" idx="11"/>
          </p:nvPr>
        </p:nvSpPr>
        <p:spPr>
          <a:xfrm>
            <a:off x="3742508" y="6336763"/>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Fetch Data From Database</a:t>
            </a:r>
          </a:p>
        </p:txBody>
      </p:sp>
      <p:pic>
        <p:nvPicPr>
          <p:cNvPr id="2" name="Picture 1"/>
          <p:cNvPicPr>
            <a:picLocks noChangeAspect="1"/>
          </p:cNvPicPr>
          <p:nvPr/>
        </p:nvPicPr>
        <p:blipFill>
          <a:blip r:embed="rId2"/>
          <a:stretch>
            <a:fillRect/>
          </a:stretch>
        </p:blipFill>
        <p:spPr>
          <a:xfrm>
            <a:off x="234987" y="774390"/>
            <a:ext cx="11878024" cy="2121209"/>
          </a:xfrm>
          <a:prstGeom prst="rect">
            <a:avLst/>
          </a:prstGeom>
        </p:spPr>
      </p:pic>
      <p:sp>
        <p:nvSpPr>
          <p:cNvPr id="8" name="Rectangle 7"/>
          <p:cNvSpPr/>
          <p:nvPr/>
        </p:nvSpPr>
        <p:spPr>
          <a:xfrm>
            <a:off x="239469" y="2975218"/>
            <a:ext cx="11873542" cy="3170099"/>
          </a:xfrm>
          <a:prstGeom prst="rect">
            <a:avLst/>
          </a:prstGeom>
          <a:solidFill>
            <a:schemeClr val="tx2">
              <a:lumMod val="60000"/>
              <a:lumOff val="40000"/>
            </a:schemeClr>
          </a:solidFill>
        </p:spPr>
        <p:txBody>
          <a:bodyPr wrap="square">
            <a:spAutoFit/>
          </a:bodyPr>
          <a:lstStyle/>
          <a:p>
            <a:pPr marL="342900" indent="-342900">
              <a:buFont typeface="Wingdings" panose="05000000000000000000" pitchFamily="2" charset="2"/>
              <a:buChar char="Ø"/>
            </a:pPr>
            <a:r>
              <a:rPr lang="en-US" sz="2500" dirty="0"/>
              <a:t>Here, we have created a variable form and we have called all the objects of the Student model. Objects is nothing but the records in the database. Then we have created a dictionary named context and passed the form variable in the dictionary and passed that dictionary in the render() function.</a:t>
            </a:r>
          </a:p>
          <a:p>
            <a:pPr marL="342900" indent="-342900">
              <a:buFont typeface="Wingdings" panose="05000000000000000000" pitchFamily="2" charset="2"/>
              <a:buChar char="Ø"/>
            </a:pPr>
            <a:endParaRPr lang="en-US" sz="2500" dirty="0"/>
          </a:p>
          <a:p>
            <a:pPr marL="342900" indent="-342900">
              <a:buFont typeface="Wingdings" panose="05000000000000000000" pitchFamily="2" charset="2"/>
              <a:buChar char="Ø"/>
            </a:pPr>
            <a:r>
              <a:rPr lang="en-US" sz="2500" dirty="0"/>
              <a:t>As we have mentioned in the render(), let us create a .html file with the name index.html and we will be displaying the all the data in the index.html. To display the data, we will be using the for loop as there will be multiple data in our database.</a:t>
            </a: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981221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0C1221D-42BC-42E9-8B24-54F0D1F33D29}" type="datetime1">
              <a:rPr lang="en-US" smtClean="0"/>
              <a:t>11/4/2024</a:t>
            </a:fld>
            <a:endParaRPr lang="en-US" dirty="0"/>
          </a:p>
        </p:txBody>
      </p:sp>
      <p:sp>
        <p:nvSpPr>
          <p:cNvPr id="5" name="Footer Placeholder 4"/>
          <p:cNvSpPr>
            <a:spLocks noGrp="1"/>
          </p:cNvSpPr>
          <p:nvPr>
            <p:ph type="ftr" sz="quarter" idx="11"/>
          </p:nvPr>
        </p:nvSpPr>
        <p:spPr>
          <a:xfrm>
            <a:off x="3742508" y="6336763"/>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Fetch Data From Database</a:t>
            </a:r>
          </a:p>
        </p:txBody>
      </p:sp>
      <p:pic>
        <p:nvPicPr>
          <p:cNvPr id="2" name="Picture 1"/>
          <p:cNvPicPr>
            <a:picLocks noChangeAspect="1"/>
          </p:cNvPicPr>
          <p:nvPr/>
        </p:nvPicPr>
        <p:blipFill>
          <a:blip r:embed="rId2"/>
          <a:stretch>
            <a:fillRect/>
          </a:stretch>
        </p:blipFill>
        <p:spPr>
          <a:xfrm>
            <a:off x="1447800" y="711888"/>
            <a:ext cx="8253206" cy="5344079"/>
          </a:xfrm>
          <a:prstGeom prst="rect">
            <a:avLst/>
          </a:prstGeom>
        </p:spPr>
      </p:pic>
      <p:sp>
        <p:nvSpPr>
          <p:cNvPr id="9" name="Rectangle 8"/>
          <p:cNvSpPr/>
          <p:nvPr/>
        </p:nvSpPr>
        <p:spPr>
          <a:xfrm>
            <a:off x="4267200" y="5219420"/>
            <a:ext cx="7696200" cy="954107"/>
          </a:xfrm>
          <a:prstGeom prst="rect">
            <a:avLst/>
          </a:prstGeom>
          <a:solidFill>
            <a:schemeClr val="tx2">
              <a:lumMod val="60000"/>
              <a:lumOff val="40000"/>
            </a:schemeClr>
          </a:solidFill>
          <a:ln w="28575">
            <a:solidFill>
              <a:schemeClr val="tx1"/>
            </a:solidFill>
          </a:ln>
        </p:spPr>
        <p:txBody>
          <a:bodyPr wrap="square">
            <a:spAutoFit/>
          </a:bodyPr>
          <a:lstStyle/>
          <a:p>
            <a:r>
              <a:rPr lang="en-US" sz="2800" dirty="0">
                <a:solidFill>
                  <a:schemeClr val="bg1"/>
                </a:solidFill>
              </a:rPr>
              <a:t>This will print all the data that we had fetched and stored in the form variable</a:t>
            </a:r>
            <a:r>
              <a:rPr lang="en-US" dirty="0">
                <a:solidFill>
                  <a:schemeClr val="bg1"/>
                </a:solidFill>
              </a:rPr>
              <a:t>.</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234880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BF17EF2D-4414-4203-96BA-E5270FB2EF25}"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a:t>Displaying Data On Templates</a:t>
            </a:r>
            <a:endParaRPr lang="en-US" sz="3200" dirty="0"/>
          </a:p>
        </p:txBody>
      </p:sp>
      <p:sp>
        <p:nvSpPr>
          <p:cNvPr id="2" name="Rectangle 1"/>
          <p:cNvSpPr/>
          <p:nvPr/>
        </p:nvSpPr>
        <p:spPr>
          <a:xfrm>
            <a:off x="1434737" y="705400"/>
            <a:ext cx="10757263" cy="5693866"/>
          </a:xfrm>
          <a:prstGeom prst="rect">
            <a:avLst/>
          </a:prstGeom>
          <a:solidFill>
            <a:schemeClr val="tx2">
              <a:lumMod val="60000"/>
              <a:lumOff val="40000"/>
            </a:schemeClr>
          </a:solidFill>
          <a:ln w="12700">
            <a:solidFill>
              <a:schemeClr val="tx1"/>
            </a:solidFill>
          </a:ln>
        </p:spPr>
        <p:txBody>
          <a:bodyPr wrap="square">
            <a:spAutoFit/>
          </a:bodyPr>
          <a:lstStyle/>
          <a:p>
            <a:r>
              <a:rPr lang="en-US" sz="2800" b="1" u="sng" dirty="0"/>
              <a:t>Django templates</a:t>
            </a:r>
          </a:p>
          <a:p>
            <a:endParaRPr lang="en-US" sz="2800" b="1" u="sng" dirty="0"/>
          </a:p>
          <a:p>
            <a:pPr marL="457200" indent="-457200">
              <a:buFont typeface="Wingdings" panose="05000000000000000000" pitchFamily="2" charset="2"/>
              <a:buChar char="Ø"/>
            </a:pPr>
            <a:r>
              <a:rPr lang="en-US" sz="2800" dirty="0"/>
              <a:t>Sometimes you want parts of your website to display dynamic data - that is, data that might be different every time someone opens your website. In that case, plain HTML won't be enough. </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Luckily, Django templates allow us to do a lot more than just write HTML. We can display some Python variables that we defined in our view. Django also gives us some helpful built-in template tags for displaying data.</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Django template tags allow us to transfer Python-like things into HTML, so you can build dynamic websites faster and easier</a:t>
            </a:r>
            <a:endParaRPr lang="en-US" sz="2800" i="0" dirty="0">
              <a:effectLst/>
            </a:endParaRP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64518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F8BB56FC-1AC6-45A0-B4B5-E89DC81C8A70}"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a:t>Displaying Data On Templates</a:t>
            </a:r>
            <a:endParaRPr lang="en-US" sz="3200" dirty="0"/>
          </a:p>
        </p:txBody>
      </p:sp>
      <p:sp>
        <p:nvSpPr>
          <p:cNvPr id="3" name="Rectangle 2"/>
          <p:cNvSpPr/>
          <p:nvPr/>
        </p:nvSpPr>
        <p:spPr>
          <a:xfrm>
            <a:off x="1118141" y="1295400"/>
            <a:ext cx="5278304" cy="954107"/>
          </a:xfrm>
          <a:prstGeom prst="rect">
            <a:avLst/>
          </a:prstGeom>
        </p:spPr>
        <p:txBody>
          <a:bodyPr wrap="none">
            <a:spAutoFit/>
          </a:bodyPr>
          <a:lstStyle/>
          <a:p>
            <a:r>
              <a:rPr lang="en-US" sz="2800" b="1" u="sng" dirty="0">
                <a:solidFill>
                  <a:srgbClr val="333333"/>
                </a:solidFill>
              </a:rPr>
              <a:t>Display the current date and time:</a:t>
            </a:r>
          </a:p>
          <a:p>
            <a:endParaRPr lang="en-US" sz="2800" b="1" i="0" u="sng" dirty="0">
              <a:solidFill>
                <a:srgbClr val="333333"/>
              </a:solidFill>
              <a:effectLst/>
            </a:endParaRPr>
          </a:p>
        </p:txBody>
      </p:sp>
      <p:pic>
        <p:nvPicPr>
          <p:cNvPr id="9" name="Picture 8"/>
          <p:cNvPicPr>
            <a:picLocks noChangeAspect="1"/>
          </p:cNvPicPr>
          <p:nvPr/>
        </p:nvPicPr>
        <p:blipFill>
          <a:blip r:embed="rId2"/>
          <a:stretch>
            <a:fillRect/>
          </a:stretch>
        </p:blipFill>
        <p:spPr>
          <a:xfrm>
            <a:off x="1143000" y="2362200"/>
            <a:ext cx="10296099" cy="3168197"/>
          </a:xfrm>
          <a:prstGeom prst="rect">
            <a:avLst/>
          </a:prstGeom>
          <a:ln w="28575">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783103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739C9F53-91D7-4137-98B4-4C4B57DFB92D}"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a:t>Displaying Data On Templates</a:t>
            </a:r>
            <a:endParaRPr lang="en-US" sz="3200" dirty="0"/>
          </a:p>
        </p:txBody>
      </p:sp>
      <p:pic>
        <p:nvPicPr>
          <p:cNvPr id="2" name="Picture 1"/>
          <p:cNvPicPr>
            <a:picLocks noChangeAspect="1"/>
          </p:cNvPicPr>
          <p:nvPr/>
        </p:nvPicPr>
        <p:blipFill>
          <a:blip r:embed="rId2"/>
          <a:stretch>
            <a:fillRect/>
          </a:stretch>
        </p:blipFill>
        <p:spPr>
          <a:xfrm>
            <a:off x="1565648" y="990600"/>
            <a:ext cx="10508504" cy="4053070"/>
          </a:xfrm>
          <a:prstGeom prst="rect">
            <a:avLst/>
          </a:prstGeom>
          <a:ln w="1905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223840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F7E8E79E-D2FF-4F04-B6BF-EC0F47D7CB9B}"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Adding Condition On Data</a:t>
            </a:r>
          </a:p>
        </p:txBody>
      </p:sp>
      <p:sp>
        <p:nvSpPr>
          <p:cNvPr id="8" name="Rectangle 7"/>
          <p:cNvSpPr/>
          <p:nvPr/>
        </p:nvSpPr>
        <p:spPr>
          <a:xfrm>
            <a:off x="37011" y="728715"/>
            <a:ext cx="12039600" cy="3539430"/>
          </a:xfrm>
          <a:prstGeom prst="rect">
            <a:avLst/>
          </a:prstGeom>
          <a:solidFill>
            <a:schemeClr val="tx2">
              <a:lumMod val="60000"/>
              <a:lumOff val="40000"/>
            </a:schemeClr>
          </a:solidFill>
          <a:ln w="12700">
            <a:solidFill>
              <a:schemeClr val="tx1"/>
            </a:solidFill>
          </a:ln>
        </p:spPr>
        <p:txBody>
          <a:bodyPr wrap="square">
            <a:spAutoFit/>
          </a:bodyPr>
          <a:lstStyle/>
          <a:p>
            <a:pPr marL="457200" indent="-457200">
              <a:buFont typeface="Wingdings" panose="05000000000000000000" pitchFamily="2" charset="2"/>
              <a:buChar char="Ø"/>
            </a:pPr>
            <a:r>
              <a:rPr lang="en-US" sz="3200" dirty="0"/>
              <a:t>The if template tag is one of the template tags in Django that can be used to render HTML content for a particular condition. Let us see how to use the if template tag in Django.</a:t>
            </a:r>
          </a:p>
          <a:p>
            <a:endParaRPr lang="en-US" sz="3200" dirty="0"/>
          </a:p>
          <a:p>
            <a:pPr marL="457200" indent="-457200">
              <a:buFont typeface="Wingdings" panose="05000000000000000000" pitchFamily="2" charset="2"/>
              <a:buChar char="Ø"/>
            </a:pPr>
            <a:r>
              <a:rPr lang="en-US" sz="3200" dirty="0"/>
              <a:t>In a Django template, the if statement is referred to as if tag. You can use this if tag to render HTML content based on a particular condition. The syntax of the if template tag is:</a:t>
            </a:r>
          </a:p>
        </p:txBody>
      </p:sp>
      <p:pic>
        <p:nvPicPr>
          <p:cNvPr id="9" name="Picture 8"/>
          <p:cNvPicPr>
            <a:picLocks noChangeAspect="1"/>
          </p:cNvPicPr>
          <p:nvPr/>
        </p:nvPicPr>
        <p:blipFill>
          <a:blip r:embed="rId2"/>
          <a:stretch>
            <a:fillRect/>
          </a:stretch>
        </p:blipFill>
        <p:spPr>
          <a:xfrm>
            <a:off x="37011" y="4311054"/>
            <a:ext cx="12024360" cy="1760873"/>
          </a:xfrm>
          <a:prstGeom prst="rect">
            <a:avLst/>
          </a:prstGeom>
          <a:ln w="12700">
            <a:solidFill>
              <a:schemeClr val="tx1"/>
            </a:solidFill>
          </a:ln>
        </p:spPr>
      </p:pic>
      <p:pic>
        <p:nvPicPr>
          <p:cNvPr id="10" name="Picture 9"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908949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06A5551B-E5E4-4F58-9B43-623AEB285907}"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Adding Condition On Data</a:t>
            </a:r>
          </a:p>
        </p:txBody>
      </p:sp>
      <p:sp>
        <p:nvSpPr>
          <p:cNvPr id="3" name="Rectangle 2"/>
          <p:cNvSpPr/>
          <p:nvPr/>
        </p:nvSpPr>
        <p:spPr>
          <a:xfrm>
            <a:off x="381000" y="923311"/>
            <a:ext cx="11658600" cy="5109091"/>
          </a:xfrm>
          <a:prstGeom prst="rect">
            <a:avLst/>
          </a:prstGeom>
          <a:solidFill>
            <a:schemeClr val="tx2">
              <a:lumMod val="60000"/>
              <a:lumOff val="40000"/>
            </a:schemeClr>
          </a:solidFill>
          <a:ln w="12700">
            <a:solidFill>
              <a:schemeClr val="tx1"/>
            </a:solidFill>
          </a:ln>
        </p:spPr>
        <p:txBody>
          <a:bodyPr wrap="square">
            <a:spAutoFit/>
          </a:bodyPr>
          <a:lstStyle/>
          <a:p>
            <a:pPr marL="457200" indent="-457200">
              <a:buFont typeface="Wingdings" panose="05000000000000000000" pitchFamily="2" charset="2"/>
              <a:buChar char="Ø"/>
            </a:pPr>
            <a:r>
              <a:rPr lang="en-US" sz="2800" dirty="0"/>
              <a:t>In a Django template, you have to close the if template tag. You can write the condition in an if template tag. Inside the block, you can write the statements or the HTML code that you want to render if the condition returns a True value. </a:t>
            </a:r>
          </a:p>
          <a:p>
            <a:endParaRPr lang="en-US" sz="2800" dirty="0"/>
          </a:p>
          <a:p>
            <a:pPr marL="457200" indent="-457200">
              <a:buFont typeface="Wingdings" panose="05000000000000000000" pitchFamily="2" charset="2"/>
              <a:buChar char="Ø"/>
            </a:pPr>
            <a:r>
              <a:rPr lang="en-US" sz="2800" dirty="0"/>
              <a:t>Now let us see an example of the if tag. </a:t>
            </a:r>
          </a:p>
          <a:p>
            <a:endParaRPr lang="en-US" sz="2800" dirty="0"/>
          </a:p>
          <a:p>
            <a:pPr marL="457200" indent="-457200">
              <a:buFont typeface="Wingdings" panose="05000000000000000000" pitchFamily="2" charset="2"/>
              <a:buChar char="Ø"/>
            </a:pPr>
            <a:r>
              <a:rPr lang="en-US" sz="2800" dirty="0"/>
              <a:t>I have created an example where I will enter two numbers and compare them inside a Django template.</a:t>
            </a:r>
          </a:p>
          <a:p>
            <a:endParaRPr lang="en-US" sz="2800" dirty="0"/>
          </a:p>
          <a:p>
            <a:pPr marL="457200" indent="-457200">
              <a:buFont typeface="Wingdings" panose="05000000000000000000" pitchFamily="2" charset="2"/>
              <a:buChar char="Ø"/>
            </a:pPr>
            <a:r>
              <a:rPr lang="en-US" sz="2800" dirty="0"/>
              <a:t>The following is the Django template where I will submit the two numbers:</a:t>
            </a:r>
          </a:p>
          <a:p>
            <a:pPr marL="285750" indent="-285750">
              <a:buFont typeface="Wingdings" panose="05000000000000000000" pitchFamily="2" charset="2"/>
              <a:buChar char="Ø"/>
            </a:pP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926369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37BF0A11-7D4F-4FED-A0DC-D8F2550A2701}"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Adding Condition On Data</a:t>
            </a:r>
          </a:p>
        </p:txBody>
      </p:sp>
      <p:pic>
        <p:nvPicPr>
          <p:cNvPr id="2" name="Picture 1"/>
          <p:cNvPicPr>
            <a:picLocks noChangeAspect="1"/>
          </p:cNvPicPr>
          <p:nvPr/>
        </p:nvPicPr>
        <p:blipFill>
          <a:blip r:embed="rId2"/>
          <a:stretch>
            <a:fillRect/>
          </a:stretch>
        </p:blipFill>
        <p:spPr>
          <a:xfrm>
            <a:off x="1447800" y="803589"/>
            <a:ext cx="9163488" cy="5456440"/>
          </a:xfrm>
          <a:prstGeom prst="rect">
            <a:avLst/>
          </a:prstGeom>
          <a:ln w="1270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777163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20EBEBF0-066D-4F3C-8F5C-BA9C25E1F73A}"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Sending data from url to view</a:t>
            </a:r>
          </a:p>
        </p:txBody>
      </p:sp>
      <p:sp>
        <p:nvSpPr>
          <p:cNvPr id="8" name="Rectangle 7"/>
          <p:cNvSpPr/>
          <p:nvPr/>
        </p:nvSpPr>
        <p:spPr>
          <a:xfrm>
            <a:off x="228600" y="854153"/>
            <a:ext cx="11887200" cy="5816977"/>
          </a:xfrm>
          <a:prstGeom prst="rect">
            <a:avLst/>
          </a:prstGeom>
          <a:solidFill>
            <a:schemeClr val="tx2">
              <a:lumMod val="60000"/>
              <a:lumOff val="40000"/>
            </a:schemeClr>
          </a:solidFill>
          <a:ln w="12700">
            <a:solidFill>
              <a:schemeClr val="bg1"/>
            </a:solidFill>
          </a:ln>
        </p:spPr>
        <p:txBody>
          <a:bodyPr wrap="square">
            <a:spAutoFit/>
          </a:bodyPr>
          <a:lstStyle/>
          <a:p>
            <a:pPr algn="ctr"/>
            <a:r>
              <a:rPr lang="en-US" sz="2400" b="1" u="sng" dirty="0"/>
              <a:t>Get URL parameters in Django</a:t>
            </a:r>
          </a:p>
          <a:p>
            <a:endParaRPr lang="en-US" sz="2400" b="1" u="sng" dirty="0"/>
          </a:p>
          <a:p>
            <a:pPr marL="342900" indent="-342900">
              <a:buFont typeface="Wingdings" panose="05000000000000000000" pitchFamily="2" charset="2"/>
              <a:buChar char="Ø"/>
            </a:pPr>
            <a:r>
              <a:rPr lang="en-US" sz="2400" dirty="0"/>
              <a:t>In Django, you can also pass parameters as part of the URL. In this Django tutorial, you will learn how to get URL parameters in Django.</a:t>
            </a:r>
          </a:p>
          <a:p>
            <a:endParaRPr lang="en-US" sz="2400" dirty="0"/>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In various web applications, you might have seen some URLs that end with some parameters. For example, look at the below URL:</a:t>
            </a:r>
          </a:p>
          <a:p>
            <a:endParaRPr lang="en-US" sz="2400" dirty="0"/>
          </a:p>
          <a:p>
            <a:r>
              <a:rPr lang="en-US" dirty="0"/>
              <a:t>                                                                                                                       </a:t>
            </a:r>
            <a:r>
              <a:rPr lang="en-US" dirty="0">
                <a:hlinkClick r:id="rId2"/>
              </a:rPr>
              <a:t>https://www.shop.tsinfo.com/products/12</a:t>
            </a:r>
            <a:endParaRPr lang="en-US" dirty="0"/>
          </a:p>
          <a:p>
            <a:endParaRPr lang="en-US" dirty="0"/>
          </a:p>
          <a:p>
            <a:pPr marL="342900" indent="-342900">
              <a:buFont typeface="Wingdings" panose="05000000000000000000" pitchFamily="2" charset="2"/>
              <a:buChar char="Ø"/>
            </a:pPr>
            <a:r>
              <a:rPr lang="en-US" sz="2400" dirty="0"/>
              <a:t>The above URL fetches the products page corresponding to a product id i.e. 12. This means 12 is a URL parameter and the result is shown according to this value.</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endParaRPr lang="en-US" sz="2400" dirty="0"/>
          </a:p>
          <a:p>
            <a:endParaRPr lang="en-US" sz="2400" dirty="0"/>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65375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3C927921-737B-4108-B156-6D645E5A7C98}"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Sending data from url to view</a:t>
            </a:r>
          </a:p>
        </p:txBody>
      </p:sp>
      <p:sp>
        <p:nvSpPr>
          <p:cNvPr id="3" name="Rectangle 2"/>
          <p:cNvSpPr/>
          <p:nvPr/>
        </p:nvSpPr>
        <p:spPr>
          <a:xfrm>
            <a:off x="838200" y="914400"/>
            <a:ext cx="11201400" cy="4555093"/>
          </a:xfrm>
          <a:prstGeom prst="rect">
            <a:avLst/>
          </a:prstGeom>
          <a:solidFill>
            <a:schemeClr val="tx2">
              <a:lumMod val="60000"/>
              <a:lumOff val="40000"/>
            </a:schemeClr>
          </a:solidFill>
          <a:ln w="12700">
            <a:solidFill>
              <a:schemeClr val="tx1"/>
            </a:solidFill>
          </a:ln>
        </p:spPr>
        <p:txBody>
          <a:bodyPr wrap="square">
            <a:spAutoFit/>
          </a:bodyPr>
          <a:lstStyle/>
          <a:p>
            <a:r>
              <a:rPr lang="en-US" sz="2400" b="1" u="sng" dirty="0"/>
              <a:t>To get a parameter from the URL, you have to perform the steps explained below:</a:t>
            </a:r>
          </a:p>
          <a:p>
            <a:endParaRPr lang="en-US" dirty="0"/>
          </a:p>
          <a:p>
            <a:pPr marL="457200" indent="-457200">
              <a:buFont typeface="+mj-lt"/>
              <a:buAutoNum type="arabicPeriod"/>
            </a:pPr>
            <a:r>
              <a:rPr lang="en-US" sz="2400" dirty="0"/>
              <a:t>Create and map a path to a view in the application’s URLs file and pass the parameters to the view</a:t>
            </a:r>
          </a:p>
          <a:p>
            <a:pPr marL="457200" indent="-457200">
              <a:buFont typeface="+mj-lt"/>
              <a:buAutoNum type="arabicPeriod"/>
            </a:pPr>
            <a:endParaRPr lang="en-US" sz="2400" dirty="0"/>
          </a:p>
          <a:p>
            <a:pPr marL="457200" indent="-457200">
              <a:buFont typeface="+mj-lt"/>
              <a:buAutoNum type="arabicPeriod"/>
            </a:pPr>
            <a:r>
              <a:rPr lang="en-US" sz="2400" dirty="0"/>
              <a:t>Define a function in the view that will take the parameter and pass the parameters to Django template.</a:t>
            </a:r>
          </a:p>
          <a:p>
            <a:pPr marL="457200" indent="-457200">
              <a:buFont typeface="+mj-lt"/>
              <a:buAutoNum type="arabicPeriod"/>
            </a:pPr>
            <a:endParaRPr lang="en-US" sz="2400" dirty="0"/>
          </a:p>
          <a:p>
            <a:pPr marL="457200" indent="-457200">
              <a:buFont typeface="+mj-lt"/>
              <a:buAutoNum type="arabicPeriod"/>
            </a:pPr>
            <a:r>
              <a:rPr lang="en-US" sz="2400" dirty="0"/>
              <a:t>Design the Django template to show the results corresponding the passed parameters.</a:t>
            </a:r>
          </a:p>
          <a:p>
            <a:endParaRPr lang="en-US" sz="2400" dirty="0"/>
          </a:p>
          <a:p>
            <a:r>
              <a:rPr lang="en-US" sz="2400" dirty="0"/>
              <a:t>       </a:t>
            </a:r>
            <a:r>
              <a:rPr lang="en-US" sz="2800" dirty="0"/>
              <a:t>Let us discuss these steps briefly in the upcoming sections.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248690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DE7A37A1-9928-4218-8B1A-B216C8FC72DE}"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Sending data from url to view</a:t>
            </a:r>
          </a:p>
        </p:txBody>
      </p:sp>
      <p:sp>
        <p:nvSpPr>
          <p:cNvPr id="8" name="Rectangle 7"/>
          <p:cNvSpPr/>
          <p:nvPr/>
        </p:nvSpPr>
        <p:spPr>
          <a:xfrm>
            <a:off x="762000" y="914400"/>
            <a:ext cx="11030176" cy="3170099"/>
          </a:xfrm>
          <a:prstGeom prst="rect">
            <a:avLst/>
          </a:prstGeom>
          <a:solidFill>
            <a:schemeClr val="tx2">
              <a:lumMod val="60000"/>
              <a:lumOff val="40000"/>
            </a:schemeClr>
          </a:solidFill>
          <a:ln w="19050">
            <a:solidFill>
              <a:schemeClr val="tx1"/>
            </a:solidFill>
          </a:ln>
        </p:spPr>
        <p:txBody>
          <a:bodyPr wrap="square">
            <a:spAutoFit/>
          </a:bodyPr>
          <a:lstStyle/>
          <a:p>
            <a:r>
              <a:rPr lang="en-US" sz="3200" b="1" u="sng" dirty="0"/>
              <a:t>Django URL pass parameter to view</a:t>
            </a:r>
          </a:p>
          <a:p>
            <a:endParaRPr lang="en-US" sz="3200" b="1" u="sng" dirty="0"/>
          </a:p>
          <a:p>
            <a:pPr marL="342900" indent="-342900">
              <a:buFont typeface="Wingdings" panose="05000000000000000000" pitchFamily="2" charset="2"/>
              <a:buChar char="Ø"/>
            </a:pPr>
            <a:r>
              <a:rPr lang="en-US" sz="2400" dirty="0"/>
              <a:t>You can pass a URL parameter from the URL to a view using a path converter.</a:t>
            </a:r>
          </a:p>
          <a:p>
            <a:pPr marL="342900" indent="-342900">
              <a:buFont typeface="Wingdings" panose="05000000000000000000" pitchFamily="2" charset="2"/>
              <a:buChar char="Ø"/>
            </a:pPr>
            <a:r>
              <a:rPr lang="en-US" sz="2400" dirty="0"/>
              <a:t>But, firstly you have to create a path and map it to a view.</a:t>
            </a:r>
          </a:p>
          <a:p>
            <a:pPr marL="342900" indent="-342900">
              <a:buFont typeface="Wingdings" panose="05000000000000000000" pitchFamily="2" charset="2"/>
              <a:buChar char="Ø"/>
            </a:pPr>
            <a:r>
              <a:rPr lang="en-US" sz="2400" dirty="0"/>
              <a:t>For this, you have to edit your application’s </a:t>
            </a:r>
            <a:r>
              <a:rPr lang="en-US" sz="2400" b="1" dirty="0"/>
              <a:t>urls.py</a:t>
            </a:r>
            <a:r>
              <a:rPr lang="en-US" sz="2400" dirty="0"/>
              <a:t> file.</a:t>
            </a:r>
          </a:p>
          <a:p>
            <a:pPr marL="342900" indent="-342900">
              <a:buFont typeface="Wingdings" panose="05000000000000000000" pitchFamily="2" charset="2"/>
              <a:buChar char="Ø"/>
            </a:pPr>
            <a:r>
              <a:rPr lang="en-US" sz="2400" dirty="0"/>
              <a:t> A sample urls.py file will look like this:</a:t>
            </a:r>
          </a:p>
          <a:p>
            <a:pPr marL="571500" indent="-571500">
              <a:buFont typeface="Wingdings" panose="05000000000000000000" pitchFamily="2" charset="2"/>
              <a:buChar char="Ø"/>
            </a:pPr>
            <a:endParaRPr lang="en-US" sz="4000" b="1" u="sng" dirty="0"/>
          </a:p>
        </p:txBody>
      </p:sp>
      <p:pic>
        <p:nvPicPr>
          <p:cNvPr id="9" name="Picture 8"/>
          <p:cNvPicPr>
            <a:picLocks noChangeAspect="1"/>
          </p:cNvPicPr>
          <p:nvPr/>
        </p:nvPicPr>
        <p:blipFill>
          <a:blip r:embed="rId2"/>
          <a:stretch>
            <a:fillRect/>
          </a:stretch>
        </p:blipFill>
        <p:spPr>
          <a:xfrm>
            <a:off x="762000" y="4194154"/>
            <a:ext cx="11030176" cy="2024279"/>
          </a:xfrm>
          <a:prstGeom prst="rect">
            <a:avLst/>
          </a:prstGeom>
        </p:spPr>
      </p:pic>
      <p:pic>
        <p:nvPicPr>
          <p:cNvPr id="10" name="Picture 9"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109002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005ACDEE-5658-404B-8E78-7833002B21B4}"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Sending data from url to view</a:t>
            </a:r>
          </a:p>
        </p:txBody>
      </p:sp>
      <p:sp>
        <p:nvSpPr>
          <p:cNvPr id="3" name="Rectangle 2"/>
          <p:cNvSpPr/>
          <p:nvPr/>
        </p:nvSpPr>
        <p:spPr>
          <a:xfrm>
            <a:off x="762000" y="828510"/>
            <a:ext cx="11026588" cy="5570756"/>
          </a:xfrm>
          <a:prstGeom prst="rect">
            <a:avLst/>
          </a:prstGeom>
          <a:solidFill>
            <a:schemeClr val="tx2">
              <a:lumMod val="60000"/>
              <a:lumOff val="40000"/>
            </a:schemeClr>
          </a:solidFill>
          <a:ln w="12700">
            <a:solidFill>
              <a:schemeClr val="tx1"/>
            </a:solidFill>
          </a:ln>
        </p:spPr>
        <p:txBody>
          <a:bodyPr wrap="square">
            <a:spAutoFit/>
          </a:bodyPr>
          <a:lstStyle/>
          <a:p>
            <a:r>
              <a:rPr lang="en-US" sz="3200" b="1" u="sng" dirty="0"/>
              <a:t>For example, if the requested URL is:</a:t>
            </a:r>
          </a:p>
          <a:p>
            <a:endParaRPr lang="en-US" sz="2800" b="1" u="sng" dirty="0"/>
          </a:p>
          <a:p>
            <a:r>
              <a:rPr lang="en-US" sz="2800" dirty="0">
                <a:hlinkClick r:id="rId2"/>
              </a:rPr>
              <a:t>https://www.shop.tsinfo.com/products/12</a:t>
            </a:r>
            <a:endParaRPr lang="en-US" sz="2800" dirty="0"/>
          </a:p>
          <a:p>
            <a:endParaRPr lang="en-US" sz="2800" dirty="0"/>
          </a:p>
          <a:p>
            <a:r>
              <a:rPr lang="en-US" sz="2400" dirty="0"/>
              <a:t>Then “products” will be the URL endpoint.</a:t>
            </a:r>
          </a:p>
          <a:p>
            <a:pPr marL="342900" indent="-342900">
              <a:buFont typeface="+mj-lt"/>
              <a:buAutoNum type="arabicPeriod"/>
            </a:pPr>
            <a:r>
              <a:rPr lang="en-US" sz="2400" dirty="0"/>
              <a:t>A path converter defines which type of data will a parameter store. You can compare path converters with data types. In the above example, the path converter will be int.</a:t>
            </a:r>
          </a:p>
          <a:p>
            <a:pPr marL="342900" indent="-342900">
              <a:buFont typeface="+mj-lt"/>
              <a:buAutoNum type="arabicPeriod"/>
            </a:pPr>
            <a:r>
              <a:rPr lang="en-US" sz="2400" dirty="0"/>
              <a:t>You will learn more about various path converters in the upcoming sections.</a:t>
            </a:r>
          </a:p>
          <a:p>
            <a:pPr marL="342900" indent="-342900">
              <a:buFont typeface="+mj-lt"/>
              <a:buAutoNum type="arabicPeriod"/>
            </a:pPr>
            <a:r>
              <a:rPr lang="en-US" sz="2400" dirty="0"/>
              <a:t>URL parameter name will be the name that you will use to refer to the parameter.</a:t>
            </a:r>
          </a:p>
          <a:p>
            <a:pPr marL="342900" indent="-342900">
              <a:buFont typeface="+mj-lt"/>
              <a:buAutoNum type="arabicPeriod"/>
            </a:pPr>
            <a:r>
              <a:rPr lang="en-US" sz="2400" dirty="0"/>
              <a:t>The </a:t>
            </a:r>
            <a:r>
              <a:rPr lang="en-US" sz="2400" dirty="0" err="1"/>
              <a:t>view_name</a:t>
            </a:r>
            <a:r>
              <a:rPr lang="en-US" sz="2400" dirty="0"/>
              <a:t> will be the view that will handle the request and the </a:t>
            </a:r>
            <a:r>
              <a:rPr lang="en-US" sz="2400" dirty="0" err="1"/>
              <a:t>function_name</a:t>
            </a:r>
            <a:r>
              <a:rPr lang="en-US" sz="2400" dirty="0"/>
              <a:t> is the function that will be executed when the request is made to the specified URL endpoint.</a:t>
            </a:r>
          </a:p>
          <a:p>
            <a:pPr marL="342900" indent="-342900">
              <a:buFont typeface="+mj-lt"/>
              <a:buAutoNum type="arabicPeriod"/>
            </a:pPr>
            <a:r>
              <a:rPr lang="en-US" sz="2400" dirty="0"/>
              <a:t>The name will be the name of the path that you are going to create.</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40476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B9881134-D52A-4C61-A26B-0BAC3CE89986}"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Sending data from view to template</a:t>
            </a:r>
          </a:p>
        </p:txBody>
      </p:sp>
      <p:sp>
        <p:nvSpPr>
          <p:cNvPr id="8" name="Rectangle 7"/>
          <p:cNvSpPr/>
          <p:nvPr/>
        </p:nvSpPr>
        <p:spPr>
          <a:xfrm>
            <a:off x="381000" y="1145137"/>
            <a:ext cx="11430000" cy="4708981"/>
          </a:xfrm>
          <a:prstGeom prst="rect">
            <a:avLst/>
          </a:prstGeom>
          <a:solidFill>
            <a:schemeClr val="tx2">
              <a:lumMod val="60000"/>
              <a:lumOff val="40000"/>
            </a:schemeClr>
          </a:solidFill>
          <a:ln w="12700">
            <a:solidFill>
              <a:schemeClr val="tx1"/>
            </a:solidFill>
          </a:ln>
        </p:spPr>
        <p:txBody>
          <a:bodyPr wrap="square">
            <a:spAutoFit/>
          </a:bodyPr>
          <a:lstStyle/>
          <a:p>
            <a:r>
              <a:rPr lang="en-US" sz="2400" b="1" u="sng" dirty="0"/>
              <a:t>We will talk about passing dynamic data to templates for rendering it.</a:t>
            </a:r>
          </a:p>
          <a:p>
            <a:endParaRPr lang="en-US" sz="2400" b="1" u="sng" dirty="0"/>
          </a:p>
          <a:p>
            <a:pPr marL="457200" indent="-457200">
              <a:buFont typeface="Wingdings" panose="05000000000000000000" pitchFamily="2" charset="2"/>
              <a:buChar char="Ø"/>
            </a:pPr>
            <a:r>
              <a:rPr lang="en-US" sz="2800" dirty="0"/>
              <a:t>As we know django is a MVC framework. So, we separate business logic from presentational logic. We write business logic in views and we pass data to templates to present the data.</a:t>
            </a:r>
          </a:p>
          <a:p>
            <a:endParaRPr lang="en-US" sz="2800" dirty="0"/>
          </a:p>
          <a:p>
            <a:pPr marL="457200" indent="-457200">
              <a:buFont typeface="Wingdings" panose="05000000000000000000" pitchFamily="2" charset="2"/>
              <a:buChar char="Ø"/>
            </a:pPr>
            <a:r>
              <a:rPr lang="en-US" sz="2800" dirty="0"/>
              <a:t>The data that we pass from views to template is generally called as "context" data. Let's get started with an example.</a:t>
            </a:r>
          </a:p>
          <a:p>
            <a:endParaRPr lang="en-US" sz="2800" dirty="0"/>
          </a:p>
          <a:p>
            <a:pPr marL="457200" indent="-457200">
              <a:buFont typeface="Wingdings" panose="05000000000000000000" pitchFamily="2" charset="2"/>
              <a:buChar char="Ø"/>
            </a:pPr>
            <a:r>
              <a:rPr lang="en-US" sz="2800" dirty="0"/>
              <a:t>Let's write a simple view that takes user information such as first name, last name and address and renders it in the template.</a:t>
            </a:r>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364910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57A2890A-C76A-486D-8D1E-7E2880E6802E}"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Sending data from view to template</a:t>
            </a:r>
          </a:p>
        </p:txBody>
      </p:sp>
      <p:pic>
        <p:nvPicPr>
          <p:cNvPr id="2" name="Picture 1"/>
          <p:cNvPicPr>
            <a:picLocks noChangeAspect="1"/>
          </p:cNvPicPr>
          <p:nvPr/>
        </p:nvPicPr>
        <p:blipFill>
          <a:blip r:embed="rId2"/>
          <a:stretch>
            <a:fillRect/>
          </a:stretch>
        </p:blipFill>
        <p:spPr>
          <a:xfrm>
            <a:off x="228600" y="1524000"/>
            <a:ext cx="11604345" cy="4367396"/>
          </a:xfrm>
          <a:prstGeom prst="rect">
            <a:avLst/>
          </a:prstGeom>
          <a:ln w="9525">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6276427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1424718F-0917-4CA7-A95A-2C0A3908DFB2}"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Sending data from view to template</a:t>
            </a:r>
          </a:p>
        </p:txBody>
      </p:sp>
      <p:pic>
        <p:nvPicPr>
          <p:cNvPr id="3" name="Picture 2"/>
          <p:cNvPicPr>
            <a:picLocks noChangeAspect="1"/>
          </p:cNvPicPr>
          <p:nvPr/>
        </p:nvPicPr>
        <p:blipFill>
          <a:blip r:embed="rId2"/>
          <a:stretch>
            <a:fillRect/>
          </a:stretch>
        </p:blipFill>
        <p:spPr>
          <a:xfrm>
            <a:off x="609600" y="1389793"/>
            <a:ext cx="10978990" cy="4305486"/>
          </a:xfrm>
          <a:prstGeom prst="rect">
            <a:avLst/>
          </a:prstGeom>
          <a:ln w="1905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938992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AFD7A792-C71C-42F4-A2DD-6D0EEB28203E}"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Sending data from view to template</a:t>
            </a:r>
          </a:p>
        </p:txBody>
      </p:sp>
      <p:sp>
        <p:nvSpPr>
          <p:cNvPr id="2" name="Rectangle 1"/>
          <p:cNvSpPr>
            <a:spLocks noChangeArrowheads="1"/>
          </p:cNvSpPr>
          <p:nvPr/>
        </p:nvSpPr>
        <p:spPr bwMode="auto">
          <a:xfrm rot="10800000" flipV="1">
            <a:off x="381000" y="1138033"/>
            <a:ext cx="11582400" cy="5170646"/>
          </a:xfrm>
          <a:prstGeom prst="rect">
            <a:avLst/>
          </a:prstGeom>
          <a:solidFill>
            <a:schemeClr val="tx2">
              <a:lumMod val="60000"/>
              <a:lumOff val="40000"/>
            </a:schemeClr>
          </a:solidFill>
          <a:ln w="12700">
            <a:solidFill>
              <a:schemeClr val="tx1"/>
            </a:solidFill>
          </a:ln>
          <a:effectLst/>
        </p:spPr>
        <p:txBody>
          <a:bodyPr vert="horz" wrap="square" lIns="46023" tIns="0" rIns="46023"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effectLst/>
                <a:latin typeface="+mn-lt"/>
              </a:rPr>
              <a:t>“</a:t>
            </a:r>
            <a:r>
              <a:rPr lang="en-US" altLang="en-US" sz="2800" b="1" dirty="0">
                <a:latin typeface="+mn-lt"/>
              </a:rPr>
              <a:t>R</a:t>
            </a:r>
            <a:r>
              <a:rPr kumimoji="0" lang="en-US" altLang="en-US" sz="2800" b="1" i="0" u="none" strike="noStrike" cap="none" normalizeH="0" baseline="0" dirty="0">
                <a:ln>
                  <a:noFill/>
                </a:ln>
                <a:effectLst/>
                <a:latin typeface="+mn-lt"/>
              </a:rPr>
              <a:t>ender</a:t>
            </a:r>
            <a:r>
              <a:rPr kumimoji="0" lang="en-US" altLang="en-US" sz="2800" b="0" i="0" u="none" strike="noStrike" cap="none" normalizeH="0" baseline="0" dirty="0">
                <a:ln>
                  <a:noFill/>
                </a:ln>
                <a:effectLst/>
                <a:latin typeface="+mn-lt"/>
              </a:rPr>
              <a:t>" is the most used function in django. It combines a given template with a given context dictionary and returns an </a:t>
            </a:r>
            <a:r>
              <a:rPr kumimoji="0" lang="en-US" altLang="en-US" sz="2800" b="0" i="0" u="none" strike="noStrike" cap="none" normalizeH="0" baseline="0" dirty="0">
                <a:ln>
                  <a:noFill/>
                </a:ln>
                <a:effectLst/>
                <a:latin typeface="+mn-lt"/>
                <a:hlinkClick r:id="rId2" tooltip="django.http.HttpResponse"/>
              </a:rPr>
              <a:t>HttpResponse</a:t>
            </a:r>
            <a:r>
              <a:rPr kumimoji="0" lang="en-US" altLang="en-US" sz="2800" b="0" i="0" u="none" strike="noStrike" cap="none" normalizeH="0" baseline="0" dirty="0">
                <a:ln>
                  <a:noFill/>
                </a:ln>
                <a:effectLst/>
                <a:latin typeface="+mn-lt"/>
              </a:rPr>
              <a:t> object with that rendered text.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effectLst/>
                <a:latin typeface="+mn-lt"/>
              </a:rPr>
              <a:t>It takes three arguments "request", "template_name" and "context" dictionary. </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effectLst/>
                <a:latin typeface="+mn-lt"/>
              </a:rPr>
              <a:t> In template we can access the context dict keys as </a:t>
            </a:r>
            <a:r>
              <a:rPr kumimoji="0" lang="en-US" altLang="en-US" sz="2800" b="1" i="0" u="none" strike="noStrike" cap="none" normalizeH="0" baseline="0" dirty="0">
                <a:ln>
                  <a:noFill/>
                </a:ln>
                <a:effectLst/>
                <a:latin typeface="+mn-lt"/>
              </a:rPr>
              <a:t>names**or</a:t>
            </a:r>
            <a:r>
              <a:rPr kumimoji="0" lang="en-US" altLang="en-US" sz="2800" b="0" i="0" u="none" strike="noStrike" cap="none" normalizeH="0" baseline="0" dirty="0">
                <a:ln>
                  <a:noFill/>
                </a:ln>
                <a:effectLst/>
                <a:latin typeface="+mn-lt"/>
              </a:rPr>
              <a:t> variables** and display them like "{{ &lt;variable/name&gt;}}". </a:t>
            </a:r>
          </a:p>
          <a:p>
            <a:pPr marL="457200" lvl="0" indent="-457200">
              <a:buFont typeface="Wingdings" panose="05000000000000000000" pitchFamily="2" charset="2"/>
              <a:buChar char="Ø"/>
            </a:pPr>
            <a:r>
              <a:rPr lang="en-US" altLang="en-US" sz="2800" dirty="0">
                <a:latin typeface="+mn-lt"/>
              </a:rPr>
              <a:t>Django provides a template tag "for" to provide the for loop functionality in django templates. You can find the “for loop” syntax below.</a:t>
            </a:r>
          </a:p>
          <a:p>
            <a:pPr marL="457200" lvl="0" indent="-457200">
              <a:buFont typeface="Wingdings" panose="05000000000000000000" pitchFamily="2" charset="2"/>
              <a:buChar char="Ø"/>
            </a:pPr>
            <a:r>
              <a:rPr lang="en-US" altLang="en-US" sz="2800" dirty="0">
                <a:latin typeface="+mn-lt"/>
              </a:rPr>
              <a:t>{% for local_name in iterable_name %}  </a:t>
            </a:r>
          </a:p>
          <a:p>
            <a:pPr marL="457200" lvl="0" indent="-457200">
              <a:buFont typeface="Wingdings" panose="05000000000000000000" pitchFamily="2" charset="2"/>
              <a:buChar char="Ø"/>
            </a:pPr>
            <a:r>
              <a:rPr lang="en-US" altLang="en-US" sz="2800" dirty="0">
                <a:latin typeface="+mn-lt"/>
              </a:rPr>
              <a:t> {{ local_name }}  </a:t>
            </a:r>
          </a:p>
          <a:p>
            <a:pPr marL="457200" lvl="0" indent="-457200">
              <a:buFont typeface="Wingdings" panose="05000000000000000000" pitchFamily="2" charset="2"/>
              <a:buChar char="Ø"/>
            </a:pPr>
            <a:r>
              <a:rPr lang="en-US" altLang="en-US" sz="2800" dirty="0">
                <a:latin typeface="+mn-lt"/>
              </a:rPr>
              <a:t>{% </a:t>
            </a:r>
            <a:r>
              <a:rPr lang="en-US" altLang="en-US" sz="2800" dirty="0" err="1">
                <a:latin typeface="+mn-lt"/>
              </a:rPr>
              <a:t>endfor</a:t>
            </a:r>
            <a:r>
              <a:rPr lang="en-US" altLang="en-US" sz="2800" dirty="0">
                <a:latin typeface="+mn-lt"/>
              </a:rPr>
              <a:t> %}</a:t>
            </a:r>
            <a:endParaRPr kumimoji="0" lang="en-US" altLang="en-US" sz="2800" b="0" i="0" u="none" strike="noStrike" cap="none" normalizeH="0" baseline="0" dirty="0">
              <a:ln>
                <a:noFill/>
              </a:ln>
              <a:effectLst/>
              <a:latin typeface="+mn-lt"/>
            </a:endParaRP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382472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42304F62-D933-4EDC-8E64-5F342A4ED9C2}"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Saving objects into database</a:t>
            </a:r>
          </a:p>
        </p:txBody>
      </p:sp>
      <p:sp>
        <p:nvSpPr>
          <p:cNvPr id="8" name="Rectangle 7"/>
          <p:cNvSpPr/>
          <p:nvPr/>
        </p:nvSpPr>
        <p:spPr>
          <a:xfrm>
            <a:off x="914400" y="775772"/>
            <a:ext cx="11125200" cy="5570756"/>
          </a:xfrm>
          <a:prstGeom prst="rect">
            <a:avLst/>
          </a:prstGeom>
          <a:solidFill>
            <a:schemeClr val="tx2">
              <a:lumMod val="60000"/>
              <a:lumOff val="40000"/>
            </a:schemeClr>
          </a:solidFill>
          <a:ln w="19050">
            <a:solidFill>
              <a:schemeClr val="tx1"/>
            </a:solidFill>
          </a:ln>
        </p:spPr>
        <p:txBody>
          <a:bodyPr wrap="square">
            <a:spAutoFit/>
          </a:bodyPr>
          <a:lstStyle/>
          <a:p>
            <a:r>
              <a:rPr lang="en-US" sz="2800" b="1" u="sng" dirty="0"/>
              <a:t>//ONE LINE SYNTAX TO SAVE DATA </a:t>
            </a:r>
          </a:p>
          <a:p>
            <a:endParaRPr lang="en-US" sz="2800" b="1" u="sng" dirty="0"/>
          </a:p>
          <a:p>
            <a:r>
              <a:rPr lang="en-US" sz="2800" dirty="0"/>
              <a:t>person = </a:t>
            </a:r>
            <a:r>
              <a:rPr lang="en-US" sz="2800" dirty="0" err="1"/>
              <a:t>Person.objects.create</a:t>
            </a:r>
            <a:r>
              <a:rPr lang="en-US" sz="2800" dirty="0"/>
              <a:t>(</a:t>
            </a:r>
            <a:r>
              <a:rPr lang="en-US" sz="2800" dirty="0" err="1"/>
              <a:t>first_name</a:t>
            </a:r>
            <a:r>
              <a:rPr lang="en-US" sz="2800" dirty="0"/>
              <a:t>="John", </a:t>
            </a:r>
            <a:r>
              <a:rPr lang="en-US" sz="2800" dirty="0" err="1"/>
              <a:t>last_name</a:t>
            </a:r>
            <a:r>
              <a:rPr lang="en-US" sz="2800" dirty="0"/>
              <a:t>="</a:t>
            </a:r>
            <a:r>
              <a:rPr lang="en-US" sz="2800" dirty="0" err="1"/>
              <a:t>Deo</a:t>
            </a:r>
            <a:r>
              <a:rPr lang="en-US" sz="2800" dirty="0"/>
              <a:t>")</a:t>
            </a:r>
          </a:p>
          <a:p>
            <a:endParaRPr lang="en-US" sz="2400" dirty="0"/>
          </a:p>
          <a:p>
            <a:endParaRPr lang="en-US" sz="2400" dirty="0"/>
          </a:p>
          <a:p>
            <a:r>
              <a:rPr lang="en-US" sz="2400" b="1" u="sng" dirty="0"/>
              <a:t>//YOU CAN ALSO USE BELOW CODE TO SAVE DATA</a:t>
            </a:r>
          </a:p>
          <a:p>
            <a:endParaRPr lang="en-US" sz="2400" b="1" u="sng" dirty="0"/>
          </a:p>
          <a:p>
            <a:r>
              <a:rPr lang="en-US" sz="2800" dirty="0"/>
              <a:t>person = Person(</a:t>
            </a:r>
            <a:r>
              <a:rPr lang="en-US" sz="2800" dirty="0" err="1"/>
              <a:t>first_name</a:t>
            </a:r>
            <a:r>
              <a:rPr lang="en-US" sz="2800" dirty="0"/>
              <a:t>="John", </a:t>
            </a:r>
            <a:r>
              <a:rPr lang="en-US" sz="2800" dirty="0" err="1"/>
              <a:t>last_name</a:t>
            </a:r>
            <a:r>
              <a:rPr lang="en-US" sz="2800" dirty="0"/>
              <a:t>="</a:t>
            </a:r>
            <a:r>
              <a:rPr lang="en-US" sz="2800" dirty="0" err="1"/>
              <a:t>Deo</a:t>
            </a:r>
            <a:r>
              <a:rPr lang="en-US" sz="2800" dirty="0"/>
              <a:t>")</a:t>
            </a:r>
          </a:p>
          <a:p>
            <a:r>
              <a:rPr lang="en-US" sz="2800" dirty="0" err="1"/>
              <a:t>person.save</a:t>
            </a:r>
            <a:r>
              <a:rPr lang="en-US" sz="2800" dirty="0"/>
              <a:t>()</a:t>
            </a:r>
          </a:p>
          <a:p>
            <a:pPr marL="342900" indent="-342900">
              <a:buFont typeface="Wingdings" panose="05000000000000000000" pitchFamily="2" charset="2"/>
              <a:buChar char="ü"/>
            </a:pPr>
            <a:r>
              <a:rPr lang="en-US" sz="2400" dirty="0">
                <a:solidFill>
                  <a:srgbClr val="FFFF00"/>
                </a:solidFill>
              </a:rPr>
              <a:t>Creating or saving object data in Django is very simple and it can be achieved using the provided code snippet. In the code snippet, we are using a 'Person' model which has fields named '</a:t>
            </a:r>
            <a:r>
              <a:rPr lang="en-US" sz="2400" dirty="0" err="1">
                <a:solidFill>
                  <a:srgbClr val="FFFF00"/>
                </a:solidFill>
              </a:rPr>
              <a:t>first_name</a:t>
            </a:r>
            <a:r>
              <a:rPr lang="en-US" sz="2400" dirty="0">
                <a:solidFill>
                  <a:srgbClr val="FFFF00"/>
                </a:solidFill>
              </a:rPr>
              <a:t>' and '</a:t>
            </a:r>
            <a:r>
              <a:rPr lang="en-US" sz="2400" dirty="0" err="1">
                <a:solidFill>
                  <a:srgbClr val="FFFF00"/>
                </a:solidFill>
              </a:rPr>
              <a:t>last_name</a:t>
            </a:r>
            <a:r>
              <a:rPr lang="en-US" sz="2400" dirty="0">
                <a:solidFill>
                  <a:srgbClr val="FFFF00"/>
                </a:solidFill>
              </a:rPr>
              <a:t>'. The above code will insert data into the table where 'John' will be inserted in the '</a:t>
            </a:r>
            <a:r>
              <a:rPr lang="en-US" sz="2400" dirty="0" err="1">
                <a:solidFill>
                  <a:srgbClr val="FFFF00"/>
                </a:solidFill>
              </a:rPr>
              <a:t>first_name</a:t>
            </a:r>
            <a:r>
              <a:rPr lang="en-US" sz="2400" dirty="0">
                <a:solidFill>
                  <a:srgbClr val="FFFF00"/>
                </a:solidFill>
              </a:rPr>
              <a:t>' column and '</a:t>
            </a:r>
            <a:r>
              <a:rPr lang="en-US" sz="2400" dirty="0" err="1">
                <a:solidFill>
                  <a:srgbClr val="FFFF00"/>
                </a:solidFill>
              </a:rPr>
              <a:t>Deo</a:t>
            </a:r>
            <a:r>
              <a:rPr lang="en-US" sz="2400" dirty="0">
                <a:solidFill>
                  <a:srgbClr val="FFFF00"/>
                </a:solidFill>
              </a:rPr>
              <a:t>' will be inserted into the '</a:t>
            </a:r>
            <a:r>
              <a:rPr lang="en-US" sz="2400" dirty="0" err="1">
                <a:solidFill>
                  <a:srgbClr val="FFFF00"/>
                </a:solidFill>
              </a:rPr>
              <a:t>last_name</a:t>
            </a:r>
            <a:r>
              <a:rPr lang="en-US" sz="2400" dirty="0">
                <a:solidFill>
                  <a:srgbClr val="FFFF00"/>
                </a:solidFill>
              </a:rPr>
              <a:t>' column.</a:t>
            </a:r>
            <a:endParaRPr lang="en-US" sz="3600" dirty="0">
              <a:solidFill>
                <a:srgbClr val="FFFF00"/>
              </a:solidFill>
            </a:endParaRPr>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4171318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F773F1ED-2BC9-4903-A77D-726C45B0D380}"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Sorting objects, Filtering objects, Deleting objects</a:t>
            </a:r>
          </a:p>
        </p:txBody>
      </p:sp>
      <p:pic>
        <p:nvPicPr>
          <p:cNvPr id="3" name="Picture 2"/>
          <p:cNvPicPr>
            <a:picLocks noChangeAspect="1"/>
          </p:cNvPicPr>
          <p:nvPr/>
        </p:nvPicPr>
        <p:blipFill>
          <a:blip r:embed="rId2"/>
          <a:stretch>
            <a:fillRect/>
          </a:stretch>
        </p:blipFill>
        <p:spPr>
          <a:xfrm>
            <a:off x="2079896" y="805074"/>
            <a:ext cx="7452535" cy="5473986"/>
          </a:xfrm>
          <a:prstGeom prst="rect">
            <a:avLst/>
          </a:prstGeom>
          <a:ln w="3810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4026581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306D8ECB-7576-48AE-992A-3E2659A4B06B}" type="datetime1">
              <a:rPr lang="en-US" smtClean="0"/>
              <a:t>11/4/2024</a:t>
            </a:fld>
            <a:endParaRPr lang="en-US" dirty="0"/>
          </a:p>
        </p:txBody>
      </p:sp>
      <p:sp>
        <p:nvSpPr>
          <p:cNvPr id="5" name="Footer Placeholder 4"/>
          <p:cNvSpPr>
            <a:spLocks noGrp="1"/>
          </p:cNvSpPr>
          <p:nvPr>
            <p:ph type="ftr" sz="quarter" idx="11"/>
          </p:nvPr>
        </p:nvSpPr>
        <p:spPr>
          <a:xfrm>
            <a:off x="3733800" y="639926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Sorting objects, Filtering objects, Deleting objects</a:t>
            </a:r>
          </a:p>
        </p:txBody>
      </p:sp>
      <p:pic>
        <p:nvPicPr>
          <p:cNvPr id="2" name="Picture 1"/>
          <p:cNvPicPr>
            <a:picLocks noChangeAspect="1"/>
          </p:cNvPicPr>
          <p:nvPr/>
        </p:nvPicPr>
        <p:blipFill>
          <a:blip r:embed="rId2"/>
          <a:stretch>
            <a:fillRect/>
          </a:stretch>
        </p:blipFill>
        <p:spPr>
          <a:xfrm>
            <a:off x="971712" y="1524000"/>
            <a:ext cx="10595448" cy="2910017"/>
          </a:xfrm>
          <a:prstGeom prst="rect">
            <a:avLst/>
          </a:prstGeom>
          <a:ln w="1270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01224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7C635D79-071C-4DA2-82EE-A829BDFD01C1}" type="datetime1">
              <a:rPr lang="en-US" smtClean="0"/>
              <a:t>11/4/2024</a:t>
            </a:fld>
            <a:endParaRPr lang="en-US" dirty="0"/>
          </a:p>
        </p:txBody>
      </p:sp>
      <p:sp>
        <p:nvSpPr>
          <p:cNvPr id="5" name="Footer Placeholder 4"/>
          <p:cNvSpPr>
            <a:spLocks noGrp="1"/>
          </p:cNvSpPr>
          <p:nvPr>
            <p:ph type="ftr" sz="quarter" idx="11"/>
          </p:nvPr>
        </p:nvSpPr>
        <p:spPr>
          <a:xfrm>
            <a:off x="3657600" y="641450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Sorting objects, Filtering objects, Deleting objects</a:t>
            </a:r>
          </a:p>
        </p:txBody>
      </p:sp>
      <p:pic>
        <p:nvPicPr>
          <p:cNvPr id="3" name="Picture 2"/>
          <p:cNvPicPr>
            <a:picLocks noChangeAspect="1"/>
          </p:cNvPicPr>
          <p:nvPr/>
        </p:nvPicPr>
        <p:blipFill>
          <a:blip r:embed="rId2"/>
          <a:stretch>
            <a:fillRect/>
          </a:stretch>
        </p:blipFill>
        <p:spPr>
          <a:xfrm>
            <a:off x="2643151" y="773701"/>
            <a:ext cx="7354188" cy="5625733"/>
          </a:xfrm>
          <a:prstGeom prst="rect">
            <a:avLst/>
          </a:prstGeom>
          <a:ln w="1270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6931064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52964913-FCD0-47D8-A612-8DC34489CE35}" type="datetime1">
              <a:rPr lang="en-US" smtClean="0"/>
              <a:t>11/4/2024</a:t>
            </a:fld>
            <a:endParaRPr lang="en-US" dirty="0"/>
          </a:p>
        </p:txBody>
      </p:sp>
      <p:sp>
        <p:nvSpPr>
          <p:cNvPr id="5" name="Footer Placeholder 4"/>
          <p:cNvSpPr>
            <a:spLocks noGrp="1"/>
          </p:cNvSpPr>
          <p:nvPr>
            <p:ph type="ftr" sz="quarter" idx="11"/>
          </p:nvPr>
        </p:nvSpPr>
        <p:spPr>
          <a:xfrm>
            <a:off x="3657600" y="641450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Session and Cookie</a:t>
            </a:r>
          </a:p>
        </p:txBody>
      </p:sp>
      <p:sp>
        <p:nvSpPr>
          <p:cNvPr id="8" name="Rectangle 7"/>
          <p:cNvSpPr/>
          <p:nvPr/>
        </p:nvSpPr>
        <p:spPr>
          <a:xfrm>
            <a:off x="712470" y="896174"/>
            <a:ext cx="11215550" cy="5232202"/>
          </a:xfrm>
          <a:prstGeom prst="rect">
            <a:avLst/>
          </a:prstGeom>
          <a:solidFill>
            <a:schemeClr val="tx2">
              <a:lumMod val="60000"/>
              <a:lumOff val="40000"/>
            </a:schemeClr>
          </a:solidFill>
          <a:ln w="9525">
            <a:solidFill>
              <a:schemeClr val="tx1"/>
            </a:solidFill>
          </a:ln>
        </p:spPr>
        <p:txBody>
          <a:bodyPr wrap="square">
            <a:spAutoFit/>
          </a:bodyPr>
          <a:lstStyle/>
          <a:p>
            <a:pPr marL="457200" indent="-457200">
              <a:buFont typeface="Wingdings" panose="05000000000000000000" pitchFamily="2" charset="2"/>
              <a:buChar char="Ø"/>
            </a:pPr>
            <a:r>
              <a:rPr lang="en-US" sz="2800" b="1" u="sng" dirty="0"/>
              <a:t>Cookies</a:t>
            </a:r>
            <a:r>
              <a:rPr lang="en-US" dirty="0"/>
              <a:t>, </a:t>
            </a:r>
            <a:r>
              <a:rPr lang="en-US" sz="2400" dirty="0"/>
              <a:t>technically called HTTP Cookies are small text files which are created and maintained by your browser on the particular request of Web-Server. They are stored locally by your browser, and most browser will also show you the cookies generated in the Privacy and Security settings of the browser.</a:t>
            </a:r>
          </a:p>
          <a:p>
            <a:pPr marL="342900" indent="-342900" fontAlgn="base">
              <a:buFont typeface="Wingdings" panose="05000000000000000000" pitchFamily="2" charset="2"/>
              <a:buChar char="Ø"/>
            </a:pPr>
            <a:r>
              <a:rPr lang="en-US" sz="2400" dirty="0"/>
              <a:t>HTTP is a stateless protocol. When any request is sent to the server, over this protocol, the server cannot distinguish whether the user is new or has visited the site previously.</a:t>
            </a:r>
          </a:p>
          <a:p>
            <a:pPr fontAlgn="base"/>
            <a:endParaRPr lang="en-US" sz="2400" dirty="0"/>
          </a:p>
          <a:p>
            <a:pPr marL="342900" indent="-342900" fontAlgn="base">
              <a:buFont typeface="Wingdings" panose="05000000000000000000" pitchFamily="2" charset="2"/>
              <a:buChar char="Ø"/>
            </a:pPr>
            <a:r>
              <a:rPr lang="en-US" sz="2400" dirty="0"/>
              <a:t>Suppose, you are logging in any website, that website will respond the browser with some cookies which will have some unique identification of user generated by the server and some more details according to the context of the website.</a:t>
            </a:r>
          </a:p>
          <a:p>
            <a:pPr marL="342900" indent="-342900" fontAlgn="base">
              <a:buFont typeface="Wingdings" panose="05000000000000000000" pitchFamily="2" charset="2"/>
              <a:buChar char="Ø"/>
            </a:pPr>
            <a:r>
              <a:rPr lang="en-US" sz="2400" dirty="0"/>
              <a:t>Cookies made these implementations possible with ease which were previously not possible over HTTP implementation.</a:t>
            </a:r>
          </a:p>
          <a:p>
            <a:endParaRPr lang="en-US" dirty="0"/>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8159273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684E05AE-8B44-4103-B607-D3E11888BA39}" type="datetime1">
              <a:rPr lang="en-US" smtClean="0"/>
              <a:t>11/4/2024</a:t>
            </a:fld>
            <a:endParaRPr lang="en-US" dirty="0"/>
          </a:p>
        </p:txBody>
      </p:sp>
      <p:sp>
        <p:nvSpPr>
          <p:cNvPr id="5" name="Footer Placeholder 4"/>
          <p:cNvSpPr>
            <a:spLocks noGrp="1"/>
          </p:cNvSpPr>
          <p:nvPr>
            <p:ph type="ftr" sz="quarter" idx="11"/>
          </p:nvPr>
        </p:nvSpPr>
        <p:spPr>
          <a:xfrm>
            <a:off x="3657600" y="641450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Session and Cookie</a:t>
            </a:r>
          </a:p>
        </p:txBody>
      </p:sp>
      <p:sp>
        <p:nvSpPr>
          <p:cNvPr id="3" name="Rectangle 2"/>
          <p:cNvSpPr/>
          <p:nvPr/>
        </p:nvSpPr>
        <p:spPr>
          <a:xfrm>
            <a:off x="611777" y="887888"/>
            <a:ext cx="10744200" cy="5324535"/>
          </a:xfrm>
          <a:prstGeom prst="rect">
            <a:avLst/>
          </a:prstGeom>
          <a:solidFill>
            <a:schemeClr val="tx2">
              <a:lumMod val="60000"/>
              <a:lumOff val="40000"/>
            </a:schemeClr>
          </a:solidFill>
          <a:ln w="19050">
            <a:solidFill>
              <a:schemeClr val="tx1"/>
            </a:solidFill>
          </a:ln>
        </p:spPr>
        <p:txBody>
          <a:bodyPr wrap="square">
            <a:spAutoFit/>
          </a:bodyPr>
          <a:lstStyle/>
          <a:p>
            <a:r>
              <a:rPr lang="en-US" sz="2800" b="1" u="sng" dirty="0"/>
              <a:t>How do Cookies work?</a:t>
            </a:r>
          </a:p>
          <a:p>
            <a:pPr fontAlgn="base"/>
            <a:r>
              <a:rPr lang="en-US" sz="2400" dirty="0"/>
              <a:t>Cookies work like other HTTP requests over the Internet. In a typical web-system, the browser makes a request to the server. The server then sends the response along with some cookies, which may contain some login information or some other data.</a:t>
            </a:r>
          </a:p>
          <a:p>
            <a:pPr fontAlgn="base"/>
            <a:r>
              <a:rPr lang="en-US" sz="2400" dirty="0"/>
              <a:t>When the browser makes a new request, the cookie generated previously is also transmitted to the server. This process is repeated every time a new request is made by the browser.</a:t>
            </a:r>
          </a:p>
          <a:p>
            <a:pPr fontAlgn="base"/>
            <a:endParaRPr lang="en-US" sz="2400" dirty="0"/>
          </a:p>
          <a:p>
            <a:pPr fontAlgn="base"/>
            <a:r>
              <a:rPr lang="en-US" sz="2400" dirty="0"/>
              <a:t>The browser repeats the process until the cookie expires or the session is closed and the cookie is deleted by the browser itself.</a:t>
            </a:r>
          </a:p>
          <a:p>
            <a:pPr fontAlgn="base"/>
            <a:r>
              <a:rPr lang="en-US" sz="2400" dirty="0"/>
              <a:t>Then, the cookie applies in all sorts of tasks, like when your login to a website or when shopping online on the web. Google AdSense and </a:t>
            </a:r>
            <a:r>
              <a:rPr lang="en-US" sz="2400" b="1" dirty="0"/>
              <a:t>Google Analytics</a:t>
            </a:r>
            <a:r>
              <a:rPr lang="en-US" sz="2400" dirty="0"/>
              <a:t> can also track you using the cookies they generate. Different websites use cookies differently according to their needs.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1776118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3206F361-7C59-442C-86D9-CC2B9BA70122}" type="datetime1">
              <a:rPr lang="en-US" smtClean="0"/>
              <a:t>11/4/2024</a:t>
            </a:fld>
            <a:endParaRPr lang="en-US" dirty="0"/>
          </a:p>
        </p:txBody>
      </p:sp>
      <p:sp>
        <p:nvSpPr>
          <p:cNvPr id="5" name="Footer Placeholder 4"/>
          <p:cNvSpPr>
            <a:spLocks noGrp="1"/>
          </p:cNvSpPr>
          <p:nvPr>
            <p:ph type="ftr" sz="quarter" idx="11"/>
          </p:nvPr>
        </p:nvSpPr>
        <p:spPr>
          <a:xfrm>
            <a:off x="3657600" y="641450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Session and Cookie</a:t>
            </a:r>
          </a:p>
        </p:txBody>
      </p:sp>
      <p:sp>
        <p:nvSpPr>
          <p:cNvPr id="8" name="Rectangle 7"/>
          <p:cNvSpPr/>
          <p:nvPr/>
        </p:nvSpPr>
        <p:spPr>
          <a:xfrm>
            <a:off x="609600" y="801789"/>
            <a:ext cx="11318966" cy="5570756"/>
          </a:xfrm>
          <a:prstGeom prst="rect">
            <a:avLst/>
          </a:prstGeom>
          <a:solidFill>
            <a:schemeClr val="tx2">
              <a:lumMod val="60000"/>
              <a:lumOff val="40000"/>
            </a:schemeClr>
          </a:solidFill>
          <a:ln w="12700">
            <a:solidFill>
              <a:schemeClr val="tx1"/>
            </a:solidFill>
          </a:ln>
        </p:spPr>
        <p:txBody>
          <a:bodyPr wrap="square">
            <a:spAutoFit/>
          </a:bodyPr>
          <a:lstStyle/>
          <a:p>
            <a:r>
              <a:rPr lang="en-US" sz="2400" b="1" u="sng" dirty="0"/>
              <a:t>What are Sessions?</a:t>
            </a:r>
          </a:p>
          <a:p>
            <a:pPr marL="285750" indent="-285750" fontAlgn="base">
              <a:buFont typeface="Wingdings" panose="05000000000000000000" pitchFamily="2" charset="2"/>
              <a:buChar char="ü"/>
            </a:pPr>
            <a:r>
              <a:rPr lang="en-US" sz="2200" dirty="0"/>
              <a:t>After observing these problems of cookies, the web-developers came with a new and more secure concept, Sessions.</a:t>
            </a:r>
          </a:p>
          <a:p>
            <a:pPr marL="285750" indent="-285750" fontAlgn="base">
              <a:buFont typeface="Wingdings" panose="05000000000000000000" pitchFamily="2" charset="2"/>
              <a:buChar char="ü"/>
            </a:pPr>
            <a:r>
              <a:rPr lang="en-US" sz="2200" b="1" i="1" dirty="0"/>
              <a:t>The session is a semi-permanent and two-way communication between the server and the browser.</a:t>
            </a:r>
            <a:endParaRPr lang="en-US" sz="2200" dirty="0"/>
          </a:p>
          <a:p>
            <a:pPr marL="285750" indent="-285750" fontAlgn="base">
              <a:buFont typeface="Wingdings" panose="05000000000000000000" pitchFamily="2" charset="2"/>
              <a:buChar char="ü"/>
            </a:pPr>
            <a:r>
              <a:rPr lang="en-US" sz="2200" dirty="0"/>
              <a:t>Let’s understand this technical definition in detail. Here semi means that session will exist until the user logs out or closes the browser. The two-way communication means that every time the browser/client makes a request, the server receives the request and cookies containing specific parameters and a unique Session ID which the server generates to identify the user. The Session ID doesn’t change for a particular session, but the website generates it every time a new session starts.</a:t>
            </a:r>
          </a:p>
          <a:p>
            <a:pPr marL="285750" indent="-285750" fontAlgn="base">
              <a:buFont typeface="Wingdings" panose="05000000000000000000" pitchFamily="2" charset="2"/>
              <a:buChar char="ü"/>
            </a:pPr>
            <a:r>
              <a:rPr lang="en-US" sz="2200" dirty="0"/>
              <a:t>Generally, Important Session Cookies containing these Session IDs deletes when the session ends. But, this won’t have any effect on the cookies which have fix expire time.</a:t>
            </a:r>
          </a:p>
          <a:p>
            <a:pPr marL="285750" indent="-285750" fontAlgn="base">
              <a:buFont typeface="Wingdings" panose="05000000000000000000" pitchFamily="2" charset="2"/>
              <a:buChar char="ü"/>
            </a:pPr>
            <a:r>
              <a:rPr lang="en-US" sz="2200" dirty="0"/>
              <a:t>Making and generating sessions securely can be a hefty task, and now we will look at Django’s implementation of the same.</a:t>
            </a:r>
          </a:p>
          <a:p>
            <a:endParaRPr lang="en-US" sz="2400" b="1" u="sng" dirty="0"/>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7426500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44782533-606D-418F-9E65-0F00BA6289A6}" type="datetime1">
              <a:rPr lang="en-US" smtClean="0"/>
              <a:t>11/4/2024</a:t>
            </a:fld>
            <a:endParaRPr lang="en-US" dirty="0"/>
          </a:p>
        </p:txBody>
      </p:sp>
      <p:sp>
        <p:nvSpPr>
          <p:cNvPr id="5" name="Footer Placeholder 4"/>
          <p:cNvSpPr>
            <a:spLocks noGrp="1"/>
          </p:cNvSpPr>
          <p:nvPr>
            <p:ph type="ftr" sz="quarter" idx="11"/>
          </p:nvPr>
        </p:nvSpPr>
        <p:spPr>
          <a:xfrm>
            <a:off x="3657600" y="641450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Creating sessions and cookies in Django.</a:t>
            </a:r>
          </a:p>
        </p:txBody>
      </p:sp>
      <p:sp>
        <p:nvSpPr>
          <p:cNvPr id="8" name="Rectangle 7"/>
          <p:cNvSpPr/>
          <p:nvPr/>
        </p:nvSpPr>
        <p:spPr>
          <a:xfrm>
            <a:off x="228600" y="791264"/>
            <a:ext cx="11701055" cy="3170099"/>
          </a:xfrm>
          <a:prstGeom prst="rect">
            <a:avLst/>
          </a:prstGeom>
          <a:solidFill>
            <a:schemeClr val="tx2">
              <a:lumMod val="60000"/>
              <a:lumOff val="40000"/>
            </a:schemeClr>
          </a:solidFill>
          <a:ln w="19050">
            <a:solidFill>
              <a:schemeClr val="tx1"/>
            </a:solidFill>
          </a:ln>
        </p:spPr>
        <p:txBody>
          <a:bodyPr wrap="square">
            <a:spAutoFit/>
          </a:bodyPr>
          <a:lstStyle/>
          <a:p>
            <a:pPr algn="ctr"/>
            <a:r>
              <a:rPr lang="en-US" sz="3200" b="1" u="sng" dirty="0"/>
              <a:t>Creating Cookies in Django</a:t>
            </a:r>
          </a:p>
          <a:p>
            <a:endParaRPr lang="en-US" sz="2800" b="1" u="sng" dirty="0"/>
          </a:p>
          <a:p>
            <a:pPr fontAlgn="base"/>
            <a:r>
              <a:rPr lang="en-US" sz="2800" dirty="0"/>
              <a:t>Django bypasses lots of work which otherwise would be required when working on cookies. Django has methods like </a:t>
            </a:r>
            <a:r>
              <a:rPr lang="en-US" sz="2800" dirty="0" err="1"/>
              <a:t>set_cookie</a:t>
            </a:r>
            <a:r>
              <a:rPr lang="en-US" sz="2800" dirty="0"/>
              <a:t>() which we can use to create cookies very easily.</a:t>
            </a:r>
          </a:p>
          <a:p>
            <a:pPr fontAlgn="base"/>
            <a:r>
              <a:rPr lang="en-US" sz="2800" dirty="0"/>
              <a:t>The </a:t>
            </a:r>
            <a:r>
              <a:rPr lang="en-US" sz="2800" dirty="0" err="1"/>
              <a:t>set_cookie</a:t>
            </a:r>
            <a:r>
              <a:rPr lang="en-US" sz="2800" dirty="0"/>
              <a:t>() has these attributes:</a:t>
            </a:r>
          </a:p>
          <a:p>
            <a:endParaRPr lang="en-US" sz="2800" b="1" u="sng" dirty="0"/>
          </a:p>
        </p:txBody>
      </p:sp>
      <p:pic>
        <p:nvPicPr>
          <p:cNvPr id="9" name="Picture 8"/>
          <p:cNvPicPr>
            <a:picLocks noChangeAspect="1"/>
          </p:cNvPicPr>
          <p:nvPr/>
        </p:nvPicPr>
        <p:blipFill>
          <a:blip r:embed="rId2"/>
          <a:stretch>
            <a:fillRect/>
          </a:stretch>
        </p:blipFill>
        <p:spPr>
          <a:xfrm>
            <a:off x="261257" y="4027647"/>
            <a:ext cx="11701055" cy="2793342"/>
          </a:xfrm>
          <a:prstGeom prst="rect">
            <a:avLst/>
          </a:prstGeom>
          <a:ln w="12700">
            <a:solidFill>
              <a:schemeClr val="tx1"/>
            </a:solidFill>
          </a:ln>
        </p:spPr>
      </p:pic>
      <p:pic>
        <p:nvPicPr>
          <p:cNvPr id="10" name="Picture 9"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251303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3133299C-A693-46D4-BDAF-B6DB0195B551}" type="datetime1">
              <a:rPr lang="en-US" smtClean="0"/>
              <a:t>11/4/2024</a:t>
            </a:fld>
            <a:endParaRPr lang="en-US" dirty="0"/>
          </a:p>
        </p:txBody>
      </p:sp>
      <p:sp>
        <p:nvSpPr>
          <p:cNvPr id="5" name="Footer Placeholder 4"/>
          <p:cNvSpPr>
            <a:spLocks noGrp="1"/>
          </p:cNvSpPr>
          <p:nvPr>
            <p:ph type="ftr" sz="quarter" idx="11"/>
          </p:nvPr>
        </p:nvSpPr>
        <p:spPr>
          <a:xfrm>
            <a:off x="3657600" y="641450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Creating sessions and cookies in Django</a:t>
            </a:r>
          </a:p>
        </p:txBody>
      </p:sp>
      <p:pic>
        <p:nvPicPr>
          <p:cNvPr id="2" name="Picture 1"/>
          <p:cNvPicPr>
            <a:picLocks noChangeAspect="1"/>
          </p:cNvPicPr>
          <p:nvPr/>
        </p:nvPicPr>
        <p:blipFill>
          <a:blip r:embed="rId2"/>
          <a:stretch>
            <a:fillRect/>
          </a:stretch>
        </p:blipFill>
        <p:spPr>
          <a:xfrm>
            <a:off x="633549" y="985036"/>
            <a:ext cx="11061913" cy="5050636"/>
          </a:xfrm>
          <a:prstGeom prst="rect">
            <a:avLst/>
          </a:prstGeom>
          <a:ln w="1270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839981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ECAB809F-ADAD-401D-A1CC-2FAA76EFF152}" type="datetime1">
              <a:rPr lang="en-US" smtClean="0"/>
              <a:t>11/4/2024</a:t>
            </a:fld>
            <a:endParaRPr lang="en-US" dirty="0"/>
          </a:p>
        </p:txBody>
      </p:sp>
      <p:sp>
        <p:nvSpPr>
          <p:cNvPr id="5" name="Footer Placeholder 4"/>
          <p:cNvSpPr>
            <a:spLocks noGrp="1"/>
          </p:cNvSpPr>
          <p:nvPr>
            <p:ph type="ftr" sz="quarter" idx="11"/>
          </p:nvPr>
        </p:nvSpPr>
        <p:spPr>
          <a:xfrm>
            <a:off x="3657600" y="641450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Creating sessions and cookies in Django</a:t>
            </a:r>
          </a:p>
        </p:txBody>
      </p:sp>
      <p:pic>
        <p:nvPicPr>
          <p:cNvPr id="3" name="Picture 2"/>
          <p:cNvPicPr>
            <a:picLocks noChangeAspect="1"/>
          </p:cNvPicPr>
          <p:nvPr/>
        </p:nvPicPr>
        <p:blipFill>
          <a:blip r:embed="rId2"/>
          <a:stretch>
            <a:fillRect/>
          </a:stretch>
        </p:blipFill>
        <p:spPr>
          <a:xfrm>
            <a:off x="1482634" y="962297"/>
            <a:ext cx="9134330" cy="5307608"/>
          </a:xfrm>
          <a:prstGeom prst="rect">
            <a:avLst/>
          </a:prstGeom>
          <a:ln w="1905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100872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A8705253-199C-42AF-851D-F47230860C46}" type="datetime1">
              <a:rPr lang="en-US" smtClean="0"/>
              <a:t>11/4/2024</a:t>
            </a:fld>
            <a:endParaRPr lang="en-US" dirty="0"/>
          </a:p>
        </p:txBody>
      </p:sp>
      <p:sp>
        <p:nvSpPr>
          <p:cNvPr id="5" name="Footer Placeholder 4"/>
          <p:cNvSpPr>
            <a:spLocks noGrp="1"/>
          </p:cNvSpPr>
          <p:nvPr>
            <p:ph type="ftr" sz="quarter" idx="11"/>
          </p:nvPr>
        </p:nvSpPr>
        <p:spPr>
          <a:xfrm>
            <a:off x="3657600" y="641450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Creating sessions and cookies in Django</a:t>
            </a:r>
          </a:p>
        </p:txBody>
      </p:sp>
      <p:pic>
        <p:nvPicPr>
          <p:cNvPr id="2" name="Picture 1"/>
          <p:cNvPicPr>
            <a:picLocks noChangeAspect="1"/>
          </p:cNvPicPr>
          <p:nvPr/>
        </p:nvPicPr>
        <p:blipFill>
          <a:blip r:embed="rId2"/>
          <a:stretch>
            <a:fillRect/>
          </a:stretch>
        </p:blipFill>
        <p:spPr>
          <a:xfrm>
            <a:off x="1467394" y="1066800"/>
            <a:ext cx="9604649" cy="4905879"/>
          </a:xfrm>
          <a:prstGeom prst="rect">
            <a:avLst/>
          </a:prstGeom>
          <a:ln w="1905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875215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EFC46182-F291-43CB-85C6-CC1FA3D37B92}" type="datetime1">
              <a:rPr lang="en-US" smtClean="0"/>
              <a:t>11/4/2024</a:t>
            </a:fld>
            <a:endParaRPr lang="en-US" dirty="0"/>
          </a:p>
        </p:txBody>
      </p:sp>
      <p:sp>
        <p:nvSpPr>
          <p:cNvPr id="5" name="Footer Placeholder 4"/>
          <p:cNvSpPr>
            <a:spLocks noGrp="1"/>
          </p:cNvSpPr>
          <p:nvPr>
            <p:ph type="ftr" sz="quarter" idx="11"/>
          </p:nvPr>
        </p:nvSpPr>
        <p:spPr>
          <a:xfrm>
            <a:off x="3657600" y="641450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Creating sessions and cookies in Django</a:t>
            </a:r>
          </a:p>
        </p:txBody>
      </p:sp>
      <p:sp>
        <p:nvSpPr>
          <p:cNvPr id="8" name="Rectangle 7"/>
          <p:cNvSpPr/>
          <p:nvPr/>
        </p:nvSpPr>
        <p:spPr>
          <a:xfrm>
            <a:off x="381000" y="838200"/>
            <a:ext cx="11582400" cy="2923877"/>
          </a:xfrm>
          <a:prstGeom prst="rect">
            <a:avLst/>
          </a:prstGeom>
          <a:solidFill>
            <a:schemeClr val="tx2">
              <a:lumMod val="60000"/>
              <a:lumOff val="40000"/>
            </a:schemeClr>
          </a:solidFill>
          <a:ln w="19050">
            <a:solidFill>
              <a:schemeClr val="tx1"/>
            </a:solidFill>
          </a:ln>
        </p:spPr>
        <p:txBody>
          <a:bodyPr wrap="square">
            <a:spAutoFit/>
          </a:bodyPr>
          <a:lstStyle/>
          <a:p>
            <a:pPr algn="ctr"/>
            <a:r>
              <a:rPr lang="en-US" sz="3200" b="1" u="sng" dirty="0"/>
              <a:t>Creating &amp; Accessing Django Sessions</a:t>
            </a:r>
          </a:p>
          <a:p>
            <a:endParaRPr lang="en-US" sz="3200" b="1" u="sng" dirty="0"/>
          </a:p>
          <a:p>
            <a:pPr fontAlgn="base"/>
            <a:r>
              <a:rPr lang="en-US" sz="2400" dirty="0"/>
              <a:t>Django allows you to easily create session variables and manipulate them accordingly.</a:t>
            </a:r>
          </a:p>
          <a:p>
            <a:pPr fontAlgn="base"/>
            <a:r>
              <a:rPr lang="en-US" sz="2400" dirty="0"/>
              <a:t>The request object in </a:t>
            </a:r>
            <a:r>
              <a:rPr lang="en-US" sz="2400" u="sng" dirty="0">
                <a:hlinkClick r:id="rId2"/>
              </a:rPr>
              <a:t>Django</a:t>
            </a:r>
            <a:r>
              <a:rPr lang="en-US" sz="2400" dirty="0"/>
              <a:t> has a session attribute, which creates, access and edits the session variables. This attribute acts like a dictionary, i.e., you can define the session names as keys and their value as values.</a:t>
            </a:r>
          </a:p>
          <a:p>
            <a:pPr fontAlgn="base"/>
            <a:r>
              <a:rPr lang="en-US" sz="2400" b="1" dirty="0"/>
              <a:t>Step 1.</a:t>
            </a:r>
            <a:r>
              <a:rPr lang="en-US" sz="2400" dirty="0"/>
              <a:t> We will start by editing our views.py file. Add this section of code.</a:t>
            </a:r>
          </a:p>
        </p:txBody>
      </p:sp>
      <p:pic>
        <p:nvPicPr>
          <p:cNvPr id="9" name="Picture 8"/>
          <p:cNvPicPr>
            <a:picLocks noChangeAspect="1"/>
          </p:cNvPicPr>
          <p:nvPr/>
        </p:nvPicPr>
        <p:blipFill>
          <a:blip r:embed="rId3"/>
          <a:stretch>
            <a:fillRect/>
          </a:stretch>
        </p:blipFill>
        <p:spPr>
          <a:xfrm>
            <a:off x="381000" y="3856085"/>
            <a:ext cx="8305800" cy="2867425"/>
          </a:xfrm>
          <a:prstGeom prst="rect">
            <a:avLst/>
          </a:prstGeom>
          <a:ln w="19050">
            <a:solidFill>
              <a:schemeClr val="tx1"/>
            </a:solidFill>
          </a:ln>
        </p:spPr>
      </p:pic>
      <p:pic>
        <p:nvPicPr>
          <p:cNvPr id="10" name="Picture 9"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474066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77812"/>
            <a:ext cx="2844800" cy="365125"/>
          </a:xfrm>
        </p:spPr>
        <p:txBody>
          <a:bodyPr/>
          <a:lstStyle/>
          <a:p>
            <a:fld id="{249FBA38-702F-4833-9771-819DE144D9EC}" type="datetime1">
              <a:rPr lang="en-US" smtClean="0"/>
              <a:t>11/4/2024</a:t>
            </a:fld>
            <a:endParaRPr lang="en-US" dirty="0"/>
          </a:p>
        </p:txBody>
      </p:sp>
      <p:sp>
        <p:nvSpPr>
          <p:cNvPr id="5" name="Footer Placeholder 4"/>
          <p:cNvSpPr>
            <a:spLocks noGrp="1"/>
          </p:cNvSpPr>
          <p:nvPr>
            <p:ph type="ftr" sz="quarter" idx="11"/>
          </p:nvPr>
        </p:nvSpPr>
        <p:spPr>
          <a:xfrm>
            <a:off x="3657600" y="6414506"/>
            <a:ext cx="5325291"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Creating sessions and cookies in Django</a:t>
            </a:r>
          </a:p>
        </p:txBody>
      </p:sp>
      <p:pic>
        <p:nvPicPr>
          <p:cNvPr id="2" name="Picture 1"/>
          <p:cNvPicPr>
            <a:picLocks noChangeAspect="1"/>
          </p:cNvPicPr>
          <p:nvPr/>
        </p:nvPicPr>
        <p:blipFill>
          <a:blip r:embed="rId2"/>
          <a:stretch>
            <a:fillRect/>
          </a:stretch>
        </p:blipFill>
        <p:spPr>
          <a:xfrm>
            <a:off x="609600" y="1098045"/>
            <a:ext cx="11101305" cy="4824618"/>
          </a:xfrm>
          <a:prstGeom prst="rect">
            <a:avLst/>
          </a:prstGeom>
          <a:ln w="1270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9906167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DCD52E5-9139-4CA8-B913-5E8A72DC6400}" type="datetime1">
              <a:rPr lang="en-US" smtClean="0"/>
              <a:t>11/4/2024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p:cNvSpPr txBox="1">
            <a:spLocks/>
          </p:cNvSpPr>
          <p:nvPr/>
        </p:nvSpPr>
        <p:spPr>
          <a:xfrm>
            <a:off x="1447800" y="1"/>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Daily Quiz</a:t>
            </a:r>
          </a:p>
        </p:txBody>
      </p:sp>
      <p:sp>
        <p:nvSpPr>
          <p:cNvPr id="11" name="Content Placeholder 10"/>
          <p:cNvSpPr>
            <a:spLocks noGrp="1"/>
          </p:cNvSpPr>
          <p:nvPr>
            <p:ph idx="1"/>
          </p:nvPr>
        </p:nvSpPr>
        <p:spPr>
          <a:xfrm>
            <a:off x="1524000" y="976636"/>
            <a:ext cx="10058400" cy="4450449"/>
          </a:xfrm>
          <a:prstGeom prst="rect">
            <a:avLst/>
          </a:prstGeom>
          <a:solidFill>
            <a:schemeClr val="tx2">
              <a:lumMod val="40000"/>
              <a:lumOff val="60000"/>
            </a:schemeClr>
          </a:solidFill>
          <a:ln w="9525">
            <a:solidFill>
              <a:schemeClr val="tx1"/>
            </a:solidFill>
          </a:ln>
        </p:spPr>
        <p:txBody>
          <a:bodyPr wrap="square">
            <a:spAutoFit/>
          </a:bodyPr>
          <a:lstStyle/>
          <a:p>
            <a:pPr marL="457200" indent="-457200">
              <a:buFont typeface="+mj-lt"/>
              <a:buAutoNum type="arabicPeriod"/>
            </a:pPr>
            <a:r>
              <a:rPr lang="en-US" sz="2400" dirty="0"/>
              <a:t>Discuss database migration.</a:t>
            </a:r>
          </a:p>
          <a:p>
            <a:pPr marL="457200" indent="-457200">
              <a:buFont typeface="+mj-lt"/>
              <a:buAutoNum type="arabicPeriod"/>
            </a:pPr>
            <a:r>
              <a:rPr lang="en-US" sz="2400" dirty="0"/>
              <a:t>What is the role of frameworks in python.</a:t>
            </a:r>
          </a:p>
          <a:p>
            <a:pPr marL="457200" indent="-457200">
              <a:buFont typeface="+mj-lt"/>
              <a:buAutoNum type="arabicPeriod"/>
            </a:pPr>
            <a:r>
              <a:rPr lang="en-US" sz="2400" dirty="0"/>
              <a:t>Discuss any three frameworks.</a:t>
            </a:r>
          </a:p>
          <a:p>
            <a:pPr marL="457200" indent="-457200">
              <a:buFont typeface="+mj-lt"/>
              <a:buAutoNum type="arabicPeriod"/>
            </a:pPr>
            <a:r>
              <a:rPr lang="en-US" sz="2400" dirty="0"/>
              <a:t>Discuss about concept and process of database migration.</a:t>
            </a:r>
          </a:p>
          <a:p>
            <a:pPr marL="457200" indent="-457200">
              <a:buFont typeface="+mj-lt"/>
              <a:buAutoNum type="arabicPeriod"/>
            </a:pPr>
            <a:r>
              <a:rPr lang="en-US" sz="2400" dirty="0"/>
              <a:t>Discuss implementation rule session and cookies in django.</a:t>
            </a:r>
          </a:p>
          <a:p>
            <a:pPr marL="457200" indent="-457200">
              <a:buFont typeface="+mj-lt"/>
              <a:buAutoNum type="arabicPeriod"/>
            </a:pPr>
            <a:r>
              <a:rPr lang="en-US" sz="2400" dirty="0"/>
              <a:t>Discuss the  session and cookies.</a:t>
            </a:r>
          </a:p>
          <a:p>
            <a:pPr marL="457200" indent="-457200">
              <a:buFont typeface="+mj-lt"/>
              <a:buAutoNum type="arabicPeriod"/>
            </a:pPr>
            <a:r>
              <a:rPr lang="en-US" sz="2400" dirty="0"/>
              <a:t>Discuss how to save a object in data base .</a:t>
            </a:r>
          </a:p>
          <a:p>
            <a:pPr marL="457200" indent="-457200">
              <a:buFont typeface="+mj-lt"/>
              <a:buAutoNum type="arabicPeriod"/>
            </a:pPr>
            <a:r>
              <a:rPr lang="en-US" sz="2400" dirty="0"/>
              <a:t>Discuss the application area of django.</a:t>
            </a:r>
          </a:p>
          <a:p>
            <a:pPr marL="457200" indent="-457200">
              <a:buFont typeface="+mj-lt"/>
              <a:buAutoNum type="arabicPeriod"/>
            </a:pPr>
            <a:r>
              <a:rPr lang="en-US" sz="2400" dirty="0"/>
              <a:t>Discuss about the Request Http methods in Python.</a:t>
            </a:r>
          </a:p>
          <a:p>
            <a:pPr marL="457200" indent="-457200">
              <a:buFont typeface="+mj-lt"/>
              <a:buAutoNum type="arabicPeriod"/>
            </a:pPr>
            <a:r>
              <a:rPr lang="en-US" sz="2400" dirty="0"/>
              <a:t>Discuss about http application.</a:t>
            </a:r>
            <a:endParaRPr lang="en-US" dirty="0"/>
          </a:p>
        </p:txBody>
      </p:sp>
      <p:sp>
        <p:nvSpPr>
          <p:cNvPr id="9" name="Footer Placeholder 12"/>
          <p:cNvSpPr>
            <a:spLocks noGrp="1"/>
          </p:cNvSpPr>
          <p:nvPr>
            <p:ph type="ftr" sz="quarter" idx="11"/>
          </p:nvPr>
        </p:nvSpPr>
        <p:spPr>
          <a:xfrm>
            <a:off x="3810000" y="6019801"/>
            <a:ext cx="5029200" cy="623910"/>
          </a:xfrm>
        </p:spPr>
        <p:txBody>
          <a:bodyPr/>
          <a:lstStyle/>
          <a:p>
            <a:r>
              <a:rPr lang="en-US"/>
              <a:t>Ritesh Kumar Singh                Connecting SQlite with Django                          Unit IV</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3580646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E0C8A64-35E9-4BD6-A9E7-89A9AA3A720A}" type="datetime1">
              <a:rPr lang="en-US" smtClean="0"/>
              <a:t>11/4/2024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300" dirty="0"/>
              <a:t>Weekly Assignment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85800" y="1143000"/>
            <a:ext cx="11353800" cy="2554545"/>
          </a:xfrm>
          <a:prstGeom prst="rect">
            <a:avLst/>
          </a:prstGeom>
          <a:solidFill>
            <a:schemeClr val="tx2">
              <a:lumMod val="40000"/>
              <a:lumOff val="60000"/>
            </a:schemeClr>
          </a:solidFill>
          <a:ln w="28575">
            <a:solidFill>
              <a:schemeClr val="tx1"/>
            </a:solidFill>
          </a:ln>
        </p:spPr>
        <p:txBody>
          <a:bodyPr wrap="square">
            <a:spAutoFit/>
          </a:bodyPr>
          <a:lstStyle/>
          <a:p>
            <a:pPr marL="457200" indent="-457200" algn="just">
              <a:buFont typeface="+mj-lt"/>
              <a:buAutoNum type="arabicPeriod"/>
            </a:pPr>
            <a:r>
              <a:rPr lang="en-US" sz="3200" dirty="0">
                <a:latin typeface="+mj-lt"/>
              </a:rPr>
              <a:t>What are the most important uses of Django.</a:t>
            </a:r>
          </a:p>
          <a:p>
            <a:pPr marL="457200" indent="-457200" algn="just">
              <a:buFont typeface="+mj-lt"/>
              <a:buAutoNum type="arabicPeriod"/>
            </a:pPr>
            <a:r>
              <a:rPr lang="en-US" sz="3200" dirty="0">
                <a:latin typeface="+mj-lt"/>
              </a:rPr>
              <a:t>What are the disadvantages of Django?</a:t>
            </a:r>
          </a:p>
          <a:p>
            <a:pPr marL="457200" indent="-457200" algn="just">
              <a:buFont typeface="+mj-lt"/>
              <a:buAutoNum type="arabicPeriod"/>
            </a:pPr>
            <a:r>
              <a:rPr lang="en-US" sz="3200" dirty="0"/>
              <a:t>What are the different data types used in Django.</a:t>
            </a:r>
          </a:p>
          <a:p>
            <a:pPr marL="457200" indent="-457200" algn="just">
              <a:buFont typeface="+mj-lt"/>
              <a:buAutoNum type="arabicPeriod"/>
            </a:pPr>
            <a:r>
              <a:rPr lang="en-US" sz="3200" dirty="0"/>
              <a:t>What are the salient features of Django session and cookies.</a:t>
            </a:r>
          </a:p>
          <a:p>
            <a:pPr marL="457200" indent="-457200" algn="just">
              <a:buFont typeface="+mj-lt"/>
              <a:buAutoNum type="arabicPeriod"/>
            </a:pPr>
            <a:r>
              <a:rPr lang="en-US" sz="3200" dirty="0"/>
              <a:t>What are some of the technical features that Django includes</a:t>
            </a:r>
          </a:p>
        </p:txBody>
      </p:sp>
      <p:sp>
        <p:nvSpPr>
          <p:cNvPr id="8" name="Footer Placeholder 4"/>
          <p:cNvSpPr>
            <a:spLocks noGrp="1"/>
          </p:cNvSpPr>
          <p:nvPr>
            <p:ph type="ftr" sz="quarter" idx="11"/>
          </p:nvPr>
        </p:nvSpPr>
        <p:spPr>
          <a:xfrm>
            <a:off x="3733800" y="6356356"/>
            <a:ext cx="5562600" cy="365125"/>
          </a:xfrm>
        </p:spPr>
        <p:txBody>
          <a:bodyPr/>
          <a:lstStyle/>
          <a:p>
            <a:r>
              <a:rPr lang="en-US"/>
              <a:t>Ritesh Kumar Singh                Connecting SQlite with Django                          Unit IV</a:t>
            </a:r>
            <a:endParaRPr lang="en-US" dirty="0"/>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708488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F68DCF3-0798-410B-ABEA-66551DB1C023}" type="datetime1">
              <a:rPr lang="en-US" smtClean="0"/>
              <a:t>11/4/2024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Topic Link ( YouTube &amp; NPTEL Video Links)</a:t>
            </a:r>
          </a:p>
        </p:txBody>
      </p:sp>
      <p:sp>
        <p:nvSpPr>
          <p:cNvPr id="9" name="Content Placeholder 2"/>
          <p:cNvSpPr>
            <a:spLocks noGrp="1"/>
          </p:cNvSpPr>
          <p:nvPr>
            <p:ph idx="1"/>
          </p:nvPr>
        </p:nvSpPr>
        <p:spPr>
          <a:xfrm>
            <a:off x="914400" y="1066800"/>
            <a:ext cx="11049000" cy="4525963"/>
          </a:xfrm>
        </p:spPr>
        <p:txBody>
          <a:bodyPr>
            <a:normAutofit/>
          </a:bodyPr>
          <a:lstStyle/>
          <a:p>
            <a:pPr marL="0" indent="0" algn="just">
              <a:buNone/>
            </a:pPr>
            <a:endParaRPr lang="en-US" sz="2800" dirty="0"/>
          </a:p>
          <a:p>
            <a:pPr>
              <a:buNone/>
            </a:pPr>
            <a:endParaRPr lang="en-US" dirty="0"/>
          </a:p>
        </p:txBody>
      </p:sp>
      <p:sp>
        <p:nvSpPr>
          <p:cNvPr id="8" name="Content Placeholder 2"/>
          <p:cNvSpPr txBox="1">
            <a:spLocks/>
          </p:cNvSpPr>
          <p:nvPr/>
        </p:nvSpPr>
        <p:spPr>
          <a:xfrm>
            <a:off x="239486" y="1062445"/>
            <a:ext cx="11876314" cy="4728755"/>
          </a:xfrm>
          <a:prstGeom prst="rect">
            <a:avLst/>
          </a:prstGeom>
          <a:solidFill>
            <a:srgbClr val="33CCFF"/>
          </a:solidFill>
          <a:ln w="19050">
            <a:solidFill>
              <a:schemeClr val="tx1"/>
            </a:solidFill>
          </a:ln>
        </p:spPr>
        <p:txBody>
          <a:bodyPr vert="horz" lIns="91440" tIns="45720" rIns="91440" bIns="45720" rtlCol="0">
            <a:normAutofit fontScale="85000" lnSpcReduction="20000"/>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u="sng" dirty="0"/>
              <a:t>YouTube  /other  Video Links</a:t>
            </a:r>
          </a:p>
          <a:p>
            <a:r>
              <a:rPr lang="en-US" u="sng" dirty="0">
                <a:hlinkClick r:id="rId2"/>
              </a:rPr>
              <a:t>https://youtu.be/eoPsX7MKfe8?list=PLIdgECt554OVFKXRpo_kuI0XpUQKk0ycO</a:t>
            </a:r>
            <a:endParaRPr lang="en-US" u="sng" dirty="0"/>
          </a:p>
          <a:p>
            <a:pPr marL="0" indent="0">
              <a:buNone/>
            </a:pPr>
            <a:endParaRPr lang="en-US" dirty="0"/>
          </a:p>
          <a:p>
            <a:r>
              <a:rPr lang="en-US" u="sng" dirty="0">
                <a:hlinkClick r:id="rId3"/>
              </a:rPr>
              <a:t>https://youtu.be/tA42nHmmEKw?list=PLh2mXjKcTPSACrQxPM2_1Ojus5HX88ht7</a:t>
            </a:r>
            <a:endParaRPr lang="en-US" u="sng" dirty="0"/>
          </a:p>
          <a:p>
            <a:pPr marL="0" indent="0">
              <a:buNone/>
            </a:pPr>
            <a:endParaRPr lang="en-US" dirty="0"/>
          </a:p>
          <a:p>
            <a:r>
              <a:rPr lang="en-US" u="sng" dirty="0">
                <a:hlinkClick r:id="rId4"/>
              </a:rPr>
              <a:t>https://youtu.be/8ndsDXohLMQ?list=PLDsnL5pk7-N_9oy2RN4A65Z-PEnvtc7rf</a:t>
            </a:r>
            <a:endParaRPr lang="en-US" u="sng" dirty="0"/>
          </a:p>
          <a:p>
            <a:pPr marL="0" indent="0">
              <a:buNone/>
            </a:pPr>
            <a:endParaRPr lang="en-US" dirty="0"/>
          </a:p>
          <a:p>
            <a:r>
              <a:rPr lang="en-US" u="sng" dirty="0">
                <a:hlinkClick r:id="rId5"/>
              </a:rPr>
              <a:t>https://youtu.be/QXeEoD0pB3E?list=PLsyeobzWxl7poL9JTVyndKe62ieoN-MZ3</a:t>
            </a:r>
            <a:endParaRPr lang="en-US" u="sng" dirty="0"/>
          </a:p>
          <a:p>
            <a:pPr marL="0" indent="0">
              <a:buNone/>
            </a:pPr>
            <a:endParaRPr lang="en-US" dirty="0"/>
          </a:p>
          <a:p>
            <a:r>
              <a:rPr lang="en-US" u="sng" dirty="0">
                <a:hlinkClick r:id="rId6"/>
              </a:rPr>
              <a:t>https://youtu.be/9MmC_uGjBsM?list=PL3pGy4HtqwD02GVgM96-V0sq4_DSinqvf</a:t>
            </a:r>
            <a:endParaRPr lang="en-US" u="sng" dirty="0"/>
          </a:p>
          <a:p>
            <a:pPr marL="0" indent="0">
              <a:buNone/>
            </a:pPr>
            <a:endParaRPr lang="en-US" u="sng" dirty="0"/>
          </a:p>
          <a:p>
            <a:pPr marL="0" indent="0">
              <a:buNone/>
            </a:pPr>
            <a:endParaRPr lang="en-US" dirty="0"/>
          </a:p>
          <a:p>
            <a:pPr marL="0" indent="0">
              <a:lnSpc>
                <a:spcPct val="200000"/>
              </a:lnSpc>
              <a:buNone/>
            </a:pPr>
            <a:endParaRPr lang="en-US" sz="2800" u="sng" dirty="0"/>
          </a:p>
        </p:txBody>
      </p:sp>
      <p:pic>
        <p:nvPicPr>
          <p:cNvPr id="10" name="Picture 9" descr="C:\Users\Dr. CS Yadav\Downloads\New logo NIET.jpg"/>
          <p:cNvPicPr/>
          <p:nvPr/>
        </p:nvPicPr>
        <p:blipFill>
          <a:blip r:embed="rId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7740923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4EB7715-83B8-4E3A-A336-6217251A26BE}" type="datetime1">
              <a:rPr lang="en-US" smtClean="0"/>
              <a:t>11/4/2024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1447800" y="2"/>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MCQ s</a:t>
            </a:r>
          </a:p>
        </p:txBody>
      </p:sp>
      <p:graphicFrame>
        <p:nvGraphicFramePr>
          <p:cNvPr id="10" name="Content Placeholder 2"/>
          <p:cNvGraphicFramePr>
            <a:graphicFrameLocks/>
          </p:cNvGraphicFramePr>
          <p:nvPr>
            <p:extLst>
              <p:ext uri="{D42A27DB-BD31-4B8C-83A1-F6EECF244321}">
                <p14:modId xmlns:p14="http://schemas.microsoft.com/office/powerpoint/2010/main" val="4010231441"/>
              </p:ext>
            </p:extLst>
          </p:nvPr>
        </p:nvGraphicFramePr>
        <p:xfrm>
          <a:off x="76200" y="762000"/>
          <a:ext cx="12115800" cy="6106312"/>
        </p:xfrm>
        <a:graphic>
          <a:graphicData uri="http://schemas.openxmlformats.org/drawingml/2006/table">
            <a:tbl>
              <a:tblPr firstRow="1" bandRow="1">
                <a:tableStyleId>{3B4B98B0-60AC-42C2-AFA5-B58CD77FA1E5}</a:tableStyleId>
              </a:tblPr>
              <a:tblGrid>
                <a:gridCol w="6057900">
                  <a:extLst>
                    <a:ext uri="{9D8B030D-6E8A-4147-A177-3AD203B41FA5}">
                      <a16:colId xmlns:a16="http://schemas.microsoft.com/office/drawing/2014/main" val="3349441241"/>
                    </a:ext>
                  </a:extLst>
                </a:gridCol>
                <a:gridCol w="6057900">
                  <a:extLst>
                    <a:ext uri="{9D8B030D-6E8A-4147-A177-3AD203B41FA5}">
                      <a16:colId xmlns:a16="http://schemas.microsoft.com/office/drawing/2014/main" val="4272054345"/>
                    </a:ext>
                  </a:extLst>
                </a:gridCol>
              </a:tblGrid>
              <a:tr h="202306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1. What is a Django App?</a:t>
                      </a:r>
                    </a:p>
                    <a:p>
                      <a:pPr algn="just"/>
                      <a:r>
                        <a:rPr lang="en-US" sz="2000" b="0" dirty="0"/>
                        <a:t> </a:t>
                      </a:r>
                      <a:r>
                        <a:rPr lang="en-US" sz="2000" b="0" dirty="0" err="1"/>
                        <a:t>ADjango</a:t>
                      </a:r>
                      <a:r>
                        <a:rPr lang="en-US" sz="2000" b="0" dirty="0"/>
                        <a:t> app is an extended package with base package is Django </a:t>
                      </a:r>
                    </a:p>
                    <a:p>
                      <a:pPr algn="just"/>
                      <a:r>
                        <a:rPr lang="en-US" sz="2000" b="0" dirty="0"/>
                        <a:t> B. Django app is a python package with its own components. </a:t>
                      </a:r>
                    </a:p>
                    <a:p>
                      <a:pPr algn="just"/>
                      <a:r>
                        <a:rPr lang="en-US" sz="2000" b="0" dirty="0"/>
                        <a:t> C. Both 1 &amp; 2 Option </a:t>
                      </a:r>
                    </a:p>
                    <a:p>
                      <a:pPr algn="just"/>
                      <a:r>
                        <a:rPr lang="en-US" sz="2000" b="0" dirty="0"/>
                        <a:t> D. All of the above </a:t>
                      </a:r>
                    </a:p>
                  </a:txBody>
                  <a:tcPr>
                    <a:solidFill>
                      <a:schemeClr val="tx2">
                        <a:lumMod val="40000"/>
                        <a:lumOff val="6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2. Django was introduced by </a:t>
                      </a:r>
                    </a:p>
                    <a:p>
                      <a:pPr algn="just"/>
                      <a:endParaRPr lang="en-US" sz="2000" b="0" dirty="0"/>
                    </a:p>
                    <a:p>
                      <a:pPr algn="just"/>
                      <a:r>
                        <a:rPr lang="en-US" sz="2000" b="0" dirty="0"/>
                        <a:t> A. Adrian </a:t>
                      </a:r>
                      <a:r>
                        <a:rPr lang="en-US" sz="2000" b="0" dirty="0" err="1"/>
                        <a:t>Holovaty</a:t>
                      </a:r>
                      <a:endParaRPr lang="en-US" sz="2000" b="0" dirty="0"/>
                    </a:p>
                    <a:p>
                      <a:pPr algn="just"/>
                      <a:r>
                        <a:rPr lang="en-US" sz="2000" b="0" dirty="0"/>
                        <a:t> B. Bill Gates </a:t>
                      </a:r>
                    </a:p>
                    <a:p>
                      <a:pPr algn="just"/>
                      <a:r>
                        <a:rPr lang="en-US" sz="2000" b="0" dirty="0"/>
                        <a:t> C. </a:t>
                      </a:r>
                      <a:r>
                        <a:rPr lang="en-US" sz="2000" b="0" dirty="0" err="1"/>
                        <a:t>Rasmus</a:t>
                      </a:r>
                      <a:r>
                        <a:rPr lang="en-US" sz="2000" b="0" dirty="0"/>
                        <a:t> </a:t>
                      </a:r>
                      <a:r>
                        <a:rPr lang="en-US" sz="2000" b="0" dirty="0" err="1"/>
                        <a:t>Lerdorf</a:t>
                      </a:r>
                      <a:r>
                        <a:rPr lang="en-US" sz="2000" b="0" dirty="0"/>
                        <a:t> </a:t>
                      </a:r>
                    </a:p>
                    <a:p>
                      <a:pPr algn="just"/>
                      <a:r>
                        <a:rPr lang="en-US" sz="2000" b="0" dirty="0"/>
                        <a:t> D. Tim Berners-Lee </a:t>
                      </a:r>
                    </a:p>
                  </a:txBody>
                  <a:tcPr>
                    <a:solidFill>
                      <a:schemeClr val="tx2">
                        <a:lumMod val="40000"/>
                        <a:lumOff val="60000"/>
                      </a:schemeClr>
                    </a:solidFill>
                  </a:tcPr>
                </a:tc>
                <a:extLst>
                  <a:ext uri="{0D108BD9-81ED-4DB2-BD59-A6C34878D82A}">
                    <a16:rowId xmlns:a16="http://schemas.microsoft.com/office/drawing/2014/main" val="2536190218"/>
                  </a:ext>
                </a:extLst>
              </a:tr>
              <a:tr h="2265832">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3. What are Migrations in Django</a:t>
                      </a:r>
                    </a:p>
                    <a:p>
                      <a:pPr algn="just"/>
                      <a:r>
                        <a:rPr lang="en-US" sz="2000" b="0" dirty="0"/>
                        <a:t> A.</a:t>
                      </a:r>
                      <a:r>
                        <a:rPr lang="en-US" sz="2000" dirty="0"/>
                        <a:t> They are files saved in migrations directory. </a:t>
                      </a:r>
                      <a:r>
                        <a:rPr lang="en-US" sz="2000" b="0" dirty="0"/>
                        <a:t> </a:t>
                      </a:r>
                      <a:endParaRPr lang="en-US" sz="2000" b="1" dirty="0"/>
                    </a:p>
                    <a:p>
                      <a:pPr algn="just"/>
                      <a:r>
                        <a:rPr lang="en-US" sz="2000" b="0" dirty="0"/>
                        <a:t> B. </a:t>
                      </a:r>
                      <a:r>
                        <a:rPr lang="en-US" sz="2000" dirty="0"/>
                        <a:t>They are created when you run make migrations command. </a:t>
                      </a:r>
                      <a:endParaRPr lang="en-US" sz="2000" b="0" dirty="0"/>
                    </a:p>
                    <a:p>
                      <a:pPr algn="just"/>
                      <a:r>
                        <a:rPr lang="en-US" sz="2000" b="0" dirty="0"/>
                        <a:t> C. </a:t>
                      </a:r>
                      <a:r>
                        <a:rPr lang="en-US" sz="2000" dirty="0"/>
                        <a:t>Migrations are files where Django stores changes to your models. </a:t>
                      </a:r>
                      <a:endParaRPr lang="en-US" sz="2000" b="0" dirty="0"/>
                    </a:p>
                    <a:p>
                      <a:pPr algn="just"/>
                      <a:r>
                        <a:rPr lang="en-US" sz="2000" b="0" dirty="0"/>
                        <a:t> D. </a:t>
                      </a:r>
                      <a:r>
                        <a:rPr lang="en-US" sz="2000" dirty="0"/>
                        <a:t>All of the above </a:t>
                      </a:r>
                      <a:endParaRPr lang="en-US" sz="2000" b="0" dirty="0"/>
                    </a:p>
                  </a:txBody>
                  <a:tcPr>
                    <a:solidFill>
                      <a:schemeClr val="tx2">
                        <a:lumMod val="40000"/>
                        <a:lumOff val="6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dirty="0"/>
                    </a:p>
                  </a:txBody>
                  <a:tcPr>
                    <a:solidFill>
                      <a:schemeClr val="tx2">
                        <a:lumMod val="40000"/>
                        <a:lumOff val="60000"/>
                      </a:schemeClr>
                    </a:solidFill>
                  </a:tcPr>
                </a:tc>
                <a:extLst>
                  <a:ext uri="{0D108BD9-81ED-4DB2-BD59-A6C34878D82A}">
                    <a16:rowId xmlns:a16="http://schemas.microsoft.com/office/drawing/2014/main" val="2601322747"/>
                  </a:ext>
                </a:extLst>
              </a:tr>
              <a:tr h="1537529">
                <a:tc gridSpan="2">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4. Which architectural pattern does django follow</a:t>
                      </a:r>
                    </a:p>
                    <a:p>
                      <a:pPr algn="just"/>
                      <a:r>
                        <a:rPr lang="en-US" sz="2000" b="0" dirty="0"/>
                        <a:t> A</a:t>
                      </a:r>
                      <a:r>
                        <a:rPr lang="en-US" sz="2000" dirty="0"/>
                        <a:t>PHP</a:t>
                      </a:r>
                      <a:endParaRPr lang="en-US" sz="2000" b="0" dirty="0"/>
                    </a:p>
                    <a:p>
                      <a:pPr algn="just"/>
                      <a:r>
                        <a:rPr lang="en-US" sz="2000" b="0" dirty="0"/>
                        <a:t> B. </a:t>
                      </a:r>
                      <a:r>
                        <a:rPr lang="en-US" sz="2000" dirty="0"/>
                        <a:t>MVT</a:t>
                      </a:r>
                      <a:endParaRPr lang="en-US" sz="2000" b="0" dirty="0"/>
                    </a:p>
                    <a:p>
                      <a:pPr algn="just"/>
                      <a:r>
                        <a:rPr lang="en-US" sz="2000" b="0" dirty="0"/>
                        <a:t> C. </a:t>
                      </a:r>
                      <a:r>
                        <a:rPr lang="en-US" sz="2000" dirty="0"/>
                        <a:t>HTML</a:t>
                      </a:r>
                      <a:endParaRPr lang="en-US" sz="2000" b="1" dirty="0"/>
                    </a:p>
                    <a:p>
                      <a:pPr algn="just"/>
                      <a:r>
                        <a:rPr lang="en-US" sz="2000" b="0" dirty="0"/>
                        <a:t> D. </a:t>
                      </a:r>
                      <a:r>
                        <a:rPr lang="en-US" sz="2000" dirty="0"/>
                        <a:t>None of the above </a:t>
                      </a:r>
                      <a:endParaRPr lang="en-US" sz="2000" b="0" dirty="0"/>
                    </a:p>
                  </a:txBody>
                  <a:tcPr>
                    <a:solidFill>
                      <a:schemeClr val="tx2">
                        <a:lumMod val="40000"/>
                        <a:lumOff val="60000"/>
                      </a:schemeClr>
                    </a:solidFill>
                  </a:tcPr>
                </a:tc>
                <a:tc hMerge="1">
                  <a:txBody>
                    <a:bodyPr/>
                    <a:lstStyle/>
                    <a:p>
                      <a:pPr algn="just"/>
                      <a:endParaRPr lang="en-US" dirty="0"/>
                    </a:p>
                  </a:txBody>
                  <a:tcPr/>
                </a:tc>
                <a:extLst>
                  <a:ext uri="{0D108BD9-81ED-4DB2-BD59-A6C34878D82A}">
                    <a16:rowId xmlns:a16="http://schemas.microsoft.com/office/drawing/2014/main" val="104609377"/>
                  </a:ext>
                </a:extLst>
              </a:tr>
            </a:tbl>
          </a:graphicData>
        </a:graphic>
      </p:graphicFrame>
      <p:sp>
        <p:nvSpPr>
          <p:cNvPr id="9" name="Footer Placeholder 12"/>
          <p:cNvSpPr>
            <a:spLocks noGrp="1"/>
          </p:cNvSpPr>
          <p:nvPr>
            <p:ph type="ftr" sz="quarter" idx="11"/>
          </p:nvPr>
        </p:nvSpPr>
        <p:spPr>
          <a:xfrm>
            <a:off x="3810000" y="6278586"/>
            <a:ext cx="5029200" cy="365125"/>
          </a:xfrm>
        </p:spPr>
        <p:txBody>
          <a:bodyPr/>
          <a:lstStyle/>
          <a:p>
            <a:r>
              <a:rPr lang="en-US"/>
              <a:t>Ritesh Kumar Singh                Connecting SQlite with Django                          Unit IV</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221089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1"/>
            <a:ext cx="11353800" cy="4495799"/>
          </a:xfrm>
          <a:solidFill>
            <a:schemeClr val="tx2">
              <a:lumMod val="40000"/>
              <a:lumOff val="60000"/>
            </a:schemeClr>
          </a:solidFill>
          <a:ln w="6350">
            <a:solidFill>
              <a:schemeClr val="tx1"/>
            </a:solidFill>
          </a:ln>
        </p:spPr>
        <p:txBody>
          <a:bodyPr>
            <a:normAutofit fontScale="92500" lnSpcReduction="20000"/>
          </a:bodyPr>
          <a:lstStyle/>
          <a:p>
            <a:pPr marL="0" indent="0" algn="just">
              <a:spcBef>
                <a:spcPts val="0"/>
              </a:spcBef>
              <a:buNone/>
              <a:defRPr/>
            </a:pPr>
            <a:r>
              <a:rPr lang="en-US" sz="4300" dirty="0"/>
              <a:t> </a:t>
            </a:r>
            <a:r>
              <a:rPr lang="en-US" sz="2600" dirty="0"/>
              <a:t>which of these is not a valid backend for caching in django</a:t>
            </a:r>
          </a:p>
          <a:p>
            <a:pPr algn="just">
              <a:buNone/>
            </a:pPr>
            <a:r>
              <a:rPr lang="en-US" sz="2600" dirty="0"/>
              <a:t> A. </a:t>
            </a:r>
            <a:r>
              <a:rPr lang="en-US" sz="2600" dirty="0" err="1"/>
              <a:t>Django.core.cache.backends.sys.memory</a:t>
            </a:r>
            <a:r>
              <a:rPr lang="en-US" sz="2600" dirty="0"/>
              <a:t> </a:t>
            </a:r>
          </a:p>
          <a:p>
            <a:pPr algn="just">
              <a:buNone/>
            </a:pPr>
            <a:r>
              <a:rPr lang="en-US" sz="2600" dirty="0"/>
              <a:t> B. </a:t>
            </a:r>
            <a:r>
              <a:rPr lang="en-US" sz="2600" dirty="0" err="1"/>
              <a:t>django.core.cache.backends.db.DatabaseCache</a:t>
            </a:r>
            <a:r>
              <a:rPr lang="en-US" sz="2600" dirty="0"/>
              <a:t> </a:t>
            </a:r>
          </a:p>
          <a:p>
            <a:pPr algn="just">
              <a:buNone/>
            </a:pPr>
            <a:r>
              <a:rPr lang="en-US" sz="2600" dirty="0"/>
              <a:t>C</a:t>
            </a:r>
            <a:r>
              <a:rPr lang="en-US" sz="2600" b="1" dirty="0"/>
              <a:t>.</a:t>
            </a:r>
            <a:r>
              <a:rPr lang="en-US" sz="2600" dirty="0"/>
              <a:t> </a:t>
            </a:r>
            <a:r>
              <a:rPr lang="en-US" sz="2600" dirty="0" err="1"/>
              <a:t>django.core.cache.backends.locmem.LocMemCache</a:t>
            </a:r>
            <a:r>
              <a:rPr lang="en-US" sz="2600" dirty="0"/>
              <a:t> </a:t>
            </a:r>
          </a:p>
          <a:p>
            <a:pPr algn="just">
              <a:buNone/>
            </a:pPr>
            <a:r>
              <a:rPr lang="en-US" sz="2600" dirty="0"/>
              <a:t>D</a:t>
            </a:r>
            <a:r>
              <a:rPr lang="en-US" sz="2600" b="1" dirty="0"/>
              <a:t>.</a:t>
            </a:r>
            <a:r>
              <a:rPr lang="en-US" sz="2600" dirty="0"/>
              <a:t> None of the above </a:t>
            </a:r>
            <a:endParaRPr lang="en-US" sz="2600" b="1" dirty="0"/>
          </a:p>
          <a:p>
            <a:pPr marL="0" indent="0" algn="just">
              <a:spcBef>
                <a:spcPts val="0"/>
              </a:spcBef>
              <a:buNone/>
              <a:defRPr/>
            </a:pPr>
            <a:endParaRPr lang="en-US" sz="2600" dirty="0"/>
          </a:p>
          <a:p>
            <a:pPr marL="0" indent="0" algn="just">
              <a:spcBef>
                <a:spcPts val="0"/>
              </a:spcBef>
              <a:buNone/>
              <a:defRPr/>
            </a:pPr>
            <a:r>
              <a:rPr lang="en-US" sz="2600" dirty="0"/>
              <a:t>5. Which architectural pattern does django follow</a:t>
            </a:r>
          </a:p>
          <a:p>
            <a:pPr algn="just">
              <a:buNone/>
            </a:pPr>
            <a:r>
              <a:rPr lang="en-US" sz="2600" dirty="0"/>
              <a:t> A.PHP</a:t>
            </a:r>
          </a:p>
          <a:p>
            <a:pPr algn="just">
              <a:buNone/>
            </a:pPr>
            <a:r>
              <a:rPr lang="en-US" sz="2600" dirty="0"/>
              <a:t> B. MVT</a:t>
            </a:r>
          </a:p>
          <a:p>
            <a:pPr algn="just">
              <a:buNone/>
            </a:pPr>
            <a:r>
              <a:rPr lang="en-US" sz="2600" dirty="0"/>
              <a:t> C. HTML</a:t>
            </a:r>
            <a:endParaRPr lang="en-US" sz="2600" b="1" dirty="0"/>
          </a:p>
          <a:p>
            <a:pPr algn="just">
              <a:buNone/>
            </a:pPr>
            <a:r>
              <a:rPr lang="en-US" sz="2600" dirty="0"/>
              <a:t> D. None of the above </a:t>
            </a:r>
          </a:p>
          <a:p>
            <a:pPr>
              <a:buNone/>
            </a:pPr>
            <a:endParaRPr lang="en-US" sz="1800" dirty="0"/>
          </a:p>
        </p:txBody>
      </p:sp>
      <p:sp>
        <p:nvSpPr>
          <p:cNvPr id="4" name="Date Placeholder 3"/>
          <p:cNvSpPr>
            <a:spLocks noGrp="1"/>
          </p:cNvSpPr>
          <p:nvPr>
            <p:ph type="dt" sz="half" idx="10"/>
          </p:nvPr>
        </p:nvSpPr>
        <p:spPr/>
        <p:txBody>
          <a:bodyPr/>
          <a:lstStyle/>
          <a:p>
            <a:fld id="{FEDB9565-5103-4656-9295-8F0F4EC23121}" type="datetime1">
              <a:rPr lang="en-US" smtClean="0"/>
              <a:t>11/4/2024</a:t>
            </a:fld>
            <a:endParaRPr lang="en-US" dirty="0"/>
          </a:p>
        </p:txBody>
      </p:sp>
      <p:sp>
        <p:nvSpPr>
          <p:cNvPr id="5" name="Footer Placeholder 4"/>
          <p:cNvSpPr>
            <a:spLocks noGrp="1"/>
          </p:cNvSpPr>
          <p:nvPr>
            <p:ph type="ftr" sz="quarter" idx="11"/>
          </p:nvPr>
        </p:nvSpPr>
        <p:spPr>
          <a:xfrm>
            <a:off x="4165600" y="6356357"/>
            <a:ext cx="5740400"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noGrp="1"/>
          </p:cNvSpPr>
          <p:nvPr>
            <p:ph type="title"/>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defTabSz="914400">
              <a:defRPr/>
            </a:pPr>
            <a:r>
              <a:rPr lang="en-US" sz="3200" dirty="0"/>
              <a:t>MCQ 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494943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988F1F0-C783-4E04-A3EE-CC1CA8655871}" type="datetime1">
              <a:rPr lang="en-US" smtClean="0"/>
              <a:t>11/4/2024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1447800" y="2"/>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MCQ s</a:t>
            </a:r>
          </a:p>
        </p:txBody>
      </p:sp>
      <p:graphicFrame>
        <p:nvGraphicFramePr>
          <p:cNvPr id="10" name="Content Placeholder 2"/>
          <p:cNvGraphicFramePr>
            <a:graphicFrameLocks/>
          </p:cNvGraphicFramePr>
          <p:nvPr>
            <p:extLst>
              <p:ext uri="{D42A27DB-BD31-4B8C-83A1-F6EECF244321}">
                <p14:modId xmlns:p14="http://schemas.microsoft.com/office/powerpoint/2010/main" val="1650871838"/>
              </p:ext>
            </p:extLst>
          </p:nvPr>
        </p:nvGraphicFramePr>
        <p:xfrm>
          <a:off x="304800" y="792480"/>
          <a:ext cx="11582400" cy="6065520"/>
        </p:xfrm>
        <a:graphic>
          <a:graphicData uri="http://schemas.openxmlformats.org/drawingml/2006/table">
            <a:tbl>
              <a:tblPr firstRow="1" bandRow="1">
                <a:tableStyleId>{3B4B98B0-60AC-42C2-AFA5-B58CD77FA1E5}</a:tableStyleId>
              </a:tblPr>
              <a:tblGrid>
                <a:gridCol w="5791200">
                  <a:extLst>
                    <a:ext uri="{9D8B030D-6E8A-4147-A177-3AD203B41FA5}">
                      <a16:colId xmlns:a16="http://schemas.microsoft.com/office/drawing/2014/main" val="3349441241"/>
                    </a:ext>
                  </a:extLst>
                </a:gridCol>
                <a:gridCol w="5791200">
                  <a:extLst>
                    <a:ext uri="{9D8B030D-6E8A-4147-A177-3AD203B41FA5}">
                      <a16:colId xmlns:a16="http://schemas.microsoft.com/office/drawing/2014/main" val="4272054345"/>
                    </a:ext>
                  </a:extLst>
                </a:gridCol>
              </a:tblGrid>
              <a:tr h="1908651">
                <a:tc>
                  <a:txBody>
                    <a:bodyPr/>
                    <a:lstStyle/>
                    <a:p>
                      <a:pPr marL="342900" indent="-342900" algn="just">
                        <a:buFont typeface="+mj-lt"/>
                        <a:buNone/>
                      </a:pPr>
                      <a:r>
                        <a:rPr lang="en-US" sz="2000" b="0" dirty="0"/>
                        <a:t>6.</a:t>
                      </a:r>
                      <a:r>
                        <a:rPr lang="en-US" sz="2000" b="1" dirty="0"/>
                        <a:t> </a:t>
                      </a:r>
                      <a:r>
                        <a:rPr lang="en-US" sz="2000" b="0" dirty="0"/>
                        <a:t>Python is a :</a:t>
                      </a:r>
                    </a:p>
                    <a:p>
                      <a:pPr>
                        <a:buFont typeface="Wingdings" pitchFamily="2" charset="2"/>
                        <a:buChar char="§"/>
                      </a:pPr>
                      <a:r>
                        <a:rPr lang="en-US" sz="2000" b="0" dirty="0"/>
                        <a:t>Development environment</a:t>
                      </a:r>
                    </a:p>
                    <a:p>
                      <a:pPr>
                        <a:buFont typeface="Wingdings" pitchFamily="2" charset="2"/>
                        <a:buChar char="§"/>
                      </a:pPr>
                      <a:r>
                        <a:rPr lang="en-US" sz="2000" b="0" dirty="0"/>
                        <a:t>Set of editing tools</a:t>
                      </a:r>
                    </a:p>
                    <a:p>
                      <a:pPr>
                        <a:buFont typeface="Wingdings" pitchFamily="2" charset="2"/>
                        <a:buChar char="§"/>
                      </a:pPr>
                      <a:r>
                        <a:rPr lang="en-US" sz="2000" b="0" u="none" dirty="0"/>
                        <a:t>Programming Language</a:t>
                      </a:r>
                    </a:p>
                  </a:txBody>
                  <a:tcPr>
                    <a:solidFill>
                      <a:schemeClr val="tx2">
                        <a:lumMod val="40000"/>
                        <a:lumOff val="60000"/>
                      </a:schemeClr>
                    </a:solidFill>
                  </a:tcPr>
                </a:tc>
                <a:tc>
                  <a:txBody>
                    <a:bodyPr/>
                    <a:lstStyle/>
                    <a:p>
                      <a:pPr marL="342900" indent="-342900" algn="just">
                        <a:buFont typeface="+mj-lt"/>
                        <a:buAutoNum type="arabicPeriod" startAt="7"/>
                      </a:pPr>
                      <a:r>
                        <a:rPr lang="en-US" sz="2000" b="0" dirty="0"/>
                        <a:t>Python is Case Sensitive when dealing with Identifiers?</a:t>
                      </a:r>
                    </a:p>
                    <a:p>
                      <a:pPr>
                        <a:buFont typeface="Wingdings" pitchFamily="2" charset="2"/>
                        <a:buChar char="§"/>
                      </a:pPr>
                      <a:r>
                        <a:rPr lang="en-US" sz="2000" b="0" u="none" dirty="0"/>
                        <a:t>Yes</a:t>
                      </a:r>
                    </a:p>
                    <a:p>
                      <a:pPr>
                        <a:buFont typeface="Wingdings" pitchFamily="2" charset="2"/>
                        <a:buChar char="§"/>
                      </a:pPr>
                      <a:r>
                        <a:rPr lang="en-US" sz="2000" b="0" dirty="0"/>
                        <a:t>No</a:t>
                      </a:r>
                    </a:p>
                    <a:p>
                      <a:pPr>
                        <a:buFont typeface="Wingdings" pitchFamily="2" charset="2"/>
                        <a:buChar char="§"/>
                      </a:pPr>
                      <a:r>
                        <a:rPr lang="en-US" sz="2000" b="0" dirty="0"/>
                        <a:t>Sometimes Only</a:t>
                      </a:r>
                    </a:p>
                    <a:p>
                      <a:pPr>
                        <a:buFont typeface="Wingdings" pitchFamily="2" charset="2"/>
                        <a:buChar char="§"/>
                      </a:pPr>
                      <a:r>
                        <a:rPr lang="en-US" sz="2000" b="0" dirty="0"/>
                        <a:t>None Of the Above</a:t>
                      </a:r>
                    </a:p>
                    <a:p>
                      <a:pPr marL="342900" indent="-342900" algn="just">
                        <a:buFont typeface="+mj-lt"/>
                        <a:buNone/>
                      </a:pPr>
                      <a:endParaRPr lang="en-US" sz="2000" b="0" dirty="0"/>
                    </a:p>
                  </a:txBody>
                  <a:tcPr>
                    <a:solidFill>
                      <a:schemeClr val="tx2">
                        <a:lumMod val="40000"/>
                        <a:lumOff val="60000"/>
                      </a:schemeClr>
                    </a:solidFill>
                  </a:tcPr>
                </a:tc>
                <a:extLst>
                  <a:ext uri="{0D108BD9-81ED-4DB2-BD59-A6C34878D82A}">
                    <a16:rowId xmlns:a16="http://schemas.microsoft.com/office/drawing/2014/main" val="2536190218"/>
                  </a:ext>
                </a:extLst>
              </a:tr>
              <a:tr h="2170110">
                <a:tc>
                  <a:txBody>
                    <a:bodyPr/>
                    <a:lstStyle/>
                    <a:p>
                      <a:pPr marL="342900" indent="-342900" algn="just">
                        <a:buFont typeface="+mj-lt"/>
                        <a:buAutoNum type="arabicPeriod" startAt="8"/>
                      </a:pPr>
                      <a:r>
                        <a:rPr lang="en-US" sz="2000" b="0" dirty="0"/>
                        <a:t>What is the OUTPUT of the following Statement?</a:t>
                      </a:r>
                      <a:br>
                        <a:rPr lang="en-US" sz="2000" b="0" dirty="0"/>
                      </a:br>
                      <a:r>
                        <a:rPr lang="en-US" sz="2000" b="0" dirty="0"/>
                        <a:t>print 0xA + 0xB + 0xC :</a:t>
                      </a:r>
                    </a:p>
                    <a:p>
                      <a:pPr>
                        <a:buFont typeface="Wingdings" pitchFamily="2" charset="2"/>
                        <a:buChar char="§"/>
                      </a:pPr>
                      <a:r>
                        <a:rPr lang="en-US" sz="2000" dirty="0"/>
                        <a:t>0xA0xB0xC</a:t>
                      </a:r>
                    </a:p>
                    <a:p>
                      <a:pPr>
                        <a:buFont typeface="Wingdings" pitchFamily="2" charset="2"/>
                        <a:buChar char="§"/>
                      </a:pPr>
                      <a:r>
                        <a:rPr lang="en-US" sz="2000" b="0" u="none" dirty="0"/>
                        <a:t>33</a:t>
                      </a:r>
                    </a:p>
                    <a:p>
                      <a:pPr>
                        <a:buFont typeface="Wingdings" pitchFamily="2" charset="2"/>
                        <a:buChar char="§"/>
                      </a:pPr>
                      <a:r>
                        <a:rPr lang="en-US" sz="2000" dirty="0"/>
                        <a:t>ABC</a:t>
                      </a:r>
                    </a:p>
                    <a:p>
                      <a:pPr>
                        <a:buFont typeface="Wingdings" pitchFamily="2" charset="2"/>
                        <a:buChar char="§"/>
                      </a:pPr>
                      <a:r>
                        <a:rPr lang="en-US" sz="2000" dirty="0"/>
                        <a:t>000XXXABC</a:t>
                      </a:r>
                    </a:p>
                    <a:p>
                      <a:pPr marL="342900" indent="-342900" algn="just">
                        <a:buFont typeface="+mj-lt"/>
                        <a:buNone/>
                      </a:pPr>
                      <a:endParaRPr lang="en-US" sz="2000" b="0" dirty="0"/>
                    </a:p>
                  </a:txBody>
                  <a:tcPr>
                    <a:solidFill>
                      <a:schemeClr val="tx2">
                        <a:lumMod val="40000"/>
                        <a:lumOff val="60000"/>
                      </a:schemeClr>
                    </a:solidFill>
                  </a:tcPr>
                </a:tc>
                <a:tc>
                  <a:txBody>
                    <a:bodyPr/>
                    <a:lstStyle/>
                    <a:p>
                      <a:pPr marL="342900" indent="-342900" algn="just">
                        <a:buFont typeface="+mj-lt"/>
                        <a:buAutoNum type="arabicPeriod" startAt="9"/>
                      </a:pPr>
                      <a:r>
                        <a:rPr lang="en-US" sz="2000" b="0" dirty="0"/>
                        <a:t>What is the OUTPUT when the following Statement is executed?</a:t>
                      </a:r>
                      <a:br>
                        <a:rPr lang="en-US" sz="2000" b="0" dirty="0"/>
                      </a:br>
                      <a:r>
                        <a:rPr lang="en-US" sz="2000" b="0" dirty="0"/>
                        <a:t>“</a:t>
                      </a:r>
                      <a:r>
                        <a:rPr lang="en-US" sz="2000" b="0" dirty="0" err="1"/>
                        <a:t>abc</a:t>
                      </a:r>
                      <a:r>
                        <a:rPr lang="en-US" sz="2000" b="0" dirty="0"/>
                        <a:t>”+”xyz”</a:t>
                      </a:r>
                    </a:p>
                    <a:p>
                      <a:pPr>
                        <a:buFont typeface="Wingdings" pitchFamily="2" charset="2"/>
                        <a:buChar char="§"/>
                      </a:pPr>
                      <a:r>
                        <a:rPr lang="en-US" sz="2000" dirty="0" err="1"/>
                        <a:t>abc</a:t>
                      </a:r>
                      <a:endParaRPr lang="en-US" sz="2000" dirty="0"/>
                    </a:p>
                    <a:p>
                      <a:pPr>
                        <a:buFont typeface="Wingdings" pitchFamily="2" charset="2"/>
                        <a:buChar char="§"/>
                      </a:pPr>
                      <a:r>
                        <a:rPr lang="en-US" sz="2000" u="sng" dirty="0" err="1"/>
                        <a:t>abcxyz</a:t>
                      </a:r>
                      <a:endParaRPr lang="en-US" sz="2000" dirty="0"/>
                    </a:p>
                    <a:p>
                      <a:pPr>
                        <a:buFont typeface="Wingdings" pitchFamily="2" charset="2"/>
                        <a:buChar char="§"/>
                      </a:pPr>
                      <a:r>
                        <a:rPr lang="en-US" sz="2000" dirty="0" err="1"/>
                        <a:t>abcz</a:t>
                      </a:r>
                      <a:endParaRPr lang="en-US" sz="2000" dirty="0"/>
                    </a:p>
                    <a:p>
                      <a:pPr>
                        <a:buFont typeface="Wingdings" pitchFamily="2" charset="2"/>
                        <a:buChar char="§"/>
                      </a:pPr>
                      <a:r>
                        <a:rPr lang="en-US" sz="2000" dirty="0" err="1"/>
                        <a:t>abcxy</a:t>
                      </a:r>
                      <a:endParaRPr lang="en-US" sz="2000" dirty="0"/>
                    </a:p>
                    <a:p>
                      <a:pPr marL="342900" indent="-342900" algn="just">
                        <a:buFont typeface="+mj-lt"/>
                        <a:buNone/>
                      </a:pPr>
                      <a:endParaRPr lang="en-US" sz="2000" b="0" kern="1200" dirty="0">
                        <a:solidFill>
                          <a:schemeClr val="tx1"/>
                        </a:solidFill>
                        <a:latin typeface="+mn-lt"/>
                        <a:ea typeface="+mn-ea"/>
                        <a:cs typeface="+mn-cs"/>
                      </a:endParaRPr>
                    </a:p>
                  </a:txBody>
                  <a:tcPr>
                    <a:solidFill>
                      <a:schemeClr val="tx2">
                        <a:lumMod val="40000"/>
                        <a:lumOff val="60000"/>
                      </a:schemeClr>
                    </a:solidFill>
                  </a:tcPr>
                </a:tc>
                <a:extLst>
                  <a:ext uri="{0D108BD9-81ED-4DB2-BD59-A6C34878D82A}">
                    <a16:rowId xmlns:a16="http://schemas.microsoft.com/office/drawing/2014/main" val="2601322747"/>
                  </a:ext>
                </a:extLst>
              </a:tr>
              <a:tr h="1124274">
                <a:tc gridSpan="2">
                  <a:txBody>
                    <a:bodyPr/>
                    <a:lstStyle/>
                    <a:p>
                      <a:pPr marL="342900" indent="-342900" algn="l">
                        <a:buFont typeface="+mj-lt"/>
                        <a:buAutoNum type="arabicPeriod" startAt="10"/>
                      </a:pPr>
                      <a:r>
                        <a:rPr lang="en-US" sz="2000" b="0" dirty="0"/>
                        <a:t>what is the type of a?</a:t>
                      </a:r>
                      <a:r>
                        <a:rPr lang="en-US" sz="2000" b="0" baseline="0" dirty="0"/>
                        <a:t> </a:t>
                      </a:r>
                      <a:r>
                        <a:rPr lang="en-US" sz="2000" b="0" dirty="0"/>
                        <a:t>a={1,2:3</a:t>
                      </a:r>
                      <a:r>
                        <a:rPr lang="en-US" sz="2000" b="1" dirty="0"/>
                        <a:t>}</a:t>
                      </a:r>
                      <a:r>
                        <a:rPr lang="en-US" sz="2000" b="1" baseline="0" dirty="0"/>
                        <a:t> </a:t>
                      </a:r>
                      <a:r>
                        <a:rPr lang="en-US" sz="2000" dirty="0"/>
                        <a:t>list</a:t>
                      </a:r>
                    </a:p>
                    <a:p>
                      <a:r>
                        <a:rPr lang="en-US" sz="2000" dirty="0"/>
                        <a:t>set</a:t>
                      </a:r>
                    </a:p>
                    <a:p>
                      <a:r>
                        <a:rPr lang="en-US" sz="2000" dirty="0"/>
                        <a:t>dict</a:t>
                      </a:r>
                    </a:p>
                    <a:p>
                      <a:r>
                        <a:rPr lang="en-US" sz="2000" u="sng" dirty="0"/>
                        <a:t>syntax error</a:t>
                      </a:r>
                      <a:endParaRPr lang="en-US" sz="2000" dirty="0"/>
                    </a:p>
                  </a:txBody>
                  <a:tcPr>
                    <a:solidFill>
                      <a:schemeClr val="tx2">
                        <a:lumMod val="40000"/>
                        <a:lumOff val="60000"/>
                      </a:schemeClr>
                    </a:solidFill>
                  </a:tcPr>
                </a:tc>
                <a:tc hMerge="1">
                  <a:txBody>
                    <a:bodyPr/>
                    <a:lstStyle/>
                    <a:p>
                      <a:pPr algn="just"/>
                      <a:endParaRPr lang="en-US" dirty="0"/>
                    </a:p>
                  </a:txBody>
                  <a:tcPr/>
                </a:tc>
                <a:extLst>
                  <a:ext uri="{0D108BD9-81ED-4DB2-BD59-A6C34878D82A}">
                    <a16:rowId xmlns:a16="http://schemas.microsoft.com/office/drawing/2014/main" val="104609377"/>
                  </a:ext>
                </a:extLst>
              </a:tr>
            </a:tbl>
          </a:graphicData>
        </a:graphic>
      </p:graphicFrame>
      <p:sp>
        <p:nvSpPr>
          <p:cNvPr id="9" name="Footer Placeholder 12"/>
          <p:cNvSpPr>
            <a:spLocks noGrp="1"/>
          </p:cNvSpPr>
          <p:nvPr>
            <p:ph type="ftr" sz="quarter" idx="11"/>
          </p:nvPr>
        </p:nvSpPr>
        <p:spPr>
          <a:xfrm>
            <a:off x="3810000" y="6278586"/>
            <a:ext cx="5029200" cy="365125"/>
          </a:xfrm>
        </p:spPr>
        <p:txBody>
          <a:bodyPr/>
          <a:lstStyle/>
          <a:p>
            <a:r>
              <a:rPr lang="en-US"/>
              <a:t>Ritesh Kumar Singh                Connecting SQlite with Django                          Unit IV</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496647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16294A9-C5DB-4AFF-AB34-F0F28C440F3F}" type="datetime1">
              <a:rPr lang="en-US" smtClean="0"/>
              <a:t>11/4/2024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Glossary Questions</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570756"/>
          </a:xfrm>
          <a:prstGeom prst="rect">
            <a:avLst/>
          </a:prstGeom>
          <a:solidFill>
            <a:schemeClr val="tx2">
              <a:lumMod val="40000"/>
              <a:lumOff val="6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Django Architecture?</a:t>
            </a:r>
          </a:p>
          <a:p>
            <a:pPr marL="342900" indent="-342900">
              <a:buFont typeface="+mj-lt"/>
              <a:buAutoNum type="arabicPeriod"/>
            </a:pPr>
            <a:r>
              <a:rPr lang="en-US" sz="2800" dirty="0"/>
              <a:t>Explain the Django project directory structure?</a:t>
            </a:r>
          </a:p>
          <a:p>
            <a:pPr marL="342900" indent="-342900">
              <a:buFont typeface="+mj-lt"/>
              <a:buAutoNum type="arabicPeriod"/>
            </a:pPr>
            <a:r>
              <a:rPr lang="en-US" sz="2800" dirty="0"/>
              <a:t>What are models in Django?</a:t>
            </a:r>
          </a:p>
          <a:p>
            <a:pPr marL="342900" indent="-342900">
              <a:buFont typeface="+mj-lt"/>
              <a:buAutoNum type="arabicPeriod"/>
            </a:pPr>
            <a:r>
              <a:rPr lang="en-US" sz="2800" dirty="0"/>
              <a:t>What are templates in Django or Django template language?</a:t>
            </a:r>
          </a:p>
          <a:p>
            <a:pPr marL="342900" indent="-342900">
              <a:buFont typeface="+mj-lt"/>
              <a:buAutoNum type="arabicPeriod"/>
            </a:pPr>
            <a:r>
              <a:rPr lang="en-US" sz="2800" dirty="0"/>
              <a:t>What are views in Django?</a:t>
            </a:r>
          </a:p>
          <a:p>
            <a:pPr marL="342900" indent="-342900">
              <a:buFont typeface="+mj-lt"/>
              <a:buAutoNum type="arabicPeriod"/>
            </a:pPr>
            <a:r>
              <a:rPr lang="en-US" sz="2800" dirty="0"/>
              <a:t>What is Django ORM?</a:t>
            </a:r>
          </a:p>
          <a:p>
            <a:pPr marL="342900" indent="-342900">
              <a:buFont typeface="+mj-lt"/>
              <a:buAutoNum type="arabicPeriod"/>
            </a:pPr>
            <a:r>
              <a:rPr lang="en-US" sz="2800" dirty="0"/>
              <a:t>What is Django Rest Framework(DRF)?</a:t>
            </a:r>
          </a:p>
          <a:p>
            <a:pPr marL="342900" indent="-342900">
              <a:buFont typeface="+mj-lt"/>
              <a:buAutoNum type="arabicPeriod"/>
            </a:pPr>
            <a:r>
              <a:rPr lang="en-US" sz="2800" dirty="0"/>
              <a:t> What is the difference between a project and an app in Django?</a:t>
            </a:r>
          </a:p>
          <a:p>
            <a:pPr marL="342900" indent="-342900">
              <a:buFont typeface="+mj-lt"/>
              <a:buAutoNum type="arabicPeriod"/>
            </a:pPr>
            <a:r>
              <a:rPr lang="en-US" sz="2800" dirty="0"/>
              <a:t>What are different model inheritance styles in the Django?</a:t>
            </a:r>
          </a:p>
          <a:p>
            <a:pPr marL="342900" indent="-342900">
              <a:buFont typeface="+mj-lt"/>
              <a:buAutoNum type="arabicPeriod"/>
            </a:pPr>
            <a:r>
              <a:rPr lang="en-US" sz="2800" dirty="0"/>
              <a:t>What are Django Signals?</a:t>
            </a:r>
          </a:p>
          <a:p>
            <a:endParaRPr lang="en-US" sz="2800" dirty="0"/>
          </a:p>
        </p:txBody>
      </p:sp>
      <p:sp>
        <p:nvSpPr>
          <p:cNvPr id="5" name="Footer Placeholder 4"/>
          <p:cNvSpPr>
            <a:spLocks noGrp="1"/>
          </p:cNvSpPr>
          <p:nvPr>
            <p:ph type="ftr" sz="quarter" idx="11"/>
          </p:nvPr>
        </p:nvSpPr>
        <p:spPr>
          <a:xfrm>
            <a:off x="4165600" y="6356357"/>
            <a:ext cx="5283200" cy="365125"/>
          </a:xfrm>
        </p:spPr>
        <p:txBody>
          <a:bodyPr/>
          <a:lstStyle/>
          <a:p>
            <a:r>
              <a:rPr lang="en-US"/>
              <a:t>Ritesh Kumar Singh                Connecting SQlite with Django                          Unit IV</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506254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8FC184A-6BE6-4B2E-8D7A-D66076DB6923}" type="datetime1">
              <a:rPr lang="en-US" smtClean="0"/>
              <a:t>11/4/2024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Expected Questions for University Exam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570756"/>
          </a:xfrm>
          <a:prstGeom prst="rect">
            <a:avLst/>
          </a:prstGeom>
          <a:solidFill>
            <a:schemeClr val="tx2">
              <a:lumMod val="40000"/>
              <a:lumOff val="6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Django Architecture?</a:t>
            </a:r>
          </a:p>
          <a:p>
            <a:pPr marL="342900" indent="-342900">
              <a:buFont typeface="+mj-lt"/>
              <a:buAutoNum type="arabicPeriod"/>
            </a:pPr>
            <a:r>
              <a:rPr lang="en-US" sz="2800" dirty="0"/>
              <a:t>Explain the Django project directory structure?</a:t>
            </a:r>
          </a:p>
          <a:p>
            <a:pPr marL="342900" indent="-342900">
              <a:buFont typeface="+mj-lt"/>
              <a:buAutoNum type="arabicPeriod"/>
            </a:pPr>
            <a:r>
              <a:rPr lang="en-US" sz="2800" dirty="0"/>
              <a:t>What are models in Django?</a:t>
            </a:r>
          </a:p>
          <a:p>
            <a:pPr marL="342900" indent="-342900">
              <a:buFont typeface="+mj-lt"/>
              <a:buAutoNum type="arabicPeriod"/>
            </a:pPr>
            <a:r>
              <a:rPr lang="en-US" sz="2800" dirty="0"/>
              <a:t>What are templates in Django or Django template language?</a:t>
            </a:r>
          </a:p>
          <a:p>
            <a:pPr marL="342900" indent="-342900">
              <a:buFont typeface="+mj-lt"/>
              <a:buAutoNum type="arabicPeriod"/>
            </a:pPr>
            <a:r>
              <a:rPr lang="en-US" sz="2800" dirty="0"/>
              <a:t>What are views in Django?</a:t>
            </a:r>
          </a:p>
          <a:p>
            <a:pPr marL="342900" indent="-342900">
              <a:buFont typeface="+mj-lt"/>
              <a:buAutoNum type="arabicPeriod"/>
            </a:pPr>
            <a:r>
              <a:rPr lang="en-US" sz="2800" dirty="0"/>
              <a:t>What is Django ORM?</a:t>
            </a:r>
          </a:p>
          <a:p>
            <a:pPr marL="342900" indent="-342900">
              <a:buFont typeface="+mj-lt"/>
              <a:buAutoNum type="arabicPeriod"/>
            </a:pPr>
            <a:r>
              <a:rPr lang="en-US" sz="2800" dirty="0"/>
              <a:t>What is Django Rest Framework(DRF)?</a:t>
            </a:r>
          </a:p>
          <a:p>
            <a:pPr marL="342900" indent="-342900">
              <a:buFont typeface="+mj-lt"/>
              <a:buAutoNum type="arabicPeriod"/>
            </a:pPr>
            <a:r>
              <a:rPr lang="en-US" sz="2800" dirty="0"/>
              <a:t> What is the difference between a project and an app in Django?</a:t>
            </a:r>
          </a:p>
          <a:p>
            <a:pPr marL="342900" indent="-342900">
              <a:buFont typeface="+mj-lt"/>
              <a:buAutoNum type="arabicPeriod"/>
            </a:pPr>
            <a:r>
              <a:rPr lang="en-US" sz="2800" dirty="0"/>
              <a:t>What are different model inheritance styles in the Django?</a:t>
            </a:r>
          </a:p>
          <a:p>
            <a:pPr marL="342900" indent="-342900">
              <a:buFont typeface="+mj-lt"/>
              <a:buAutoNum type="arabicPeriod"/>
            </a:pPr>
            <a:r>
              <a:rPr lang="en-US" sz="2800" dirty="0"/>
              <a:t>What are Django Signals?</a:t>
            </a:r>
          </a:p>
          <a:p>
            <a:endParaRPr lang="en-US" sz="2800" dirty="0"/>
          </a:p>
        </p:txBody>
      </p:sp>
      <p:sp>
        <p:nvSpPr>
          <p:cNvPr id="5" name="Footer Placeholder 4"/>
          <p:cNvSpPr>
            <a:spLocks noGrp="1"/>
          </p:cNvSpPr>
          <p:nvPr>
            <p:ph type="ftr" sz="quarter" idx="11"/>
          </p:nvPr>
        </p:nvSpPr>
        <p:spPr>
          <a:xfrm>
            <a:off x="4165600" y="6356357"/>
            <a:ext cx="4978400" cy="365125"/>
          </a:xfrm>
        </p:spPr>
        <p:txBody>
          <a:bodyPr/>
          <a:lstStyle/>
          <a:p>
            <a:r>
              <a:rPr lang="en-US"/>
              <a:t>Ritesh Kumar Singh                Connecting SQlite with Django                          Unit IV</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168787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70B0F9C-AE48-40F8-B96C-3EFB0999591E}" type="datetime1">
              <a:rPr lang="en-US" smtClean="0"/>
              <a:t>11/4/2024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Summary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180430" y="845052"/>
            <a:ext cx="11831139" cy="5693866"/>
          </a:xfrm>
          <a:prstGeom prst="rect">
            <a:avLst/>
          </a:prstGeom>
          <a:solidFill>
            <a:schemeClr val="tx2">
              <a:lumMod val="40000"/>
              <a:lumOff val="60000"/>
            </a:schemeClr>
          </a:solidFill>
          <a:ln w="28575">
            <a:solidFill>
              <a:schemeClr val="tx1"/>
            </a:solidFill>
          </a:ln>
        </p:spPr>
        <p:txBody>
          <a:bodyPr wrap="square">
            <a:spAutoFit/>
          </a:bodyPr>
          <a:lstStyle/>
          <a:p>
            <a:r>
              <a:rPr lang="en-US" sz="2800" b="1" dirty="0">
                <a:latin typeface="+mj-lt"/>
              </a:rPr>
              <a:t>Till Now we understand </a:t>
            </a:r>
            <a:r>
              <a:rPr lang="en-US" sz="2800" dirty="0"/>
              <a:t>The idea of Database migration is the process of migrating data from one or more source databases to one or more target databases by using a database migration service. When a migration is finished, the dataset in the source databases resides fully, though possibly restructured, in the target databases. In django, we retrieve the data in the views.py file, where we write our functions. To retrieve data from database, first we have to create a url for that. Open the urls.py file inside the application folder. Cookies work like other HTTP requests over the Internet. In a typical web-system, the browser makes a request to the server. The server then sends the response along with some cookies. After observing these problems of cookies, the web-developers came with a new and more secure concept, Sessions.</a:t>
            </a:r>
          </a:p>
          <a:p>
            <a:r>
              <a:rPr lang="en-US" sz="2800" dirty="0"/>
              <a:t>The session is a semi-permanent and two-way communication between the server and the browser.</a:t>
            </a:r>
          </a:p>
        </p:txBody>
      </p:sp>
      <p:sp>
        <p:nvSpPr>
          <p:cNvPr id="8" name="Footer Placeholder 4"/>
          <p:cNvSpPr>
            <a:spLocks noGrp="1"/>
          </p:cNvSpPr>
          <p:nvPr>
            <p:ph type="ftr" sz="quarter" idx="11"/>
          </p:nvPr>
        </p:nvSpPr>
        <p:spPr>
          <a:xfrm>
            <a:off x="3733800" y="6356356"/>
            <a:ext cx="5562600" cy="365125"/>
          </a:xfrm>
        </p:spPr>
        <p:txBody>
          <a:bodyPr/>
          <a:lstStyle/>
          <a:p>
            <a:r>
              <a:rPr lang="en-US"/>
              <a:t>Ritesh Kumar Singh                Connecting SQlite with Django                          Unit IV</a:t>
            </a:r>
            <a:endParaRPr lang="en-US" dirty="0"/>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652066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9D5BB9E-0873-4837-9712-B43FF4D8FB83}" type="datetime1">
              <a:rPr lang="en-US" smtClean="0"/>
              <a:t>11/4/2024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References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Footer Placeholder 2"/>
          <p:cNvSpPr>
            <a:spLocks noGrp="1"/>
          </p:cNvSpPr>
          <p:nvPr>
            <p:ph type="ftr" sz="quarter" idx="11"/>
          </p:nvPr>
        </p:nvSpPr>
        <p:spPr>
          <a:xfrm>
            <a:off x="3911600" y="6356356"/>
            <a:ext cx="5816600" cy="365125"/>
          </a:xfrm>
        </p:spPr>
        <p:txBody>
          <a:bodyPr/>
          <a:lstStyle/>
          <a:p>
            <a:r>
              <a:rPr lang="en-US"/>
              <a:t>Ritesh Kumar Singh                Connecting SQlite with Django                          Unit IV</a:t>
            </a: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901399830"/>
              </p:ext>
            </p:extLst>
          </p:nvPr>
        </p:nvGraphicFramePr>
        <p:xfrm>
          <a:off x="533400" y="991662"/>
          <a:ext cx="11353800" cy="5058839"/>
        </p:xfrm>
        <a:graphic>
          <a:graphicData uri="http://schemas.openxmlformats.org/drawingml/2006/table">
            <a:tbl>
              <a:tblPr firstRow="1" firstCol="1" lastRow="1" lastCol="1" bandRow="1" bandCol="1">
                <a:tableStyleId>{5C22544A-7EE6-4342-B048-85BDC9FD1C3A}</a:tableStyleId>
              </a:tblPr>
              <a:tblGrid>
                <a:gridCol w="11353800">
                  <a:extLst>
                    <a:ext uri="{9D8B030D-6E8A-4147-A177-3AD203B41FA5}">
                      <a16:colId xmlns:a16="http://schemas.microsoft.com/office/drawing/2014/main" val="3372635850"/>
                    </a:ext>
                  </a:extLst>
                </a:gridCol>
              </a:tblGrid>
              <a:tr h="1273635">
                <a:tc>
                  <a:txBody>
                    <a:bodyPr/>
                    <a:lstStyle/>
                    <a:p>
                      <a:pPr marL="0" marR="0" algn="just">
                        <a:lnSpc>
                          <a:spcPct val="115000"/>
                        </a:lnSpc>
                        <a:spcBef>
                          <a:spcPts val="0"/>
                        </a:spcBef>
                        <a:spcAft>
                          <a:spcPts val="0"/>
                        </a:spcAft>
                      </a:pPr>
                      <a:r>
                        <a:rPr lang="en-US" sz="2400" dirty="0">
                          <a:effectLst/>
                        </a:rPr>
                        <a:t>(1)</a:t>
                      </a:r>
                      <a:r>
                        <a:rPr lang="en-US" sz="1800" dirty="0">
                          <a:effectLst/>
                        </a:rPr>
                        <a:t> </a:t>
                      </a:r>
                      <a:r>
                        <a:rPr lang="en-US" sz="2400" dirty="0">
                          <a:effectLst/>
                        </a:rPr>
                        <a:t>Tom </a:t>
                      </a:r>
                      <a:r>
                        <a:rPr lang="en-US" sz="2400" dirty="0" err="1">
                          <a:effectLst/>
                        </a:rPr>
                        <a:t>Aratyn</a:t>
                      </a:r>
                      <a:r>
                        <a:rPr lang="en-US" sz="2400" dirty="0">
                          <a:effectLst/>
                        </a:rPr>
                        <a:t>,</a:t>
                      </a:r>
                      <a:r>
                        <a:rPr lang="en-US" sz="1800" dirty="0">
                          <a:effectLst/>
                        </a:rPr>
                        <a:t> “</a:t>
                      </a:r>
                      <a:r>
                        <a:rPr lang="en-US" sz="2400" dirty="0">
                          <a:effectLst/>
                        </a:rPr>
                        <a:t>Building Django 2.0 Web Applications: Create enterprise-grade, scalable Python web applications easily with Django 2.0”, 2</a:t>
                      </a:r>
                      <a:r>
                        <a:rPr lang="en-US" sz="2400" baseline="30000" dirty="0">
                          <a:effectLst/>
                        </a:rPr>
                        <a:t>nd</a:t>
                      </a:r>
                      <a:r>
                        <a:rPr lang="en-US" sz="2400" dirty="0">
                          <a:effectLst/>
                        </a:rPr>
                        <a:t> Edition 2018, </a:t>
                      </a:r>
                      <a:r>
                        <a:rPr lang="en-US" sz="2400" dirty="0" err="1">
                          <a:effectLst/>
                        </a:rPr>
                        <a:t>Packt</a:t>
                      </a:r>
                      <a:r>
                        <a:rPr lang="en-US" sz="2400" dirty="0">
                          <a:effectLst/>
                        </a:rPr>
                        <a:t> Publishing.</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2810108072"/>
                  </a:ext>
                </a:extLst>
              </a:tr>
              <a:tr h="1243074">
                <a:tc>
                  <a:txBody>
                    <a:bodyPr/>
                    <a:lstStyle/>
                    <a:p>
                      <a:pPr marL="0" marR="0" algn="just">
                        <a:lnSpc>
                          <a:spcPct val="115000"/>
                        </a:lnSpc>
                        <a:spcBef>
                          <a:spcPts val="0"/>
                        </a:spcBef>
                        <a:spcAft>
                          <a:spcPts val="0"/>
                        </a:spcAft>
                      </a:pPr>
                      <a:r>
                        <a:rPr lang="en-US" sz="2400" dirty="0">
                          <a:effectLst/>
                        </a:rPr>
                        <a:t>(2) Nigel George, “Build a website with Django”, 1</a:t>
                      </a:r>
                      <a:r>
                        <a:rPr lang="en-US" sz="2400" baseline="30000" dirty="0">
                          <a:effectLst/>
                        </a:rPr>
                        <a:t>st</a:t>
                      </a:r>
                      <a:r>
                        <a:rPr lang="en-US" sz="2400" dirty="0">
                          <a:effectLst/>
                        </a:rPr>
                        <a:t>  Edition 2019, GNW Independent Publishing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490192612"/>
                  </a:ext>
                </a:extLst>
              </a:tr>
              <a:tr h="1243074">
                <a:tc>
                  <a:txBody>
                    <a:bodyPr/>
                    <a:lstStyle/>
                    <a:p>
                      <a:pPr marL="0" marR="0" algn="just">
                        <a:lnSpc>
                          <a:spcPct val="115000"/>
                        </a:lnSpc>
                        <a:spcBef>
                          <a:spcPts val="205"/>
                        </a:spcBef>
                        <a:spcAft>
                          <a:spcPts val="0"/>
                        </a:spcAft>
                      </a:pPr>
                      <a:r>
                        <a:rPr lang="en-US" sz="2400" dirty="0">
                          <a:effectLst/>
                        </a:rPr>
                        <a:t>(3) Ray Yao,”</a:t>
                      </a:r>
                      <a:r>
                        <a:rPr lang="en-US" sz="1800" dirty="0">
                          <a:effectLst/>
                        </a:rPr>
                        <a:t> </a:t>
                      </a:r>
                      <a:r>
                        <a:rPr lang="en-US" sz="2400" dirty="0">
                          <a:effectLst/>
                        </a:rPr>
                        <a:t>Django in 8 Hours: For Beginners, Learn Coding Fast!, 2</a:t>
                      </a:r>
                      <a:r>
                        <a:rPr lang="en-US" sz="2400" baseline="30000" dirty="0">
                          <a:effectLst/>
                        </a:rPr>
                        <a:t>nd</a:t>
                      </a:r>
                      <a:r>
                        <a:rPr lang="en-US" sz="2400" dirty="0">
                          <a:effectLst/>
                        </a:rPr>
                        <a:t> Edition 2020,</a:t>
                      </a:r>
                      <a:r>
                        <a:rPr lang="en-US" sz="1800" dirty="0">
                          <a:effectLst/>
                        </a:rPr>
                        <a:t> </a:t>
                      </a:r>
                      <a:r>
                        <a:rPr lang="en-US" sz="2400" dirty="0">
                          <a:effectLst/>
                        </a:rPr>
                        <a:t>Independently published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617959602"/>
                  </a:ext>
                </a:extLst>
              </a:tr>
              <a:tr h="1299056">
                <a:tc>
                  <a:txBody>
                    <a:bodyPr/>
                    <a:lstStyle/>
                    <a:p>
                      <a:pPr marL="0" marR="0" algn="just">
                        <a:lnSpc>
                          <a:spcPct val="115000"/>
                        </a:lnSpc>
                        <a:spcBef>
                          <a:spcPts val="0"/>
                        </a:spcBef>
                        <a:spcAft>
                          <a:spcPts val="0"/>
                        </a:spcAft>
                      </a:pPr>
                      <a:r>
                        <a:rPr lang="en-US" sz="2400" dirty="0">
                          <a:effectLst/>
                        </a:rPr>
                        <a:t>(4) Harry Percival,</a:t>
                      </a:r>
                      <a:r>
                        <a:rPr lang="en-US" sz="1800" dirty="0">
                          <a:effectLst/>
                        </a:rPr>
                        <a:t> “</a:t>
                      </a:r>
                      <a:r>
                        <a:rPr lang="en-US" sz="2400" dirty="0">
                          <a:effectLst/>
                        </a:rPr>
                        <a:t>Test-Driven Development with Python: Obey the Testing Goat: Using Django, Selenium, and JavaScript”, 2nd Edition 2019, Kindle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1451876080"/>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0165679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6182F9D-5822-4122-A5EC-84C5F7C05531}" type="datetime1">
              <a:rPr lang="en-US" smtClean="0"/>
              <a:t>11/4/2024</a:t>
            </a:fld>
            <a:endParaRPr lang="en-US"/>
          </a:p>
        </p:txBody>
      </p:sp>
      <p:sp>
        <p:nvSpPr>
          <p:cNvPr id="5" name="Footer Placeholder 4"/>
          <p:cNvSpPr>
            <a:spLocks noGrp="1"/>
          </p:cNvSpPr>
          <p:nvPr>
            <p:ph type="ftr" sz="quarter" idx="11"/>
          </p:nvPr>
        </p:nvSpPr>
        <p:spPr>
          <a:xfrm>
            <a:off x="3733800" y="6356356"/>
            <a:ext cx="5562600" cy="365125"/>
          </a:xfrm>
        </p:spPr>
        <p:txBody>
          <a:bodyPr/>
          <a:lstStyle/>
          <a:p>
            <a:r>
              <a:rPr lang="en-US"/>
              <a:t>Ritesh Kumar Singh                Connecting SQlite with Django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600200" y="1"/>
            <a:ext cx="10591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US" sz="3200" dirty="0"/>
          </a:p>
        </p:txBody>
      </p:sp>
      <p:sp>
        <p:nvSpPr>
          <p:cNvPr id="10" name="Rectangle 9">
            <a:extLst>
              <a:ext uri="{FF2B5EF4-FFF2-40B4-BE49-F238E27FC236}">
                <a16:creationId xmlns:a16="http://schemas.microsoft.com/office/drawing/2014/main" id="{6C347AEB-0CE8-4933-B463-5582E57CBB68}"/>
              </a:ext>
            </a:extLst>
          </p:cNvPr>
          <p:cNvSpPr/>
          <p:nvPr/>
        </p:nvSpPr>
        <p:spPr>
          <a:xfrm>
            <a:off x="2819400" y="2286000"/>
            <a:ext cx="5918200" cy="1200329"/>
          </a:xfrm>
          <a:prstGeom prst="rect">
            <a:avLst/>
          </a:prstGeom>
          <a:noFill/>
        </p:spPr>
        <p:txBody>
          <a:bodyPr wrap="square" lIns="91440" tIns="45720" rIns="91440" bIns="45720">
            <a:spAutoFit/>
          </a:bodyPr>
          <a:lstStyle/>
          <a:p>
            <a:pPr algn="ctr"/>
            <a:r>
              <a:rPr lang="en-US" sz="72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170694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37558</TotalTime>
  <Words>4612</Words>
  <Application>Microsoft Office PowerPoint</Application>
  <PresentationFormat>Widescreen</PresentationFormat>
  <Paragraphs>537</Paragraphs>
  <Slides>58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MCQ 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KESHAB KUMAR</cp:lastModifiedBy>
  <cp:revision>1245</cp:revision>
  <dcterms:created xsi:type="dcterms:W3CDTF">2006-08-16T00:00:00Z</dcterms:created>
  <dcterms:modified xsi:type="dcterms:W3CDTF">2024-11-04T05:33:05Z</dcterms:modified>
</cp:coreProperties>
</file>